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298A4-5FD9-460B-8A61-093BDB925BE4}" v="4" dt="2026-05-21T00:16:08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B-Meredith, Charles (Virginia Beach)" userId="816d316b-6d12-4f1e-b3ac-3b960a01f1dd" providerId="ADAL" clId="{0AEF0F41-105C-40BA-8B28-B75AEA2BDD1D}"/>
    <pc:docChg chg="custSel addSld modSld sldOrd">
      <pc:chgData name="VB-Meredith, Charles (Virginia Beach)" userId="816d316b-6d12-4f1e-b3ac-3b960a01f1dd" providerId="ADAL" clId="{0AEF0F41-105C-40BA-8B28-B75AEA2BDD1D}" dt="2026-05-21T00:35:52.171" v="3688" actId="26606"/>
      <pc:docMkLst>
        <pc:docMk/>
      </pc:docMkLst>
      <pc:sldChg chg="addSp modSp mod setBg">
        <pc:chgData name="VB-Meredith, Charles (Virginia Beach)" userId="816d316b-6d12-4f1e-b3ac-3b960a01f1dd" providerId="ADAL" clId="{0AEF0F41-105C-40BA-8B28-B75AEA2BDD1D}" dt="2026-05-21T00:35:37.307" v="3682" actId="26606"/>
        <pc:sldMkLst>
          <pc:docMk/>
          <pc:sldMk cId="2369173004" sldId="256"/>
        </pc:sldMkLst>
        <pc:spChg chg="mo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2" creationId="{E8504035-C243-AACA-5EC2-A8EAE09C5F21}"/>
          </ac:spMkLst>
        </pc:spChg>
        <pc:spChg chg="mo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3" creationId="{9B1FF9E0-3F05-26B1-A8F0-4355B9198B38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8" creationId="{577D6B2E-37A3-429E-A37C-F30ED6487282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10" creationId="{5CEAD642-85CF-4750-8432-7C80C901F001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12" creationId="{FA33EEAE-15D5-4119-8C1E-89D943F911EF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14" creationId="{730D8B3B-9B80-4025-B934-26DC7D7CD231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16" creationId="{1064D5D5-227B-4F66-9AEA-46F570E793BD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18" creationId="{646B67A4-D328-4747-A82B-65E84FA46368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20" creationId="{B5A1B09C-1565-46F8-B70F-621C5EB48A09}"/>
          </ac:spMkLst>
        </pc:spChg>
        <pc:spChg chg="add">
          <ac:chgData name="VB-Meredith, Charles (Virginia Beach)" userId="816d316b-6d12-4f1e-b3ac-3b960a01f1dd" providerId="ADAL" clId="{0AEF0F41-105C-40BA-8B28-B75AEA2BDD1D}" dt="2026-05-21T00:35:37.307" v="3682" actId="26606"/>
          <ac:spMkLst>
            <pc:docMk/>
            <pc:sldMk cId="2369173004" sldId="256"/>
            <ac:spMk id="22" creationId="{8C516CC8-80AC-446C-A56E-9F54B7210402}"/>
          </ac:spMkLst>
        </pc:spChg>
      </pc:sldChg>
      <pc:sldChg chg="addSp modSp mod ord setBg">
        <pc:chgData name="VB-Meredith, Charles (Virginia Beach)" userId="816d316b-6d12-4f1e-b3ac-3b960a01f1dd" providerId="ADAL" clId="{0AEF0F41-105C-40BA-8B28-B75AEA2BDD1D}" dt="2026-05-21T00:35:43.674" v="3684" actId="26606"/>
        <pc:sldMkLst>
          <pc:docMk/>
          <pc:sldMk cId="193450639" sldId="257"/>
        </pc:sldMkLst>
        <pc:spChg chg="mo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2" creationId="{421B16C3-923A-2E05-11E8-7EEEBD2E7C99}"/>
          </ac:spMkLst>
        </pc:spChg>
        <pc:spChg chg="mo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3" creationId="{04B948A0-B82C-4D67-E5C3-6A57730413FE}"/>
          </ac:spMkLst>
        </pc:spChg>
        <pc:spChg chg="ad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1T00:35:43.674" v="3684" actId="26606"/>
          <ac:spMkLst>
            <pc:docMk/>
            <pc:sldMk cId="193450639" sldId="257"/>
            <ac:spMk id="18" creationId="{A09989E4-EFDC-4A90-A633-E0525FB4139E}"/>
          </ac:spMkLst>
        </pc:spChg>
      </pc:sldChg>
      <pc:sldChg chg="addSp modSp mod setBg">
        <pc:chgData name="VB-Meredith, Charles (Virginia Beach)" userId="816d316b-6d12-4f1e-b3ac-3b960a01f1dd" providerId="ADAL" clId="{0AEF0F41-105C-40BA-8B28-B75AEA2BDD1D}" dt="2026-05-21T00:35:45.779" v="3685" actId="26606"/>
        <pc:sldMkLst>
          <pc:docMk/>
          <pc:sldMk cId="3391495418" sldId="258"/>
        </pc:sldMkLst>
        <pc:spChg chg="mo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2" creationId="{3B30AC74-8465-6509-22DB-B5A23083F301}"/>
          </ac:spMkLst>
        </pc:spChg>
        <pc:spChg chg="mo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3" creationId="{6D4689FE-7A1E-F90F-7529-0C048E4199D1}"/>
          </ac:spMkLst>
        </pc:spChg>
        <pc:spChg chg="ad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1T00:35:45.779" v="3685" actId="26606"/>
          <ac:spMkLst>
            <pc:docMk/>
            <pc:sldMk cId="3391495418" sldId="258"/>
            <ac:spMk id="18" creationId="{A09989E4-EFDC-4A90-A633-E0525FB4139E}"/>
          </ac:spMkLst>
        </pc:spChg>
      </pc:sldChg>
      <pc:sldChg chg="addSp modSp mod setBg">
        <pc:chgData name="VB-Meredith, Charles (Virginia Beach)" userId="816d316b-6d12-4f1e-b3ac-3b960a01f1dd" providerId="ADAL" clId="{0AEF0F41-105C-40BA-8B28-B75AEA2BDD1D}" dt="2026-05-21T00:35:47.809" v="3686" actId="26606"/>
        <pc:sldMkLst>
          <pc:docMk/>
          <pc:sldMk cId="49408249" sldId="259"/>
        </pc:sldMkLst>
        <pc:spChg chg="mo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2" creationId="{7E5789C7-D56A-73AA-C7EE-16AAC50B021D}"/>
          </ac:spMkLst>
        </pc:spChg>
        <pc:spChg chg="mo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3" creationId="{0DF2B968-627C-F36F-3AD1-DF16AFBA17FC}"/>
          </ac:spMkLst>
        </pc:spChg>
        <pc:spChg chg="ad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1T00:35:47.809" v="3686" actId="26606"/>
          <ac:spMkLst>
            <pc:docMk/>
            <pc:sldMk cId="49408249" sldId="259"/>
            <ac:spMk id="18" creationId="{A09989E4-EFDC-4A90-A633-E0525FB4139E}"/>
          </ac:spMkLst>
        </pc:spChg>
      </pc:sldChg>
      <pc:sldChg chg="addSp modSp mod setBg">
        <pc:chgData name="VB-Meredith, Charles (Virginia Beach)" userId="816d316b-6d12-4f1e-b3ac-3b960a01f1dd" providerId="ADAL" clId="{0AEF0F41-105C-40BA-8B28-B75AEA2BDD1D}" dt="2026-05-21T00:35:50.125" v="3687" actId="26606"/>
        <pc:sldMkLst>
          <pc:docMk/>
          <pc:sldMk cId="405359566" sldId="260"/>
        </pc:sldMkLst>
        <pc:spChg chg="mo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2" creationId="{548EB77B-5D5A-FCD0-71B3-0FA2818C0130}"/>
          </ac:spMkLst>
        </pc:spChg>
        <pc:spChg chg="mo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3" creationId="{8C775D75-10B5-42FB-3E8D-ACA4DE61AE3C}"/>
          </ac:spMkLst>
        </pc:spChg>
        <pc:spChg chg="ad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1T00:35:50.125" v="3687" actId="26606"/>
          <ac:spMkLst>
            <pc:docMk/>
            <pc:sldMk cId="405359566" sldId="260"/>
            <ac:spMk id="18" creationId="{A09989E4-EFDC-4A90-A633-E0525FB4139E}"/>
          </ac:spMkLst>
        </pc:spChg>
      </pc:sldChg>
      <pc:sldChg chg="addSp modSp mod setBg">
        <pc:chgData name="VB-Meredith, Charles (Virginia Beach)" userId="816d316b-6d12-4f1e-b3ac-3b960a01f1dd" providerId="ADAL" clId="{0AEF0F41-105C-40BA-8B28-B75AEA2BDD1D}" dt="2026-05-21T00:35:52.171" v="3688" actId="26606"/>
        <pc:sldMkLst>
          <pc:docMk/>
          <pc:sldMk cId="2444402480" sldId="261"/>
        </pc:sldMkLst>
        <pc:spChg chg="mo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2" creationId="{EADF66E6-62E7-F50A-1ACB-B8F18E40414B}"/>
          </ac:spMkLst>
        </pc:spChg>
        <pc:spChg chg="mo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3" creationId="{61D7F1BC-CA51-A378-C962-9863C8EE09DD}"/>
          </ac:spMkLst>
        </pc:spChg>
        <pc:spChg chg="ad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1T00:35:52.171" v="3688" actId="26606"/>
          <ac:spMkLst>
            <pc:docMk/>
            <pc:sldMk cId="2444402480" sldId="261"/>
            <ac:spMk id="18" creationId="{A09989E4-EFDC-4A90-A633-E0525FB4139E}"/>
          </ac:spMkLst>
        </pc:spChg>
      </pc:sldChg>
      <pc:sldChg chg="addSp modSp new mod setBg">
        <pc:chgData name="VB-Meredith, Charles (Virginia Beach)" userId="816d316b-6d12-4f1e-b3ac-3b960a01f1dd" providerId="ADAL" clId="{0AEF0F41-105C-40BA-8B28-B75AEA2BDD1D}" dt="2026-05-21T00:35:40.576" v="3683" actId="26606"/>
        <pc:sldMkLst>
          <pc:docMk/>
          <pc:sldMk cId="3408590787" sldId="262"/>
        </pc:sldMkLst>
        <pc:spChg chg="mo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2" creationId="{9DC8F011-C56C-F831-3E31-DC23D04F3634}"/>
          </ac:spMkLst>
        </pc:spChg>
        <pc:spChg chg="mo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3" creationId="{B0BA8419-1E63-A5C9-500E-877DAF031A2D}"/>
          </ac:spMkLst>
        </pc:spChg>
        <pc:spChg chg="ad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8" creationId="{DEE2AD96-B495-4E06-9291-B71706F728CB}"/>
          </ac:spMkLst>
        </pc:spChg>
        <pc:spChg chg="ad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10" creationId="{53CF6D67-C5A8-4ADD-9E8E-1E38CA1D3166}"/>
          </ac:spMkLst>
        </pc:spChg>
        <pc:spChg chg="ad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12" creationId="{86909FA0-B515-4681-B7A8-FA281D133B94}"/>
          </ac:spMkLst>
        </pc:spChg>
        <pc:spChg chg="ad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14" creationId="{21C9FE86-FCC3-4A31-AA1C-C882262B7FE7}"/>
          </ac:spMkLst>
        </pc:spChg>
        <pc:spChg chg="ad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16" creationId="{7D96243B-ECED-4B71-8E06-AE9A285EAD20}"/>
          </ac:spMkLst>
        </pc:spChg>
        <pc:spChg chg="add">
          <ac:chgData name="VB-Meredith, Charles (Virginia Beach)" userId="816d316b-6d12-4f1e-b3ac-3b960a01f1dd" providerId="ADAL" clId="{0AEF0F41-105C-40BA-8B28-B75AEA2BDD1D}" dt="2026-05-21T00:35:40.576" v="3683" actId="26606"/>
          <ac:spMkLst>
            <pc:docMk/>
            <pc:sldMk cId="3408590787" sldId="262"/>
            <ac:spMk id="18" creationId="{A09989E4-EFDC-4A90-A633-E0525FB413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A938F-4C42-A9B9-CD65-98D9F9273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4722D-5EF9-3155-CF4B-B4D23AD91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84519-0B2A-282F-7407-974FDBE0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B39B-C866-2B80-828C-30B7D624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493B8-59A5-CDBF-A988-489B072D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3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AC4E-F002-0A5C-2C7F-F529BD69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3F4-E989-3423-C106-12E0D82C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03E-5B99-AE3C-0F80-8E053E39F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604A9-0FF2-A097-2D16-B714F9F6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73323-5242-4E7E-C497-693CD1D76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830-B66A-D6D6-9E56-A8E6C67F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5BB4C-4AD4-5CB9-A7AB-BE4AD4086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7F60C-69FA-8F6B-09C8-656DBA92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9466D-6B03-929F-ED34-FA25734A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A563B-4BA0-B2FF-5275-DF785973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4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529C-D527-5CA9-A0B4-C034ACA7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84E9-30B5-392B-037C-6D8253867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F225A-EE33-C7E6-CBBC-7B7F8D340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F73F4-CA0C-7AEE-E24B-2547D742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EBB7A-C7C2-2682-450F-F13FE481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F69D3-B5D4-C883-4EE3-EB551350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5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B2843-D887-61C4-FD13-C7117846F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D76E-4589-9ECC-D7ED-5C46FC5A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79503-43EF-CA92-3EB2-7C5AEB55E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B42B24-F689-E44E-D874-699EC6176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F453AE-E35E-578E-A7D0-9B7B43087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B5C87-439E-6F37-8F5B-CBD06680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C2A59C-68A5-191A-61DD-55C1C9284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39CB7E-6C49-3843-01EA-F87363FFD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0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CEC4-2E09-0340-E489-14831657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06F9C-9981-CCF1-3E03-D41744306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3CCCD-8B70-10A8-ADAD-4ACEA482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D0AD1-B37B-4935-55C7-92847270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5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17BAB-EC59-E8D8-21B2-434D1637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E207C-F168-02A7-E1BB-615123E0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E4C38-3692-3498-2040-E124CD12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70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FE31-C656-B60B-4D87-9F8DFC48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58FB5-2ED8-F10A-3CD0-66B9F1A11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B71D6-AF0B-B6FE-0AEC-6F58441A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A8EA2-0ECD-4229-4AD9-DF277169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B28B7-757E-2A0C-648E-BFE835BB0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5A968-6C11-0598-4E9B-EFA588B0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9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44D3-1817-B7CE-B8D3-1286353D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97341B-CD77-FEE1-E2FE-8E5398A89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ACC1C-C856-F7EF-3C89-9DDFCF9832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53198-A136-A11F-33BB-1AA7BBB6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E8778-CBAC-2BB4-F722-E138F0C6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566B9-678C-8182-B347-04F1F4E8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9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56FF-58A5-9A0B-DFB7-37E49FD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BCA52-CB81-B2FC-CD42-6A6E592E7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D68F9-D72F-D8C1-1B08-DD951FC8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6EF23-597E-AEAE-B39A-E711130C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FE10-908D-0C79-CC5E-A83E0E80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07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DB606-F327-EE90-7AED-481172961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76AFD-00C6-3935-9ECC-61827C0FB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90D71-7782-142F-9AD7-70956436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7E512-14A1-6C02-6BD2-D3E077C8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53B4-1A6F-915E-2459-F7C6062D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4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BD9AC-71E8-133A-C5D7-5630827D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C8557-D70A-971D-B50E-6BBA6219A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E07D3-56E6-E44C-9129-E09479B13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BDB61-1B76-4C29-8476-5A363FB363C7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E94F-224D-B07A-EDD8-E40DB400D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41CA8-6BC9-76D1-C6B9-D688354E8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7EF1D-D71A-40CE-A40F-71EAF345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simily.com/blog/the-top-internet-of-things-iot-cybersecurity-breaches-in-2026/" TargetMode="External"/><Relationship Id="rId2" Type="http://schemas.openxmlformats.org/officeDocument/2006/relationships/hyperlink" Target="https://malware.news/t/iot-hacking-statistics-2026-global-trends-and-key-insights/10397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04035-C243-AACA-5EC2-A8EAE09C5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b="1" u="sng">
                <a:solidFill>
                  <a:srgbClr val="FFFFFF"/>
                </a:solidFill>
              </a:rPr>
              <a:t>5.1 In-Class Activity: Case Study: IoT, SCADA and Mobile Applications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FF9E0-3F05-26B1-A8F0-4355B9198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By: Charles Meredith</a:t>
            </a:r>
          </a:p>
          <a:p>
            <a:pPr algn="l"/>
            <a:r>
              <a:rPr lang="en-US" sz="1700" b="1">
                <a:solidFill>
                  <a:srgbClr val="FFFFFF"/>
                </a:solidFill>
              </a:rPr>
              <a:t>CYB 410</a:t>
            </a:r>
          </a:p>
          <a:p>
            <a:pPr algn="l"/>
            <a:r>
              <a:rPr lang="en-US" sz="1700" b="1">
                <a:solidFill>
                  <a:srgbClr val="FFFFFF"/>
                </a:solidFill>
              </a:rPr>
              <a:t>05/20/2026</a:t>
            </a:r>
          </a:p>
        </p:txBody>
      </p:sp>
    </p:spTree>
    <p:extLst>
      <p:ext uri="{BB962C8B-B14F-4D97-AF65-F5344CB8AC3E}">
        <p14:creationId xmlns:p14="http://schemas.microsoft.com/office/powerpoint/2010/main" val="236917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8F011-C56C-F831-3E31-DC23D04F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Kim Wolf Botnet attack Introduction and Case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A8419-1E63-A5C9-500E-877DAF031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This botnet attack took place in 2025-2026 with cyber security researchers revealing over 2 million active devices were compromised.</a:t>
            </a:r>
          </a:p>
          <a:p>
            <a:r>
              <a:rPr lang="en-US" sz="2000" b="1"/>
              <a:t>This attack mainly focused on devices that were running Android Operating Systems with the android debug bridge interface left open.</a:t>
            </a:r>
          </a:p>
          <a:p>
            <a:r>
              <a:rPr lang="en-US" sz="2000" b="1"/>
              <a:t>This includes smart TVs and smart mobile devices.</a:t>
            </a:r>
          </a:p>
          <a:p>
            <a:r>
              <a:rPr lang="en-US" sz="2000" b="1"/>
              <a:t>Kim Wolf Botnet attack was created using compromised devices to carry about Distributed Denial of Service attacks. </a:t>
            </a:r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408590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B16C3-923A-2E05-11E8-7EEEBD2E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Summary of what happened and where things went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948A0-B82C-4D67-E5C3-6A5773041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The root cause of what happened is that devices were configured with the Android Debug Bridge interface left open over the internet.</a:t>
            </a:r>
          </a:p>
          <a:p>
            <a:r>
              <a:rPr lang="en-US" sz="2000" b="1"/>
              <a:t>When this interface is open and without authentication would allow for anyone to send remote terminal commands.</a:t>
            </a:r>
          </a:p>
          <a:p>
            <a:r>
              <a:rPr lang="en-US" sz="2000" b="1"/>
              <a:t>Where it went wrong was having vendors ship out production firmware with vulnerabilities left active.</a:t>
            </a:r>
          </a:p>
          <a:p>
            <a:r>
              <a:rPr lang="en-US" sz="2000" b="1"/>
              <a:t>Once this exploit was found consumers were connecting these devices to the internet with no protection.</a:t>
            </a:r>
          </a:p>
        </p:txBody>
      </p:sp>
    </p:spTree>
    <p:extLst>
      <p:ext uri="{BB962C8B-B14F-4D97-AF65-F5344CB8AC3E}">
        <p14:creationId xmlns:p14="http://schemas.microsoft.com/office/powerpoint/2010/main" val="193450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0AC74-8465-6509-22DB-B5A23083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What were the recommendations for protection, and what was the end result?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689FE-7A1E-F90F-7529-0C048E419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Protection and mitigation recommendations were to implement strict ingress network firewall rules.</a:t>
            </a:r>
          </a:p>
          <a:p>
            <a:r>
              <a:rPr lang="en-US" sz="2000" b="1"/>
              <a:t>Authentication and cryptographic key pairing before remote connection can take place.</a:t>
            </a:r>
          </a:p>
          <a:p>
            <a:r>
              <a:rPr lang="en-US" sz="2000" b="1"/>
              <a:t>Disabling ADB over Wi-Fi Network interfaces in production grade firmware. </a:t>
            </a:r>
          </a:p>
          <a:p>
            <a:r>
              <a:rPr lang="en-US" sz="2000" b="1"/>
              <a:t>The result was that global enforcement agencies broke up the major components of these large botnets, but millions of devices are still currently vulnerable </a:t>
            </a:r>
          </a:p>
        </p:txBody>
      </p:sp>
    </p:spTree>
    <p:extLst>
      <p:ext uri="{BB962C8B-B14F-4D97-AF65-F5344CB8AC3E}">
        <p14:creationId xmlns:p14="http://schemas.microsoft.com/office/powerpoint/2010/main" val="339149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789C7-D56A-73AA-C7EE-16AAC50B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List/Name a Tool that could used for hacking IoT or Mobile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B968-627C-F36F-3AD1-DF16AFBA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Relating back to our class there are a few tools that can be used for this exploit to have occurred.</a:t>
            </a:r>
          </a:p>
          <a:p>
            <a:r>
              <a:rPr lang="en-US" sz="2000" b="1"/>
              <a:t>You could use Nmap to scan a target network and see if there are open ports running on that device such as 5555 for this attack. </a:t>
            </a:r>
          </a:p>
          <a:p>
            <a:r>
              <a:rPr lang="en-US" sz="2000" b="1"/>
              <a:t>In this attack they also used Shodan which is an internet wide scanning tool to find the devices broadcasting open 5555 ports.</a:t>
            </a:r>
          </a:p>
          <a:p>
            <a:r>
              <a:rPr lang="en-US" sz="2000" b="1"/>
              <a:t>And finally, they used the Android Debug Bridge to push malicious scripts on targets using adb install/ adb shell commands.</a:t>
            </a:r>
          </a:p>
        </p:txBody>
      </p:sp>
    </p:spTree>
    <p:extLst>
      <p:ext uri="{BB962C8B-B14F-4D97-AF65-F5344CB8AC3E}">
        <p14:creationId xmlns:p14="http://schemas.microsoft.com/office/powerpoint/2010/main" val="49408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EB77B-5D5A-FCD0-71B3-0FA2818C0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Analysis and Evaluation of the Security Principles Applied in the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5D75-10B5-42FB-3E8D-ACA4DE61A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Security principles that were violated in this case were a plentiful.</a:t>
            </a:r>
          </a:p>
          <a:p>
            <a:r>
              <a:rPr lang="en-US" sz="2000" b="1"/>
              <a:t>The first being the principle of least privilege, with the ADB bridge being left upon allowed attackers to have root and shell access on IoT devices.</a:t>
            </a:r>
          </a:p>
          <a:p>
            <a:r>
              <a:rPr lang="en-US" sz="2000" b="1"/>
              <a:t>Defense in depth was also violated on local/home based users because they don’t normally implement local access controls or firewalls. </a:t>
            </a:r>
          </a:p>
          <a:p>
            <a:r>
              <a:rPr lang="en-US" sz="2000" b="1"/>
              <a:t>The last principle that was violated was security by default; users assume that software and hardware would be shipped in its most secure state. </a:t>
            </a:r>
          </a:p>
        </p:txBody>
      </p:sp>
    </p:spTree>
    <p:extLst>
      <p:ext uri="{BB962C8B-B14F-4D97-AF65-F5344CB8AC3E}">
        <p14:creationId xmlns:p14="http://schemas.microsoft.com/office/powerpoint/2010/main" val="40535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DF66E6-62E7-F50A-1ACB-B8F18E404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u="sng">
                <a:solidFill>
                  <a:srgbClr val="FFFFFF"/>
                </a:solidFill>
              </a:rPr>
              <a:t>Reference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7F1BC-CA51-A378-C962-9863C8EE0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b="1">
                <a:effectLst/>
              </a:rPr>
              <a:t>MalBot. (2026, February 10). </a:t>
            </a:r>
            <a:r>
              <a:rPr lang="en-US" sz="2000" b="1" i="1">
                <a:effectLst/>
              </a:rPr>
              <a:t>IOT Hacking Statistics 2026: Global trends and key insights</a:t>
            </a:r>
            <a:r>
              <a:rPr lang="en-US" sz="2000" b="1">
                <a:effectLst/>
              </a:rPr>
              <a:t>. Malware Analysis, News and Indicators. </a:t>
            </a:r>
            <a:r>
              <a:rPr lang="en-US" sz="2000" b="1">
                <a:effectLst/>
                <a:hlinkClick r:id="rId2"/>
              </a:rPr>
              <a:t>https://malware.news/t/iot-hacking-statistics-2026-global-trends-and-key-insights/103975</a:t>
            </a:r>
            <a:r>
              <a:rPr lang="en-US" sz="2000" b="1">
                <a:effectLst/>
              </a:rPr>
              <a:t> </a:t>
            </a:r>
          </a:p>
          <a:p>
            <a:r>
              <a:rPr lang="en-US" sz="2000" b="1" i="1">
                <a:effectLst/>
              </a:rPr>
              <a:t>The top internet of things (iot) cybersecurity breaches in 2026</a:t>
            </a:r>
            <a:r>
              <a:rPr lang="en-US" sz="2000" b="1">
                <a:effectLst/>
              </a:rPr>
              <a:t>. Asimily. (2026, May 12). </a:t>
            </a:r>
            <a:r>
              <a:rPr lang="en-US" sz="2000" b="1">
                <a:effectLst/>
                <a:hlinkClick r:id="rId3"/>
              </a:rPr>
              <a:t>https://asimily.com/blog/the-top-internet-of-things-iot-cybersecurity-breaches-in-2026/</a:t>
            </a:r>
            <a:r>
              <a:rPr lang="en-US" sz="2000" b="1">
                <a:effectLst/>
              </a:rPr>
              <a:t> </a:t>
            </a:r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244440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532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5.1 In-Class Activity: Case Study: IoT, SCADA and Mobile Applications</vt:lpstr>
      <vt:lpstr>Kim Wolf Botnet attack Introduction and Case Overview</vt:lpstr>
      <vt:lpstr>Summary of what happened and where things went wrong</vt:lpstr>
      <vt:lpstr>What were the recommendations for protection, and what was the end result?</vt:lpstr>
      <vt:lpstr>List/Name a Tool that could used for hacking IoT or Mobile Applications</vt:lpstr>
      <vt:lpstr>Analysis and Evaluation of the Security Principles Applied in the case</vt:lpstr>
      <vt:lpstr>Reference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VB-Meredith, Charles (Virginia Beach)</dc:creator>
  <cp:lastModifiedBy>VB-Meredith, Charles (Virginia Beach)</cp:lastModifiedBy>
  <cp:revision>1</cp:revision>
  <dcterms:created xsi:type="dcterms:W3CDTF">2026-05-21T00:09:05Z</dcterms:created>
  <dcterms:modified xsi:type="dcterms:W3CDTF">2026-05-21T00:35:59Z</dcterms:modified>
</cp:coreProperties>
</file>