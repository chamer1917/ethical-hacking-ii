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256" r:id="rId5"/>
    <p:sldId id="257" r:id="rId6"/>
    <p:sldId id="267" r:id="rId7"/>
    <p:sldId id="266" r:id="rId8"/>
    <p:sldId id="258" r:id="rId9"/>
    <p:sldId id="259" r:id="rId10"/>
    <p:sldId id="260" r:id="rId11"/>
    <p:sldId id="265" r:id="rId12"/>
    <p:sldId id="261" r:id="rId13"/>
    <p:sldId id="263" r:id="rId14"/>
    <p:sldId id="264" r:id="rId15"/>
    <p:sldId id="268" r:id="rId16"/>
    <p:sldId id="269" r:id="rId17"/>
    <p:sldId id="270" r:id="rId18"/>
    <p:sldId id="272" r:id="rId19"/>
    <p:sldId id="271" r:id="rId20"/>
    <p:sldId id="273" r:id="rId21"/>
    <p:sldId id="262"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72C4"/>
    <a:srgbClr val="30CEB0"/>
    <a:srgbClr val="D0F610"/>
    <a:srgbClr val="112986"/>
    <a:srgbClr val="FFC000"/>
    <a:srgbClr val="27DD71"/>
    <a:srgbClr val="477FA5"/>
    <a:srgbClr val="70EE12"/>
    <a:srgbClr val="3BAA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4F4CED-B6CA-4FC3-BD20-CAB5F792AC78}" v="5" dt="2025-06-23T01:40:17.8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77" autoAdjust="0"/>
    <p:restoredTop sz="85070" autoAdjust="0"/>
  </p:normalViewPr>
  <p:slideViewPr>
    <p:cSldViewPr snapToGrid="0">
      <p:cViewPr varScale="1">
        <p:scale>
          <a:sx n="61" d="100"/>
          <a:sy n="61" d="100"/>
        </p:scale>
        <p:origin x="9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6" Type="http://schemas.openxmlformats.org/officeDocument/2006/relationships/image" Target="../media/image21.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6" Type="http://schemas.openxmlformats.org/officeDocument/2006/relationships/image" Target="../media/image21.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65AB66-5043-4A59-B2BE-52AFF909848A}" type="doc">
      <dgm:prSet loTypeId="urn:microsoft.com/office/officeart/2018/5/layout/IconLeafLabelList" loCatId="icon" qsTypeId="urn:microsoft.com/office/officeart/2005/8/quickstyle/simple5" qsCatId="simple" csTypeId="urn:microsoft.com/office/officeart/2005/8/colors/colorful4" csCatId="colorful" phldr="1"/>
      <dgm:spPr/>
      <dgm:t>
        <a:bodyPr/>
        <a:lstStyle/>
        <a:p>
          <a:endParaRPr lang="en-US"/>
        </a:p>
      </dgm:t>
    </dgm:pt>
    <dgm:pt modelId="{2A98AB85-C837-405A-9708-14C1A349729A}">
      <dgm:prSet custT="1"/>
      <dgm:spPr/>
      <dgm:t>
        <a:bodyPr/>
        <a:lstStyle/>
        <a:p>
          <a:pPr>
            <a:lnSpc>
              <a:spcPct val="100000"/>
            </a:lnSpc>
            <a:defRPr cap="all"/>
          </a:pPr>
          <a:r>
            <a:rPr lang="en-US" sz="1600" dirty="0"/>
            <a:t>Stealing CC info or other sensitive credentials</a:t>
          </a:r>
        </a:p>
      </dgm:t>
    </dgm:pt>
    <dgm:pt modelId="{0E7095C1-03ED-4CF4-8C79-989851CF686D}" type="parTrans" cxnId="{CDD14BF2-B772-4794-8A48-E9AFAB01C757}">
      <dgm:prSet/>
      <dgm:spPr/>
      <dgm:t>
        <a:bodyPr/>
        <a:lstStyle/>
        <a:p>
          <a:endParaRPr lang="en-US"/>
        </a:p>
      </dgm:t>
    </dgm:pt>
    <dgm:pt modelId="{54AAF1C0-FB28-4365-9BCA-051B2F1F8E49}" type="sibTrans" cxnId="{CDD14BF2-B772-4794-8A48-E9AFAB01C757}">
      <dgm:prSet/>
      <dgm:spPr/>
      <dgm:t>
        <a:bodyPr/>
        <a:lstStyle/>
        <a:p>
          <a:endParaRPr lang="en-US"/>
        </a:p>
      </dgm:t>
    </dgm:pt>
    <dgm:pt modelId="{3F6402C9-3800-4A0D-A171-E51A84A94DD7}">
      <dgm:prSet custT="1"/>
      <dgm:spPr/>
      <dgm:t>
        <a:bodyPr/>
        <a:lstStyle/>
        <a:p>
          <a:pPr>
            <a:lnSpc>
              <a:spcPct val="100000"/>
            </a:lnSpc>
            <a:defRPr cap="all"/>
          </a:pPr>
          <a:r>
            <a:rPr lang="en-US" sz="1600" dirty="0"/>
            <a:t>Incorporating the server into a botnet</a:t>
          </a:r>
        </a:p>
      </dgm:t>
    </dgm:pt>
    <dgm:pt modelId="{12865F59-17DC-4DC9-B602-0AE9D1E4A797}" type="parTrans" cxnId="{5D853082-8060-4BE0-8114-93B8FD1FF7D4}">
      <dgm:prSet/>
      <dgm:spPr/>
      <dgm:t>
        <a:bodyPr/>
        <a:lstStyle/>
        <a:p>
          <a:endParaRPr lang="en-US"/>
        </a:p>
      </dgm:t>
    </dgm:pt>
    <dgm:pt modelId="{C591C3D1-C94F-4DA4-8B98-9E0AB2AB372F}" type="sibTrans" cxnId="{5D853082-8060-4BE0-8114-93B8FD1FF7D4}">
      <dgm:prSet/>
      <dgm:spPr/>
      <dgm:t>
        <a:bodyPr/>
        <a:lstStyle/>
        <a:p>
          <a:endParaRPr lang="en-US"/>
        </a:p>
      </dgm:t>
    </dgm:pt>
    <dgm:pt modelId="{E94720E1-39B9-4A43-85BB-BFD3ACB9B4CF}">
      <dgm:prSet custT="1"/>
      <dgm:spPr/>
      <dgm:t>
        <a:bodyPr/>
        <a:lstStyle/>
        <a:p>
          <a:pPr>
            <a:lnSpc>
              <a:spcPct val="100000"/>
            </a:lnSpc>
            <a:defRPr cap="all"/>
          </a:pPr>
          <a:r>
            <a:rPr lang="en-US" sz="1600" dirty="0"/>
            <a:t>DB compromise</a:t>
          </a:r>
        </a:p>
      </dgm:t>
    </dgm:pt>
    <dgm:pt modelId="{599237FA-33A9-4B13-8B0F-FC96986467C7}" type="parTrans" cxnId="{9DBD7FDE-41DC-45F7-8203-5C3376F1F73F}">
      <dgm:prSet/>
      <dgm:spPr/>
      <dgm:t>
        <a:bodyPr/>
        <a:lstStyle/>
        <a:p>
          <a:endParaRPr lang="en-US"/>
        </a:p>
      </dgm:t>
    </dgm:pt>
    <dgm:pt modelId="{21A75759-862C-4A97-BF38-FA19639B998F}" type="sibTrans" cxnId="{9DBD7FDE-41DC-45F7-8203-5C3376F1F73F}">
      <dgm:prSet/>
      <dgm:spPr/>
      <dgm:t>
        <a:bodyPr/>
        <a:lstStyle/>
        <a:p>
          <a:endParaRPr lang="en-US"/>
        </a:p>
      </dgm:t>
    </dgm:pt>
    <dgm:pt modelId="{7FDB2730-60B7-4103-9E32-9990EDA1B298}">
      <dgm:prSet custT="1"/>
      <dgm:spPr/>
      <dgm:t>
        <a:bodyPr/>
        <a:lstStyle/>
        <a:p>
          <a:pPr>
            <a:lnSpc>
              <a:spcPct val="100000"/>
            </a:lnSpc>
            <a:defRPr cap="all"/>
          </a:pPr>
          <a:r>
            <a:rPr lang="en-US" sz="1600" dirty="0"/>
            <a:t>Hiding/redirecting traffic</a:t>
          </a:r>
        </a:p>
      </dgm:t>
    </dgm:pt>
    <dgm:pt modelId="{2741EF54-D77E-46B5-BC72-20B502401E3D}" type="parTrans" cxnId="{67466ADE-1F8E-4B0C-88EC-FEF3A504BD69}">
      <dgm:prSet/>
      <dgm:spPr/>
      <dgm:t>
        <a:bodyPr/>
        <a:lstStyle/>
        <a:p>
          <a:endParaRPr lang="en-US"/>
        </a:p>
      </dgm:t>
    </dgm:pt>
    <dgm:pt modelId="{DBC9F707-E0DB-4FF5-AE13-6699DA559A66}" type="sibTrans" cxnId="{67466ADE-1F8E-4B0C-88EC-FEF3A504BD69}">
      <dgm:prSet/>
      <dgm:spPr/>
      <dgm:t>
        <a:bodyPr/>
        <a:lstStyle/>
        <a:p>
          <a:endParaRPr lang="en-US"/>
        </a:p>
      </dgm:t>
    </dgm:pt>
    <dgm:pt modelId="{3BCE3F6F-526F-4820-A924-50E5585C5C16}">
      <dgm:prSet/>
      <dgm:spPr/>
      <dgm:t>
        <a:bodyPr/>
        <a:lstStyle/>
        <a:p>
          <a:pPr>
            <a:lnSpc>
              <a:spcPct val="100000"/>
            </a:lnSpc>
            <a:defRPr cap="all"/>
          </a:pPr>
          <a:r>
            <a:rPr lang="en-US" dirty="0"/>
            <a:t>Stealing closed source software</a:t>
          </a:r>
        </a:p>
      </dgm:t>
    </dgm:pt>
    <dgm:pt modelId="{A48B27CE-02A2-4D53-813A-6E749C0F19D0}" type="parTrans" cxnId="{74FD74E7-AFAA-46E3-9577-50B413C664FD}">
      <dgm:prSet/>
      <dgm:spPr/>
      <dgm:t>
        <a:bodyPr/>
        <a:lstStyle/>
        <a:p>
          <a:endParaRPr lang="en-US"/>
        </a:p>
      </dgm:t>
    </dgm:pt>
    <dgm:pt modelId="{E8E029C3-6061-4088-87CB-CDCB355E1462}" type="sibTrans" cxnId="{74FD74E7-AFAA-46E3-9577-50B413C664FD}">
      <dgm:prSet/>
      <dgm:spPr/>
      <dgm:t>
        <a:bodyPr/>
        <a:lstStyle/>
        <a:p>
          <a:endParaRPr lang="en-US"/>
        </a:p>
      </dgm:t>
    </dgm:pt>
    <dgm:pt modelId="{CAB7884E-23C7-46F3-AFA6-03699BD44600}">
      <dgm:prSet/>
      <dgm:spPr/>
      <dgm:t>
        <a:bodyPr/>
        <a:lstStyle/>
        <a:p>
          <a:pPr>
            <a:lnSpc>
              <a:spcPct val="100000"/>
            </a:lnSpc>
            <a:defRPr cap="all"/>
          </a:pPr>
          <a:r>
            <a:rPr lang="en-US" dirty="0"/>
            <a:t>Privilege escalation</a:t>
          </a:r>
        </a:p>
      </dgm:t>
    </dgm:pt>
    <dgm:pt modelId="{8257D81C-F0C4-46A9-A9CF-62E6155DDC6F}" type="parTrans" cxnId="{C3D86D6F-2E1A-4536-882F-7350B7FEF70C}">
      <dgm:prSet/>
      <dgm:spPr/>
      <dgm:t>
        <a:bodyPr/>
        <a:lstStyle/>
        <a:p>
          <a:endParaRPr lang="en-US"/>
        </a:p>
      </dgm:t>
    </dgm:pt>
    <dgm:pt modelId="{DA02CD28-BADC-4A76-AAB0-F69FD4F38216}" type="sibTrans" cxnId="{C3D86D6F-2E1A-4536-882F-7350B7FEF70C}">
      <dgm:prSet/>
      <dgm:spPr/>
      <dgm:t>
        <a:bodyPr/>
        <a:lstStyle/>
        <a:p>
          <a:endParaRPr lang="en-US"/>
        </a:p>
      </dgm:t>
    </dgm:pt>
    <dgm:pt modelId="{9B06FE5F-B16C-4D1F-B93E-D72304178044}">
      <dgm:prSet/>
      <dgm:spPr/>
      <dgm:t>
        <a:bodyPr/>
        <a:lstStyle/>
        <a:p>
          <a:pPr>
            <a:lnSpc>
              <a:spcPct val="100000"/>
            </a:lnSpc>
            <a:defRPr cap="all"/>
          </a:pPr>
          <a:r>
            <a:rPr lang="en-US" dirty="0"/>
            <a:t>Curiosity</a:t>
          </a:r>
        </a:p>
      </dgm:t>
    </dgm:pt>
    <dgm:pt modelId="{E7D5A46C-C9D0-45E2-8B98-6B5DC51E49A5}" type="parTrans" cxnId="{67774B12-45FE-463F-A442-E156CEB1859F}">
      <dgm:prSet/>
      <dgm:spPr/>
      <dgm:t>
        <a:bodyPr/>
        <a:lstStyle/>
        <a:p>
          <a:endParaRPr lang="en-US"/>
        </a:p>
      </dgm:t>
    </dgm:pt>
    <dgm:pt modelId="{BCCF146F-7FF1-4F70-8029-5DFCD0B1FF02}" type="sibTrans" cxnId="{67774B12-45FE-463F-A442-E156CEB1859F}">
      <dgm:prSet/>
      <dgm:spPr/>
      <dgm:t>
        <a:bodyPr/>
        <a:lstStyle/>
        <a:p>
          <a:endParaRPr lang="en-US"/>
        </a:p>
      </dgm:t>
    </dgm:pt>
    <dgm:pt modelId="{B0CFECD3-E314-4641-96B0-5C038F1C2AC1}">
      <dgm:prSet/>
      <dgm:spPr/>
      <dgm:t>
        <a:bodyPr/>
        <a:lstStyle/>
        <a:p>
          <a:pPr>
            <a:lnSpc>
              <a:spcPct val="100000"/>
            </a:lnSpc>
            <a:defRPr cap="all"/>
          </a:pPr>
          <a:r>
            <a:rPr lang="en-US" dirty="0"/>
            <a:t>Damaging the reputation of the target</a:t>
          </a:r>
        </a:p>
      </dgm:t>
    </dgm:pt>
    <dgm:pt modelId="{071168C3-BBB5-42A3-9107-E0482DDF19BC}" type="parTrans" cxnId="{1570894A-E0D9-4C36-8E96-F3A4CD316E53}">
      <dgm:prSet/>
      <dgm:spPr/>
      <dgm:t>
        <a:bodyPr/>
        <a:lstStyle/>
        <a:p>
          <a:endParaRPr lang="en-US"/>
        </a:p>
      </dgm:t>
    </dgm:pt>
    <dgm:pt modelId="{AACFECAC-0A1F-4502-98BB-1BB2E25EE85F}" type="sibTrans" cxnId="{1570894A-E0D9-4C36-8E96-F3A4CD316E53}">
      <dgm:prSet/>
      <dgm:spPr/>
      <dgm:t>
        <a:bodyPr/>
        <a:lstStyle/>
        <a:p>
          <a:endParaRPr lang="en-US"/>
        </a:p>
      </dgm:t>
    </dgm:pt>
    <dgm:pt modelId="{DB69B177-C56E-4495-BC2E-1938673DB269}" type="pres">
      <dgm:prSet presAssocID="{7265AB66-5043-4A59-B2BE-52AFF909848A}" presName="root" presStyleCnt="0">
        <dgm:presLayoutVars>
          <dgm:dir/>
          <dgm:resizeHandles val="exact"/>
        </dgm:presLayoutVars>
      </dgm:prSet>
      <dgm:spPr/>
    </dgm:pt>
    <dgm:pt modelId="{724D5A47-ED0D-459E-9FDE-7995E6429372}" type="pres">
      <dgm:prSet presAssocID="{2A98AB85-C837-405A-9708-14C1A349729A}" presName="compNode" presStyleCnt="0"/>
      <dgm:spPr/>
    </dgm:pt>
    <dgm:pt modelId="{E7C46D91-49D7-4303-BCCC-37B405BE0DE6}" type="pres">
      <dgm:prSet presAssocID="{2A98AB85-C837-405A-9708-14C1A349729A}" presName="iconBgRect" presStyleLbl="bgShp" presStyleIdx="0" presStyleCnt="8"/>
      <dgm:spPr>
        <a:prstGeom prst="round2DiagRect">
          <a:avLst>
            <a:gd name="adj1" fmla="val 29727"/>
            <a:gd name="adj2" fmla="val 0"/>
          </a:avLst>
        </a:prstGeom>
        <a:solidFill>
          <a:schemeClr val="bg1"/>
        </a:solidFill>
        <a:ln w="38100">
          <a:solidFill>
            <a:srgbClr val="FFC000"/>
          </a:solidFill>
        </a:ln>
      </dgm:spPr>
    </dgm:pt>
    <dgm:pt modelId="{7121ACFF-E608-4B42-BD9E-3A331D445890}" type="pres">
      <dgm:prSet presAssocID="{2A98AB85-C837-405A-9708-14C1A349729A}"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ck"/>
        </a:ext>
      </dgm:extLst>
    </dgm:pt>
    <dgm:pt modelId="{FF0385ED-7B99-482D-B4B5-C793C251CE67}" type="pres">
      <dgm:prSet presAssocID="{2A98AB85-C837-405A-9708-14C1A349729A}" presName="spaceRect" presStyleCnt="0"/>
      <dgm:spPr/>
    </dgm:pt>
    <dgm:pt modelId="{2B8EEE94-61C1-4177-AAD6-D82B05C66744}" type="pres">
      <dgm:prSet presAssocID="{2A98AB85-C837-405A-9708-14C1A349729A}" presName="textRect" presStyleLbl="revTx" presStyleIdx="0" presStyleCnt="8">
        <dgm:presLayoutVars>
          <dgm:chMax val="1"/>
          <dgm:chPref val="1"/>
        </dgm:presLayoutVars>
      </dgm:prSet>
      <dgm:spPr/>
    </dgm:pt>
    <dgm:pt modelId="{3F1749EE-D130-46D5-99A2-D6DA101A2177}" type="pres">
      <dgm:prSet presAssocID="{54AAF1C0-FB28-4365-9BCA-051B2F1F8E49}" presName="sibTrans" presStyleCnt="0"/>
      <dgm:spPr/>
    </dgm:pt>
    <dgm:pt modelId="{2A088B2E-4DF2-45AE-99EF-9A9C9D4D4379}" type="pres">
      <dgm:prSet presAssocID="{3F6402C9-3800-4A0D-A171-E51A84A94DD7}" presName="compNode" presStyleCnt="0"/>
      <dgm:spPr/>
    </dgm:pt>
    <dgm:pt modelId="{7B28B517-4A0C-43A7-95B4-31B779EF6E3E}" type="pres">
      <dgm:prSet presAssocID="{3F6402C9-3800-4A0D-A171-E51A84A94DD7}" presName="iconBgRect" presStyleLbl="bgShp" presStyleIdx="1" presStyleCnt="8"/>
      <dgm:spPr>
        <a:prstGeom prst="round2DiagRect">
          <a:avLst>
            <a:gd name="adj1" fmla="val 29727"/>
            <a:gd name="adj2" fmla="val 0"/>
          </a:avLst>
        </a:prstGeom>
        <a:solidFill>
          <a:schemeClr val="bg1"/>
        </a:solidFill>
        <a:ln w="38100">
          <a:solidFill>
            <a:srgbClr val="D0F610"/>
          </a:solidFill>
        </a:ln>
      </dgm:spPr>
    </dgm:pt>
    <dgm:pt modelId="{71D7E2E4-2B61-4137-9063-4A3536424E9B}" type="pres">
      <dgm:prSet presAssocID="{3F6402C9-3800-4A0D-A171-E51A84A94DD7}"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39C6120B-F8BE-45DB-88C6-DA620D4F2029}" type="pres">
      <dgm:prSet presAssocID="{3F6402C9-3800-4A0D-A171-E51A84A94DD7}" presName="spaceRect" presStyleCnt="0"/>
      <dgm:spPr/>
    </dgm:pt>
    <dgm:pt modelId="{64E9DAAA-C7D1-41A4-B258-355206D072D9}" type="pres">
      <dgm:prSet presAssocID="{3F6402C9-3800-4A0D-A171-E51A84A94DD7}" presName="textRect" presStyleLbl="revTx" presStyleIdx="1" presStyleCnt="8">
        <dgm:presLayoutVars>
          <dgm:chMax val="1"/>
          <dgm:chPref val="1"/>
        </dgm:presLayoutVars>
      </dgm:prSet>
      <dgm:spPr/>
    </dgm:pt>
    <dgm:pt modelId="{3507F089-3B64-4844-ADE9-37C41CB258E0}" type="pres">
      <dgm:prSet presAssocID="{C591C3D1-C94F-4DA4-8B98-9E0AB2AB372F}" presName="sibTrans" presStyleCnt="0"/>
      <dgm:spPr/>
    </dgm:pt>
    <dgm:pt modelId="{0877C4B3-5F0B-4957-823A-83EE9AD926FD}" type="pres">
      <dgm:prSet presAssocID="{E94720E1-39B9-4A43-85BB-BFD3ACB9B4CF}" presName="compNode" presStyleCnt="0"/>
      <dgm:spPr/>
    </dgm:pt>
    <dgm:pt modelId="{8259C00C-1A22-48B0-B846-BC023C9F1F7E}" type="pres">
      <dgm:prSet presAssocID="{E94720E1-39B9-4A43-85BB-BFD3ACB9B4CF}" presName="iconBgRect" presStyleLbl="bgShp" presStyleIdx="2" presStyleCnt="8"/>
      <dgm:spPr>
        <a:prstGeom prst="round2DiagRect">
          <a:avLst>
            <a:gd name="adj1" fmla="val 29727"/>
            <a:gd name="adj2" fmla="val 0"/>
          </a:avLst>
        </a:prstGeom>
        <a:solidFill>
          <a:schemeClr val="bg1"/>
        </a:solidFill>
        <a:ln w="38100">
          <a:solidFill>
            <a:srgbClr val="70EE12"/>
          </a:solidFill>
        </a:ln>
      </dgm:spPr>
    </dgm:pt>
    <dgm:pt modelId="{1054E8B9-95DF-4009-A243-EB090BBE00DF}" type="pres">
      <dgm:prSet presAssocID="{E94720E1-39B9-4A43-85BB-BFD3ACB9B4CF}"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puter"/>
        </a:ext>
      </dgm:extLst>
    </dgm:pt>
    <dgm:pt modelId="{7E0683EC-3319-4B9A-9FA0-60AE56B9BE9A}" type="pres">
      <dgm:prSet presAssocID="{E94720E1-39B9-4A43-85BB-BFD3ACB9B4CF}" presName="spaceRect" presStyleCnt="0"/>
      <dgm:spPr/>
    </dgm:pt>
    <dgm:pt modelId="{C526E7FA-F406-4DB3-BF05-462405B05146}" type="pres">
      <dgm:prSet presAssocID="{E94720E1-39B9-4A43-85BB-BFD3ACB9B4CF}" presName="textRect" presStyleLbl="revTx" presStyleIdx="2" presStyleCnt="8">
        <dgm:presLayoutVars>
          <dgm:chMax val="1"/>
          <dgm:chPref val="1"/>
        </dgm:presLayoutVars>
      </dgm:prSet>
      <dgm:spPr/>
    </dgm:pt>
    <dgm:pt modelId="{42877B5B-33B8-48E0-8EBF-9EFA754D5546}" type="pres">
      <dgm:prSet presAssocID="{21A75759-862C-4A97-BF38-FA19639B998F}" presName="sibTrans" presStyleCnt="0"/>
      <dgm:spPr/>
    </dgm:pt>
    <dgm:pt modelId="{BD10A9E7-B138-4B16-A894-03EBCF92DADB}" type="pres">
      <dgm:prSet presAssocID="{7FDB2730-60B7-4103-9E32-9990EDA1B298}" presName="compNode" presStyleCnt="0"/>
      <dgm:spPr/>
    </dgm:pt>
    <dgm:pt modelId="{57B59FF2-6364-497C-8DA1-65DE09C9E9E5}" type="pres">
      <dgm:prSet presAssocID="{7FDB2730-60B7-4103-9E32-9990EDA1B298}" presName="iconBgRect" presStyleLbl="bgShp" presStyleIdx="3" presStyleCnt="8"/>
      <dgm:spPr>
        <a:prstGeom prst="round2DiagRect">
          <a:avLst>
            <a:gd name="adj1" fmla="val 29727"/>
            <a:gd name="adj2" fmla="val 0"/>
          </a:avLst>
        </a:prstGeom>
        <a:solidFill>
          <a:schemeClr val="bg1"/>
        </a:solidFill>
        <a:ln w="38100">
          <a:solidFill>
            <a:srgbClr val="27DD71"/>
          </a:solidFill>
        </a:ln>
      </dgm:spPr>
    </dgm:pt>
    <dgm:pt modelId="{7D669D35-4D97-4FD6-95D3-F880A4129D7A}" type="pres">
      <dgm:prSet presAssocID="{7FDB2730-60B7-4103-9E32-9990EDA1B298}"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raffic Light"/>
        </a:ext>
      </dgm:extLst>
    </dgm:pt>
    <dgm:pt modelId="{5C32855B-23CA-4597-ACF9-5016E2436341}" type="pres">
      <dgm:prSet presAssocID="{7FDB2730-60B7-4103-9E32-9990EDA1B298}" presName="spaceRect" presStyleCnt="0"/>
      <dgm:spPr/>
    </dgm:pt>
    <dgm:pt modelId="{F39040F6-69E6-49AF-AA13-BCC9696E6484}" type="pres">
      <dgm:prSet presAssocID="{7FDB2730-60B7-4103-9E32-9990EDA1B298}" presName="textRect" presStyleLbl="revTx" presStyleIdx="3" presStyleCnt="8">
        <dgm:presLayoutVars>
          <dgm:chMax val="1"/>
          <dgm:chPref val="1"/>
        </dgm:presLayoutVars>
      </dgm:prSet>
      <dgm:spPr/>
    </dgm:pt>
    <dgm:pt modelId="{4DC749D5-E6A0-486A-9D59-3F8501B0E352}" type="pres">
      <dgm:prSet presAssocID="{DBC9F707-E0DB-4FF5-AE13-6699DA559A66}" presName="sibTrans" presStyleCnt="0"/>
      <dgm:spPr/>
    </dgm:pt>
    <dgm:pt modelId="{78F5C823-50FD-4CCD-8735-FCE77A2DE403}" type="pres">
      <dgm:prSet presAssocID="{3BCE3F6F-526F-4820-A924-50E5585C5C16}" presName="compNode" presStyleCnt="0"/>
      <dgm:spPr/>
    </dgm:pt>
    <dgm:pt modelId="{CBC96F4F-CB58-4FC3-BBFE-43AACBD1094E}" type="pres">
      <dgm:prSet presAssocID="{3BCE3F6F-526F-4820-A924-50E5585C5C16}" presName="iconBgRect" presStyleLbl="bgShp" presStyleIdx="4" presStyleCnt="8"/>
      <dgm:spPr>
        <a:prstGeom prst="round2DiagRect">
          <a:avLst>
            <a:gd name="adj1" fmla="val 29727"/>
            <a:gd name="adj2" fmla="val 0"/>
          </a:avLst>
        </a:prstGeom>
        <a:solidFill>
          <a:schemeClr val="bg1"/>
        </a:solidFill>
        <a:ln w="38100">
          <a:solidFill>
            <a:srgbClr val="27DD71"/>
          </a:solidFill>
        </a:ln>
      </dgm:spPr>
    </dgm:pt>
    <dgm:pt modelId="{87D6E6C2-1C65-459C-A373-4AA87BFBE13B}" type="pres">
      <dgm:prSet presAssocID="{3BCE3F6F-526F-4820-A924-50E5585C5C16}"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Robber"/>
        </a:ext>
      </dgm:extLst>
    </dgm:pt>
    <dgm:pt modelId="{131D4815-7F24-47BC-9518-D5BA103FA594}" type="pres">
      <dgm:prSet presAssocID="{3BCE3F6F-526F-4820-A924-50E5585C5C16}" presName="spaceRect" presStyleCnt="0"/>
      <dgm:spPr/>
    </dgm:pt>
    <dgm:pt modelId="{AA65DDD9-5994-4708-BB16-23B67E786F2E}" type="pres">
      <dgm:prSet presAssocID="{3BCE3F6F-526F-4820-A924-50E5585C5C16}" presName="textRect" presStyleLbl="revTx" presStyleIdx="4" presStyleCnt="8">
        <dgm:presLayoutVars>
          <dgm:chMax val="1"/>
          <dgm:chPref val="1"/>
        </dgm:presLayoutVars>
      </dgm:prSet>
      <dgm:spPr/>
    </dgm:pt>
    <dgm:pt modelId="{1DE5786F-6F19-43C0-830F-027EF19E9AD9}" type="pres">
      <dgm:prSet presAssocID="{E8E029C3-6061-4088-87CB-CDCB355E1462}" presName="sibTrans" presStyleCnt="0"/>
      <dgm:spPr/>
    </dgm:pt>
    <dgm:pt modelId="{232A4AE5-C47A-40F3-A615-16851E4E5CAD}" type="pres">
      <dgm:prSet presAssocID="{CAB7884E-23C7-46F3-AFA6-03699BD44600}" presName="compNode" presStyleCnt="0"/>
      <dgm:spPr/>
    </dgm:pt>
    <dgm:pt modelId="{2D52366A-EEE8-4E6B-BDDD-C12CFC9609A3}" type="pres">
      <dgm:prSet presAssocID="{CAB7884E-23C7-46F3-AFA6-03699BD44600}" presName="iconBgRect" presStyleLbl="bgShp" presStyleIdx="5" presStyleCnt="8"/>
      <dgm:spPr>
        <a:prstGeom prst="round2DiagRect">
          <a:avLst>
            <a:gd name="adj1" fmla="val 29727"/>
            <a:gd name="adj2" fmla="val 0"/>
          </a:avLst>
        </a:prstGeom>
        <a:solidFill>
          <a:schemeClr val="bg1"/>
        </a:solidFill>
        <a:ln w="38100">
          <a:solidFill>
            <a:srgbClr val="30CEB0"/>
          </a:solidFill>
        </a:ln>
      </dgm:spPr>
    </dgm:pt>
    <dgm:pt modelId="{400D1170-A17A-4706-9CE2-6D03A01C8D8A}" type="pres">
      <dgm:prSet presAssocID="{CAB7884E-23C7-46F3-AFA6-03699BD44600}"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User"/>
        </a:ext>
      </dgm:extLst>
    </dgm:pt>
    <dgm:pt modelId="{CB8982C5-BCD7-4DF1-A415-B31CCFD27D3D}" type="pres">
      <dgm:prSet presAssocID="{CAB7884E-23C7-46F3-AFA6-03699BD44600}" presName="spaceRect" presStyleCnt="0"/>
      <dgm:spPr/>
    </dgm:pt>
    <dgm:pt modelId="{FDF41871-74FA-4C5A-B4EE-A695BC9F05AD}" type="pres">
      <dgm:prSet presAssocID="{CAB7884E-23C7-46F3-AFA6-03699BD44600}" presName="textRect" presStyleLbl="revTx" presStyleIdx="5" presStyleCnt="8">
        <dgm:presLayoutVars>
          <dgm:chMax val="1"/>
          <dgm:chPref val="1"/>
        </dgm:presLayoutVars>
      </dgm:prSet>
      <dgm:spPr/>
    </dgm:pt>
    <dgm:pt modelId="{8B3CD964-6383-4848-B8EB-F60CBE668414}" type="pres">
      <dgm:prSet presAssocID="{DA02CD28-BADC-4A76-AAB0-F69FD4F38216}" presName="sibTrans" presStyleCnt="0"/>
      <dgm:spPr/>
    </dgm:pt>
    <dgm:pt modelId="{C732E82A-BB2C-4E82-BC98-D619C745B327}" type="pres">
      <dgm:prSet presAssocID="{9B06FE5F-B16C-4D1F-B93E-D72304178044}" presName="compNode" presStyleCnt="0"/>
      <dgm:spPr/>
    </dgm:pt>
    <dgm:pt modelId="{76B1B3B1-18F0-49DB-9477-B7DEBD5B563C}" type="pres">
      <dgm:prSet presAssocID="{9B06FE5F-B16C-4D1F-B93E-D72304178044}" presName="iconBgRect" presStyleLbl="bgShp" presStyleIdx="6" presStyleCnt="8"/>
      <dgm:spPr>
        <a:prstGeom prst="round2DiagRect">
          <a:avLst>
            <a:gd name="adj1" fmla="val 29727"/>
            <a:gd name="adj2" fmla="val 0"/>
          </a:avLst>
        </a:prstGeom>
        <a:solidFill>
          <a:schemeClr val="bg1"/>
        </a:solidFill>
        <a:ln w="38100">
          <a:solidFill>
            <a:srgbClr val="3BAACB"/>
          </a:solidFill>
        </a:ln>
      </dgm:spPr>
    </dgm:pt>
    <dgm:pt modelId="{286BD07D-5DE5-4347-970E-61B147DC82FF}" type="pres">
      <dgm:prSet presAssocID="{9B06FE5F-B16C-4D1F-B93E-D72304178044}"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Question mark"/>
        </a:ext>
      </dgm:extLst>
    </dgm:pt>
    <dgm:pt modelId="{B8B92C63-F491-45A3-9495-B3C23A2E26C6}" type="pres">
      <dgm:prSet presAssocID="{9B06FE5F-B16C-4D1F-B93E-D72304178044}" presName="spaceRect" presStyleCnt="0"/>
      <dgm:spPr/>
    </dgm:pt>
    <dgm:pt modelId="{93345EE3-A0C5-4AEC-9CC2-FF7E560152E7}" type="pres">
      <dgm:prSet presAssocID="{9B06FE5F-B16C-4D1F-B93E-D72304178044}" presName="textRect" presStyleLbl="revTx" presStyleIdx="6" presStyleCnt="8">
        <dgm:presLayoutVars>
          <dgm:chMax val="1"/>
          <dgm:chPref val="1"/>
        </dgm:presLayoutVars>
      </dgm:prSet>
      <dgm:spPr/>
    </dgm:pt>
    <dgm:pt modelId="{9CD5A044-7973-4E73-87B3-06F82139795E}" type="pres">
      <dgm:prSet presAssocID="{BCCF146F-7FF1-4F70-8029-5DFCD0B1FF02}" presName="sibTrans" presStyleCnt="0"/>
      <dgm:spPr/>
    </dgm:pt>
    <dgm:pt modelId="{D32BAD80-2164-4925-A0AB-FFA92E808A45}" type="pres">
      <dgm:prSet presAssocID="{B0CFECD3-E314-4641-96B0-5C038F1C2AC1}" presName="compNode" presStyleCnt="0"/>
      <dgm:spPr/>
    </dgm:pt>
    <dgm:pt modelId="{CD062CAB-D108-4DB2-B862-20B603AB2EB3}" type="pres">
      <dgm:prSet presAssocID="{B0CFECD3-E314-4641-96B0-5C038F1C2AC1}" presName="iconBgRect" presStyleLbl="bgShp" presStyleIdx="7" presStyleCnt="8"/>
      <dgm:spPr>
        <a:prstGeom prst="round2DiagRect">
          <a:avLst>
            <a:gd name="adj1" fmla="val 29727"/>
            <a:gd name="adj2" fmla="val 0"/>
          </a:avLst>
        </a:prstGeom>
        <a:solidFill>
          <a:schemeClr val="bg1"/>
        </a:solidFill>
        <a:ln w="38100">
          <a:solidFill>
            <a:srgbClr val="4372C4"/>
          </a:solidFill>
        </a:ln>
      </dgm:spPr>
    </dgm:pt>
    <dgm:pt modelId="{B0CA83E6-203B-47F0-89C2-BAB0AD70D9F8}" type="pres">
      <dgm:prSet presAssocID="{B0CFECD3-E314-4641-96B0-5C038F1C2AC1}"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Bullseye"/>
        </a:ext>
      </dgm:extLst>
    </dgm:pt>
    <dgm:pt modelId="{4398B46E-723F-4F3A-801B-D0299F287EDB}" type="pres">
      <dgm:prSet presAssocID="{B0CFECD3-E314-4641-96B0-5C038F1C2AC1}" presName="spaceRect" presStyleCnt="0"/>
      <dgm:spPr/>
    </dgm:pt>
    <dgm:pt modelId="{CC9606F4-D44D-46D0-A470-01F44C16BC1A}" type="pres">
      <dgm:prSet presAssocID="{B0CFECD3-E314-4641-96B0-5C038F1C2AC1}" presName="textRect" presStyleLbl="revTx" presStyleIdx="7" presStyleCnt="8">
        <dgm:presLayoutVars>
          <dgm:chMax val="1"/>
          <dgm:chPref val="1"/>
        </dgm:presLayoutVars>
      </dgm:prSet>
      <dgm:spPr/>
    </dgm:pt>
  </dgm:ptLst>
  <dgm:cxnLst>
    <dgm:cxn modelId="{67774B12-45FE-463F-A442-E156CEB1859F}" srcId="{7265AB66-5043-4A59-B2BE-52AFF909848A}" destId="{9B06FE5F-B16C-4D1F-B93E-D72304178044}" srcOrd="6" destOrd="0" parTransId="{E7D5A46C-C9D0-45E2-8B98-6B5DC51E49A5}" sibTransId="{BCCF146F-7FF1-4F70-8029-5DFCD0B1FF02}"/>
    <dgm:cxn modelId="{B735163A-5819-47D1-8BD2-FF62C4CEB72C}" type="presOf" srcId="{E94720E1-39B9-4A43-85BB-BFD3ACB9B4CF}" destId="{C526E7FA-F406-4DB3-BF05-462405B05146}" srcOrd="0" destOrd="0" presId="urn:microsoft.com/office/officeart/2018/5/layout/IconLeafLabelList"/>
    <dgm:cxn modelId="{23755E5B-D466-4D25-BF50-BFAE2D6E825B}" type="presOf" srcId="{3BCE3F6F-526F-4820-A924-50E5585C5C16}" destId="{AA65DDD9-5994-4708-BB16-23B67E786F2E}" srcOrd="0" destOrd="0" presId="urn:microsoft.com/office/officeart/2018/5/layout/IconLeafLabelList"/>
    <dgm:cxn modelId="{1570894A-E0D9-4C36-8E96-F3A4CD316E53}" srcId="{7265AB66-5043-4A59-B2BE-52AFF909848A}" destId="{B0CFECD3-E314-4641-96B0-5C038F1C2AC1}" srcOrd="7" destOrd="0" parTransId="{071168C3-BBB5-42A3-9107-E0482DDF19BC}" sibTransId="{AACFECAC-0A1F-4502-98BB-1BB2E25EE85F}"/>
    <dgm:cxn modelId="{C3D86D6F-2E1A-4536-882F-7350B7FEF70C}" srcId="{7265AB66-5043-4A59-B2BE-52AFF909848A}" destId="{CAB7884E-23C7-46F3-AFA6-03699BD44600}" srcOrd="5" destOrd="0" parTransId="{8257D81C-F0C4-46A9-A9CF-62E6155DDC6F}" sibTransId="{DA02CD28-BADC-4A76-AAB0-F69FD4F38216}"/>
    <dgm:cxn modelId="{EF13F971-AB87-4602-9954-DA88338E2E62}" type="presOf" srcId="{CAB7884E-23C7-46F3-AFA6-03699BD44600}" destId="{FDF41871-74FA-4C5A-B4EE-A695BC9F05AD}" srcOrd="0" destOrd="0" presId="urn:microsoft.com/office/officeart/2018/5/layout/IconLeafLabelList"/>
    <dgm:cxn modelId="{1CD1697A-2719-441E-8536-CC04E0249D21}" type="presOf" srcId="{2A98AB85-C837-405A-9708-14C1A349729A}" destId="{2B8EEE94-61C1-4177-AAD6-D82B05C66744}" srcOrd="0" destOrd="0" presId="urn:microsoft.com/office/officeart/2018/5/layout/IconLeafLabelList"/>
    <dgm:cxn modelId="{2B2AE35A-0CBD-47E6-8E4C-BD6BED41C5BC}" type="presOf" srcId="{3F6402C9-3800-4A0D-A171-E51A84A94DD7}" destId="{64E9DAAA-C7D1-41A4-B258-355206D072D9}" srcOrd="0" destOrd="0" presId="urn:microsoft.com/office/officeart/2018/5/layout/IconLeafLabelList"/>
    <dgm:cxn modelId="{5D853082-8060-4BE0-8114-93B8FD1FF7D4}" srcId="{7265AB66-5043-4A59-B2BE-52AFF909848A}" destId="{3F6402C9-3800-4A0D-A171-E51A84A94DD7}" srcOrd="1" destOrd="0" parTransId="{12865F59-17DC-4DC9-B602-0AE9D1E4A797}" sibTransId="{C591C3D1-C94F-4DA4-8B98-9E0AB2AB372F}"/>
    <dgm:cxn modelId="{156BB093-4336-495A-B8E9-CC4E6E6257F1}" type="presOf" srcId="{9B06FE5F-B16C-4D1F-B93E-D72304178044}" destId="{93345EE3-A0C5-4AEC-9CC2-FF7E560152E7}" srcOrd="0" destOrd="0" presId="urn:microsoft.com/office/officeart/2018/5/layout/IconLeafLabelList"/>
    <dgm:cxn modelId="{705789D0-5383-4E8F-BA1F-74B1EF2C693A}" type="presOf" srcId="{7265AB66-5043-4A59-B2BE-52AFF909848A}" destId="{DB69B177-C56E-4495-BC2E-1938673DB269}" srcOrd="0" destOrd="0" presId="urn:microsoft.com/office/officeart/2018/5/layout/IconLeafLabelList"/>
    <dgm:cxn modelId="{67466ADE-1F8E-4B0C-88EC-FEF3A504BD69}" srcId="{7265AB66-5043-4A59-B2BE-52AFF909848A}" destId="{7FDB2730-60B7-4103-9E32-9990EDA1B298}" srcOrd="3" destOrd="0" parTransId="{2741EF54-D77E-46B5-BC72-20B502401E3D}" sibTransId="{DBC9F707-E0DB-4FF5-AE13-6699DA559A66}"/>
    <dgm:cxn modelId="{9DBD7FDE-41DC-45F7-8203-5C3376F1F73F}" srcId="{7265AB66-5043-4A59-B2BE-52AFF909848A}" destId="{E94720E1-39B9-4A43-85BB-BFD3ACB9B4CF}" srcOrd="2" destOrd="0" parTransId="{599237FA-33A9-4B13-8B0F-FC96986467C7}" sibTransId="{21A75759-862C-4A97-BF38-FA19639B998F}"/>
    <dgm:cxn modelId="{C1DC95E6-5284-4380-B346-752DBEDC5CD6}" type="presOf" srcId="{7FDB2730-60B7-4103-9E32-9990EDA1B298}" destId="{F39040F6-69E6-49AF-AA13-BCC9696E6484}" srcOrd="0" destOrd="0" presId="urn:microsoft.com/office/officeart/2018/5/layout/IconLeafLabelList"/>
    <dgm:cxn modelId="{74FD74E7-AFAA-46E3-9577-50B413C664FD}" srcId="{7265AB66-5043-4A59-B2BE-52AFF909848A}" destId="{3BCE3F6F-526F-4820-A924-50E5585C5C16}" srcOrd="4" destOrd="0" parTransId="{A48B27CE-02A2-4D53-813A-6E749C0F19D0}" sibTransId="{E8E029C3-6061-4088-87CB-CDCB355E1462}"/>
    <dgm:cxn modelId="{CDD14BF2-B772-4794-8A48-E9AFAB01C757}" srcId="{7265AB66-5043-4A59-B2BE-52AFF909848A}" destId="{2A98AB85-C837-405A-9708-14C1A349729A}" srcOrd="0" destOrd="0" parTransId="{0E7095C1-03ED-4CF4-8C79-989851CF686D}" sibTransId="{54AAF1C0-FB28-4365-9BCA-051B2F1F8E49}"/>
    <dgm:cxn modelId="{5A2999F5-69AE-41F6-AA23-5BBF034B5E12}" type="presOf" srcId="{B0CFECD3-E314-4641-96B0-5C038F1C2AC1}" destId="{CC9606F4-D44D-46D0-A470-01F44C16BC1A}" srcOrd="0" destOrd="0" presId="urn:microsoft.com/office/officeart/2018/5/layout/IconLeafLabelList"/>
    <dgm:cxn modelId="{D9AA6622-CC9D-4BB0-ABD8-B5B4135E20CB}" type="presParOf" srcId="{DB69B177-C56E-4495-BC2E-1938673DB269}" destId="{724D5A47-ED0D-459E-9FDE-7995E6429372}" srcOrd="0" destOrd="0" presId="urn:microsoft.com/office/officeart/2018/5/layout/IconLeafLabelList"/>
    <dgm:cxn modelId="{226ECE4E-ADA2-4DEA-BD52-4A1DE766EC3E}" type="presParOf" srcId="{724D5A47-ED0D-459E-9FDE-7995E6429372}" destId="{E7C46D91-49D7-4303-BCCC-37B405BE0DE6}" srcOrd="0" destOrd="0" presId="urn:microsoft.com/office/officeart/2018/5/layout/IconLeafLabelList"/>
    <dgm:cxn modelId="{2ECE035B-A53B-4CC7-A080-53F21E4FB726}" type="presParOf" srcId="{724D5A47-ED0D-459E-9FDE-7995E6429372}" destId="{7121ACFF-E608-4B42-BD9E-3A331D445890}" srcOrd="1" destOrd="0" presId="urn:microsoft.com/office/officeart/2018/5/layout/IconLeafLabelList"/>
    <dgm:cxn modelId="{E8A65CB2-A2C2-4439-A4CB-BA495ACB86F8}" type="presParOf" srcId="{724D5A47-ED0D-459E-9FDE-7995E6429372}" destId="{FF0385ED-7B99-482D-B4B5-C793C251CE67}" srcOrd="2" destOrd="0" presId="urn:microsoft.com/office/officeart/2018/5/layout/IconLeafLabelList"/>
    <dgm:cxn modelId="{A2B5B732-74B4-4D2D-BC2D-5B2632A242D4}" type="presParOf" srcId="{724D5A47-ED0D-459E-9FDE-7995E6429372}" destId="{2B8EEE94-61C1-4177-AAD6-D82B05C66744}" srcOrd="3" destOrd="0" presId="urn:microsoft.com/office/officeart/2018/5/layout/IconLeafLabelList"/>
    <dgm:cxn modelId="{03BBE416-09F4-478E-AF82-DA2777AFED71}" type="presParOf" srcId="{DB69B177-C56E-4495-BC2E-1938673DB269}" destId="{3F1749EE-D130-46D5-99A2-D6DA101A2177}" srcOrd="1" destOrd="0" presId="urn:microsoft.com/office/officeart/2018/5/layout/IconLeafLabelList"/>
    <dgm:cxn modelId="{014098DD-4542-4CF0-BFE5-6476DE8303E9}" type="presParOf" srcId="{DB69B177-C56E-4495-BC2E-1938673DB269}" destId="{2A088B2E-4DF2-45AE-99EF-9A9C9D4D4379}" srcOrd="2" destOrd="0" presId="urn:microsoft.com/office/officeart/2018/5/layout/IconLeafLabelList"/>
    <dgm:cxn modelId="{5A732962-05BE-4612-B0AE-1503D1A8CEA1}" type="presParOf" srcId="{2A088B2E-4DF2-45AE-99EF-9A9C9D4D4379}" destId="{7B28B517-4A0C-43A7-95B4-31B779EF6E3E}" srcOrd="0" destOrd="0" presId="urn:microsoft.com/office/officeart/2018/5/layout/IconLeafLabelList"/>
    <dgm:cxn modelId="{2E06FDA4-384B-41FE-96DC-5DA212794177}" type="presParOf" srcId="{2A088B2E-4DF2-45AE-99EF-9A9C9D4D4379}" destId="{71D7E2E4-2B61-4137-9063-4A3536424E9B}" srcOrd="1" destOrd="0" presId="urn:microsoft.com/office/officeart/2018/5/layout/IconLeafLabelList"/>
    <dgm:cxn modelId="{8527F860-C798-4446-B6BE-3E8723BAE0B4}" type="presParOf" srcId="{2A088B2E-4DF2-45AE-99EF-9A9C9D4D4379}" destId="{39C6120B-F8BE-45DB-88C6-DA620D4F2029}" srcOrd="2" destOrd="0" presId="urn:microsoft.com/office/officeart/2018/5/layout/IconLeafLabelList"/>
    <dgm:cxn modelId="{423D9482-8A69-48CC-A289-BFAD0041DAFA}" type="presParOf" srcId="{2A088B2E-4DF2-45AE-99EF-9A9C9D4D4379}" destId="{64E9DAAA-C7D1-41A4-B258-355206D072D9}" srcOrd="3" destOrd="0" presId="urn:microsoft.com/office/officeart/2018/5/layout/IconLeafLabelList"/>
    <dgm:cxn modelId="{F6F0E31F-176B-450D-BC99-FD8AAD88E4F4}" type="presParOf" srcId="{DB69B177-C56E-4495-BC2E-1938673DB269}" destId="{3507F089-3B64-4844-ADE9-37C41CB258E0}" srcOrd="3" destOrd="0" presId="urn:microsoft.com/office/officeart/2018/5/layout/IconLeafLabelList"/>
    <dgm:cxn modelId="{FBF036B1-27F8-432D-9F54-BCB4E7A44316}" type="presParOf" srcId="{DB69B177-C56E-4495-BC2E-1938673DB269}" destId="{0877C4B3-5F0B-4957-823A-83EE9AD926FD}" srcOrd="4" destOrd="0" presId="urn:microsoft.com/office/officeart/2018/5/layout/IconLeafLabelList"/>
    <dgm:cxn modelId="{BF7B876A-9E99-44E8-95F1-7AEB350B3B09}" type="presParOf" srcId="{0877C4B3-5F0B-4957-823A-83EE9AD926FD}" destId="{8259C00C-1A22-48B0-B846-BC023C9F1F7E}" srcOrd="0" destOrd="0" presId="urn:microsoft.com/office/officeart/2018/5/layout/IconLeafLabelList"/>
    <dgm:cxn modelId="{1A151C45-4E2E-4EB8-A40B-440BFB76C50A}" type="presParOf" srcId="{0877C4B3-5F0B-4957-823A-83EE9AD926FD}" destId="{1054E8B9-95DF-4009-A243-EB090BBE00DF}" srcOrd="1" destOrd="0" presId="urn:microsoft.com/office/officeart/2018/5/layout/IconLeafLabelList"/>
    <dgm:cxn modelId="{B521C3ED-2E37-47DE-9DED-2C08F1A2ACC8}" type="presParOf" srcId="{0877C4B3-5F0B-4957-823A-83EE9AD926FD}" destId="{7E0683EC-3319-4B9A-9FA0-60AE56B9BE9A}" srcOrd="2" destOrd="0" presId="urn:microsoft.com/office/officeart/2018/5/layout/IconLeafLabelList"/>
    <dgm:cxn modelId="{CF10D1AA-D18D-4363-A642-FE4504AB9F8F}" type="presParOf" srcId="{0877C4B3-5F0B-4957-823A-83EE9AD926FD}" destId="{C526E7FA-F406-4DB3-BF05-462405B05146}" srcOrd="3" destOrd="0" presId="urn:microsoft.com/office/officeart/2018/5/layout/IconLeafLabelList"/>
    <dgm:cxn modelId="{BE341276-A278-48DF-A14E-649C186FB816}" type="presParOf" srcId="{DB69B177-C56E-4495-BC2E-1938673DB269}" destId="{42877B5B-33B8-48E0-8EBF-9EFA754D5546}" srcOrd="5" destOrd="0" presId="urn:microsoft.com/office/officeart/2018/5/layout/IconLeafLabelList"/>
    <dgm:cxn modelId="{D2EDBDAD-5072-4C5C-88FC-7E9AA2411E2D}" type="presParOf" srcId="{DB69B177-C56E-4495-BC2E-1938673DB269}" destId="{BD10A9E7-B138-4B16-A894-03EBCF92DADB}" srcOrd="6" destOrd="0" presId="urn:microsoft.com/office/officeart/2018/5/layout/IconLeafLabelList"/>
    <dgm:cxn modelId="{5D86213D-7FDD-4325-884D-F6585F98EDA8}" type="presParOf" srcId="{BD10A9E7-B138-4B16-A894-03EBCF92DADB}" destId="{57B59FF2-6364-497C-8DA1-65DE09C9E9E5}" srcOrd="0" destOrd="0" presId="urn:microsoft.com/office/officeart/2018/5/layout/IconLeafLabelList"/>
    <dgm:cxn modelId="{8E72CB0F-CCA8-4B4B-84BB-BD99CB9EF662}" type="presParOf" srcId="{BD10A9E7-B138-4B16-A894-03EBCF92DADB}" destId="{7D669D35-4D97-4FD6-95D3-F880A4129D7A}" srcOrd="1" destOrd="0" presId="urn:microsoft.com/office/officeart/2018/5/layout/IconLeafLabelList"/>
    <dgm:cxn modelId="{2AB273AA-E5BE-46E4-BAC0-B47E21D4F9A1}" type="presParOf" srcId="{BD10A9E7-B138-4B16-A894-03EBCF92DADB}" destId="{5C32855B-23CA-4597-ACF9-5016E2436341}" srcOrd="2" destOrd="0" presId="urn:microsoft.com/office/officeart/2018/5/layout/IconLeafLabelList"/>
    <dgm:cxn modelId="{9EC98F25-7AE6-462E-9A6D-8D0E551EC59A}" type="presParOf" srcId="{BD10A9E7-B138-4B16-A894-03EBCF92DADB}" destId="{F39040F6-69E6-49AF-AA13-BCC9696E6484}" srcOrd="3" destOrd="0" presId="urn:microsoft.com/office/officeart/2018/5/layout/IconLeafLabelList"/>
    <dgm:cxn modelId="{8AF3B106-67F9-47C1-A611-B5DC60A1374B}" type="presParOf" srcId="{DB69B177-C56E-4495-BC2E-1938673DB269}" destId="{4DC749D5-E6A0-486A-9D59-3F8501B0E352}" srcOrd="7" destOrd="0" presId="urn:microsoft.com/office/officeart/2018/5/layout/IconLeafLabelList"/>
    <dgm:cxn modelId="{9E4D09DE-C83C-487E-A4DE-822BA9B4ED5C}" type="presParOf" srcId="{DB69B177-C56E-4495-BC2E-1938673DB269}" destId="{78F5C823-50FD-4CCD-8735-FCE77A2DE403}" srcOrd="8" destOrd="0" presId="urn:microsoft.com/office/officeart/2018/5/layout/IconLeafLabelList"/>
    <dgm:cxn modelId="{B9FD9F8D-DDCF-4277-BCA7-D1C4854CAD9B}" type="presParOf" srcId="{78F5C823-50FD-4CCD-8735-FCE77A2DE403}" destId="{CBC96F4F-CB58-4FC3-BBFE-43AACBD1094E}" srcOrd="0" destOrd="0" presId="urn:microsoft.com/office/officeart/2018/5/layout/IconLeafLabelList"/>
    <dgm:cxn modelId="{F48BE161-1D99-4BB2-B2D7-6B05AF64D4AA}" type="presParOf" srcId="{78F5C823-50FD-4CCD-8735-FCE77A2DE403}" destId="{87D6E6C2-1C65-459C-A373-4AA87BFBE13B}" srcOrd="1" destOrd="0" presId="urn:microsoft.com/office/officeart/2018/5/layout/IconLeafLabelList"/>
    <dgm:cxn modelId="{7D0A08A7-57FB-4D8E-81BB-908A54C4931E}" type="presParOf" srcId="{78F5C823-50FD-4CCD-8735-FCE77A2DE403}" destId="{131D4815-7F24-47BC-9518-D5BA103FA594}" srcOrd="2" destOrd="0" presId="urn:microsoft.com/office/officeart/2018/5/layout/IconLeafLabelList"/>
    <dgm:cxn modelId="{153BC003-97AF-4EC0-9C88-39F3CE72479C}" type="presParOf" srcId="{78F5C823-50FD-4CCD-8735-FCE77A2DE403}" destId="{AA65DDD9-5994-4708-BB16-23B67E786F2E}" srcOrd="3" destOrd="0" presId="urn:microsoft.com/office/officeart/2018/5/layout/IconLeafLabelList"/>
    <dgm:cxn modelId="{B31B9315-B8E8-445D-86FC-2BA5E9335776}" type="presParOf" srcId="{DB69B177-C56E-4495-BC2E-1938673DB269}" destId="{1DE5786F-6F19-43C0-830F-027EF19E9AD9}" srcOrd="9" destOrd="0" presId="urn:microsoft.com/office/officeart/2018/5/layout/IconLeafLabelList"/>
    <dgm:cxn modelId="{3EA97A27-AAEE-421F-8410-877326915B60}" type="presParOf" srcId="{DB69B177-C56E-4495-BC2E-1938673DB269}" destId="{232A4AE5-C47A-40F3-A615-16851E4E5CAD}" srcOrd="10" destOrd="0" presId="urn:microsoft.com/office/officeart/2018/5/layout/IconLeafLabelList"/>
    <dgm:cxn modelId="{039583F8-DCF1-4431-BECB-E4086A6E5D73}" type="presParOf" srcId="{232A4AE5-C47A-40F3-A615-16851E4E5CAD}" destId="{2D52366A-EEE8-4E6B-BDDD-C12CFC9609A3}" srcOrd="0" destOrd="0" presId="urn:microsoft.com/office/officeart/2018/5/layout/IconLeafLabelList"/>
    <dgm:cxn modelId="{2681D69E-3B8E-40F5-A4BD-982C4794356D}" type="presParOf" srcId="{232A4AE5-C47A-40F3-A615-16851E4E5CAD}" destId="{400D1170-A17A-4706-9CE2-6D03A01C8D8A}" srcOrd="1" destOrd="0" presId="urn:microsoft.com/office/officeart/2018/5/layout/IconLeafLabelList"/>
    <dgm:cxn modelId="{9FAB9B82-11E6-49B2-AEA4-A40ECFD45E26}" type="presParOf" srcId="{232A4AE5-C47A-40F3-A615-16851E4E5CAD}" destId="{CB8982C5-BCD7-4DF1-A415-B31CCFD27D3D}" srcOrd="2" destOrd="0" presId="urn:microsoft.com/office/officeart/2018/5/layout/IconLeafLabelList"/>
    <dgm:cxn modelId="{F0DABEA8-2879-45DE-8BDA-E9073175193E}" type="presParOf" srcId="{232A4AE5-C47A-40F3-A615-16851E4E5CAD}" destId="{FDF41871-74FA-4C5A-B4EE-A695BC9F05AD}" srcOrd="3" destOrd="0" presId="urn:microsoft.com/office/officeart/2018/5/layout/IconLeafLabelList"/>
    <dgm:cxn modelId="{CCCE133E-CF3A-423E-BAD4-3654092AB77E}" type="presParOf" srcId="{DB69B177-C56E-4495-BC2E-1938673DB269}" destId="{8B3CD964-6383-4848-B8EB-F60CBE668414}" srcOrd="11" destOrd="0" presId="urn:microsoft.com/office/officeart/2018/5/layout/IconLeafLabelList"/>
    <dgm:cxn modelId="{3FF16010-33DC-43D0-9374-780B964ACCB7}" type="presParOf" srcId="{DB69B177-C56E-4495-BC2E-1938673DB269}" destId="{C732E82A-BB2C-4E82-BC98-D619C745B327}" srcOrd="12" destOrd="0" presId="urn:microsoft.com/office/officeart/2018/5/layout/IconLeafLabelList"/>
    <dgm:cxn modelId="{0D04003A-5FDF-4B68-B5A8-FB8DF8BAA87C}" type="presParOf" srcId="{C732E82A-BB2C-4E82-BC98-D619C745B327}" destId="{76B1B3B1-18F0-49DB-9477-B7DEBD5B563C}" srcOrd="0" destOrd="0" presId="urn:microsoft.com/office/officeart/2018/5/layout/IconLeafLabelList"/>
    <dgm:cxn modelId="{FD629B31-F0DE-4F54-98E1-6E9FAC330204}" type="presParOf" srcId="{C732E82A-BB2C-4E82-BC98-D619C745B327}" destId="{286BD07D-5DE5-4347-970E-61B147DC82FF}" srcOrd="1" destOrd="0" presId="urn:microsoft.com/office/officeart/2018/5/layout/IconLeafLabelList"/>
    <dgm:cxn modelId="{DDCEC04F-EBAA-494D-A871-87C17CE1C183}" type="presParOf" srcId="{C732E82A-BB2C-4E82-BC98-D619C745B327}" destId="{B8B92C63-F491-45A3-9495-B3C23A2E26C6}" srcOrd="2" destOrd="0" presId="urn:microsoft.com/office/officeart/2018/5/layout/IconLeafLabelList"/>
    <dgm:cxn modelId="{61977A85-C496-4CC1-851A-DACAB0F9FFFF}" type="presParOf" srcId="{C732E82A-BB2C-4E82-BC98-D619C745B327}" destId="{93345EE3-A0C5-4AEC-9CC2-FF7E560152E7}" srcOrd="3" destOrd="0" presId="urn:microsoft.com/office/officeart/2018/5/layout/IconLeafLabelList"/>
    <dgm:cxn modelId="{7013E777-A61D-41D7-B03E-962A2F27A466}" type="presParOf" srcId="{DB69B177-C56E-4495-BC2E-1938673DB269}" destId="{9CD5A044-7973-4E73-87B3-06F82139795E}" srcOrd="13" destOrd="0" presId="urn:microsoft.com/office/officeart/2018/5/layout/IconLeafLabelList"/>
    <dgm:cxn modelId="{1EACB83A-FC58-44D6-9F83-A3B516E3B007}" type="presParOf" srcId="{DB69B177-C56E-4495-BC2E-1938673DB269}" destId="{D32BAD80-2164-4925-A0AB-FFA92E808A45}" srcOrd="14" destOrd="0" presId="urn:microsoft.com/office/officeart/2018/5/layout/IconLeafLabelList"/>
    <dgm:cxn modelId="{50E2F495-E0EC-4E36-A057-2ECFCAE36D33}" type="presParOf" srcId="{D32BAD80-2164-4925-A0AB-FFA92E808A45}" destId="{CD062CAB-D108-4DB2-B862-20B603AB2EB3}" srcOrd="0" destOrd="0" presId="urn:microsoft.com/office/officeart/2018/5/layout/IconLeafLabelList"/>
    <dgm:cxn modelId="{50C7988D-2F89-4AD6-9908-749E6D16084C}" type="presParOf" srcId="{D32BAD80-2164-4925-A0AB-FFA92E808A45}" destId="{B0CA83E6-203B-47F0-89C2-BAB0AD70D9F8}" srcOrd="1" destOrd="0" presId="urn:microsoft.com/office/officeart/2018/5/layout/IconLeafLabelList"/>
    <dgm:cxn modelId="{D786BFC8-CE70-421D-AF01-26F68A5AD4D6}" type="presParOf" srcId="{D32BAD80-2164-4925-A0AB-FFA92E808A45}" destId="{4398B46E-723F-4F3A-801B-D0299F287EDB}" srcOrd="2" destOrd="0" presId="urn:microsoft.com/office/officeart/2018/5/layout/IconLeafLabelList"/>
    <dgm:cxn modelId="{966EACD5-0664-48F5-B6C8-EE3C982202C3}" type="presParOf" srcId="{D32BAD80-2164-4925-A0AB-FFA92E808A45}" destId="{CC9606F4-D44D-46D0-A470-01F44C16BC1A}" srcOrd="3" destOrd="0" presId="urn:microsoft.com/office/officeart/2018/5/layout/IconLeafLabelList"/>
  </dgm:cxnLst>
  <dgm:bg/>
  <dgm:whole>
    <a:ln w="19050"/>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14D5E0-1D54-4511-B29B-A2D0781D3CFC}" type="doc">
      <dgm:prSet loTypeId="urn:microsoft.com/office/officeart/2005/8/layout/vList5" loCatId="list" qsTypeId="urn:microsoft.com/office/officeart/2005/8/quickstyle/simple5" qsCatId="simple" csTypeId="urn:microsoft.com/office/officeart/2005/8/colors/colorful5" csCatId="colorful" phldr="1"/>
      <dgm:spPr/>
      <dgm:t>
        <a:bodyPr/>
        <a:lstStyle/>
        <a:p>
          <a:endParaRPr lang="en-US"/>
        </a:p>
      </dgm:t>
    </dgm:pt>
    <dgm:pt modelId="{F1E25034-01E6-4D54-A691-9ADA603FBDE5}">
      <dgm:prSet/>
      <dgm:spPr/>
      <dgm:t>
        <a:bodyPr/>
        <a:lstStyle/>
        <a:p>
          <a:r>
            <a:rPr lang="en-US"/>
            <a:t>User account compromise</a:t>
          </a:r>
        </a:p>
      </dgm:t>
    </dgm:pt>
    <dgm:pt modelId="{26829EEC-C3F7-4256-9D39-49715050CA9F}" type="parTrans" cxnId="{B1251DD4-31EC-4785-BB6E-C17C20581A69}">
      <dgm:prSet/>
      <dgm:spPr/>
      <dgm:t>
        <a:bodyPr/>
        <a:lstStyle/>
        <a:p>
          <a:endParaRPr lang="en-US"/>
        </a:p>
      </dgm:t>
    </dgm:pt>
    <dgm:pt modelId="{F3F210C1-7ADE-4CFE-998C-F163D0829EA4}" type="sibTrans" cxnId="{B1251DD4-31EC-4785-BB6E-C17C20581A69}">
      <dgm:prSet/>
      <dgm:spPr/>
      <dgm:t>
        <a:bodyPr/>
        <a:lstStyle/>
        <a:p>
          <a:endParaRPr lang="en-US"/>
        </a:p>
      </dgm:t>
    </dgm:pt>
    <dgm:pt modelId="{BAC8A841-118F-43A0-92D7-83FCF597E6BB}">
      <dgm:prSet/>
      <dgm:spPr/>
      <dgm:t>
        <a:bodyPr/>
        <a:lstStyle/>
        <a:p>
          <a:r>
            <a:rPr lang="en-US"/>
            <a:t>Website defacement</a:t>
          </a:r>
        </a:p>
      </dgm:t>
    </dgm:pt>
    <dgm:pt modelId="{297121C6-930D-4086-B58D-39439687042A}" type="parTrans" cxnId="{8B73D5D5-7532-433A-94B2-67A20A62DA49}">
      <dgm:prSet/>
      <dgm:spPr/>
      <dgm:t>
        <a:bodyPr/>
        <a:lstStyle/>
        <a:p>
          <a:endParaRPr lang="en-US"/>
        </a:p>
      </dgm:t>
    </dgm:pt>
    <dgm:pt modelId="{3666558E-E14B-4B4E-8239-F4EC7944FFB6}" type="sibTrans" cxnId="{8B73D5D5-7532-433A-94B2-67A20A62DA49}">
      <dgm:prSet/>
      <dgm:spPr/>
      <dgm:t>
        <a:bodyPr/>
        <a:lstStyle/>
        <a:p>
          <a:endParaRPr lang="en-US"/>
        </a:p>
      </dgm:t>
    </dgm:pt>
    <dgm:pt modelId="{D35CBB17-9FF9-47EB-860B-F347E3A7ECEC}">
      <dgm:prSet/>
      <dgm:spPr/>
      <dgm:t>
        <a:bodyPr/>
        <a:lstStyle/>
        <a:p>
          <a:r>
            <a:rPr lang="en-US"/>
            <a:t>Secondary attacks from the website</a:t>
          </a:r>
        </a:p>
      </dgm:t>
    </dgm:pt>
    <dgm:pt modelId="{6D072A77-E33D-423B-81E8-007889015E90}" type="parTrans" cxnId="{FAB269BB-A7A3-4192-B6AC-065FA30683CE}">
      <dgm:prSet/>
      <dgm:spPr/>
      <dgm:t>
        <a:bodyPr/>
        <a:lstStyle/>
        <a:p>
          <a:endParaRPr lang="en-US"/>
        </a:p>
      </dgm:t>
    </dgm:pt>
    <dgm:pt modelId="{CE2019DF-1CE7-410F-A705-F29ACB230874}" type="sibTrans" cxnId="{FAB269BB-A7A3-4192-B6AC-065FA30683CE}">
      <dgm:prSet/>
      <dgm:spPr/>
      <dgm:t>
        <a:bodyPr/>
        <a:lstStyle/>
        <a:p>
          <a:endParaRPr lang="en-US"/>
        </a:p>
      </dgm:t>
    </dgm:pt>
    <dgm:pt modelId="{84D16EBC-1D12-475D-A49D-15DA05673FA9}">
      <dgm:prSet/>
      <dgm:spPr/>
      <dgm:t>
        <a:bodyPr/>
        <a:lstStyle/>
        <a:p>
          <a:r>
            <a:rPr lang="en-US"/>
            <a:t>Root access to server or other applications</a:t>
          </a:r>
        </a:p>
      </dgm:t>
    </dgm:pt>
    <dgm:pt modelId="{19004DB9-B46F-4143-B404-FC096E525663}" type="parTrans" cxnId="{B42D9A5E-10A9-45D4-95EC-69D5A8F58A09}">
      <dgm:prSet/>
      <dgm:spPr/>
      <dgm:t>
        <a:bodyPr/>
        <a:lstStyle/>
        <a:p>
          <a:endParaRPr lang="en-US"/>
        </a:p>
      </dgm:t>
    </dgm:pt>
    <dgm:pt modelId="{3F20025F-B9A4-4677-86FC-071CC71ACD8B}" type="sibTrans" cxnId="{B42D9A5E-10A9-45D4-95EC-69D5A8F58A09}">
      <dgm:prSet/>
      <dgm:spPr/>
      <dgm:t>
        <a:bodyPr/>
        <a:lstStyle/>
        <a:p>
          <a:endParaRPr lang="en-US"/>
        </a:p>
      </dgm:t>
    </dgm:pt>
    <dgm:pt modelId="{16F94FB9-A0E8-438F-8BFC-F3736B98BD88}">
      <dgm:prSet/>
      <dgm:spPr/>
      <dgm:t>
        <a:bodyPr/>
        <a:lstStyle/>
        <a:p>
          <a:r>
            <a:rPr lang="en-US"/>
            <a:t>Data tampering </a:t>
          </a:r>
        </a:p>
      </dgm:t>
    </dgm:pt>
    <dgm:pt modelId="{1EA53495-D262-431C-B9DA-2485017791D4}" type="parTrans" cxnId="{ACE1D7CE-7228-48B0-9351-63F74658BE72}">
      <dgm:prSet/>
      <dgm:spPr/>
      <dgm:t>
        <a:bodyPr/>
        <a:lstStyle/>
        <a:p>
          <a:endParaRPr lang="en-US"/>
        </a:p>
      </dgm:t>
    </dgm:pt>
    <dgm:pt modelId="{E4BF20A8-AFB6-4040-A906-565294AEC751}" type="sibTrans" cxnId="{ACE1D7CE-7228-48B0-9351-63F74658BE72}">
      <dgm:prSet/>
      <dgm:spPr/>
      <dgm:t>
        <a:bodyPr/>
        <a:lstStyle/>
        <a:p>
          <a:endParaRPr lang="en-US"/>
        </a:p>
      </dgm:t>
    </dgm:pt>
    <dgm:pt modelId="{46D9C9B8-44A8-48C1-AE51-2C5AF0572E9D}">
      <dgm:prSet/>
      <dgm:spPr/>
      <dgm:t>
        <a:bodyPr/>
        <a:lstStyle/>
        <a:p>
          <a:r>
            <a:rPr lang="en-US"/>
            <a:t>Data Theft</a:t>
          </a:r>
        </a:p>
      </dgm:t>
    </dgm:pt>
    <dgm:pt modelId="{B5851F1B-1C66-4A33-B0CF-F60633994AA6}" type="parTrans" cxnId="{FED41E88-0E7A-47E2-A3FF-014407D52F79}">
      <dgm:prSet/>
      <dgm:spPr/>
      <dgm:t>
        <a:bodyPr/>
        <a:lstStyle/>
        <a:p>
          <a:endParaRPr lang="en-US"/>
        </a:p>
      </dgm:t>
    </dgm:pt>
    <dgm:pt modelId="{728205EB-BCE3-4312-AB8A-89EC1BD8B14A}" type="sibTrans" cxnId="{FED41E88-0E7A-47E2-A3FF-014407D52F79}">
      <dgm:prSet/>
      <dgm:spPr/>
      <dgm:t>
        <a:bodyPr/>
        <a:lstStyle/>
        <a:p>
          <a:endParaRPr lang="en-US"/>
        </a:p>
      </dgm:t>
    </dgm:pt>
    <dgm:pt modelId="{6F7FEE47-86E1-49CB-8748-9776EC94B104}">
      <dgm:prSet/>
      <dgm:spPr/>
      <dgm:t>
        <a:bodyPr/>
        <a:lstStyle/>
        <a:p>
          <a:r>
            <a:rPr lang="en-US"/>
            <a:t>Damage to company reputation</a:t>
          </a:r>
        </a:p>
      </dgm:t>
    </dgm:pt>
    <dgm:pt modelId="{D954AA7C-5A99-4265-83B1-321F327E360E}" type="parTrans" cxnId="{4D026B40-3B1E-4572-BDCC-B0E80C32ECAD}">
      <dgm:prSet/>
      <dgm:spPr/>
      <dgm:t>
        <a:bodyPr/>
        <a:lstStyle/>
        <a:p>
          <a:endParaRPr lang="en-US"/>
        </a:p>
      </dgm:t>
    </dgm:pt>
    <dgm:pt modelId="{88CDF0B8-F558-4FBC-AFA3-E44609A7F065}" type="sibTrans" cxnId="{4D026B40-3B1E-4572-BDCC-B0E80C32ECAD}">
      <dgm:prSet/>
      <dgm:spPr/>
      <dgm:t>
        <a:bodyPr/>
        <a:lstStyle/>
        <a:p>
          <a:endParaRPr lang="en-US"/>
        </a:p>
      </dgm:t>
    </dgm:pt>
    <dgm:pt modelId="{DFB89DFF-BF48-CC43-A0B3-DAAACFD1772E}" type="pres">
      <dgm:prSet presAssocID="{C714D5E0-1D54-4511-B29B-A2D0781D3CFC}" presName="Name0" presStyleCnt="0">
        <dgm:presLayoutVars>
          <dgm:dir/>
          <dgm:animLvl val="lvl"/>
          <dgm:resizeHandles val="exact"/>
        </dgm:presLayoutVars>
      </dgm:prSet>
      <dgm:spPr/>
    </dgm:pt>
    <dgm:pt modelId="{71283C94-AA34-3A4F-89BB-110CC9D993E9}" type="pres">
      <dgm:prSet presAssocID="{F1E25034-01E6-4D54-A691-9ADA603FBDE5}" presName="linNode" presStyleCnt="0"/>
      <dgm:spPr/>
    </dgm:pt>
    <dgm:pt modelId="{9C4B396B-779A-214B-85C5-A4302385A801}" type="pres">
      <dgm:prSet presAssocID="{F1E25034-01E6-4D54-A691-9ADA603FBDE5}" presName="parentText" presStyleLbl="node1" presStyleIdx="0" presStyleCnt="7" custScaleX="213068">
        <dgm:presLayoutVars>
          <dgm:chMax val="1"/>
          <dgm:bulletEnabled val="1"/>
        </dgm:presLayoutVars>
      </dgm:prSet>
      <dgm:spPr/>
    </dgm:pt>
    <dgm:pt modelId="{2E031AAC-917E-2C45-8199-DD9095CCA17D}" type="pres">
      <dgm:prSet presAssocID="{F3F210C1-7ADE-4CFE-998C-F163D0829EA4}" presName="sp" presStyleCnt="0"/>
      <dgm:spPr/>
    </dgm:pt>
    <dgm:pt modelId="{75C3301A-9AFB-CA4F-90A6-C4F03BBCF4FE}" type="pres">
      <dgm:prSet presAssocID="{BAC8A841-118F-43A0-92D7-83FCF597E6BB}" presName="linNode" presStyleCnt="0"/>
      <dgm:spPr/>
    </dgm:pt>
    <dgm:pt modelId="{27F57D95-C701-C646-BE11-D55DA592A6C7}" type="pres">
      <dgm:prSet presAssocID="{BAC8A841-118F-43A0-92D7-83FCF597E6BB}" presName="parentText" presStyleLbl="node1" presStyleIdx="1" presStyleCnt="7" custScaleX="213068">
        <dgm:presLayoutVars>
          <dgm:chMax val="1"/>
          <dgm:bulletEnabled val="1"/>
        </dgm:presLayoutVars>
      </dgm:prSet>
      <dgm:spPr/>
    </dgm:pt>
    <dgm:pt modelId="{A25EC499-680B-9E49-AF77-BBDB6E7171FC}" type="pres">
      <dgm:prSet presAssocID="{3666558E-E14B-4B4E-8239-F4EC7944FFB6}" presName="sp" presStyleCnt="0"/>
      <dgm:spPr/>
    </dgm:pt>
    <dgm:pt modelId="{6F9D0A57-7AE8-7B4D-9711-BA96FD917553}" type="pres">
      <dgm:prSet presAssocID="{D35CBB17-9FF9-47EB-860B-F347E3A7ECEC}" presName="linNode" presStyleCnt="0"/>
      <dgm:spPr/>
    </dgm:pt>
    <dgm:pt modelId="{83E2C4B6-60D3-D046-8C03-DE4A4F8D7E14}" type="pres">
      <dgm:prSet presAssocID="{D35CBB17-9FF9-47EB-860B-F347E3A7ECEC}" presName="parentText" presStyleLbl="node1" presStyleIdx="2" presStyleCnt="7" custScaleX="213068">
        <dgm:presLayoutVars>
          <dgm:chMax val="1"/>
          <dgm:bulletEnabled val="1"/>
        </dgm:presLayoutVars>
      </dgm:prSet>
      <dgm:spPr/>
    </dgm:pt>
    <dgm:pt modelId="{0D61E374-7F25-A044-9254-932B3DB5F378}" type="pres">
      <dgm:prSet presAssocID="{CE2019DF-1CE7-410F-A705-F29ACB230874}" presName="sp" presStyleCnt="0"/>
      <dgm:spPr/>
    </dgm:pt>
    <dgm:pt modelId="{18FCE144-6D35-804E-B4B3-F2753C4CA517}" type="pres">
      <dgm:prSet presAssocID="{84D16EBC-1D12-475D-A49D-15DA05673FA9}" presName="linNode" presStyleCnt="0"/>
      <dgm:spPr/>
    </dgm:pt>
    <dgm:pt modelId="{732EC69E-9B30-A648-A9A2-31B434C6E6C2}" type="pres">
      <dgm:prSet presAssocID="{84D16EBC-1D12-475D-A49D-15DA05673FA9}" presName="parentText" presStyleLbl="node1" presStyleIdx="3" presStyleCnt="7" custScaleX="213068">
        <dgm:presLayoutVars>
          <dgm:chMax val="1"/>
          <dgm:bulletEnabled val="1"/>
        </dgm:presLayoutVars>
      </dgm:prSet>
      <dgm:spPr/>
    </dgm:pt>
    <dgm:pt modelId="{8952E988-A9E5-A649-B555-46304C9B5076}" type="pres">
      <dgm:prSet presAssocID="{3F20025F-B9A4-4677-86FC-071CC71ACD8B}" presName="sp" presStyleCnt="0"/>
      <dgm:spPr/>
    </dgm:pt>
    <dgm:pt modelId="{D9744735-3935-C549-A92B-85C8104E4616}" type="pres">
      <dgm:prSet presAssocID="{16F94FB9-A0E8-438F-8BFC-F3736B98BD88}" presName="linNode" presStyleCnt="0"/>
      <dgm:spPr/>
    </dgm:pt>
    <dgm:pt modelId="{0D589EA5-B2F4-3B42-8445-BA899DC4205D}" type="pres">
      <dgm:prSet presAssocID="{16F94FB9-A0E8-438F-8BFC-F3736B98BD88}" presName="parentText" presStyleLbl="node1" presStyleIdx="4" presStyleCnt="7" custScaleX="213068">
        <dgm:presLayoutVars>
          <dgm:chMax val="1"/>
          <dgm:bulletEnabled val="1"/>
        </dgm:presLayoutVars>
      </dgm:prSet>
      <dgm:spPr/>
    </dgm:pt>
    <dgm:pt modelId="{7EEFFAC3-A10A-B84C-82BE-353F7F2A6A4F}" type="pres">
      <dgm:prSet presAssocID="{E4BF20A8-AFB6-4040-A906-565294AEC751}" presName="sp" presStyleCnt="0"/>
      <dgm:spPr/>
    </dgm:pt>
    <dgm:pt modelId="{EB721D0C-3C3F-774C-BFEE-CB7B699B3CFA}" type="pres">
      <dgm:prSet presAssocID="{46D9C9B8-44A8-48C1-AE51-2C5AF0572E9D}" presName="linNode" presStyleCnt="0"/>
      <dgm:spPr/>
    </dgm:pt>
    <dgm:pt modelId="{F70EFF37-3B0A-424A-8FDF-42E1B407861A}" type="pres">
      <dgm:prSet presAssocID="{46D9C9B8-44A8-48C1-AE51-2C5AF0572E9D}" presName="parentText" presStyleLbl="node1" presStyleIdx="5" presStyleCnt="7" custScaleX="213068">
        <dgm:presLayoutVars>
          <dgm:chMax val="1"/>
          <dgm:bulletEnabled val="1"/>
        </dgm:presLayoutVars>
      </dgm:prSet>
      <dgm:spPr/>
    </dgm:pt>
    <dgm:pt modelId="{F2B779A7-0C42-4C4D-B098-36BD7577FDC2}" type="pres">
      <dgm:prSet presAssocID="{728205EB-BCE3-4312-AB8A-89EC1BD8B14A}" presName="sp" presStyleCnt="0"/>
      <dgm:spPr/>
    </dgm:pt>
    <dgm:pt modelId="{97EF8121-0100-2F48-95EC-FDAA7FBDCAFC}" type="pres">
      <dgm:prSet presAssocID="{6F7FEE47-86E1-49CB-8748-9776EC94B104}" presName="linNode" presStyleCnt="0"/>
      <dgm:spPr/>
    </dgm:pt>
    <dgm:pt modelId="{694F2FA4-BDA6-B54D-BCD9-A92A071BF4CD}" type="pres">
      <dgm:prSet presAssocID="{6F7FEE47-86E1-49CB-8748-9776EC94B104}" presName="parentText" presStyleLbl="node1" presStyleIdx="6" presStyleCnt="7" custScaleX="213068">
        <dgm:presLayoutVars>
          <dgm:chMax val="1"/>
          <dgm:bulletEnabled val="1"/>
        </dgm:presLayoutVars>
      </dgm:prSet>
      <dgm:spPr/>
    </dgm:pt>
  </dgm:ptLst>
  <dgm:cxnLst>
    <dgm:cxn modelId="{B6A42709-6AAE-9047-9846-57D06BEA315A}" type="presOf" srcId="{F1E25034-01E6-4D54-A691-9ADA603FBDE5}" destId="{9C4B396B-779A-214B-85C5-A4302385A801}" srcOrd="0" destOrd="0" presId="urn:microsoft.com/office/officeart/2005/8/layout/vList5"/>
    <dgm:cxn modelId="{14024611-C4EB-2646-83CF-B606062AA626}" type="presOf" srcId="{6F7FEE47-86E1-49CB-8748-9776EC94B104}" destId="{694F2FA4-BDA6-B54D-BCD9-A92A071BF4CD}" srcOrd="0" destOrd="0" presId="urn:microsoft.com/office/officeart/2005/8/layout/vList5"/>
    <dgm:cxn modelId="{F4CEB629-0DC1-AA4E-A31B-1CF3C454CFEC}" type="presOf" srcId="{16F94FB9-A0E8-438F-8BFC-F3736B98BD88}" destId="{0D589EA5-B2F4-3B42-8445-BA899DC4205D}" srcOrd="0" destOrd="0" presId="urn:microsoft.com/office/officeart/2005/8/layout/vList5"/>
    <dgm:cxn modelId="{698AE62B-DD39-C446-B495-BB8C0609D787}" type="presOf" srcId="{D35CBB17-9FF9-47EB-860B-F347E3A7ECEC}" destId="{83E2C4B6-60D3-D046-8C03-DE4A4F8D7E14}" srcOrd="0" destOrd="0" presId="urn:microsoft.com/office/officeart/2005/8/layout/vList5"/>
    <dgm:cxn modelId="{3CD27F38-5676-1B4A-B2EB-DBFC540E9C49}" type="presOf" srcId="{BAC8A841-118F-43A0-92D7-83FCF597E6BB}" destId="{27F57D95-C701-C646-BE11-D55DA592A6C7}" srcOrd="0" destOrd="0" presId="urn:microsoft.com/office/officeart/2005/8/layout/vList5"/>
    <dgm:cxn modelId="{4D026B40-3B1E-4572-BDCC-B0E80C32ECAD}" srcId="{C714D5E0-1D54-4511-B29B-A2D0781D3CFC}" destId="{6F7FEE47-86E1-49CB-8748-9776EC94B104}" srcOrd="6" destOrd="0" parTransId="{D954AA7C-5A99-4265-83B1-321F327E360E}" sibTransId="{88CDF0B8-F558-4FBC-AFA3-E44609A7F065}"/>
    <dgm:cxn modelId="{B42D9A5E-10A9-45D4-95EC-69D5A8F58A09}" srcId="{C714D5E0-1D54-4511-B29B-A2D0781D3CFC}" destId="{84D16EBC-1D12-475D-A49D-15DA05673FA9}" srcOrd="3" destOrd="0" parTransId="{19004DB9-B46F-4143-B404-FC096E525663}" sibTransId="{3F20025F-B9A4-4677-86FC-071CC71ACD8B}"/>
    <dgm:cxn modelId="{28EEC07A-FA90-7949-BFE1-2C7DCEEF6095}" type="presOf" srcId="{C714D5E0-1D54-4511-B29B-A2D0781D3CFC}" destId="{DFB89DFF-BF48-CC43-A0B3-DAAACFD1772E}" srcOrd="0" destOrd="0" presId="urn:microsoft.com/office/officeart/2005/8/layout/vList5"/>
    <dgm:cxn modelId="{FED41E88-0E7A-47E2-A3FF-014407D52F79}" srcId="{C714D5E0-1D54-4511-B29B-A2D0781D3CFC}" destId="{46D9C9B8-44A8-48C1-AE51-2C5AF0572E9D}" srcOrd="5" destOrd="0" parTransId="{B5851F1B-1C66-4A33-B0CF-F60633994AA6}" sibTransId="{728205EB-BCE3-4312-AB8A-89EC1BD8B14A}"/>
    <dgm:cxn modelId="{FAB269BB-A7A3-4192-B6AC-065FA30683CE}" srcId="{C714D5E0-1D54-4511-B29B-A2D0781D3CFC}" destId="{D35CBB17-9FF9-47EB-860B-F347E3A7ECEC}" srcOrd="2" destOrd="0" parTransId="{6D072A77-E33D-423B-81E8-007889015E90}" sibTransId="{CE2019DF-1CE7-410F-A705-F29ACB230874}"/>
    <dgm:cxn modelId="{ACE1D7CE-7228-48B0-9351-63F74658BE72}" srcId="{C714D5E0-1D54-4511-B29B-A2D0781D3CFC}" destId="{16F94FB9-A0E8-438F-8BFC-F3736B98BD88}" srcOrd="4" destOrd="0" parTransId="{1EA53495-D262-431C-B9DA-2485017791D4}" sibTransId="{E4BF20A8-AFB6-4040-A906-565294AEC751}"/>
    <dgm:cxn modelId="{B1251DD4-31EC-4785-BB6E-C17C20581A69}" srcId="{C714D5E0-1D54-4511-B29B-A2D0781D3CFC}" destId="{F1E25034-01E6-4D54-A691-9ADA603FBDE5}" srcOrd="0" destOrd="0" parTransId="{26829EEC-C3F7-4256-9D39-49715050CA9F}" sibTransId="{F3F210C1-7ADE-4CFE-998C-F163D0829EA4}"/>
    <dgm:cxn modelId="{8B73D5D5-7532-433A-94B2-67A20A62DA49}" srcId="{C714D5E0-1D54-4511-B29B-A2D0781D3CFC}" destId="{BAC8A841-118F-43A0-92D7-83FCF597E6BB}" srcOrd="1" destOrd="0" parTransId="{297121C6-930D-4086-B58D-39439687042A}" sibTransId="{3666558E-E14B-4B4E-8239-F4EC7944FFB6}"/>
    <dgm:cxn modelId="{C7167FE8-5028-C74B-90F8-26AD2C840416}" type="presOf" srcId="{46D9C9B8-44A8-48C1-AE51-2C5AF0572E9D}" destId="{F70EFF37-3B0A-424A-8FDF-42E1B407861A}" srcOrd="0" destOrd="0" presId="urn:microsoft.com/office/officeart/2005/8/layout/vList5"/>
    <dgm:cxn modelId="{B9F74CEE-E664-3340-A535-9A06D9D25D7E}" type="presOf" srcId="{84D16EBC-1D12-475D-A49D-15DA05673FA9}" destId="{732EC69E-9B30-A648-A9A2-31B434C6E6C2}" srcOrd="0" destOrd="0" presId="urn:microsoft.com/office/officeart/2005/8/layout/vList5"/>
    <dgm:cxn modelId="{CAD02A8C-B4B1-EA40-9E97-6BD3E4A95FC2}" type="presParOf" srcId="{DFB89DFF-BF48-CC43-A0B3-DAAACFD1772E}" destId="{71283C94-AA34-3A4F-89BB-110CC9D993E9}" srcOrd="0" destOrd="0" presId="urn:microsoft.com/office/officeart/2005/8/layout/vList5"/>
    <dgm:cxn modelId="{0D61078A-BEEE-5E4E-8BD9-42B64BF7480D}" type="presParOf" srcId="{71283C94-AA34-3A4F-89BB-110CC9D993E9}" destId="{9C4B396B-779A-214B-85C5-A4302385A801}" srcOrd="0" destOrd="0" presId="urn:microsoft.com/office/officeart/2005/8/layout/vList5"/>
    <dgm:cxn modelId="{EF1165A0-8D9C-BA45-ACD5-C95E22DDE546}" type="presParOf" srcId="{DFB89DFF-BF48-CC43-A0B3-DAAACFD1772E}" destId="{2E031AAC-917E-2C45-8199-DD9095CCA17D}" srcOrd="1" destOrd="0" presId="urn:microsoft.com/office/officeart/2005/8/layout/vList5"/>
    <dgm:cxn modelId="{115884D0-A79B-7149-8E85-9983D61BE2EB}" type="presParOf" srcId="{DFB89DFF-BF48-CC43-A0B3-DAAACFD1772E}" destId="{75C3301A-9AFB-CA4F-90A6-C4F03BBCF4FE}" srcOrd="2" destOrd="0" presId="urn:microsoft.com/office/officeart/2005/8/layout/vList5"/>
    <dgm:cxn modelId="{20BB9038-1EF0-A144-B879-5DE5841ECF41}" type="presParOf" srcId="{75C3301A-9AFB-CA4F-90A6-C4F03BBCF4FE}" destId="{27F57D95-C701-C646-BE11-D55DA592A6C7}" srcOrd="0" destOrd="0" presId="urn:microsoft.com/office/officeart/2005/8/layout/vList5"/>
    <dgm:cxn modelId="{ED1AE7F9-933D-FA43-9162-5951A41C5920}" type="presParOf" srcId="{DFB89DFF-BF48-CC43-A0B3-DAAACFD1772E}" destId="{A25EC499-680B-9E49-AF77-BBDB6E7171FC}" srcOrd="3" destOrd="0" presId="urn:microsoft.com/office/officeart/2005/8/layout/vList5"/>
    <dgm:cxn modelId="{065EAC82-E644-C74E-8EEE-2A56869B3865}" type="presParOf" srcId="{DFB89DFF-BF48-CC43-A0B3-DAAACFD1772E}" destId="{6F9D0A57-7AE8-7B4D-9711-BA96FD917553}" srcOrd="4" destOrd="0" presId="urn:microsoft.com/office/officeart/2005/8/layout/vList5"/>
    <dgm:cxn modelId="{537E80EA-10AC-2A4B-9866-3D1DF0EBD0AE}" type="presParOf" srcId="{6F9D0A57-7AE8-7B4D-9711-BA96FD917553}" destId="{83E2C4B6-60D3-D046-8C03-DE4A4F8D7E14}" srcOrd="0" destOrd="0" presId="urn:microsoft.com/office/officeart/2005/8/layout/vList5"/>
    <dgm:cxn modelId="{2FF31938-B1AE-924D-81D4-79BF41AAD1E0}" type="presParOf" srcId="{DFB89DFF-BF48-CC43-A0B3-DAAACFD1772E}" destId="{0D61E374-7F25-A044-9254-932B3DB5F378}" srcOrd="5" destOrd="0" presId="urn:microsoft.com/office/officeart/2005/8/layout/vList5"/>
    <dgm:cxn modelId="{0C9006BD-D31D-BB46-BAE8-F31F66FE0C42}" type="presParOf" srcId="{DFB89DFF-BF48-CC43-A0B3-DAAACFD1772E}" destId="{18FCE144-6D35-804E-B4B3-F2753C4CA517}" srcOrd="6" destOrd="0" presId="urn:microsoft.com/office/officeart/2005/8/layout/vList5"/>
    <dgm:cxn modelId="{B227D781-D1B2-7749-BF26-B47CD5025922}" type="presParOf" srcId="{18FCE144-6D35-804E-B4B3-F2753C4CA517}" destId="{732EC69E-9B30-A648-A9A2-31B434C6E6C2}" srcOrd="0" destOrd="0" presId="urn:microsoft.com/office/officeart/2005/8/layout/vList5"/>
    <dgm:cxn modelId="{B22A2694-D7A5-B342-B1FD-8DD07C5147C5}" type="presParOf" srcId="{DFB89DFF-BF48-CC43-A0B3-DAAACFD1772E}" destId="{8952E988-A9E5-A649-B555-46304C9B5076}" srcOrd="7" destOrd="0" presId="urn:microsoft.com/office/officeart/2005/8/layout/vList5"/>
    <dgm:cxn modelId="{C00C91CA-2E33-B24C-B57B-83F681F2ABAE}" type="presParOf" srcId="{DFB89DFF-BF48-CC43-A0B3-DAAACFD1772E}" destId="{D9744735-3935-C549-A92B-85C8104E4616}" srcOrd="8" destOrd="0" presId="urn:microsoft.com/office/officeart/2005/8/layout/vList5"/>
    <dgm:cxn modelId="{F6536AD2-C9C1-6C41-AA4C-51930FAD1556}" type="presParOf" srcId="{D9744735-3935-C549-A92B-85C8104E4616}" destId="{0D589EA5-B2F4-3B42-8445-BA899DC4205D}" srcOrd="0" destOrd="0" presId="urn:microsoft.com/office/officeart/2005/8/layout/vList5"/>
    <dgm:cxn modelId="{08EB115A-2A46-684C-B8F3-83AE4C9A055D}" type="presParOf" srcId="{DFB89DFF-BF48-CC43-A0B3-DAAACFD1772E}" destId="{7EEFFAC3-A10A-B84C-82BE-353F7F2A6A4F}" srcOrd="9" destOrd="0" presId="urn:microsoft.com/office/officeart/2005/8/layout/vList5"/>
    <dgm:cxn modelId="{501FD64D-CE89-384F-874F-7212816FEC00}" type="presParOf" srcId="{DFB89DFF-BF48-CC43-A0B3-DAAACFD1772E}" destId="{EB721D0C-3C3F-774C-BFEE-CB7B699B3CFA}" srcOrd="10" destOrd="0" presId="urn:microsoft.com/office/officeart/2005/8/layout/vList5"/>
    <dgm:cxn modelId="{FA61AC73-1524-0F44-8DD8-F6033E47E94C}" type="presParOf" srcId="{EB721D0C-3C3F-774C-BFEE-CB7B699B3CFA}" destId="{F70EFF37-3B0A-424A-8FDF-42E1B407861A}" srcOrd="0" destOrd="0" presId="urn:microsoft.com/office/officeart/2005/8/layout/vList5"/>
    <dgm:cxn modelId="{DE4557AA-D5FA-2B41-9E9B-D4F893769A57}" type="presParOf" srcId="{DFB89DFF-BF48-CC43-A0B3-DAAACFD1772E}" destId="{F2B779A7-0C42-4C4D-B098-36BD7577FDC2}" srcOrd="11" destOrd="0" presId="urn:microsoft.com/office/officeart/2005/8/layout/vList5"/>
    <dgm:cxn modelId="{BD64D654-5A88-5A4D-9AE5-665444E0BACE}" type="presParOf" srcId="{DFB89DFF-BF48-CC43-A0B3-DAAACFD1772E}" destId="{97EF8121-0100-2F48-95EC-FDAA7FBDCAFC}" srcOrd="12" destOrd="0" presId="urn:microsoft.com/office/officeart/2005/8/layout/vList5"/>
    <dgm:cxn modelId="{288D4615-A11D-E841-8FAC-E76FFCC9DCD1}" type="presParOf" srcId="{97EF8121-0100-2F48-95EC-FDAA7FBDCAFC}" destId="{694F2FA4-BDA6-B54D-BCD9-A92A071BF4CD}"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B23F78-067D-415C-8CDA-04D9817C4F13}" type="doc">
      <dgm:prSet loTypeId="urn:microsoft.com/office/officeart/2008/layout/LinedList" loCatId="list" qsTypeId="urn:microsoft.com/office/officeart/2005/8/quickstyle/simple1" qsCatId="simple" csTypeId="urn:microsoft.com/office/officeart/2005/8/colors/accent0_1" csCatId="mainScheme"/>
      <dgm:spPr/>
      <dgm:t>
        <a:bodyPr/>
        <a:lstStyle/>
        <a:p>
          <a:endParaRPr lang="en-US"/>
        </a:p>
      </dgm:t>
    </dgm:pt>
    <dgm:pt modelId="{243CC957-36B3-4711-A0DB-8F58136063A1}">
      <dgm:prSet/>
      <dgm:spPr/>
      <dgm:t>
        <a:bodyPr/>
        <a:lstStyle/>
        <a:p>
          <a:r>
            <a:rPr lang="en-US" dirty="0"/>
            <a:t>DoS/</a:t>
          </a:r>
          <a:r>
            <a:rPr lang="en-US" dirty="0" err="1"/>
            <a:t>DDos</a:t>
          </a:r>
          <a:endParaRPr lang="en-US" dirty="0"/>
        </a:p>
      </dgm:t>
    </dgm:pt>
    <dgm:pt modelId="{63DCE508-A780-4696-AA0F-B2DB4592F989}" type="parTrans" cxnId="{77967806-B239-4223-9978-CDE51F1621A2}">
      <dgm:prSet/>
      <dgm:spPr/>
      <dgm:t>
        <a:bodyPr/>
        <a:lstStyle/>
        <a:p>
          <a:endParaRPr lang="en-US"/>
        </a:p>
      </dgm:t>
    </dgm:pt>
    <dgm:pt modelId="{C6CAEB73-9C04-4252-9B1A-6CE8D1CF0096}" type="sibTrans" cxnId="{77967806-B239-4223-9978-CDE51F1621A2}">
      <dgm:prSet/>
      <dgm:spPr/>
      <dgm:t>
        <a:bodyPr/>
        <a:lstStyle/>
        <a:p>
          <a:endParaRPr lang="en-US"/>
        </a:p>
      </dgm:t>
    </dgm:pt>
    <dgm:pt modelId="{C2C0BFFD-542C-4F94-8E7B-95E0A6E85F1F}">
      <dgm:prSet/>
      <dgm:spPr/>
      <dgm:t>
        <a:bodyPr/>
        <a:lstStyle/>
        <a:p>
          <a:r>
            <a:rPr lang="en-US" dirty="0"/>
            <a:t>DNS Server Hijacking</a:t>
          </a:r>
        </a:p>
      </dgm:t>
    </dgm:pt>
    <dgm:pt modelId="{23DD7F7B-4EA1-4A33-A665-14F10278E04E}" type="parTrans" cxnId="{B6098CB8-29FF-4778-BE09-9DAECC4588B2}">
      <dgm:prSet/>
      <dgm:spPr/>
      <dgm:t>
        <a:bodyPr/>
        <a:lstStyle/>
        <a:p>
          <a:endParaRPr lang="en-US"/>
        </a:p>
      </dgm:t>
    </dgm:pt>
    <dgm:pt modelId="{E8A9B121-816A-4779-8D82-884C78A48EB0}" type="sibTrans" cxnId="{B6098CB8-29FF-4778-BE09-9DAECC4588B2}">
      <dgm:prSet/>
      <dgm:spPr/>
      <dgm:t>
        <a:bodyPr/>
        <a:lstStyle/>
        <a:p>
          <a:endParaRPr lang="en-US"/>
        </a:p>
      </dgm:t>
    </dgm:pt>
    <dgm:pt modelId="{4A95E5AA-669C-4B1C-A25F-E7E2D1857262}">
      <dgm:prSet/>
      <dgm:spPr/>
      <dgm:t>
        <a:bodyPr/>
        <a:lstStyle/>
        <a:p>
          <a:r>
            <a:rPr lang="en-US" dirty="0"/>
            <a:t>DNS Amplification</a:t>
          </a:r>
        </a:p>
      </dgm:t>
    </dgm:pt>
    <dgm:pt modelId="{57FFE06D-F09E-450E-AFA6-E4A1011FE207}" type="parTrans" cxnId="{1CCFC1C8-09C4-429B-AA58-C362F50DDC2C}">
      <dgm:prSet/>
      <dgm:spPr/>
      <dgm:t>
        <a:bodyPr/>
        <a:lstStyle/>
        <a:p>
          <a:endParaRPr lang="en-US"/>
        </a:p>
      </dgm:t>
    </dgm:pt>
    <dgm:pt modelId="{4625BE99-FB21-4F12-A15E-F8A9F182F7F0}" type="sibTrans" cxnId="{1CCFC1C8-09C4-429B-AA58-C362F50DDC2C}">
      <dgm:prSet/>
      <dgm:spPr/>
      <dgm:t>
        <a:bodyPr/>
        <a:lstStyle/>
        <a:p>
          <a:endParaRPr lang="en-US"/>
        </a:p>
      </dgm:t>
    </dgm:pt>
    <dgm:pt modelId="{6A82463D-F18F-4DC3-87E9-3B5FAA1C0BAF}">
      <dgm:prSet/>
      <dgm:spPr/>
      <dgm:t>
        <a:bodyPr/>
        <a:lstStyle/>
        <a:p>
          <a:r>
            <a:rPr lang="en-US"/>
            <a:t>Directory Traversal</a:t>
          </a:r>
        </a:p>
      </dgm:t>
    </dgm:pt>
    <dgm:pt modelId="{70377772-F3CF-4675-A77A-6BC7F65DD3AE}" type="parTrans" cxnId="{1D824595-2212-4CD5-BA25-05C6CD44F29B}">
      <dgm:prSet/>
      <dgm:spPr/>
      <dgm:t>
        <a:bodyPr/>
        <a:lstStyle/>
        <a:p>
          <a:endParaRPr lang="en-US"/>
        </a:p>
      </dgm:t>
    </dgm:pt>
    <dgm:pt modelId="{74EDB31F-395A-47B8-9970-154FB076E128}" type="sibTrans" cxnId="{1D824595-2212-4CD5-BA25-05C6CD44F29B}">
      <dgm:prSet/>
      <dgm:spPr/>
      <dgm:t>
        <a:bodyPr/>
        <a:lstStyle/>
        <a:p>
          <a:endParaRPr lang="en-US"/>
        </a:p>
      </dgm:t>
    </dgm:pt>
    <dgm:pt modelId="{8FA5A01D-1B9F-4E5D-A8A6-2AE264028BF5}">
      <dgm:prSet/>
      <dgm:spPr/>
      <dgm:t>
        <a:bodyPr/>
        <a:lstStyle/>
        <a:p>
          <a:r>
            <a:rPr lang="en-US"/>
            <a:t>MITM/Sniffing</a:t>
          </a:r>
        </a:p>
      </dgm:t>
    </dgm:pt>
    <dgm:pt modelId="{E6D25198-FD1E-4542-B616-539BBE8B0D4D}" type="parTrans" cxnId="{E43462F4-F4E2-4C2D-9AE6-89977C0F9BE4}">
      <dgm:prSet/>
      <dgm:spPr/>
      <dgm:t>
        <a:bodyPr/>
        <a:lstStyle/>
        <a:p>
          <a:endParaRPr lang="en-US"/>
        </a:p>
      </dgm:t>
    </dgm:pt>
    <dgm:pt modelId="{33A1712A-ED63-4E11-A23C-D361BA227235}" type="sibTrans" cxnId="{E43462F4-F4E2-4C2D-9AE6-89977C0F9BE4}">
      <dgm:prSet/>
      <dgm:spPr/>
      <dgm:t>
        <a:bodyPr/>
        <a:lstStyle/>
        <a:p>
          <a:endParaRPr lang="en-US"/>
        </a:p>
      </dgm:t>
    </dgm:pt>
    <dgm:pt modelId="{10359398-4CA6-404E-8FEC-5E7D5C13E656}">
      <dgm:prSet/>
      <dgm:spPr/>
      <dgm:t>
        <a:bodyPr/>
        <a:lstStyle/>
        <a:p>
          <a:r>
            <a:rPr lang="en-US"/>
            <a:t>Phishing</a:t>
          </a:r>
        </a:p>
      </dgm:t>
    </dgm:pt>
    <dgm:pt modelId="{980DE613-2011-4BCB-8485-7403952FE81D}" type="parTrans" cxnId="{097F8661-ECDD-47BC-8065-9CEC3E453B6B}">
      <dgm:prSet/>
      <dgm:spPr/>
      <dgm:t>
        <a:bodyPr/>
        <a:lstStyle/>
        <a:p>
          <a:endParaRPr lang="en-US"/>
        </a:p>
      </dgm:t>
    </dgm:pt>
    <dgm:pt modelId="{71E4722A-0E9C-42F1-867A-39DF8E3151F0}" type="sibTrans" cxnId="{097F8661-ECDD-47BC-8065-9CEC3E453B6B}">
      <dgm:prSet/>
      <dgm:spPr/>
      <dgm:t>
        <a:bodyPr/>
        <a:lstStyle/>
        <a:p>
          <a:endParaRPr lang="en-US"/>
        </a:p>
      </dgm:t>
    </dgm:pt>
    <dgm:pt modelId="{24D91021-16DA-4AFA-A584-7CDB436DD4EB}">
      <dgm:prSet/>
      <dgm:spPr/>
      <dgm:t>
        <a:bodyPr/>
        <a:lstStyle/>
        <a:p>
          <a:r>
            <a:rPr lang="en-US"/>
            <a:t>Website Defacement</a:t>
          </a:r>
        </a:p>
      </dgm:t>
    </dgm:pt>
    <dgm:pt modelId="{136F752D-600D-460B-B9C9-5AB78A927447}" type="parTrans" cxnId="{E3DFCC30-6C5D-4D7D-9A3D-48DE14F8C621}">
      <dgm:prSet/>
      <dgm:spPr/>
      <dgm:t>
        <a:bodyPr/>
        <a:lstStyle/>
        <a:p>
          <a:endParaRPr lang="en-US"/>
        </a:p>
      </dgm:t>
    </dgm:pt>
    <dgm:pt modelId="{17EF8A29-3856-45CB-AA57-2E4BE905B637}" type="sibTrans" cxnId="{E3DFCC30-6C5D-4D7D-9A3D-48DE14F8C621}">
      <dgm:prSet/>
      <dgm:spPr/>
      <dgm:t>
        <a:bodyPr/>
        <a:lstStyle/>
        <a:p>
          <a:endParaRPr lang="en-US"/>
        </a:p>
      </dgm:t>
    </dgm:pt>
    <dgm:pt modelId="{43CD371B-6DD0-40A3-B747-A559DCA6E3C5}">
      <dgm:prSet/>
      <dgm:spPr/>
      <dgm:t>
        <a:bodyPr/>
        <a:lstStyle/>
        <a:p>
          <a:r>
            <a:rPr lang="en-US"/>
            <a:t>Web Server Misconfiguration</a:t>
          </a:r>
        </a:p>
      </dgm:t>
    </dgm:pt>
    <dgm:pt modelId="{172605E6-BA43-499C-A6F3-82463749A959}" type="parTrans" cxnId="{A9B0A7C2-68B0-4E0D-BA7A-E463CC022239}">
      <dgm:prSet/>
      <dgm:spPr/>
      <dgm:t>
        <a:bodyPr/>
        <a:lstStyle/>
        <a:p>
          <a:endParaRPr lang="en-US"/>
        </a:p>
      </dgm:t>
    </dgm:pt>
    <dgm:pt modelId="{2CD35710-1E87-45F5-B691-7FC20880038D}" type="sibTrans" cxnId="{A9B0A7C2-68B0-4E0D-BA7A-E463CC022239}">
      <dgm:prSet/>
      <dgm:spPr/>
      <dgm:t>
        <a:bodyPr/>
        <a:lstStyle/>
        <a:p>
          <a:endParaRPr lang="en-US"/>
        </a:p>
      </dgm:t>
    </dgm:pt>
    <dgm:pt modelId="{F094041D-D48E-E845-ACB9-E6CB7F08505A}" type="pres">
      <dgm:prSet presAssocID="{D9B23F78-067D-415C-8CDA-04D9817C4F13}" presName="vert0" presStyleCnt="0">
        <dgm:presLayoutVars>
          <dgm:dir/>
          <dgm:animOne val="branch"/>
          <dgm:animLvl val="lvl"/>
        </dgm:presLayoutVars>
      </dgm:prSet>
      <dgm:spPr/>
    </dgm:pt>
    <dgm:pt modelId="{10D0C1B7-A697-9444-BF34-BCFF9AC0D8FA}" type="pres">
      <dgm:prSet presAssocID="{243CC957-36B3-4711-A0DB-8F58136063A1}" presName="thickLine" presStyleLbl="alignNode1" presStyleIdx="0" presStyleCnt="8"/>
      <dgm:spPr/>
    </dgm:pt>
    <dgm:pt modelId="{81A49E08-479B-9C44-9A4E-9A294F6CEF5C}" type="pres">
      <dgm:prSet presAssocID="{243CC957-36B3-4711-A0DB-8F58136063A1}" presName="horz1" presStyleCnt="0"/>
      <dgm:spPr/>
    </dgm:pt>
    <dgm:pt modelId="{832895BF-2D99-294C-BB5B-0F361B463E28}" type="pres">
      <dgm:prSet presAssocID="{243CC957-36B3-4711-A0DB-8F58136063A1}" presName="tx1" presStyleLbl="revTx" presStyleIdx="0" presStyleCnt="8"/>
      <dgm:spPr/>
    </dgm:pt>
    <dgm:pt modelId="{EBFEFE92-88B5-6540-8B9A-2B3751BBECD8}" type="pres">
      <dgm:prSet presAssocID="{243CC957-36B3-4711-A0DB-8F58136063A1}" presName="vert1" presStyleCnt="0"/>
      <dgm:spPr/>
    </dgm:pt>
    <dgm:pt modelId="{3C71517D-2C27-8949-8064-3DBA77128B90}" type="pres">
      <dgm:prSet presAssocID="{C2C0BFFD-542C-4F94-8E7B-95E0A6E85F1F}" presName="thickLine" presStyleLbl="alignNode1" presStyleIdx="1" presStyleCnt="8"/>
      <dgm:spPr/>
    </dgm:pt>
    <dgm:pt modelId="{D011CD3F-9219-C749-99FA-A4EC49AC5F01}" type="pres">
      <dgm:prSet presAssocID="{C2C0BFFD-542C-4F94-8E7B-95E0A6E85F1F}" presName="horz1" presStyleCnt="0"/>
      <dgm:spPr/>
    </dgm:pt>
    <dgm:pt modelId="{EC009D2D-077B-7345-BFF0-1F951B8B6C94}" type="pres">
      <dgm:prSet presAssocID="{C2C0BFFD-542C-4F94-8E7B-95E0A6E85F1F}" presName="tx1" presStyleLbl="revTx" presStyleIdx="1" presStyleCnt="8"/>
      <dgm:spPr/>
    </dgm:pt>
    <dgm:pt modelId="{F453AE7B-1DB1-C64F-B0AF-5B4A2784100D}" type="pres">
      <dgm:prSet presAssocID="{C2C0BFFD-542C-4F94-8E7B-95E0A6E85F1F}" presName="vert1" presStyleCnt="0"/>
      <dgm:spPr/>
    </dgm:pt>
    <dgm:pt modelId="{25CC90F9-F579-E244-97BB-DB4958B483A6}" type="pres">
      <dgm:prSet presAssocID="{4A95E5AA-669C-4B1C-A25F-E7E2D1857262}" presName="thickLine" presStyleLbl="alignNode1" presStyleIdx="2" presStyleCnt="8"/>
      <dgm:spPr/>
    </dgm:pt>
    <dgm:pt modelId="{6E69345E-5CB8-304E-8741-52BC93382776}" type="pres">
      <dgm:prSet presAssocID="{4A95E5AA-669C-4B1C-A25F-E7E2D1857262}" presName="horz1" presStyleCnt="0"/>
      <dgm:spPr/>
    </dgm:pt>
    <dgm:pt modelId="{DAB0FE7C-6F64-C442-A2B2-DC67C9029AE8}" type="pres">
      <dgm:prSet presAssocID="{4A95E5AA-669C-4B1C-A25F-E7E2D1857262}" presName="tx1" presStyleLbl="revTx" presStyleIdx="2" presStyleCnt="8"/>
      <dgm:spPr/>
    </dgm:pt>
    <dgm:pt modelId="{C3EF06DD-8FCA-AE41-BDB2-C2880AD117B3}" type="pres">
      <dgm:prSet presAssocID="{4A95E5AA-669C-4B1C-A25F-E7E2D1857262}" presName="vert1" presStyleCnt="0"/>
      <dgm:spPr/>
    </dgm:pt>
    <dgm:pt modelId="{307B3AB8-14DF-D54A-8C76-A33EDFF0362E}" type="pres">
      <dgm:prSet presAssocID="{6A82463D-F18F-4DC3-87E9-3B5FAA1C0BAF}" presName="thickLine" presStyleLbl="alignNode1" presStyleIdx="3" presStyleCnt="8"/>
      <dgm:spPr/>
    </dgm:pt>
    <dgm:pt modelId="{1B7967FE-0B51-F444-82F0-3BE6476CA541}" type="pres">
      <dgm:prSet presAssocID="{6A82463D-F18F-4DC3-87E9-3B5FAA1C0BAF}" presName="horz1" presStyleCnt="0"/>
      <dgm:spPr/>
    </dgm:pt>
    <dgm:pt modelId="{115F1DF0-C643-6447-8D7A-BAC62668B9CF}" type="pres">
      <dgm:prSet presAssocID="{6A82463D-F18F-4DC3-87E9-3B5FAA1C0BAF}" presName="tx1" presStyleLbl="revTx" presStyleIdx="3" presStyleCnt="8"/>
      <dgm:spPr/>
    </dgm:pt>
    <dgm:pt modelId="{2F39D517-8E16-9E4B-9AFD-6FE4876D1715}" type="pres">
      <dgm:prSet presAssocID="{6A82463D-F18F-4DC3-87E9-3B5FAA1C0BAF}" presName="vert1" presStyleCnt="0"/>
      <dgm:spPr/>
    </dgm:pt>
    <dgm:pt modelId="{D28962F2-8B76-AE4A-955A-335172CBA308}" type="pres">
      <dgm:prSet presAssocID="{8FA5A01D-1B9F-4E5D-A8A6-2AE264028BF5}" presName="thickLine" presStyleLbl="alignNode1" presStyleIdx="4" presStyleCnt="8"/>
      <dgm:spPr/>
    </dgm:pt>
    <dgm:pt modelId="{7CA2F555-ACCF-854B-BF79-95641428AE90}" type="pres">
      <dgm:prSet presAssocID="{8FA5A01D-1B9F-4E5D-A8A6-2AE264028BF5}" presName="horz1" presStyleCnt="0"/>
      <dgm:spPr/>
    </dgm:pt>
    <dgm:pt modelId="{77837014-26ED-4948-8DE0-C12541735B79}" type="pres">
      <dgm:prSet presAssocID="{8FA5A01D-1B9F-4E5D-A8A6-2AE264028BF5}" presName="tx1" presStyleLbl="revTx" presStyleIdx="4" presStyleCnt="8"/>
      <dgm:spPr/>
    </dgm:pt>
    <dgm:pt modelId="{74595F3B-A63E-C94A-BA29-C1B3CDF66A54}" type="pres">
      <dgm:prSet presAssocID="{8FA5A01D-1B9F-4E5D-A8A6-2AE264028BF5}" presName="vert1" presStyleCnt="0"/>
      <dgm:spPr/>
    </dgm:pt>
    <dgm:pt modelId="{141ADBDC-AFD2-D843-9A35-F7BFA9208824}" type="pres">
      <dgm:prSet presAssocID="{10359398-4CA6-404E-8FEC-5E7D5C13E656}" presName="thickLine" presStyleLbl="alignNode1" presStyleIdx="5" presStyleCnt="8"/>
      <dgm:spPr/>
    </dgm:pt>
    <dgm:pt modelId="{14804A1C-4B8D-1746-84C5-C46872A32904}" type="pres">
      <dgm:prSet presAssocID="{10359398-4CA6-404E-8FEC-5E7D5C13E656}" presName="horz1" presStyleCnt="0"/>
      <dgm:spPr/>
    </dgm:pt>
    <dgm:pt modelId="{31B9FC47-F486-6246-8DF2-AE6A0A9BA8EF}" type="pres">
      <dgm:prSet presAssocID="{10359398-4CA6-404E-8FEC-5E7D5C13E656}" presName="tx1" presStyleLbl="revTx" presStyleIdx="5" presStyleCnt="8"/>
      <dgm:spPr/>
    </dgm:pt>
    <dgm:pt modelId="{106C9AE9-073D-884B-8790-9015B7001B8D}" type="pres">
      <dgm:prSet presAssocID="{10359398-4CA6-404E-8FEC-5E7D5C13E656}" presName="vert1" presStyleCnt="0"/>
      <dgm:spPr/>
    </dgm:pt>
    <dgm:pt modelId="{AEDC982F-7D9D-BF45-B25E-367E59684904}" type="pres">
      <dgm:prSet presAssocID="{24D91021-16DA-4AFA-A584-7CDB436DD4EB}" presName="thickLine" presStyleLbl="alignNode1" presStyleIdx="6" presStyleCnt="8"/>
      <dgm:spPr/>
    </dgm:pt>
    <dgm:pt modelId="{39716D33-A532-1049-9061-9289102F637C}" type="pres">
      <dgm:prSet presAssocID="{24D91021-16DA-4AFA-A584-7CDB436DD4EB}" presName="horz1" presStyleCnt="0"/>
      <dgm:spPr/>
    </dgm:pt>
    <dgm:pt modelId="{7C23E202-538F-6048-BA05-C25A9A85F88C}" type="pres">
      <dgm:prSet presAssocID="{24D91021-16DA-4AFA-A584-7CDB436DD4EB}" presName="tx1" presStyleLbl="revTx" presStyleIdx="6" presStyleCnt="8"/>
      <dgm:spPr/>
    </dgm:pt>
    <dgm:pt modelId="{DBA11AA2-D5FC-1740-85AB-4742D2EA4B48}" type="pres">
      <dgm:prSet presAssocID="{24D91021-16DA-4AFA-A584-7CDB436DD4EB}" presName="vert1" presStyleCnt="0"/>
      <dgm:spPr/>
    </dgm:pt>
    <dgm:pt modelId="{7E696D2B-81B2-284A-BAF3-1469CE6104A8}" type="pres">
      <dgm:prSet presAssocID="{43CD371B-6DD0-40A3-B747-A559DCA6E3C5}" presName="thickLine" presStyleLbl="alignNode1" presStyleIdx="7" presStyleCnt="8"/>
      <dgm:spPr/>
    </dgm:pt>
    <dgm:pt modelId="{32A182F5-F4D2-CA46-9A30-FCBF0464DA32}" type="pres">
      <dgm:prSet presAssocID="{43CD371B-6DD0-40A3-B747-A559DCA6E3C5}" presName="horz1" presStyleCnt="0"/>
      <dgm:spPr/>
    </dgm:pt>
    <dgm:pt modelId="{FEF04C38-C825-DE4E-833D-9CD0EBE31846}" type="pres">
      <dgm:prSet presAssocID="{43CD371B-6DD0-40A3-B747-A559DCA6E3C5}" presName="tx1" presStyleLbl="revTx" presStyleIdx="7" presStyleCnt="8"/>
      <dgm:spPr/>
    </dgm:pt>
    <dgm:pt modelId="{A0CE0C42-695F-5544-AD9D-B1C67DF1F433}" type="pres">
      <dgm:prSet presAssocID="{43CD371B-6DD0-40A3-B747-A559DCA6E3C5}" presName="vert1" presStyleCnt="0"/>
      <dgm:spPr/>
    </dgm:pt>
  </dgm:ptLst>
  <dgm:cxnLst>
    <dgm:cxn modelId="{336AB301-44A0-1F4A-8F15-C6A407732486}" type="presOf" srcId="{243CC957-36B3-4711-A0DB-8F58136063A1}" destId="{832895BF-2D99-294C-BB5B-0F361B463E28}" srcOrd="0" destOrd="0" presId="urn:microsoft.com/office/officeart/2008/layout/LinedList"/>
    <dgm:cxn modelId="{77967806-B239-4223-9978-CDE51F1621A2}" srcId="{D9B23F78-067D-415C-8CDA-04D9817C4F13}" destId="{243CC957-36B3-4711-A0DB-8F58136063A1}" srcOrd="0" destOrd="0" parTransId="{63DCE508-A780-4696-AA0F-B2DB4592F989}" sibTransId="{C6CAEB73-9C04-4252-9B1A-6CE8D1CF0096}"/>
    <dgm:cxn modelId="{ECD48B21-47B5-F542-BA88-47127802C710}" type="presOf" srcId="{43CD371B-6DD0-40A3-B747-A559DCA6E3C5}" destId="{FEF04C38-C825-DE4E-833D-9CD0EBE31846}" srcOrd="0" destOrd="0" presId="urn:microsoft.com/office/officeart/2008/layout/LinedList"/>
    <dgm:cxn modelId="{E3DFCC30-6C5D-4D7D-9A3D-48DE14F8C621}" srcId="{D9B23F78-067D-415C-8CDA-04D9817C4F13}" destId="{24D91021-16DA-4AFA-A584-7CDB436DD4EB}" srcOrd="6" destOrd="0" parTransId="{136F752D-600D-460B-B9C9-5AB78A927447}" sibTransId="{17EF8A29-3856-45CB-AA57-2E4BE905B637}"/>
    <dgm:cxn modelId="{097F8661-ECDD-47BC-8065-9CEC3E453B6B}" srcId="{D9B23F78-067D-415C-8CDA-04D9817C4F13}" destId="{10359398-4CA6-404E-8FEC-5E7D5C13E656}" srcOrd="5" destOrd="0" parTransId="{980DE613-2011-4BCB-8485-7403952FE81D}" sibTransId="{71E4722A-0E9C-42F1-867A-39DF8E3151F0}"/>
    <dgm:cxn modelId="{17D0C349-55FC-A646-A3C7-F1A35635C27D}" type="presOf" srcId="{6A82463D-F18F-4DC3-87E9-3B5FAA1C0BAF}" destId="{115F1DF0-C643-6447-8D7A-BAC62668B9CF}" srcOrd="0" destOrd="0" presId="urn:microsoft.com/office/officeart/2008/layout/LinedList"/>
    <dgm:cxn modelId="{EA6B526D-278E-BF4D-844A-E40D60113526}" type="presOf" srcId="{D9B23F78-067D-415C-8CDA-04D9817C4F13}" destId="{F094041D-D48E-E845-ACB9-E6CB7F08505A}" srcOrd="0" destOrd="0" presId="urn:microsoft.com/office/officeart/2008/layout/LinedList"/>
    <dgm:cxn modelId="{6188614F-6C91-9E4C-889F-755B4B3DAF48}" type="presOf" srcId="{C2C0BFFD-542C-4F94-8E7B-95E0A6E85F1F}" destId="{EC009D2D-077B-7345-BFF0-1F951B8B6C94}" srcOrd="0" destOrd="0" presId="urn:microsoft.com/office/officeart/2008/layout/LinedList"/>
    <dgm:cxn modelId="{8B0C755A-36F8-9E47-AC98-08B1A2AF215F}" type="presOf" srcId="{10359398-4CA6-404E-8FEC-5E7D5C13E656}" destId="{31B9FC47-F486-6246-8DF2-AE6A0A9BA8EF}" srcOrd="0" destOrd="0" presId="urn:microsoft.com/office/officeart/2008/layout/LinedList"/>
    <dgm:cxn modelId="{1D824595-2212-4CD5-BA25-05C6CD44F29B}" srcId="{D9B23F78-067D-415C-8CDA-04D9817C4F13}" destId="{6A82463D-F18F-4DC3-87E9-3B5FAA1C0BAF}" srcOrd="3" destOrd="0" parTransId="{70377772-F3CF-4675-A77A-6BC7F65DD3AE}" sibTransId="{74EDB31F-395A-47B8-9970-154FB076E128}"/>
    <dgm:cxn modelId="{4756B6B6-3756-144B-9AF7-E288EAFAF16C}" type="presOf" srcId="{8FA5A01D-1B9F-4E5D-A8A6-2AE264028BF5}" destId="{77837014-26ED-4948-8DE0-C12541735B79}" srcOrd="0" destOrd="0" presId="urn:microsoft.com/office/officeart/2008/layout/LinedList"/>
    <dgm:cxn modelId="{B6098CB8-29FF-4778-BE09-9DAECC4588B2}" srcId="{D9B23F78-067D-415C-8CDA-04D9817C4F13}" destId="{C2C0BFFD-542C-4F94-8E7B-95E0A6E85F1F}" srcOrd="1" destOrd="0" parTransId="{23DD7F7B-4EA1-4A33-A665-14F10278E04E}" sibTransId="{E8A9B121-816A-4779-8D82-884C78A48EB0}"/>
    <dgm:cxn modelId="{F84C55BE-6AD9-BD46-8C14-FBA41AF2D802}" type="presOf" srcId="{24D91021-16DA-4AFA-A584-7CDB436DD4EB}" destId="{7C23E202-538F-6048-BA05-C25A9A85F88C}" srcOrd="0" destOrd="0" presId="urn:microsoft.com/office/officeart/2008/layout/LinedList"/>
    <dgm:cxn modelId="{A9B0A7C2-68B0-4E0D-BA7A-E463CC022239}" srcId="{D9B23F78-067D-415C-8CDA-04D9817C4F13}" destId="{43CD371B-6DD0-40A3-B747-A559DCA6E3C5}" srcOrd="7" destOrd="0" parTransId="{172605E6-BA43-499C-A6F3-82463749A959}" sibTransId="{2CD35710-1E87-45F5-B691-7FC20880038D}"/>
    <dgm:cxn modelId="{1CCFC1C8-09C4-429B-AA58-C362F50DDC2C}" srcId="{D9B23F78-067D-415C-8CDA-04D9817C4F13}" destId="{4A95E5AA-669C-4B1C-A25F-E7E2D1857262}" srcOrd="2" destOrd="0" parTransId="{57FFE06D-F09E-450E-AFA6-E4A1011FE207}" sibTransId="{4625BE99-FB21-4F12-A15E-F8A9F182F7F0}"/>
    <dgm:cxn modelId="{002A5CE7-2665-6346-98F6-C0699F12CB37}" type="presOf" srcId="{4A95E5AA-669C-4B1C-A25F-E7E2D1857262}" destId="{DAB0FE7C-6F64-C442-A2B2-DC67C9029AE8}" srcOrd="0" destOrd="0" presId="urn:microsoft.com/office/officeart/2008/layout/LinedList"/>
    <dgm:cxn modelId="{E43462F4-F4E2-4C2D-9AE6-89977C0F9BE4}" srcId="{D9B23F78-067D-415C-8CDA-04D9817C4F13}" destId="{8FA5A01D-1B9F-4E5D-A8A6-2AE264028BF5}" srcOrd="4" destOrd="0" parTransId="{E6D25198-FD1E-4542-B616-539BBE8B0D4D}" sibTransId="{33A1712A-ED63-4E11-A23C-D361BA227235}"/>
    <dgm:cxn modelId="{2B4E4C3A-CD60-8547-A280-FA7672192B92}" type="presParOf" srcId="{F094041D-D48E-E845-ACB9-E6CB7F08505A}" destId="{10D0C1B7-A697-9444-BF34-BCFF9AC0D8FA}" srcOrd="0" destOrd="0" presId="urn:microsoft.com/office/officeart/2008/layout/LinedList"/>
    <dgm:cxn modelId="{6A4BB776-6D5D-6F49-AE79-CD9DB3534B85}" type="presParOf" srcId="{F094041D-D48E-E845-ACB9-E6CB7F08505A}" destId="{81A49E08-479B-9C44-9A4E-9A294F6CEF5C}" srcOrd="1" destOrd="0" presId="urn:microsoft.com/office/officeart/2008/layout/LinedList"/>
    <dgm:cxn modelId="{077E30B8-B47F-AC4C-8DF0-380C41B9462C}" type="presParOf" srcId="{81A49E08-479B-9C44-9A4E-9A294F6CEF5C}" destId="{832895BF-2D99-294C-BB5B-0F361B463E28}" srcOrd="0" destOrd="0" presId="urn:microsoft.com/office/officeart/2008/layout/LinedList"/>
    <dgm:cxn modelId="{91677507-24FD-5441-80A4-D88917FD01CF}" type="presParOf" srcId="{81A49E08-479B-9C44-9A4E-9A294F6CEF5C}" destId="{EBFEFE92-88B5-6540-8B9A-2B3751BBECD8}" srcOrd="1" destOrd="0" presId="urn:microsoft.com/office/officeart/2008/layout/LinedList"/>
    <dgm:cxn modelId="{58CEC732-22DE-6640-87CC-53CBCECA5289}" type="presParOf" srcId="{F094041D-D48E-E845-ACB9-E6CB7F08505A}" destId="{3C71517D-2C27-8949-8064-3DBA77128B90}" srcOrd="2" destOrd="0" presId="urn:microsoft.com/office/officeart/2008/layout/LinedList"/>
    <dgm:cxn modelId="{C7CA2B56-6684-2743-9ED4-33221940C72F}" type="presParOf" srcId="{F094041D-D48E-E845-ACB9-E6CB7F08505A}" destId="{D011CD3F-9219-C749-99FA-A4EC49AC5F01}" srcOrd="3" destOrd="0" presId="urn:microsoft.com/office/officeart/2008/layout/LinedList"/>
    <dgm:cxn modelId="{C6058F2C-4915-824A-9CB8-45E5708A56CF}" type="presParOf" srcId="{D011CD3F-9219-C749-99FA-A4EC49AC5F01}" destId="{EC009D2D-077B-7345-BFF0-1F951B8B6C94}" srcOrd="0" destOrd="0" presId="urn:microsoft.com/office/officeart/2008/layout/LinedList"/>
    <dgm:cxn modelId="{639D3010-8815-A740-B7A0-8828BFD250B4}" type="presParOf" srcId="{D011CD3F-9219-C749-99FA-A4EC49AC5F01}" destId="{F453AE7B-1DB1-C64F-B0AF-5B4A2784100D}" srcOrd="1" destOrd="0" presId="urn:microsoft.com/office/officeart/2008/layout/LinedList"/>
    <dgm:cxn modelId="{A70C8ACC-7D80-4C4C-B24E-99F1CA29BBF6}" type="presParOf" srcId="{F094041D-D48E-E845-ACB9-E6CB7F08505A}" destId="{25CC90F9-F579-E244-97BB-DB4958B483A6}" srcOrd="4" destOrd="0" presId="urn:microsoft.com/office/officeart/2008/layout/LinedList"/>
    <dgm:cxn modelId="{921B419C-EE11-CE4C-B528-8A90DA15DC64}" type="presParOf" srcId="{F094041D-D48E-E845-ACB9-E6CB7F08505A}" destId="{6E69345E-5CB8-304E-8741-52BC93382776}" srcOrd="5" destOrd="0" presId="urn:microsoft.com/office/officeart/2008/layout/LinedList"/>
    <dgm:cxn modelId="{D5021D54-25C1-BA44-8169-668CB4555BC7}" type="presParOf" srcId="{6E69345E-5CB8-304E-8741-52BC93382776}" destId="{DAB0FE7C-6F64-C442-A2B2-DC67C9029AE8}" srcOrd="0" destOrd="0" presId="urn:microsoft.com/office/officeart/2008/layout/LinedList"/>
    <dgm:cxn modelId="{A5B91C5F-430D-7A40-BB40-7F33CB7F7DE6}" type="presParOf" srcId="{6E69345E-5CB8-304E-8741-52BC93382776}" destId="{C3EF06DD-8FCA-AE41-BDB2-C2880AD117B3}" srcOrd="1" destOrd="0" presId="urn:microsoft.com/office/officeart/2008/layout/LinedList"/>
    <dgm:cxn modelId="{0F110778-429C-1D44-BA50-D41F1E499041}" type="presParOf" srcId="{F094041D-D48E-E845-ACB9-E6CB7F08505A}" destId="{307B3AB8-14DF-D54A-8C76-A33EDFF0362E}" srcOrd="6" destOrd="0" presId="urn:microsoft.com/office/officeart/2008/layout/LinedList"/>
    <dgm:cxn modelId="{00B9F2D7-47A2-4E4D-B252-9C6AB256727C}" type="presParOf" srcId="{F094041D-D48E-E845-ACB9-E6CB7F08505A}" destId="{1B7967FE-0B51-F444-82F0-3BE6476CA541}" srcOrd="7" destOrd="0" presId="urn:microsoft.com/office/officeart/2008/layout/LinedList"/>
    <dgm:cxn modelId="{35130524-856C-F94E-93F4-BE6BC697DAF0}" type="presParOf" srcId="{1B7967FE-0B51-F444-82F0-3BE6476CA541}" destId="{115F1DF0-C643-6447-8D7A-BAC62668B9CF}" srcOrd="0" destOrd="0" presId="urn:microsoft.com/office/officeart/2008/layout/LinedList"/>
    <dgm:cxn modelId="{146C46E2-3789-DE42-834C-ACDA5BA31A61}" type="presParOf" srcId="{1B7967FE-0B51-F444-82F0-3BE6476CA541}" destId="{2F39D517-8E16-9E4B-9AFD-6FE4876D1715}" srcOrd="1" destOrd="0" presId="urn:microsoft.com/office/officeart/2008/layout/LinedList"/>
    <dgm:cxn modelId="{6F03B5C6-707D-6642-8820-EE276BDD4103}" type="presParOf" srcId="{F094041D-D48E-E845-ACB9-E6CB7F08505A}" destId="{D28962F2-8B76-AE4A-955A-335172CBA308}" srcOrd="8" destOrd="0" presId="urn:microsoft.com/office/officeart/2008/layout/LinedList"/>
    <dgm:cxn modelId="{403B7567-BED6-BD4E-8912-596543AFD3DB}" type="presParOf" srcId="{F094041D-D48E-E845-ACB9-E6CB7F08505A}" destId="{7CA2F555-ACCF-854B-BF79-95641428AE90}" srcOrd="9" destOrd="0" presId="urn:microsoft.com/office/officeart/2008/layout/LinedList"/>
    <dgm:cxn modelId="{67593EBC-D975-3149-8AE3-2513042B2DB7}" type="presParOf" srcId="{7CA2F555-ACCF-854B-BF79-95641428AE90}" destId="{77837014-26ED-4948-8DE0-C12541735B79}" srcOrd="0" destOrd="0" presId="urn:microsoft.com/office/officeart/2008/layout/LinedList"/>
    <dgm:cxn modelId="{9E91D11A-9CA2-BD41-868F-56CF504DD994}" type="presParOf" srcId="{7CA2F555-ACCF-854B-BF79-95641428AE90}" destId="{74595F3B-A63E-C94A-BA29-C1B3CDF66A54}" srcOrd="1" destOrd="0" presId="urn:microsoft.com/office/officeart/2008/layout/LinedList"/>
    <dgm:cxn modelId="{0E98174B-16C6-9C4A-ADE5-4D9D266385B5}" type="presParOf" srcId="{F094041D-D48E-E845-ACB9-E6CB7F08505A}" destId="{141ADBDC-AFD2-D843-9A35-F7BFA9208824}" srcOrd="10" destOrd="0" presId="urn:microsoft.com/office/officeart/2008/layout/LinedList"/>
    <dgm:cxn modelId="{CBFE8F34-4531-C446-BA67-DFB7214DEC03}" type="presParOf" srcId="{F094041D-D48E-E845-ACB9-E6CB7F08505A}" destId="{14804A1C-4B8D-1746-84C5-C46872A32904}" srcOrd="11" destOrd="0" presId="urn:microsoft.com/office/officeart/2008/layout/LinedList"/>
    <dgm:cxn modelId="{5E6A5ECD-FE8C-9348-9507-9910305A1863}" type="presParOf" srcId="{14804A1C-4B8D-1746-84C5-C46872A32904}" destId="{31B9FC47-F486-6246-8DF2-AE6A0A9BA8EF}" srcOrd="0" destOrd="0" presId="urn:microsoft.com/office/officeart/2008/layout/LinedList"/>
    <dgm:cxn modelId="{8637FB99-4942-F74F-8C1F-13CDD7AE1193}" type="presParOf" srcId="{14804A1C-4B8D-1746-84C5-C46872A32904}" destId="{106C9AE9-073D-884B-8790-9015B7001B8D}" srcOrd="1" destOrd="0" presId="urn:microsoft.com/office/officeart/2008/layout/LinedList"/>
    <dgm:cxn modelId="{BC60F846-917A-8942-A5B0-8619DE6F3484}" type="presParOf" srcId="{F094041D-D48E-E845-ACB9-E6CB7F08505A}" destId="{AEDC982F-7D9D-BF45-B25E-367E59684904}" srcOrd="12" destOrd="0" presId="urn:microsoft.com/office/officeart/2008/layout/LinedList"/>
    <dgm:cxn modelId="{196B3B7A-5117-B149-8E9F-8809A1865938}" type="presParOf" srcId="{F094041D-D48E-E845-ACB9-E6CB7F08505A}" destId="{39716D33-A532-1049-9061-9289102F637C}" srcOrd="13" destOrd="0" presId="urn:microsoft.com/office/officeart/2008/layout/LinedList"/>
    <dgm:cxn modelId="{CF9B2BCE-00BD-9243-A2EC-CC6C95161A88}" type="presParOf" srcId="{39716D33-A532-1049-9061-9289102F637C}" destId="{7C23E202-538F-6048-BA05-C25A9A85F88C}" srcOrd="0" destOrd="0" presId="urn:microsoft.com/office/officeart/2008/layout/LinedList"/>
    <dgm:cxn modelId="{96E4D893-66E0-104D-8AE8-9EB706E96B23}" type="presParOf" srcId="{39716D33-A532-1049-9061-9289102F637C}" destId="{DBA11AA2-D5FC-1740-85AB-4742D2EA4B48}" srcOrd="1" destOrd="0" presId="urn:microsoft.com/office/officeart/2008/layout/LinedList"/>
    <dgm:cxn modelId="{D5725B1C-9AA9-344E-A3BF-AB2DED3DA843}" type="presParOf" srcId="{F094041D-D48E-E845-ACB9-E6CB7F08505A}" destId="{7E696D2B-81B2-284A-BAF3-1469CE6104A8}" srcOrd="14" destOrd="0" presId="urn:microsoft.com/office/officeart/2008/layout/LinedList"/>
    <dgm:cxn modelId="{F3FE75C9-8CB2-D346-A3A0-40161DAB8C9A}" type="presParOf" srcId="{F094041D-D48E-E845-ACB9-E6CB7F08505A}" destId="{32A182F5-F4D2-CA46-9A30-FCBF0464DA32}" srcOrd="15" destOrd="0" presId="urn:microsoft.com/office/officeart/2008/layout/LinedList"/>
    <dgm:cxn modelId="{999BD1AC-71A0-1B45-9D1A-2AEA70B7731C}" type="presParOf" srcId="{32A182F5-F4D2-CA46-9A30-FCBF0464DA32}" destId="{FEF04C38-C825-DE4E-833D-9CD0EBE31846}" srcOrd="0" destOrd="0" presId="urn:microsoft.com/office/officeart/2008/layout/LinedList"/>
    <dgm:cxn modelId="{5431FAAC-3A44-4F49-B10C-D5A70896B731}" type="presParOf" srcId="{32A182F5-F4D2-CA46-9A30-FCBF0464DA32}" destId="{A0CE0C42-695F-5544-AD9D-B1C67DF1F43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61E3D0-CD5E-4447-92AB-9F149D6ACAC0}" type="doc">
      <dgm:prSet loTypeId="urn:microsoft.com/office/officeart/2016/7/layout/VerticalHollowActionList" loCatId="List" qsTypeId="urn:microsoft.com/office/officeart/2005/8/quickstyle/simple1" qsCatId="simple" csTypeId="urn:microsoft.com/office/officeart/2005/8/colors/colorful5" csCatId="colorful"/>
      <dgm:spPr/>
      <dgm:t>
        <a:bodyPr/>
        <a:lstStyle/>
        <a:p>
          <a:endParaRPr lang="en-US"/>
        </a:p>
      </dgm:t>
    </dgm:pt>
    <dgm:pt modelId="{F51B34E0-C873-4A6C-881D-F7AB6772C231}">
      <dgm:prSet/>
      <dgm:spPr/>
      <dgm:t>
        <a:bodyPr/>
        <a:lstStyle/>
        <a:p>
          <a:r>
            <a:rPr lang="en-US"/>
            <a:t>Block</a:t>
          </a:r>
        </a:p>
      </dgm:t>
    </dgm:pt>
    <dgm:pt modelId="{0BAFC5BC-6BB5-4B34-B9DC-7216B931A5D3}" type="parTrans" cxnId="{52EA51B2-0A8C-4C6B-83D1-67F9FCD1F0D1}">
      <dgm:prSet/>
      <dgm:spPr/>
      <dgm:t>
        <a:bodyPr/>
        <a:lstStyle/>
        <a:p>
          <a:endParaRPr lang="en-US"/>
        </a:p>
      </dgm:t>
    </dgm:pt>
    <dgm:pt modelId="{84F41834-1B45-4879-B318-9C19CA1E7CFC}" type="sibTrans" cxnId="{52EA51B2-0A8C-4C6B-83D1-67F9FCD1F0D1}">
      <dgm:prSet/>
      <dgm:spPr/>
      <dgm:t>
        <a:bodyPr/>
        <a:lstStyle/>
        <a:p>
          <a:endParaRPr lang="en-US"/>
        </a:p>
      </dgm:t>
    </dgm:pt>
    <dgm:pt modelId="{96271624-C9FF-49E1-B70B-50386DA63F87}">
      <dgm:prSet custT="1"/>
      <dgm:spPr/>
      <dgm:t>
        <a:bodyPr/>
        <a:lstStyle/>
        <a:p>
          <a:r>
            <a:rPr lang="en-US" sz="1800" dirty="0"/>
            <a:t>block all unnecessary ports, ICMP, and unnecessary protocols such as NetBIOS and SMB</a:t>
          </a:r>
        </a:p>
      </dgm:t>
    </dgm:pt>
    <dgm:pt modelId="{989C76D4-0C87-4134-88D8-E9F675E8C11C}" type="parTrans" cxnId="{9D88C1DA-0A4C-47B7-87EC-1DC2A1914237}">
      <dgm:prSet/>
      <dgm:spPr/>
      <dgm:t>
        <a:bodyPr/>
        <a:lstStyle/>
        <a:p>
          <a:endParaRPr lang="en-US"/>
        </a:p>
      </dgm:t>
    </dgm:pt>
    <dgm:pt modelId="{2FACA693-001C-4367-AF86-3387375416F0}" type="sibTrans" cxnId="{9D88C1DA-0A4C-47B7-87EC-1DC2A1914237}">
      <dgm:prSet/>
      <dgm:spPr/>
      <dgm:t>
        <a:bodyPr/>
        <a:lstStyle/>
        <a:p>
          <a:endParaRPr lang="en-US"/>
        </a:p>
      </dgm:t>
    </dgm:pt>
    <dgm:pt modelId="{2D2818BD-60FB-46A8-A6F3-8E70DEC605C4}">
      <dgm:prSet/>
      <dgm:spPr/>
      <dgm:t>
        <a:bodyPr/>
        <a:lstStyle/>
        <a:p>
          <a:r>
            <a:rPr lang="en-US"/>
            <a:t>Harden</a:t>
          </a:r>
        </a:p>
      </dgm:t>
    </dgm:pt>
    <dgm:pt modelId="{48A233A4-7475-40E9-8E24-AB28C63A8AA5}" type="parTrans" cxnId="{DD6C1E1A-E67D-4A4E-9C8F-4A0BFCD3155E}">
      <dgm:prSet/>
      <dgm:spPr/>
      <dgm:t>
        <a:bodyPr/>
        <a:lstStyle/>
        <a:p>
          <a:endParaRPr lang="en-US"/>
        </a:p>
      </dgm:t>
    </dgm:pt>
    <dgm:pt modelId="{50C72A15-83CE-48CA-B51A-5665CDE656FA}" type="sibTrans" cxnId="{DD6C1E1A-E67D-4A4E-9C8F-4A0BFCD3155E}">
      <dgm:prSet/>
      <dgm:spPr/>
      <dgm:t>
        <a:bodyPr/>
        <a:lstStyle/>
        <a:p>
          <a:endParaRPr lang="en-US"/>
        </a:p>
      </dgm:t>
    </dgm:pt>
    <dgm:pt modelId="{2528DC13-3D02-4C71-8E12-73F5CCEA2CC8}">
      <dgm:prSet custT="1"/>
      <dgm:spPr/>
      <dgm:t>
        <a:bodyPr/>
        <a:lstStyle/>
        <a:p>
          <a:r>
            <a:rPr lang="en-US" sz="1800" dirty="0"/>
            <a:t>harden the TCP/IP stack</a:t>
          </a:r>
        </a:p>
      </dgm:t>
    </dgm:pt>
    <dgm:pt modelId="{14CB120B-FD6E-4718-BC63-3422D887F30D}" type="parTrans" cxnId="{0B486E97-0727-445C-A74B-074B53AFF03E}">
      <dgm:prSet/>
      <dgm:spPr/>
      <dgm:t>
        <a:bodyPr/>
        <a:lstStyle/>
        <a:p>
          <a:endParaRPr lang="en-US"/>
        </a:p>
      </dgm:t>
    </dgm:pt>
    <dgm:pt modelId="{015446B6-6419-4F62-9F64-24D566EE5091}" type="sibTrans" cxnId="{0B486E97-0727-445C-A74B-074B53AFF03E}">
      <dgm:prSet/>
      <dgm:spPr/>
      <dgm:t>
        <a:bodyPr/>
        <a:lstStyle/>
        <a:p>
          <a:endParaRPr lang="en-US"/>
        </a:p>
      </dgm:t>
    </dgm:pt>
    <dgm:pt modelId="{B8E71310-CD7C-4D13-B20B-7FD89AE310BD}">
      <dgm:prSet/>
      <dgm:spPr/>
      <dgm:t>
        <a:bodyPr/>
        <a:lstStyle/>
        <a:p>
          <a:r>
            <a:rPr lang="en-US"/>
            <a:t>Use</a:t>
          </a:r>
        </a:p>
      </dgm:t>
    </dgm:pt>
    <dgm:pt modelId="{948B4B12-EBB6-40C0-8BBE-E02588BE7818}" type="parTrans" cxnId="{0E9FC6F2-6CEB-4C61-850E-6CB4F8CD1858}">
      <dgm:prSet/>
      <dgm:spPr/>
      <dgm:t>
        <a:bodyPr/>
        <a:lstStyle/>
        <a:p>
          <a:endParaRPr lang="en-US"/>
        </a:p>
      </dgm:t>
    </dgm:pt>
    <dgm:pt modelId="{0C231DC5-4EB3-47B9-A009-AD32FEE5B312}" type="sibTrans" cxnId="{0E9FC6F2-6CEB-4C61-850E-6CB4F8CD1858}">
      <dgm:prSet/>
      <dgm:spPr/>
      <dgm:t>
        <a:bodyPr/>
        <a:lstStyle/>
        <a:p>
          <a:endParaRPr lang="en-US"/>
        </a:p>
      </dgm:t>
    </dgm:pt>
    <dgm:pt modelId="{A59472EF-13DA-46C7-AE0F-1B89B749C8C0}">
      <dgm:prSet custT="1"/>
      <dgm:spPr/>
      <dgm:t>
        <a:bodyPr/>
        <a:lstStyle/>
        <a:p>
          <a:r>
            <a:rPr lang="en-US" sz="1800"/>
            <a:t>use TLS/SSL for web server communication</a:t>
          </a:r>
        </a:p>
      </dgm:t>
    </dgm:pt>
    <dgm:pt modelId="{3A7BA388-399E-410A-A2B8-39B7FE78D993}" type="parTrans" cxnId="{3EC64D45-DBE9-4713-A11C-DC4E432988E4}">
      <dgm:prSet/>
      <dgm:spPr/>
      <dgm:t>
        <a:bodyPr/>
        <a:lstStyle/>
        <a:p>
          <a:endParaRPr lang="en-US"/>
        </a:p>
      </dgm:t>
    </dgm:pt>
    <dgm:pt modelId="{6F1648E7-52FA-4DAE-9607-AF52B3D2A7CC}" type="sibTrans" cxnId="{3EC64D45-DBE9-4713-A11C-DC4E432988E4}">
      <dgm:prSet/>
      <dgm:spPr/>
      <dgm:t>
        <a:bodyPr/>
        <a:lstStyle/>
        <a:p>
          <a:endParaRPr lang="en-US"/>
        </a:p>
      </dgm:t>
    </dgm:pt>
    <dgm:pt modelId="{4E54DB3B-E2AE-4D6F-8A4C-41BD1671CFD8}">
      <dgm:prSet/>
      <dgm:spPr/>
      <dgm:t>
        <a:bodyPr/>
        <a:lstStyle/>
        <a:p>
          <a:r>
            <a:rPr lang="en-US"/>
            <a:t>Disable</a:t>
          </a:r>
        </a:p>
      </dgm:t>
    </dgm:pt>
    <dgm:pt modelId="{EB68942E-0990-4588-9B9C-4D29AAEC3FDE}" type="parTrans" cxnId="{A1553F5E-9E56-4A82-80EF-F30B8BC6DE6E}">
      <dgm:prSet/>
      <dgm:spPr/>
      <dgm:t>
        <a:bodyPr/>
        <a:lstStyle/>
        <a:p>
          <a:endParaRPr lang="en-US"/>
        </a:p>
      </dgm:t>
    </dgm:pt>
    <dgm:pt modelId="{27A590D7-0E0A-438E-87CC-BF24F70D8963}" type="sibTrans" cxnId="{A1553F5E-9E56-4A82-80EF-F30B8BC6DE6E}">
      <dgm:prSet/>
      <dgm:spPr/>
      <dgm:t>
        <a:bodyPr/>
        <a:lstStyle/>
        <a:p>
          <a:endParaRPr lang="en-US"/>
        </a:p>
      </dgm:t>
    </dgm:pt>
    <dgm:pt modelId="{85722396-392B-43BB-BF61-8332395F096A}">
      <dgm:prSet custT="1"/>
      <dgm:spPr/>
      <dgm:t>
        <a:bodyPr/>
        <a:lstStyle/>
        <a:p>
          <a:r>
            <a:rPr lang="en-US" sz="1800"/>
            <a:t>disable unused default user accounts</a:t>
          </a:r>
        </a:p>
      </dgm:t>
    </dgm:pt>
    <dgm:pt modelId="{B690C583-A44C-4E74-9DB9-AB63A7B291FF}" type="parTrans" cxnId="{8DF6D35B-2E54-463F-8A93-C72D0830E224}">
      <dgm:prSet/>
      <dgm:spPr/>
      <dgm:t>
        <a:bodyPr/>
        <a:lstStyle/>
        <a:p>
          <a:endParaRPr lang="en-US"/>
        </a:p>
      </dgm:t>
    </dgm:pt>
    <dgm:pt modelId="{0D197703-537B-4AF2-8A79-577EBD118503}" type="sibTrans" cxnId="{8DF6D35B-2E54-463F-8A93-C72D0830E224}">
      <dgm:prSet/>
      <dgm:spPr/>
      <dgm:t>
        <a:bodyPr/>
        <a:lstStyle/>
        <a:p>
          <a:endParaRPr lang="en-US"/>
        </a:p>
      </dgm:t>
    </dgm:pt>
    <dgm:pt modelId="{5BC1D1A9-8043-475C-B555-68B7A2593CDD}">
      <dgm:prSet/>
      <dgm:spPr/>
      <dgm:t>
        <a:bodyPr/>
        <a:lstStyle/>
        <a:p>
          <a:r>
            <a:rPr lang="en-US"/>
            <a:t>Eliminate</a:t>
          </a:r>
        </a:p>
      </dgm:t>
    </dgm:pt>
    <dgm:pt modelId="{5E4B8F3A-049D-449D-B472-90A3C60BFB4D}" type="parTrans" cxnId="{25529818-8768-4571-9908-EA7C010A4CFB}">
      <dgm:prSet/>
      <dgm:spPr/>
      <dgm:t>
        <a:bodyPr/>
        <a:lstStyle/>
        <a:p>
          <a:endParaRPr lang="en-US"/>
        </a:p>
      </dgm:t>
    </dgm:pt>
    <dgm:pt modelId="{621B79ED-9DCC-4F3B-AB65-C6EE2060563A}" type="sibTrans" cxnId="{25529818-8768-4571-9908-EA7C010A4CFB}">
      <dgm:prSet/>
      <dgm:spPr/>
      <dgm:t>
        <a:bodyPr/>
        <a:lstStyle/>
        <a:p>
          <a:endParaRPr lang="en-US"/>
        </a:p>
      </dgm:t>
    </dgm:pt>
    <dgm:pt modelId="{7085BE1B-1308-47D0-B17C-FCB1B457BEB5}">
      <dgm:prSet custT="1"/>
      <dgm:spPr/>
      <dgm:t>
        <a:bodyPr/>
        <a:lstStyle/>
        <a:p>
          <a:r>
            <a:rPr lang="en-US" sz="1800"/>
            <a:t>eliminate unnecessary database users and stored procedures </a:t>
          </a:r>
        </a:p>
      </dgm:t>
    </dgm:pt>
    <dgm:pt modelId="{D9D4CE7E-E521-4DF5-909C-906FC58AA910}" type="parTrans" cxnId="{E50E4DE9-EF82-49D0-921B-DCEB6C536243}">
      <dgm:prSet/>
      <dgm:spPr/>
      <dgm:t>
        <a:bodyPr/>
        <a:lstStyle/>
        <a:p>
          <a:endParaRPr lang="en-US"/>
        </a:p>
      </dgm:t>
    </dgm:pt>
    <dgm:pt modelId="{AE8C3EB3-803C-4BE7-BE46-85B8F9BBE6C9}" type="sibTrans" cxnId="{E50E4DE9-EF82-49D0-921B-DCEB6C536243}">
      <dgm:prSet/>
      <dgm:spPr/>
      <dgm:t>
        <a:bodyPr/>
        <a:lstStyle/>
        <a:p>
          <a:endParaRPr lang="en-US"/>
        </a:p>
      </dgm:t>
    </dgm:pt>
    <dgm:pt modelId="{812A24B6-99C2-4712-9FCC-1290471570E9}">
      <dgm:prSet/>
      <dgm:spPr/>
      <dgm:t>
        <a:bodyPr/>
        <a:lstStyle/>
        <a:p>
          <a:r>
            <a:rPr lang="en-US"/>
            <a:t>Follow</a:t>
          </a:r>
        </a:p>
      </dgm:t>
    </dgm:pt>
    <dgm:pt modelId="{39C8FC49-E1B0-4E1D-BEB5-04A9E26A8570}" type="parTrans" cxnId="{3A78D34B-620D-4448-8416-185F079AA7EA}">
      <dgm:prSet/>
      <dgm:spPr/>
      <dgm:t>
        <a:bodyPr/>
        <a:lstStyle/>
        <a:p>
          <a:endParaRPr lang="en-US"/>
        </a:p>
      </dgm:t>
    </dgm:pt>
    <dgm:pt modelId="{C084E406-2B4B-4B02-B2F7-39DDC58A2099}" type="sibTrans" cxnId="{3A78D34B-620D-4448-8416-185F079AA7EA}">
      <dgm:prSet/>
      <dgm:spPr/>
      <dgm:t>
        <a:bodyPr/>
        <a:lstStyle/>
        <a:p>
          <a:endParaRPr lang="en-US"/>
        </a:p>
      </dgm:t>
    </dgm:pt>
    <dgm:pt modelId="{E6B717D4-8683-4AE2-BA42-0821C08B6427}">
      <dgm:prSet custT="1"/>
      <dgm:spPr/>
      <dgm:t>
        <a:bodyPr/>
        <a:lstStyle/>
        <a:p>
          <a:r>
            <a:rPr lang="en-US" sz="1800"/>
            <a:t>follow the principle of least privilege</a:t>
          </a:r>
        </a:p>
      </dgm:t>
    </dgm:pt>
    <dgm:pt modelId="{365C5C1E-2174-4751-A863-3B3EB6122652}" type="parTrans" cxnId="{C6F7D7D1-B2B4-4233-9D6D-6D0267C7CF1E}">
      <dgm:prSet/>
      <dgm:spPr/>
      <dgm:t>
        <a:bodyPr/>
        <a:lstStyle/>
        <a:p>
          <a:endParaRPr lang="en-US"/>
        </a:p>
      </dgm:t>
    </dgm:pt>
    <dgm:pt modelId="{86A0DBA5-4A78-47ED-A2CB-F82436DDAB38}" type="sibTrans" cxnId="{C6F7D7D1-B2B4-4233-9D6D-6D0267C7CF1E}">
      <dgm:prSet/>
      <dgm:spPr/>
      <dgm:t>
        <a:bodyPr/>
        <a:lstStyle/>
        <a:p>
          <a:endParaRPr lang="en-US"/>
        </a:p>
      </dgm:t>
    </dgm:pt>
    <dgm:pt modelId="{8CCB41E3-1BCB-4A36-AF7F-CB5D9C8A7689}">
      <dgm:prSet/>
      <dgm:spPr/>
      <dgm:t>
        <a:bodyPr/>
        <a:lstStyle/>
        <a:p>
          <a:r>
            <a:rPr lang="en-US"/>
            <a:t>Implement</a:t>
          </a:r>
        </a:p>
      </dgm:t>
    </dgm:pt>
    <dgm:pt modelId="{AA5F2C17-81F2-446C-870E-6AD890232D4B}" type="parTrans" cxnId="{BD1D36A9-6471-4F07-A67C-C56DA44B4C7E}">
      <dgm:prSet/>
      <dgm:spPr/>
      <dgm:t>
        <a:bodyPr/>
        <a:lstStyle/>
        <a:p>
          <a:endParaRPr lang="en-US"/>
        </a:p>
      </dgm:t>
    </dgm:pt>
    <dgm:pt modelId="{B1BF2CFE-1AE5-4047-B76A-73A6582E275F}" type="sibTrans" cxnId="{BD1D36A9-6471-4F07-A67C-C56DA44B4C7E}">
      <dgm:prSet/>
      <dgm:spPr/>
      <dgm:t>
        <a:bodyPr/>
        <a:lstStyle/>
        <a:p>
          <a:endParaRPr lang="en-US"/>
        </a:p>
      </dgm:t>
    </dgm:pt>
    <dgm:pt modelId="{B6AAB141-403E-4140-A928-FD64A58B41C2}">
      <dgm:prSet custT="1"/>
      <dgm:spPr/>
      <dgm:t>
        <a:bodyPr/>
        <a:lstStyle/>
        <a:p>
          <a:r>
            <a:rPr lang="en-US" sz="1800"/>
            <a:t>implement strong password policies, audits and alerts for login failures</a:t>
          </a:r>
        </a:p>
      </dgm:t>
    </dgm:pt>
    <dgm:pt modelId="{EB4BEA44-CD36-465D-B9C6-822EE08B8F55}" type="parTrans" cxnId="{FD18B82B-F98B-43BB-883D-9764D863D185}">
      <dgm:prSet/>
      <dgm:spPr/>
      <dgm:t>
        <a:bodyPr/>
        <a:lstStyle/>
        <a:p>
          <a:endParaRPr lang="en-US"/>
        </a:p>
      </dgm:t>
    </dgm:pt>
    <dgm:pt modelId="{FDDA9379-F7E3-449D-A6DC-C90BE6180C4C}" type="sibTrans" cxnId="{FD18B82B-F98B-43BB-883D-9764D863D185}">
      <dgm:prSet/>
      <dgm:spPr/>
      <dgm:t>
        <a:bodyPr/>
        <a:lstStyle/>
        <a:p>
          <a:endParaRPr lang="en-US"/>
        </a:p>
      </dgm:t>
    </dgm:pt>
    <dgm:pt modelId="{3BA0A7C8-DEA2-476B-BB26-1A0742DE8CFC}">
      <dgm:prSet/>
      <dgm:spPr/>
      <dgm:t>
        <a:bodyPr/>
        <a:lstStyle/>
        <a:p>
          <a:r>
            <a:rPr lang="en-US"/>
            <a:t>Monitor and check</a:t>
          </a:r>
        </a:p>
      </dgm:t>
    </dgm:pt>
    <dgm:pt modelId="{CC80B146-0EC8-43B2-98A6-657B12DBE411}" type="parTrans" cxnId="{31F311DF-B767-4C66-A795-7DCE6478C9E7}">
      <dgm:prSet/>
      <dgm:spPr/>
      <dgm:t>
        <a:bodyPr/>
        <a:lstStyle/>
        <a:p>
          <a:endParaRPr lang="en-US"/>
        </a:p>
      </dgm:t>
    </dgm:pt>
    <dgm:pt modelId="{1866D382-55B0-4C77-8262-A1B56EB75118}" type="sibTrans" cxnId="{31F311DF-B767-4C66-A795-7DCE6478C9E7}">
      <dgm:prSet/>
      <dgm:spPr/>
      <dgm:t>
        <a:bodyPr/>
        <a:lstStyle/>
        <a:p>
          <a:endParaRPr lang="en-US"/>
        </a:p>
      </dgm:t>
    </dgm:pt>
    <dgm:pt modelId="{22C046F1-F41C-453C-AB80-FA764DD3F578}">
      <dgm:prSet custT="1"/>
      <dgm:spPr/>
      <dgm:t>
        <a:bodyPr/>
        <a:lstStyle/>
        <a:p>
          <a:r>
            <a:rPr lang="en-US" sz="1800" dirty="0"/>
            <a:t>monitor and check all network services logs, website access logs, database server logs, and OS logs frequently</a:t>
          </a:r>
        </a:p>
      </dgm:t>
    </dgm:pt>
    <dgm:pt modelId="{704383BC-5066-497A-A6D1-78B385DB6502}" type="parTrans" cxnId="{EC40F8A1-AD5E-4776-B577-84240C333AE6}">
      <dgm:prSet/>
      <dgm:spPr/>
      <dgm:t>
        <a:bodyPr/>
        <a:lstStyle/>
        <a:p>
          <a:endParaRPr lang="en-US"/>
        </a:p>
      </dgm:t>
    </dgm:pt>
    <dgm:pt modelId="{A178BD59-05BA-4218-B293-7C8C7AEACFDC}" type="sibTrans" cxnId="{EC40F8A1-AD5E-4776-B577-84240C333AE6}">
      <dgm:prSet/>
      <dgm:spPr/>
      <dgm:t>
        <a:bodyPr/>
        <a:lstStyle/>
        <a:p>
          <a:endParaRPr lang="en-US"/>
        </a:p>
      </dgm:t>
    </dgm:pt>
    <dgm:pt modelId="{377ECA14-D955-4AB0-B26E-44FAE995B305}">
      <dgm:prSet/>
      <dgm:spPr/>
      <dgm:t>
        <a:bodyPr/>
        <a:lstStyle/>
        <a:p>
          <a:r>
            <a:rPr lang="en-US"/>
            <a:t>Avoid</a:t>
          </a:r>
        </a:p>
      </dgm:t>
    </dgm:pt>
    <dgm:pt modelId="{CB0868FB-4625-4ECB-9FE4-87553A8E856E}" type="parTrans" cxnId="{154CA3CD-B77F-49F9-A8A8-111C21ED20A6}">
      <dgm:prSet/>
      <dgm:spPr/>
      <dgm:t>
        <a:bodyPr/>
        <a:lstStyle/>
        <a:p>
          <a:endParaRPr lang="en-US"/>
        </a:p>
      </dgm:t>
    </dgm:pt>
    <dgm:pt modelId="{90853C78-FD55-4E47-8A5E-B4C9B444A4C1}" type="sibTrans" cxnId="{154CA3CD-B77F-49F9-A8A8-111C21ED20A6}">
      <dgm:prSet/>
      <dgm:spPr/>
      <dgm:t>
        <a:bodyPr/>
        <a:lstStyle/>
        <a:p>
          <a:endParaRPr lang="en-US"/>
        </a:p>
      </dgm:t>
    </dgm:pt>
    <dgm:pt modelId="{B92D602D-B9A6-4C68-BA50-EB7DE671A3FC}">
      <dgm:prSet custT="1"/>
      <dgm:spPr/>
      <dgm:t>
        <a:bodyPr/>
        <a:lstStyle/>
        <a:p>
          <a:r>
            <a:rPr lang="en-US" sz="1800"/>
            <a:t>avoid all non-web file types from being referenced in a URL</a:t>
          </a:r>
        </a:p>
      </dgm:t>
    </dgm:pt>
    <dgm:pt modelId="{AAA5AF35-5053-4D1B-B90B-3B5232E0E958}" type="parTrans" cxnId="{8B7B24F4-5E3B-4B44-8C79-153BF4A0DB52}">
      <dgm:prSet/>
      <dgm:spPr/>
      <dgm:t>
        <a:bodyPr/>
        <a:lstStyle/>
        <a:p>
          <a:endParaRPr lang="en-US"/>
        </a:p>
      </dgm:t>
    </dgm:pt>
    <dgm:pt modelId="{4433EF7F-8904-4686-AB36-2C8D8F5D4692}" type="sibTrans" cxnId="{8B7B24F4-5E3B-4B44-8C79-153BF4A0DB52}">
      <dgm:prSet/>
      <dgm:spPr/>
      <dgm:t>
        <a:bodyPr/>
        <a:lstStyle/>
        <a:p>
          <a:endParaRPr lang="en-US"/>
        </a:p>
      </dgm:t>
    </dgm:pt>
    <dgm:pt modelId="{3144D16B-EDBC-4DBD-864A-C97575CF7801}">
      <dgm:prSet/>
      <dgm:spPr/>
      <dgm:t>
        <a:bodyPr/>
        <a:lstStyle/>
        <a:p>
          <a:r>
            <a:rPr lang="en-US"/>
            <a:t>Refer</a:t>
          </a:r>
        </a:p>
      </dgm:t>
    </dgm:pt>
    <dgm:pt modelId="{28FA949F-0AC4-4635-A913-B1F486E53FD6}" type="parTrans" cxnId="{752E4117-57D2-4841-B301-BCB934DB3ABA}">
      <dgm:prSet/>
      <dgm:spPr/>
      <dgm:t>
        <a:bodyPr/>
        <a:lstStyle/>
        <a:p>
          <a:endParaRPr lang="en-US"/>
        </a:p>
      </dgm:t>
    </dgm:pt>
    <dgm:pt modelId="{C7E58DD4-5B74-46EA-8B05-77A470FCDCA4}" type="sibTrans" cxnId="{752E4117-57D2-4841-B301-BCB934DB3ABA}">
      <dgm:prSet/>
      <dgm:spPr/>
      <dgm:t>
        <a:bodyPr/>
        <a:lstStyle/>
        <a:p>
          <a:endParaRPr lang="en-US"/>
        </a:p>
      </dgm:t>
    </dgm:pt>
    <dgm:pt modelId="{E0B34344-CAD0-4D8E-829B-A46182D2F535}">
      <dgm:prSet custT="1"/>
      <dgm:spPr/>
      <dgm:t>
        <a:bodyPr/>
        <a:lstStyle/>
        <a:p>
          <a:r>
            <a:rPr lang="en-US" sz="1800"/>
            <a:t>*refer to additional countermeasures in the reading</a:t>
          </a:r>
        </a:p>
      </dgm:t>
    </dgm:pt>
    <dgm:pt modelId="{6DB2F582-A0BF-4071-84E8-D1BC04DDA624}" type="parTrans" cxnId="{9E5D0456-D2F7-4F51-AD28-3B189CAF2CF3}">
      <dgm:prSet/>
      <dgm:spPr/>
      <dgm:t>
        <a:bodyPr/>
        <a:lstStyle/>
        <a:p>
          <a:endParaRPr lang="en-US"/>
        </a:p>
      </dgm:t>
    </dgm:pt>
    <dgm:pt modelId="{7341E9D5-D7FE-42B2-B3C1-2FE003003C76}" type="sibTrans" cxnId="{9E5D0456-D2F7-4F51-AD28-3B189CAF2CF3}">
      <dgm:prSet/>
      <dgm:spPr/>
      <dgm:t>
        <a:bodyPr/>
        <a:lstStyle/>
        <a:p>
          <a:endParaRPr lang="en-US"/>
        </a:p>
      </dgm:t>
    </dgm:pt>
    <dgm:pt modelId="{51933992-CF86-49BC-A4D1-B67AB9A1F3CB}" type="pres">
      <dgm:prSet presAssocID="{CC61E3D0-CD5E-4447-92AB-9F149D6ACAC0}" presName="Name0" presStyleCnt="0">
        <dgm:presLayoutVars>
          <dgm:dir/>
          <dgm:animLvl val="lvl"/>
          <dgm:resizeHandles val="exact"/>
        </dgm:presLayoutVars>
      </dgm:prSet>
      <dgm:spPr/>
    </dgm:pt>
    <dgm:pt modelId="{E18A8677-A94C-4F1E-B3D9-CA4D48A6F392}" type="pres">
      <dgm:prSet presAssocID="{F51B34E0-C873-4A6C-881D-F7AB6772C231}" presName="linNode" presStyleCnt="0"/>
      <dgm:spPr/>
    </dgm:pt>
    <dgm:pt modelId="{F796F3CF-3405-49EB-84A6-B651D2CE17D9}" type="pres">
      <dgm:prSet presAssocID="{F51B34E0-C873-4A6C-881D-F7AB6772C231}" presName="parentText" presStyleLbl="solidFgAcc1" presStyleIdx="0" presStyleCnt="10">
        <dgm:presLayoutVars>
          <dgm:chMax val="1"/>
          <dgm:bulletEnabled/>
        </dgm:presLayoutVars>
      </dgm:prSet>
      <dgm:spPr/>
    </dgm:pt>
    <dgm:pt modelId="{ABC8634F-084F-4AE4-B206-7281C796210F}" type="pres">
      <dgm:prSet presAssocID="{F51B34E0-C873-4A6C-881D-F7AB6772C231}" presName="descendantText" presStyleLbl="alignNode1" presStyleIdx="0" presStyleCnt="10">
        <dgm:presLayoutVars>
          <dgm:bulletEnabled/>
        </dgm:presLayoutVars>
      </dgm:prSet>
      <dgm:spPr/>
    </dgm:pt>
    <dgm:pt modelId="{BDE2BB1B-9FE5-4CBC-96B6-A5B947801C15}" type="pres">
      <dgm:prSet presAssocID="{84F41834-1B45-4879-B318-9C19CA1E7CFC}" presName="sp" presStyleCnt="0"/>
      <dgm:spPr/>
    </dgm:pt>
    <dgm:pt modelId="{CC652A9A-B11A-4A29-AEA3-64FAB176734C}" type="pres">
      <dgm:prSet presAssocID="{2D2818BD-60FB-46A8-A6F3-8E70DEC605C4}" presName="linNode" presStyleCnt="0"/>
      <dgm:spPr/>
    </dgm:pt>
    <dgm:pt modelId="{8BC74332-DC8A-45A0-9E33-696FA95722BF}" type="pres">
      <dgm:prSet presAssocID="{2D2818BD-60FB-46A8-A6F3-8E70DEC605C4}" presName="parentText" presStyleLbl="solidFgAcc1" presStyleIdx="1" presStyleCnt="10">
        <dgm:presLayoutVars>
          <dgm:chMax val="1"/>
          <dgm:bulletEnabled/>
        </dgm:presLayoutVars>
      </dgm:prSet>
      <dgm:spPr/>
    </dgm:pt>
    <dgm:pt modelId="{02DDCADB-14A5-4080-846A-0A9FB59181EA}" type="pres">
      <dgm:prSet presAssocID="{2D2818BD-60FB-46A8-A6F3-8E70DEC605C4}" presName="descendantText" presStyleLbl="alignNode1" presStyleIdx="1" presStyleCnt="10" custLinFactNeighborX="7496" custLinFactNeighborY="3820">
        <dgm:presLayoutVars>
          <dgm:bulletEnabled/>
        </dgm:presLayoutVars>
      </dgm:prSet>
      <dgm:spPr/>
    </dgm:pt>
    <dgm:pt modelId="{B78A8471-88FB-4051-AE21-ADBD1DBF0F25}" type="pres">
      <dgm:prSet presAssocID="{50C72A15-83CE-48CA-B51A-5665CDE656FA}" presName="sp" presStyleCnt="0"/>
      <dgm:spPr/>
    </dgm:pt>
    <dgm:pt modelId="{0991F357-8C4B-45E1-933C-03942C4DF4CD}" type="pres">
      <dgm:prSet presAssocID="{B8E71310-CD7C-4D13-B20B-7FD89AE310BD}" presName="linNode" presStyleCnt="0"/>
      <dgm:spPr/>
    </dgm:pt>
    <dgm:pt modelId="{219103DB-76A8-4C00-BBAC-DFA471583E43}" type="pres">
      <dgm:prSet presAssocID="{B8E71310-CD7C-4D13-B20B-7FD89AE310BD}" presName="parentText" presStyleLbl="solidFgAcc1" presStyleIdx="2" presStyleCnt="10">
        <dgm:presLayoutVars>
          <dgm:chMax val="1"/>
          <dgm:bulletEnabled/>
        </dgm:presLayoutVars>
      </dgm:prSet>
      <dgm:spPr/>
    </dgm:pt>
    <dgm:pt modelId="{833236BF-22BA-424C-BE7B-0ED9D167F490}" type="pres">
      <dgm:prSet presAssocID="{B8E71310-CD7C-4D13-B20B-7FD89AE310BD}" presName="descendantText" presStyleLbl="alignNode1" presStyleIdx="2" presStyleCnt="10">
        <dgm:presLayoutVars>
          <dgm:bulletEnabled/>
        </dgm:presLayoutVars>
      </dgm:prSet>
      <dgm:spPr/>
    </dgm:pt>
    <dgm:pt modelId="{890BE554-6197-4618-84B1-98D5285912BC}" type="pres">
      <dgm:prSet presAssocID="{0C231DC5-4EB3-47B9-A009-AD32FEE5B312}" presName="sp" presStyleCnt="0"/>
      <dgm:spPr/>
    </dgm:pt>
    <dgm:pt modelId="{2256D89D-FD98-4C06-A468-5F6CB7A25FEF}" type="pres">
      <dgm:prSet presAssocID="{4E54DB3B-E2AE-4D6F-8A4C-41BD1671CFD8}" presName="linNode" presStyleCnt="0"/>
      <dgm:spPr/>
    </dgm:pt>
    <dgm:pt modelId="{BFC270DF-458E-4F70-BFA5-BBF92F8177B0}" type="pres">
      <dgm:prSet presAssocID="{4E54DB3B-E2AE-4D6F-8A4C-41BD1671CFD8}" presName="parentText" presStyleLbl="solidFgAcc1" presStyleIdx="3" presStyleCnt="10">
        <dgm:presLayoutVars>
          <dgm:chMax val="1"/>
          <dgm:bulletEnabled/>
        </dgm:presLayoutVars>
      </dgm:prSet>
      <dgm:spPr/>
    </dgm:pt>
    <dgm:pt modelId="{84A2B951-3A4A-4119-8ABC-FECA2FEA60C7}" type="pres">
      <dgm:prSet presAssocID="{4E54DB3B-E2AE-4D6F-8A4C-41BD1671CFD8}" presName="descendantText" presStyleLbl="alignNode1" presStyleIdx="3" presStyleCnt="10">
        <dgm:presLayoutVars>
          <dgm:bulletEnabled/>
        </dgm:presLayoutVars>
      </dgm:prSet>
      <dgm:spPr/>
    </dgm:pt>
    <dgm:pt modelId="{9949EE75-58E4-4B5C-9231-CA48E159A89F}" type="pres">
      <dgm:prSet presAssocID="{27A590D7-0E0A-438E-87CC-BF24F70D8963}" presName="sp" presStyleCnt="0"/>
      <dgm:spPr/>
    </dgm:pt>
    <dgm:pt modelId="{8292B713-979F-4EA0-82AC-9A127FD0A91B}" type="pres">
      <dgm:prSet presAssocID="{5BC1D1A9-8043-475C-B555-68B7A2593CDD}" presName="linNode" presStyleCnt="0"/>
      <dgm:spPr/>
    </dgm:pt>
    <dgm:pt modelId="{B0F29B37-02EE-465A-9CDF-8647429E2915}" type="pres">
      <dgm:prSet presAssocID="{5BC1D1A9-8043-475C-B555-68B7A2593CDD}" presName="parentText" presStyleLbl="solidFgAcc1" presStyleIdx="4" presStyleCnt="10">
        <dgm:presLayoutVars>
          <dgm:chMax val="1"/>
          <dgm:bulletEnabled/>
        </dgm:presLayoutVars>
      </dgm:prSet>
      <dgm:spPr/>
    </dgm:pt>
    <dgm:pt modelId="{AC3F862C-615C-4FF2-9E36-545CD9C13232}" type="pres">
      <dgm:prSet presAssocID="{5BC1D1A9-8043-475C-B555-68B7A2593CDD}" presName="descendantText" presStyleLbl="alignNode1" presStyleIdx="4" presStyleCnt="10">
        <dgm:presLayoutVars>
          <dgm:bulletEnabled/>
        </dgm:presLayoutVars>
      </dgm:prSet>
      <dgm:spPr/>
    </dgm:pt>
    <dgm:pt modelId="{EEACAF67-6B44-40BC-938E-2CEE63F3B36C}" type="pres">
      <dgm:prSet presAssocID="{621B79ED-9DCC-4F3B-AB65-C6EE2060563A}" presName="sp" presStyleCnt="0"/>
      <dgm:spPr/>
    </dgm:pt>
    <dgm:pt modelId="{ECEBA9BF-9EB8-44F4-824E-75AD5359CA1D}" type="pres">
      <dgm:prSet presAssocID="{812A24B6-99C2-4712-9FCC-1290471570E9}" presName="linNode" presStyleCnt="0"/>
      <dgm:spPr/>
    </dgm:pt>
    <dgm:pt modelId="{96D2F852-3292-4D78-8FC9-2674A7855DB1}" type="pres">
      <dgm:prSet presAssocID="{812A24B6-99C2-4712-9FCC-1290471570E9}" presName="parentText" presStyleLbl="solidFgAcc1" presStyleIdx="5" presStyleCnt="10">
        <dgm:presLayoutVars>
          <dgm:chMax val="1"/>
          <dgm:bulletEnabled/>
        </dgm:presLayoutVars>
      </dgm:prSet>
      <dgm:spPr/>
    </dgm:pt>
    <dgm:pt modelId="{445F65D4-392E-420C-BF6C-87C7ECB8141C}" type="pres">
      <dgm:prSet presAssocID="{812A24B6-99C2-4712-9FCC-1290471570E9}" presName="descendantText" presStyleLbl="alignNode1" presStyleIdx="5" presStyleCnt="10">
        <dgm:presLayoutVars>
          <dgm:bulletEnabled/>
        </dgm:presLayoutVars>
      </dgm:prSet>
      <dgm:spPr/>
    </dgm:pt>
    <dgm:pt modelId="{C2887368-80E0-4266-8133-20AE1C1D1B77}" type="pres">
      <dgm:prSet presAssocID="{C084E406-2B4B-4B02-B2F7-39DDC58A2099}" presName="sp" presStyleCnt="0"/>
      <dgm:spPr/>
    </dgm:pt>
    <dgm:pt modelId="{C87249D5-6EFC-4C87-9365-B6BF2CC2C7BD}" type="pres">
      <dgm:prSet presAssocID="{8CCB41E3-1BCB-4A36-AF7F-CB5D9C8A7689}" presName="linNode" presStyleCnt="0"/>
      <dgm:spPr/>
    </dgm:pt>
    <dgm:pt modelId="{00E78F3D-E2A4-41CA-8C99-340FA95D3967}" type="pres">
      <dgm:prSet presAssocID="{8CCB41E3-1BCB-4A36-AF7F-CB5D9C8A7689}" presName="parentText" presStyleLbl="solidFgAcc1" presStyleIdx="6" presStyleCnt="10">
        <dgm:presLayoutVars>
          <dgm:chMax val="1"/>
          <dgm:bulletEnabled/>
        </dgm:presLayoutVars>
      </dgm:prSet>
      <dgm:spPr/>
    </dgm:pt>
    <dgm:pt modelId="{63811BCE-0E97-41C8-AECF-EABF0878DC8B}" type="pres">
      <dgm:prSet presAssocID="{8CCB41E3-1BCB-4A36-AF7F-CB5D9C8A7689}" presName="descendantText" presStyleLbl="alignNode1" presStyleIdx="6" presStyleCnt="10">
        <dgm:presLayoutVars>
          <dgm:bulletEnabled/>
        </dgm:presLayoutVars>
      </dgm:prSet>
      <dgm:spPr/>
    </dgm:pt>
    <dgm:pt modelId="{A9D84E17-9BDE-4571-B161-56A020145496}" type="pres">
      <dgm:prSet presAssocID="{B1BF2CFE-1AE5-4047-B76A-73A6582E275F}" presName="sp" presStyleCnt="0"/>
      <dgm:spPr/>
    </dgm:pt>
    <dgm:pt modelId="{1CB218EE-3270-4BA0-966E-BCC729F14048}" type="pres">
      <dgm:prSet presAssocID="{3BA0A7C8-DEA2-476B-BB26-1A0742DE8CFC}" presName="linNode" presStyleCnt="0"/>
      <dgm:spPr/>
    </dgm:pt>
    <dgm:pt modelId="{E533B2C2-8609-4D55-BEC9-B7A3CF62DC23}" type="pres">
      <dgm:prSet presAssocID="{3BA0A7C8-DEA2-476B-BB26-1A0742DE8CFC}" presName="parentText" presStyleLbl="solidFgAcc1" presStyleIdx="7" presStyleCnt="10">
        <dgm:presLayoutVars>
          <dgm:chMax val="1"/>
          <dgm:bulletEnabled/>
        </dgm:presLayoutVars>
      </dgm:prSet>
      <dgm:spPr/>
    </dgm:pt>
    <dgm:pt modelId="{5295C4E8-DE50-4F10-A02F-866733B7F435}" type="pres">
      <dgm:prSet presAssocID="{3BA0A7C8-DEA2-476B-BB26-1A0742DE8CFC}" presName="descendantText" presStyleLbl="alignNode1" presStyleIdx="7" presStyleCnt="10">
        <dgm:presLayoutVars>
          <dgm:bulletEnabled/>
        </dgm:presLayoutVars>
      </dgm:prSet>
      <dgm:spPr/>
    </dgm:pt>
    <dgm:pt modelId="{C147C558-330F-426A-BA1D-0BD03F4A4CCD}" type="pres">
      <dgm:prSet presAssocID="{1866D382-55B0-4C77-8262-A1B56EB75118}" presName="sp" presStyleCnt="0"/>
      <dgm:spPr/>
    </dgm:pt>
    <dgm:pt modelId="{C4D23BC1-F1E2-4446-837E-EC249E57F5B5}" type="pres">
      <dgm:prSet presAssocID="{377ECA14-D955-4AB0-B26E-44FAE995B305}" presName="linNode" presStyleCnt="0"/>
      <dgm:spPr/>
    </dgm:pt>
    <dgm:pt modelId="{351F9082-596D-498C-9DB7-CBC1451390AE}" type="pres">
      <dgm:prSet presAssocID="{377ECA14-D955-4AB0-B26E-44FAE995B305}" presName="parentText" presStyleLbl="solidFgAcc1" presStyleIdx="8" presStyleCnt="10">
        <dgm:presLayoutVars>
          <dgm:chMax val="1"/>
          <dgm:bulletEnabled/>
        </dgm:presLayoutVars>
      </dgm:prSet>
      <dgm:spPr/>
    </dgm:pt>
    <dgm:pt modelId="{5FD262A9-8BB0-4E8A-8B67-EE3FAE001911}" type="pres">
      <dgm:prSet presAssocID="{377ECA14-D955-4AB0-B26E-44FAE995B305}" presName="descendantText" presStyleLbl="alignNode1" presStyleIdx="8" presStyleCnt="10">
        <dgm:presLayoutVars>
          <dgm:bulletEnabled/>
        </dgm:presLayoutVars>
      </dgm:prSet>
      <dgm:spPr/>
    </dgm:pt>
    <dgm:pt modelId="{4C57FCA0-45B8-41E3-BF0A-59A149694EC7}" type="pres">
      <dgm:prSet presAssocID="{90853C78-FD55-4E47-8A5E-B4C9B444A4C1}" presName="sp" presStyleCnt="0"/>
      <dgm:spPr/>
    </dgm:pt>
    <dgm:pt modelId="{931CD85E-EF45-4B57-A0F4-6AD61766FF97}" type="pres">
      <dgm:prSet presAssocID="{3144D16B-EDBC-4DBD-864A-C97575CF7801}" presName="linNode" presStyleCnt="0"/>
      <dgm:spPr/>
    </dgm:pt>
    <dgm:pt modelId="{21A37375-D4E2-41F3-9542-7134237BB242}" type="pres">
      <dgm:prSet presAssocID="{3144D16B-EDBC-4DBD-864A-C97575CF7801}" presName="parentText" presStyleLbl="solidFgAcc1" presStyleIdx="9" presStyleCnt="10">
        <dgm:presLayoutVars>
          <dgm:chMax val="1"/>
          <dgm:bulletEnabled/>
        </dgm:presLayoutVars>
      </dgm:prSet>
      <dgm:spPr/>
    </dgm:pt>
    <dgm:pt modelId="{21142756-0F93-4EF8-A0D1-13D4B9958F0D}" type="pres">
      <dgm:prSet presAssocID="{3144D16B-EDBC-4DBD-864A-C97575CF7801}" presName="descendantText" presStyleLbl="alignNode1" presStyleIdx="9" presStyleCnt="10">
        <dgm:presLayoutVars>
          <dgm:bulletEnabled/>
        </dgm:presLayoutVars>
      </dgm:prSet>
      <dgm:spPr/>
    </dgm:pt>
  </dgm:ptLst>
  <dgm:cxnLst>
    <dgm:cxn modelId="{18C17A06-9B6B-44DE-944B-9C5EF9D07028}" type="presOf" srcId="{5BC1D1A9-8043-475C-B555-68B7A2593CDD}" destId="{B0F29B37-02EE-465A-9CDF-8647429E2915}" srcOrd="0" destOrd="0" presId="urn:microsoft.com/office/officeart/2016/7/layout/VerticalHollowActionList"/>
    <dgm:cxn modelId="{864B1908-FC51-450D-BDB5-D87CCA570372}" type="presOf" srcId="{3144D16B-EDBC-4DBD-864A-C97575CF7801}" destId="{21A37375-D4E2-41F3-9542-7134237BB242}" srcOrd="0" destOrd="0" presId="urn:microsoft.com/office/officeart/2016/7/layout/VerticalHollowActionList"/>
    <dgm:cxn modelId="{8FD8230E-72D3-4406-A69B-58017A6E86E8}" type="presOf" srcId="{2D2818BD-60FB-46A8-A6F3-8E70DEC605C4}" destId="{8BC74332-DC8A-45A0-9E33-696FA95722BF}" srcOrd="0" destOrd="0" presId="urn:microsoft.com/office/officeart/2016/7/layout/VerticalHollowActionList"/>
    <dgm:cxn modelId="{A249A80F-5B7B-4B90-824F-3C193B7EE991}" type="presOf" srcId="{3BA0A7C8-DEA2-476B-BB26-1A0742DE8CFC}" destId="{E533B2C2-8609-4D55-BEC9-B7A3CF62DC23}" srcOrd="0" destOrd="0" presId="urn:microsoft.com/office/officeart/2016/7/layout/VerticalHollowActionList"/>
    <dgm:cxn modelId="{221EF214-01AB-41CF-A327-029AA7D65A29}" type="presOf" srcId="{E6B717D4-8683-4AE2-BA42-0821C08B6427}" destId="{445F65D4-392E-420C-BF6C-87C7ECB8141C}" srcOrd="0" destOrd="0" presId="urn:microsoft.com/office/officeart/2016/7/layout/VerticalHollowActionList"/>
    <dgm:cxn modelId="{752E4117-57D2-4841-B301-BCB934DB3ABA}" srcId="{CC61E3D0-CD5E-4447-92AB-9F149D6ACAC0}" destId="{3144D16B-EDBC-4DBD-864A-C97575CF7801}" srcOrd="9" destOrd="0" parTransId="{28FA949F-0AC4-4635-A913-B1F486E53FD6}" sibTransId="{C7E58DD4-5B74-46EA-8B05-77A470FCDCA4}"/>
    <dgm:cxn modelId="{25529818-8768-4571-9908-EA7C010A4CFB}" srcId="{CC61E3D0-CD5E-4447-92AB-9F149D6ACAC0}" destId="{5BC1D1A9-8043-475C-B555-68B7A2593CDD}" srcOrd="4" destOrd="0" parTransId="{5E4B8F3A-049D-449D-B472-90A3C60BFB4D}" sibTransId="{621B79ED-9DCC-4F3B-AB65-C6EE2060563A}"/>
    <dgm:cxn modelId="{DD6C1E1A-E67D-4A4E-9C8F-4A0BFCD3155E}" srcId="{CC61E3D0-CD5E-4447-92AB-9F149D6ACAC0}" destId="{2D2818BD-60FB-46A8-A6F3-8E70DEC605C4}" srcOrd="1" destOrd="0" parTransId="{48A233A4-7475-40E9-8E24-AB28C63A8AA5}" sibTransId="{50C72A15-83CE-48CA-B51A-5665CDE656FA}"/>
    <dgm:cxn modelId="{F4CB9F1C-0444-402D-A2B1-C212F9B34351}" type="presOf" srcId="{85722396-392B-43BB-BF61-8332395F096A}" destId="{84A2B951-3A4A-4119-8ABC-FECA2FEA60C7}" srcOrd="0" destOrd="0" presId="urn:microsoft.com/office/officeart/2016/7/layout/VerticalHollowActionList"/>
    <dgm:cxn modelId="{FD18B82B-F98B-43BB-883D-9764D863D185}" srcId="{8CCB41E3-1BCB-4A36-AF7F-CB5D9C8A7689}" destId="{B6AAB141-403E-4140-A928-FD64A58B41C2}" srcOrd="0" destOrd="0" parTransId="{EB4BEA44-CD36-465D-B9C6-822EE08B8F55}" sibTransId="{FDDA9379-F7E3-449D-A6DC-C90BE6180C4C}"/>
    <dgm:cxn modelId="{70046534-C39B-4481-8B54-0283FF396B26}" type="presOf" srcId="{7085BE1B-1308-47D0-B17C-FCB1B457BEB5}" destId="{AC3F862C-615C-4FF2-9E36-545CD9C13232}" srcOrd="0" destOrd="0" presId="urn:microsoft.com/office/officeart/2016/7/layout/VerticalHollowActionList"/>
    <dgm:cxn modelId="{8DF6D35B-2E54-463F-8A93-C72D0830E224}" srcId="{4E54DB3B-E2AE-4D6F-8A4C-41BD1671CFD8}" destId="{85722396-392B-43BB-BF61-8332395F096A}" srcOrd="0" destOrd="0" parTransId="{B690C583-A44C-4E74-9DB9-AB63A7B291FF}" sibTransId="{0D197703-537B-4AF2-8A79-577EBD118503}"/>
    <dgm:cxn modelId="{A1553F5E-9E56-4A82-80EF-F30B8BC6DE6E}" srcId="{CC61E3D0-CD5E-4447-92AB-9F149D6ACAC0}" destId="{4E54DB3B-E2AE-4D6F-8A4C-41BD1671CFD8}" srcOrd="3" destOrd="0" parTransId="{EB68942E-0990-4588-9B9C-4D29AAEC3FDE}" sibTransId="{27A590D7-0E0A-438E-87CC-BF24F70D8963}"/>
    <dgm:cxn modelId="{94919544-6559-4E1D-8603-1F5100C775B9}" type="presOf" srcId="{96271624-C9FF-49E1-B70B-50386DA63F87}" destId="{ABC8634F-084F-4AE4-B206-7281C796210F}" srcOrd="0" destOrd="0" presId="urn:microsoft.com/office/officeart/2016/7/layout/VerticalHollowActionList"/>
    <dgm:cxn modelId="{3EC64D45-DBE9-4713-A11C-DC4E432988E4}" srcId="{B8E71310-CD7C-4D13-B20B-7FD89AE310BD}" destId="{A59472EF-13DA-46C7-AE0F-1B89B749C8C0}" srcOrd="0" destOrd="0" parTransId="{3A7BA388-399E-410A-A2B8-39B7FE78D993}" sibTransId="{6F1648E7-52FA-4DAE-9607-AF52B3D2A7CC}"/>
    <dgm:cxn modelId="{3A78D34B-620D-4448-8416-185F079AA7EA}" srcId="{CC61E3D0-CD5E-4447-92AB-9F149D6ACAC0}" destId="{812A24B6-99C2-4712-9FCC-1290471570E9}" srcOrd="5" destOrd="0" parTransId="{39C8FC49-E1B0-4E1D-BEB5-04A9E26A8570}" sibTransId="{C084E406-2B4B-4B02-B2F7-39DDC58A2099}"/>
    <dgm:cxn modelId="{BF742E4C-6D21-42C2-955F-031195707E62}" type="presOf" srcId="{B8E71310-CD7C-4D13-B20B-7FD89AE310BD}" destId="{219103DB-76A8-4C00-BBAC-DFA471583E43}" srcOrd="0" destOrd="0" presId="urn:microsoft.com/office/officeart/2016/7/layout/VerticalHollowActionList"/>
    <dgm:cxn modelId="{139C916C-54D4-4F85-B3B9-0AC3A79C5C48}" type="presOf" srcId="{B6AAB141-403E-4140-A928-FD64A58B41C2}" destId="{63811BCE-0E97-41C8-AECF-EABF0878DC8B}" srcOrd="0" destOrd="0" presId="urn:microsoft.com/office/officeart/2016/7/layout/VerticalHollowActionList"/>
    <dgm:cxn modelId="{DCEDC56C-41DA-404E-83C0-45CC79A0DF1C}" type="presOf" srcId="{22C046F1-F41C-453C-AB80-FA764DD3F578}" destId="{5295C4E8-DE50-4F10-A02F-866733B7F435}" srcOrd="0" destOrd="0" presId="urn:microsoft.com/office/officeart/2016/7/layout/VerticalHollowActionList"/>
    <dgm:cxn modelId="{9E5D0456-D2F7-4F51-AD28-3B189CAF2CF3}" srcId="{3144D16B-EDBC-4DBD-864A-C97575CF7801}" destId="{E0B34344-CAD0-4D8E-829B-A46182D2F535}" srcOrd="0" destOrd="0" parTransId="{6DB2F582-A0BF-4071-84E8-D1BC04DDA624}" sibTransId="{7341E9D5-D7FE-42B2-B3C1-2FE003003C76}"/>
    <dgm:cxn modelId="{AF456681-B8CC-4621-8833-3AB8AB8F8EDC}" type="presOf" srcId="{4E54DB3B-E2AE-4D6F-8A4C-41BD1671CFD8}" destId="{BFC270DF-458E-4F70-BFA5-BBF92F8177B0}" srcOrd="0" destOrd="0" presId="urn:microsoft.com/office/officeart/2016/7/layout/VerticalHollowActionList"/>
    <dgm:cxn modelId="{64E9B582-A5A6-49D5-9AB1-692117E72243}" type="presOf" srcId="{2528DC13-3D02-4C71-8E12-73F5CCEA2CC8}" destId="{02DDCADB-14A5-4080-846A-0A9FB59181EA}" srcOrd="0" destOrd="0" presId="urn:microsoft.com/office/officeart/2016/7/layout/VerticalHollowActionList"/>
    <dgm:cxn modelId="{0B486E97-0727-445C-A74B-074B53AFF03E}" srcId="{2D2818BD-60FB-46A8-A6F3-8E70DEC605C4}" destId="{2528DC13-3D02-4C71-8E12-73F5CCEA2CC8}" srcOrd="0" destOrd="0" parTransId="{14CB120B-FD6E-4718-BC63-3422D887F30D}" sibTransId="{015446B6-6419-4F62-9F64-24D566EE5091}"/>
    <dgm:cxn modelId="{EC40F8A1-AD5E-4776-B577-84240C333AE6}" srcId="{3BA0A7C8-DEA2-476B-BB26-1A0742DE8CFC}" destId="{22C046F1-F41C-453C-AB80-FA764DD3F578}" srcOrd="0" destOrd="0" parTransId="{704383BC-5066-497A-A6D1-78B385DB6502}" sibTransId="{A178BD59-05BA-4218-B293-7C8C7AEACFDC}"/>
    <dgm:cxn modelId="{82515CA5-C394-4B17-B37B-0DB25B4DEC91}" type="presOf" srcId="{812A24B6-99C2-4712-9FCC-1290471570E9}" destId="{96D2F852-3292-4D78-8FC9-2674A7855DB1}" srcOrd="0" destOrd="0" presId="urn:microsoft.com/office/officeart/2016/7/layout/VerticalHollowActionList"/>
    <dgm:cxn modelId="{BD1D36A9-6471-4F07-A67C-C56DA44B4C7E}" srcId="{CC61E3D0-CD5E-4447-92AB-9F149D6ACAC0}" destId="{8CCB41E3-1BCB-4A36-AF7F-CB5D9C8A7689}" srcOrd="6" destOrd="0" parTransId="{AA5F2C17-81F2-446C-870E-6AD890232D4B}" sibTransId="{B1BF2CFE-1AE5-4047-B76A-73A6582E275F}"/>
    <dgm:cxn modelId="{7DEDCAAE-A5FB-4FAF-8478-097FF899BE98}" type="presOf" srcId="{377ECA14-D955-4AB0-B26E-44FAE995B305}" destId="{351F9082-596D-498C-9DB7-CBC1451390AE}" srcOrd="0" destOrd="0" presId="urn:microsoft.com/office/officeart/2016/7/layout/VerticalHollowActionList"/>
    <dgm:cxn modelId="{52EA51B2-0A8C-4C6B-83D1-67F9FCD1F0D1}" srcId="{CC61E3D0-CD5E-4447-92AB-9F149D6ACAC0}" destId="{F51B34E0-C873-4A6C-881D-F7AB6772C231}" srcOrd="0" destOrd="0" parTransId="{0BAFC5BC-6BB5-4B34-B9DC-7216B931A5D3}" sibTransId="{84F41834-1B45-4879-B318-9C19CA1E7CFC}"/>
    <dgm:cxn modelId="{154CA3CD-B77F-49F9-A8A8-111C21ED20A6}" srcId="{CC61E3D0-CD5E-4447-92AB-9F149D6ACAC0}" destId="{377ECA14-D955-4AB0-B26E-44FAE995B305}" srcOrd="8" destOrd="0" parTransId="{CB0868FB-4625-4ECB-9FE4-87553A8E856E}" sibTransId="{90853C78-FD55-4E47-8A5E-B4C9B444A4C1}"/>
    <dgm:cxn modelId="{DC42B3CD-8949-49D1-9937-254B9D3884DB}" type="presOf" srcId="{E0B34344-CAD0-4D8E-829B-A46182D2F535}" destId="{21142756-0F93-4EF8-A0D1-13D4B9958F0D}" srcOrd="0" destOrd="0" presId="urn:microsoft.com/office/officeart/2016/7/layout/VerticalHollowActionList"/>
    <dgm:cxn modelId="{C6F7D7D1-B2B4-4233-9D6D-6D0267C7CF1E}" srcId="{812A24B6-99C2-4712-9FCC-1290471570E9}" destId="{E6B717D4-8683-4AE2-BA42-0821C08B6427}" srcOrd="0" destOrd="0" parTransId="{365C5C1E-2174-4751-A863-3B3EB6122652}" sibTransId="{86A0DBA5-4A78-47ED-A2CB-F82436DDAB38}"/>
    <dgm:cxn modelId="{874715D3-742C-4676-A4EF-8892A8637F19}" type="presOf" srcId="{B92D602D-B9A6-4C68-BA50-EB7DE671A3FC}" destId="{5FD262A9-8BB0-4E8A-8B67-EE3FAE001911}" srcOrd="0" destOrd="0" presId="urn:microsoft.com/office/officeart/2016/7/layout/VerticalHollowActionList"/>
    <dgm:cxn modelId="{A7F602D9-8FCE-47FA-BB51-54D7B0899D13}" type="presOf" srcId="{8CCB41E3-1BCB-4A36-AF7F-CB5D9C8A7689}" destId="{00E78F3D-E2A4-41CA-8C99-340FA95D3967}" srcOrd="0" destOrd="0" presId="urn:microsoft.com/office/officeart/2016/7/layout/VerticalHollowActionList"/>
    <dgm:cxn modelId="{9D88C1DA-0A4C-47B7-87EC-1DC2A1914237}" srcId="{F51B34E0-C873-4A6C-881D-F7AB6772C231}" destId="{96271624-C9FF-49E1-B70B-50386DA63F87}" srcOrd="0" destOrd="0" parTransId="{989C76D4-0C87-4134-88D8-E9F675E8C11C}" sibTransId="{2FACA693-001C-4367-AF86-3387375416F0}"/>
    <dgm:cxn modelId="{31F311DF-B767-4C66-A795-7DCE6478C9E7}" srcId="{CC61E3D0-CD5E-4447-92AB-9F149D6ACAC0}" destId="{3BA0A7C8-DEA2-476B-BB26-1A0742DE8CFC}" srcOrd="7" destOrd="0" parTransId="{CC80B146-0EC8-43B2-98A6-657B12DBE411}" sibTransId="{1866D382-55B0-4C77-8262-A1B56EB75118}"/>
    <dgm:cxn modelId="{E50E4DE9-EF82-49D0-921B-DCEB6C536243}" srcId="{5BC1D1A9-8043-475C-B555-68B7A2593CDD}" destId="{7085BE1B-1308-47D0-B17C-FCB1B457BEB5}" srcOrd="0" destOrd="0" parTransId="{D9D4CE7E-E521-4DF5-909C-906FC58AA910}" sibTransId="{AE8C3EB3-803C-4BE7-BE46-85B8F9BBE6C9}"/>
    <dgm:cxn modelId="{0E9FC6F2-6CEB-4C61-850E-6CB4F8CD1858}" srcId="{CC61E3D0-CD5E-4447-92AB-9F149D6ACAC0}" destId="{B8E71310-CD7C-4D13-B20B-7FD89AE310BD}" srcOrd="2" destOrd="0" parTransId="{948B4B12-EBB6-40C0-8BBE-E02588BE7818}" sibTransId="{0C231DC5-4EB3-47B9-A009-AD32FEE5B312}"/>
    <dgm:cxn modelId="{8B7B24F4-5E3B-4B44-8C79-153BF4A0DB52}" srcId="{377ECA14-D955-4AB0-B26E-44FAE995B305}" destId="{B92D602D-B9A6-4C68-BA50-EB7DE671A3FC}" srcOrd="0" destOrd="0" parTransId="{AAA5AF35-5053-4D1B-B90B-3B5232E0E958}" sibTransId="{4433EF7F-8904-4686-AB36-2C8D8F5D4692}"/>
    <dgm:cxn modelId="{6CAE5CF8-8426-4F7E-8411-5032381D39F1}" type="presOf" srcId="{F51B34E0-C873-4A6C-881D-F7AB6772C231}" destId="{F796F3CF-3405-49EB-84A6-B651D2CE17D9}" srcOrd="0" destOrd="0" presId="urn:microsoft.com/office/officeart/2016/7/layout/VerticalHollowActionList"/>
    <dgm:cxn modelId="{705F23F9-3CA2-4346-8D7E-889CE4E32988}" type="presOf" srcId="{CC61E3D0-CD5E-4447-92AB-9F149D6ACAC0}" destId="{51933992-CF86-49BC-A4D1-B67AB9A1F3CB}" srcOrd="0" destOrd="0" presId="urn:microsoft.com/office/officeart/2016/7/layout/VerticalHollowActionList"/>
    <dgm:cxn modelId="{2EF786FE-22CA-4076-86E5-FC5194420679}" type="presOf" srcId="{A59472EF-13DA-46C7-AE0F-1B89B749C8C0}" destId="{833236BF-22BA-424C-BE7B-0ED9D167F490}" srcOrd="0" destOrd="0" presId="urn:microsoft.com/office/officeart/2016/7/layout/VerticalHollowActionList"/>
    <dgm:cxn modelId="{6DAD87E8-119B-4A18-A6D4-DCA89E494A78}" type="presParOf" srcId="{51933992-CF86-49BC-A4D1-B67AB9A1F3CB}" destId="{E18A8677-A94C-4F1E-B3D9-CA4D48A6F392}" srcOrd="0" destOrd="0" presId="urn:microsoft.com/office/officeart/2016/7/layout/VerticalHollowActionList"/>
    <dgm:cxn modelId="{EBBCAC2A-7341-4729-9743-D50E726BD772}" type="presParOf" srcId="{E18A8677-A94C-4F1E-B3D9-CA4D48A6F392}" destId="{F796F3CF-3405-49EB-84A6-B651D2CE17D9}" srcOrd="0" destOrd="0" presId="urn:microsoft.com/office/officeart/2016/7/layout/VerticalHollowActionList"/>
    <dgm:cxn modelId="{58B605A0-6C97-4056-B4E3-A27EB4F3E86A}" type="presParOf" srcId="{E18A8677-A94C-4F1E-B3D9-CA4D48A6F392}" destId="{ABC8634F-084F-4AE4-B206-7281C796210F}" srcOrd="1" destOrd="0" presId="urn:microsoft.com/office/officeart/2016/7/layout/VerticalHollowActionList"/>
    <dgm:cxn modelId="{D777829C-6B8D-4375-A3EB-6FBEA7C052C8}" type="presParOf" srcId="{51933992-CF86-49BC-A4D1-B67AB9A1F3CB}" destId="{BDE2BB1B-9FE5-4CBC-96B6-A5B947801C15}" srcOrd="1" destOrd="0" presId="urn:microsoft.com/office/officeart/2016/7/layout/VerticalHollowActionList"/>
    <dgm:cxn modelId="{643870E8-9B7A-4469-84C1-61832E1AA780}" type="presParOf" srcId="{51933992-CF86-49BC-A4D1-B67AB9A1F3CB}" destId="{CC652A9A-B11A-4A29-AEA3-64FAB176734C}" srcOrd="2" destOrd="0" presId="urn:microsoft.com/office/officeart/2016/7/layout/VerticalHollowActionList"/>
    <dgm:cxn modelId="{9C006CF4-746A-400C-9364-8A70A7549EEF}" type="presParOf" srcId="{CC652A9A-B11A-4A29-AEA3-64FAB176734C}" destId="{8BC74332-DC8A-45A0-9E33-696FA95722BF}" srcOrd="0" destOrd="0" presId="urn:microsoft.com/office/officeart/2016/7/layout/VerticalHollowActionList"/>
    <dgm:cxn modelId="{15D857B8-9C6D-4C31-AF34-FC3AC7985DE7}" type="presParOf" srcId="{CC652A9A-B11A-4A29-AEA3-64FAB176734C}" destId="{02DDCADB-14A5-4080-846A-0A9FB59181EA}" srcOrd="1" destOrd="0" presId="urn:microsoft.com/office/officeart/2016/7/layout/VerticalHollowActionList"/>
    <dgm:cxn modelId="{8A314380-39A2-4063-9686-5ACA6BB8419B}" type="presParOf" srcId="{51933992-CF86-49BC-A4D1-B67AB9A1F3CB}" destId="{B78A8471-88FB-4051-AE21-ADBD1DBF0F25}" srcOrd="3" destOrd="0" presId="urn:microsoft.com/office/officeart/2016/7/layout/VerticalHollowActionList"/>
    <dgm:cxn modelId="{5777A356-55B5-4546-8C02-FF38AC3BDFC6}" type="presParOf" srcId="{51933992-CF86-49BC-A4D1-B67AB9A1F3CB}" destId="{0991F357-8C4B-45E1-933C-03942C4DF4CD}" srcOrd="4" destOrd="0" presId="urn:microsoft.com/office/officeart/2016/7/layout/VerticalHollowActionList"/>
    <dgm:cxn modelId="{2322C01A-93AD-4BD8-94C5-2EA796881349}" type="presParOf" srcId="{0991F357-8C4B-45E1-933C-03942C4DF4CD}" destId="{219103DB-76A8-4C00-BBAC-DFA471583E43}" srcOrd="0" destOrd="0" presId="urn:microsoft.com/office/officeart/2016/7/layout/VerticalHollowActionList"/>
    <dgm:cxn modelId="{20423C5F-E2EA-4640-8801-A39859E6EF3B}" type="presParOf" srcId="{0991F357-8C4B-45E1-933C-03942C4DF4CD}" destId="{833236BF-22BA-424C-BE7B-0ED9D167F490}" srcOrd="1" destOrd="0" presId="urn:microsoft.com/office/officeart/2016/7/layout/VerticalHollowActionList"/>
    <dgm:cxn modelId="{4B724FED-8FB4-46A5-9019-1E4168595903}" type="presParOf" srcId="{51933992-CF86-49BC-A4D1-B67AB9A1F3CB}" destId="{890BE554-6197-4618-84B1-98D5285912BC}" srcOrd="5" destOrd="0" presId="urn:microsoft.com/office/officeart/2016/7/layout/VerticalHollowActionList"/>
    <dgm:cxn modelId="{23701186-B6A6-4418-A5F7-7212F0168C68}" type="presParOf" srcId="{51933992-CF86-49BC-A4D1-B67AB9A1F3CB}" destId="{2256D89D-FD98-4C06-A468-5F6CB7A25FEF}" srcOrd="6" destOrd="0" presId="urn:microsoft.com/office/officeart/2016/7/layout/VerticalHollowActionList"/>
    <dgm:cxn modelId="{FAF1AE1E-5060-46A9-863F-56AA7FF99568}" type="presParOf" srcId="{2256D89D-FD98-4C06-A468-5F6CB7A25FEF}" destId="{BFC270DF-458E-4F70-BFA5-BBF92F8177B0}" srcOrd="0" destOrd="0" presId="urn:microsoft.com/office/officeart/2016/7/layout/VerticalHollowActionList"/>
    <dgm:cxn modelId="{BDCBCD48-979C-4226-A7E2-F91F464CA1DC}" type="presParOf" srcId="{2256D89D-FD98-4C06-A468-5F6CB7A25FEF}" destId="{84A2B951-3A4A-4119-8ABC-FECA2FEA60C7}" srcOrd="1" destOrd="0" presId="urn:microsoft.com/office/officeart/2016/7/layout/VerticalHollowActionList"/>
    <dgm:cxn modelId="{974FA75E-1229-4775-BBF1-71085FD7485B}" type="presParOf" srcId="{51933992-CF86-49BC-A4D1-B67AB9A1F3CB}" destId="{9949EE75-58E4-4B5C-9231-CA48E159A89F}" srcOrd="7" destOrd="0" presId="urn:microsoft.com/office/officeart/2016/7/layout/VerticalHollowActionList"/>
    <dgm:cxn modelId="{1C8925E9-0BED-474F-8503-71F42BE56B16}" type="presParOf" srcId="{51933992-CF86-49BC-A4D1-B67AB9A1F3CB}" destId="{8292B713-979F-4EA0-82AC-9A127FD0A91B}" srcOrd="8" destOrd="0" presId="urn:microsoft.com/office/officeart/2016/7/layout/VerticalHollowActionList"/>
    <dgm:cxn modelId="{B8CA16EB-701B-4227-9167-DFEF660974FE}" type="presParOf" srcId="{8292B713-979F-4EA0-82AC-9A127FD0A91B}" destId="{B0F29B37-02EE-465A-9CDF-8647429E2915}" srcOrd="0" destOrd="0" presId="urn:microsoft.com/office/officeart/2016/7/layout/VerticalHollowActionList"/>
    <dgm:cxn modelId="{104AD207-B12B-42B8-97D2-8874D624CE03}" type="presParOf" srcId="{8292B713-979F-4EA0-82AC-9A127FD0A91B}" destId="{AC3F862C-615C-4FF2-9E36-545CD9C13232}" srcOrd="1" destOrd="0" presId="urn:microsoft.com/office/officeart/2016/7/layout/VerticalHollowActionList"/>
    <dgm:cxn modelId="{626CE5F9-A678-434A-B846-053FCDEE4637}" type="presParOf" srcId="{51933992-CF86-49BC-A4D1-B67AB9A1F3CB}" destId="{EEACAF67-6B44-40BC-938E-2CEE63F3B36C}" srcOrd="9" destOrd="0" presId="urn:microsoft.com/office/officeart/2016/7/layout/VerticalHollowActionList"/>
    <dgm:cxn modelId="{7C88615D-EF0D-45D8-A6BA-F60DBF2B673F}" type="presParOf" srcId="{51933992-CF86-49BC-A4D1-B67AB9A1F3CB}" destId="{ECEBA9BF-9EB8-44F4-824E-75AD5359CA1D}" srcOrd="10" destOrd="0" presId="urn:microsoft.com/office/officeart/2016/7/layout/VerticalHollowActionList"/>
    <dgm:cxn modelId="{F1A630CE-CE09-42A2-B638-79B03D972F72}" type="presParOf" srcId="{ECEBA9BF-9EB8-44F4-824E-75AD5359CA1D}" destId="{96D2F852-3292-4D78-8FC9-2674A7855DB1}" srcOrd="0" destOrd="0" presId="urn:microsoft.com/office/officeart/2016/7/layout/VerticalHollowActionList"/>
    <dgm:cxn modelId="{1E60E964-2844-45D3-8EAE-8BE3CD025940}" type="presParOf" srcId="{ECEBA9BF-9EB8-44F4-824E-75AD5359CA1D}" destId="{445F65D4-392E-420C-BF6C-87C7ECB8141C}" srcOrd="1" destOrd="0" presId="urn:microsoft.com/office/officeart/2016/7/layout/VerticalHollowActionList"/>
    <dgm:cxn modelId="{CA2A31D9-6B86-48D6-BD70-17F6D7BEB604}" type="presParOf" srcId="{51933992-CF86-49BC-A4D1-B67AB9A1F3CB}" destId="{C2887368-80E0-4266-8133-20AE1C1D1B77}" srcOrd="11" destOrd="0" presId="urn:microsoft.com/office/officeart/2016/7/layout/VerticalHollowActionList"/>
    <dgm:cxn modelId="{889B5A6A-3603-4FFB-ACFA-2B616A2638DA}" type="presParOf" srcId="{51933992-CF86-49BC-A4D1-B67AB9A1F3CB}" destId="{C87249D5-6EFC-4C87-9365-B6BF2CC2C7BD}" srcOrd="12" destOrd="0" presId="urn:microsoft.com/office/officeart/2016/7/layout/VerticalHollowActionList"/>
    <dgm:cxn modelId="{FAF25A79-EC5B-4B83-BB8A-5A544C3DF59A}" type="presParOf" srcId="{C87249D5-6EFC-4C87-9365-B6BF2CC2C7BD}" destId="{00E78F3D-E2A4-41CA-8C99-340FA95D3967}" srcOrd="0" destOrd="0" presId="urn:microsoft.com/office/officeart/2016/7/layout/VerticalHollowActionList"/>
    <dgm:cxn modelId="{13D81005-DB39-4096-B778-87877E9A7227}" type="presParOf" srcId="{C87249D5-6EFC-4C87-9365-B6BF2CC2C7BD}" destId="{63811BCE-0E97-41C8-AECF-EABF0878DC8B}" srcOrd="1" destOrd="0" presId="urn:microsoft.com/office/officeart/2016/7/layout/VerticalHollowActionList"/>
    <dgm:cxn modelId="{3BCEC2BA-D299-48D7-BCDA-BFAA6ADA238A}" type="presParOf" srcId="{51933992-CF86-49BC-A4D1-B67AB9A1F3CB}" destId="{A9D84E17-9BDE-4571-B161-56A020145496}" srcOrd="13" destOrd="0" presId="urn:microsoft.com/office/officeart/2016/7/layout/VerticalHollowActionList"/>
    <dgm:cxn modelId="{80CF8AC7-B275-4AD8-A5DD-56B74F8DB22C}" type="presParOf" srcId="{51933992-CF86-49BC-A4D1-B67AB9A1F3CB}" destId="{1CB218EE-3270-4BA0-966E-BCC729F14048}" srcOrd="14" destOrd="0" presId="urn:microsoft.com/office/officeart/2016/7/layout/VerticalHollowActionList"/>
    <dgm:cxn modelId="{7F6B06BE-B089-4523-8566-FC37E8459E58}" type="presParOf" srcId="{1CB218EE-3270-4BA0-966E-BCC729F14048}" destId="{E533B2C2-8609-4D55-BEC9-B7A3CF62DC23}" srcOrd="0" destOrd="0" presId="urn:microsoft.com/office/officeart/2016/7/layout/VerticalHollowActionList"/>
    <dgm:cxn modelId="{478F0179-DA8B-424C-B742-1CAF502D15C9}" type="presParOf" srcId="{1CB218EE-3270-4BA0-966E-BCC729F14048}" destId="{5295C4E8-DE50-4F10-A02F-866733B7F435}" srcOrd="1" destOrd="0" presId="urn:microsoft.com/office/officeart/2016/7/layout/VerticalHollowActionList"/>
    <dgm:cxn modelId="{2F970BDB-58EB-4503-A6AA-A8E7157F5CF1}" type="presParOf" srcId="{51933992-CF86-49BC-A4D1-B67AB9A1F3CB}" destId="{C147C558-330F-426A-BA1D-0BD03F4A4CCD}" srcOrd="15" destOrd="0" presId="urn:microsoft.com/office/officeart/2016/7/layout/VerticalHollowActionList"/>
    <dgm:cxn modelId="{BEAF77CB-5259-4827-B791-8F90B688A725}" type="presParOf" srcId="{51933992-CF86-49BC-A4D1-B67AB9A1F3CB}" destId="{C4D23BC1-F1E2-4446-837E-EC249E57F5B5}" srcOrd="16" destOrd="0" presId="urn:microsoft.com/office/officeart/2016/7/layout/VerticalHollowActionList"/>
    <dgm:cxn modelId="{06BDF187-1D61-4964-B21D-FCE5DDE9E241}" type="presParOf" srcId="{C4D23BC1-F1E2-4446-837E-EC249E57F5B5}" destId="{351F9082-596D-498C-9DB7-CBC1451390AE}" srcOrd="0" destOrd="0" presId="urn:microsoft.com/office/officeart/2016/7/layout/VerticalHollowActionList"/>
    <dgm:cxn modelId="{56D13161-9EDE-4CEA-92D7-47AB3B9A14EE}" type="presParOf" srcId="{C4D23BC1-F1E2-4446-837E-EC249E57F5B5}" destId="{5FD262A9-8BB0-4E8A-8B67-EE3FAE001911}" srcOrd="1" destOrd="0" presId="urn:microsoft.com/office/officeart/2016/7/layout/VerticalHollowActionList"/>
    <dgm:cxn modelId="{7CEFBF2C-64A8-426C-9777-C0805B3FB717}" type="presParOf" srcId="{51933992-CF86-49BC-A4D1-B67AB9A1F3CB}" destId="{4C57FCA0-45B8-41E3-BF0A-59A149694EC7}" srcOrd="17" destOrd="0" presId="urn:microsoft.com/office/officeart/2016/7/layout/VerticalHollowActionList"/>
    <dgm:cxn modelId="{A41EEF06-EC0F-40DD-832D-6B6C8AD3BC81}" type="presParOf" srcId="{51933992-CF86-49BC-A4D1-B67AB9A1F3CB}" destId="{931CD85E-EF45-4B57-A0F4-6AD61766FF97}" srcOrd="18" destOrd="0" presId="urn:microsoft.com/office/officeart/2016/7/layout/VerticalHollowActionList"/>
    <dgm:cxn modelId="{F0EB41A7-92A6-4F35-A482-03C61B9F1A86}" type="presParOf" srcId="{931CD85E-EF45-4B57-A0F4-6AD61766FF97}" destId="{21A37375-D4E2-41F3-9542-7134237BB242}" srcOrd="0" destOrd="0" presId="urn:microsoft.com/office/officeart/2016/7/layout/VerticalHollowActionList"/>
    <dgm:cxn modelId="{C7F78764-404D-4474-ADAF-420488CC2F7C}" type="presParOf" srcId="{931CD85E-EF45-4B57-A0F4-6AD61766FF97}" destId="{21142756-0F93-4EF8-A0D1-13D4B9958F0D}"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46D91-49D7-4303-BCCC-37B405BE0DE6}">
      <dsp:nvSpPr>
        <dsp:cNvPr id="0" name=""/>
        <dsp:cNvSpPr/>
      </dsp:nvSpPr>
      <dsp:spPr>
        <a:xfrm>
          <a:off x="731047" y="222011"/>
          <a:ext cx="1098000" cy="1098000"/>
        </a:xfrm>
        <a:prstGeom prst="round2DiagRect">
          <a:avLst>
            <a:gd name="adj1" fmla="val 29727"/>
            <a:gd name="adj2" fmla="val 0"/>
          </a:avLst>
        </a:prstGeom>
        <a:solidFill>
          <a:schemeClr val="bg1"/>
        </a:solidFill>
        <a:ln w="38100">
          <a:solidFill>
            <a:srgbClr val="FFC000"/>
          </a:solidFill>
        </a:ln>
        <a:effectLst/>
      </dsp:spPr>
      <dsp:style>
        <a:lnRef idx="0">
          <a:scrgbClr r="0" g="0" b="0"/>
        </a:lnRef>
        <a:fillRef idx="1">
          <a:scrgbClr r="0" g="0" b="0"/>
        </a:fillRef>
        <a:effectRef idx="2">
          <a:scrgbClr r="0" g="0" b="0"/>
        </a:effectRef>
        <a:fontRef idx="minor"/>
      </dsp:style>
    </dsp:sp>
    <dsp:sp modelId="{7121ACFF-E608-4B42-BD9E-3A331D445890}">
      <dsp:nvSpPr>
        <dsp:cNvPr id="0" name=""/>
        <dsp:cNvSpPr/>
      </dsp:nvSpPr>
      <dsp:spPr>
        <a:xfrm>
          <a:off x="965047" y="456011"/>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B8EEE94-61C1-4177-AAD6-D82B05C66744}">
      <dsp:nvSpPr>
        <dsp:cNvPr id="0" name=""/>
        <dsp:cNvSpPr/>
      </dsp:nvSpPr>
      <dsp:spPr>
        <a:xfrm>
          <a:off x="380047" y="1662011"/>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Stealing CC info or other sensitive credentials</a:t>
          </a:r>
        </a:p>
      </dsp:txBody>
      <dsp:txXfrm>
        <a:off x="380047" y="1662011"/>
        <a:ext cx="1800000" cy="765000"/>
      </dsp:txXfrm>
    </dsp:sp>
    <dsp:sp modelId="{7B28B517-4A0C-43A7-95B4-31B779EF6E3E}">
      <dsp:nvSpPr>
        <dsp:cNvPr id="0" name=""/>
        <dsp:cNvSpPr/>
      </dsp:nvSpPr>
      <dsp:spPr>
        <a:xfrm>
          <a:off x="2846047" y="222011"/>
          <a:ext cx="1098000" cy="1098000"/>
        </a:xfrm>
        <a:prstGeom prst="round2DiagRect">
          <a:avLst>
            <a:gd name="adj1" fmla="val 29727"/>
            <a:gd name="adj2" fmla="val 0"/>
          </a:avLst>
        </a:prstGeom>
        <a:solidFill>
          <a:schemeClr val="bg1"/>
        </a:solidFill>
        <a:ln w="38100">
          <a:solidFill>
            <a:srgbClr val="D0F610"/>
          </a:solidFill>
        </a:ln>
        <a:effectLst/>
      </dsp:spPr>
      <dsp:style>
        <a:lnRef idx="0">
          <a:scrgbClr r="0" g="0" b="0"/>
        </a:lnRef>
        <a:fillRef idx="1">
          <a:scrgbClr r="0" g="0" b="0"/>
        </a:fillRef>
        <a:effectRef idx="2">
          <a:scrgbClr r="0" g="0" b="0"/>
        </a:effectRef>
        <a:fontRef idx="minor"/>
      </dsp:style>
    </dsp:sp>
    <dsp:sp modelId="{71D7E2E4-2B61-4137-9063-4A3536424E9B}">
      <dsp:nvSpPr>
        <dsp:cNvPr id="0" name=""/>
        <dsp:cNvSpPr/>
      </dsp:nvSpPr>
      <dsp:spPr>
        <a:xfrm>
          <a:off x="3080047" y="456011"/>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4E9DAAA-C7D1-41A4-B258-355206D072D9}">
      <dsp:nvSpPr>
        <dsp:cNvPr id="0" name=""/>
        <dsp:cNvSpPr/>
      </dsp:nvSpPr>
      <dsp:spPr>
        <a:xfrm>
          <a:off x="2495047" y="1662011"/>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Incorporating the server into a botnet</a:t>
          </a:r>
        </a:p>
      </dsp:txBody>
      <dsp:txXfrm>
        <a:off x="2495047" y="1662011"/>
        <a:ext cx="1800000" cy="765000"/>
      </dsp:txXfrm>
    </dsp:sp>
    <dsp:sp modelId="{8259C00C-1A22-48B0-B846-BC023C9F1F7E}">
      <dsp:nvSpPr>
        <dsp:cNvPr id="0" name=""/>
        <dsp:cNvSpPr/>
      </dsp:nvSpPr>
      <dsp:spPr>
        <a:xfrm>
          <a:off x="4961047" y="222011"/>
          <a:ext cx="1098000" cy="1098000"/>
        </a:xfrm>
        <a:prstGeom prst="round2DiagRect">
          <a:avLst>
            <a:gd name="adj1" fmla="val 29727"/>
            <a:gd name="adj2" fmla="val 0"/>
          </a:avLst>
        </a:prstGeom>
        <a:solidFill>
          <a:schemeClr val="bg1"/>
        </a:solidFill>
        <a:ln w="38100">
          <a:solidFill>
            <a:srgbClr val="70EE12"/>
          </a:solidFill>
        </a:ln>
        <a:effectLst/>
      </dsp:spPr>
      <dsp:style>
        <a:lnRef idx="0">
          <a:scrgbClr r="0" g="0" b="0"/>
        </a:lnRef>
        <a:fillRef idx="1">
          <a:scrgbClr r="0" g="0" b="0"/>
        </a:fillRef>
        <a:effectRef idx="2">
          <a:scrgbClr r="0" g="0" b="0"/>
        </a:effectRef>
        <a:fontRef idx="minor"/>
      </dsp:style>
    </dsp:sp>
    <dsp:sp modelId="{1054E8B9-95DF-4009-A243-EB090BBE00DF}">
      <dsp:nvSpPr>
        <dsp:cNvPr id="0" name=""/>
        <dsp:cNvSpPr/>
      </dsp:nvSpPr>
      <dsp:spPr>
        <a:xfrm>
          <a:off x="5195047" y="456011"/>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526E7FA-F406-4DB3-BF05-462405B05146}">
      <dsp:nvSpPr>
        <dsp:cNvPr id="0" name=""/>
        <dsp:cNvSpPr/>
      </dsp:nvSpPr>
      <dsp:spPr>
        <a:xfrm>
          <a:off x="4610047" y="1662011"/>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DB compromise</a:t>
          </a:r>
        </a:p>
      </dsp:txBody>
      <dsp:txXfrm>
        <a:off x="4610047" y="1662011"/>
        <a:ext cx="1800000" cy="765000"/>
      </dsp:txXfrm>
    </dsp:sp>
    <dsp:sp modelId="{57B59FF2-6364-497C-8DA1-65DE09C9E9E5}">
      <dsp:nvSpPr>
        <dsp:cNvPr id="0" name=""/>
        <dsp:cNvSpPr/>
      </dsp:nvSpPr>
      <dsp:spPr>
        <a:xfrm>
          <a:off x="7076047" y="222011"/>
          <a:ext cx="1098000" cy="1098000"/>
        </a:xfrm>
        <a:prstGeom prst="round2DiagRect">
          <a:avLst>
            <a:gd name="adj1" fmla="val 29727"/>
            <a:gd name="adj2" fmla="val 0"/>
          </a:avLst>
        </a:prstGeom>
        <a:solidFill>
          <a:schemeClr val="bg1"/>
        </a:solidFill>
        <a:ln w="38100">
          <a:solidFill>
            <a:srgbClr val="27DD71"/>
          </a:solidFill>
        </a:ln>
        <a:effectLst/>
      </dsp:spPr>
      <dsp:style>
        <a:lnRef idx="0">
          <a:scrgbClr r="0" g="0" b="0"/>
        </a:lnRef>
        <a:fillRef idx="1">
          <a:scrgbClr r="0" g="0" b="0"/>
        </a:fillRef>
        <a:effectRef idx="2">
          <a:scrgbClr r="0" g="0" b="0"/>
        </a:effectRef>
        <a:fontRef idx="minor"/>
      </dsp:style>
    </dsp:sp>
    <dsp:sp modelId="{7D669D35-4D97-4FD6-95D3-F880A4129D7A}">
      <dsp:nvSpPr>
        <dsp:cNvPr id="0" name=""/>
        <dsp:cNvSpPr/>
      </dsp:nvSpPr>
      <dsp:spPr>
        <a:xfrm>
          <a:off x="7310047" y="456011"/>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39040F6-69E6-49AF-AA13-BCC9696E6484}">
      <dsp:nvSpPr>
        <dsp:cNvPr id="0" name=""/>
        <dsp:cNvSpPr/>
      </dsp:nvSpPr>
      <dsp:spPr>
        <a:xfrm>
          <a:off x="6725047" y="1662011"/>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Hiding/redirecting traffic</a:t>
          </a:r>
        </a:p>
      </dsp:txBody>
      <dsp:txXfrm>
        <a:off x="6725047" y="1662011"/>
        <a:ext cx="1800000" cy="765000"/>
      </dsp:txXfrm>
    </dsp:sp>
    <dsp:sp modelId="{CBC96F4F-CB58-4FC3-BBFE-43AACBD1094E}">
      <dsp:nvSpPr>
        <dsp:cNvPr id="0" name=""/>
        <dsp:cNvSpPr/>
      </dsp:nvSpPr>
      <dsp:spPr>
        <a:xfrm>
          <a:off x="9191047" y="222011"/>
          <a:ext cx="1098000" cy="1098000"/>
        </a:xfrm>
        <a:prstGeom prst="round2DiagRect">
          <a:avLst>
            <a:gd name="adj1" fmla="val 29727"/>
            <a:gd name="adj2" fmla="val 0"/>
          </a:avLst>
        </a:prstGeom>
        <a:solidFill>
          <a:schemeClr val="bg1"/>
        </a:solidFill>
        <a:ln w="38100">
          <a:solidFill>
            <a:srgbClr val="27DD71"/>
          </a:solidFill>
        </a:ln>
        <a:effectLst/>
      </dsp:spPr>
      <dsp:style>
        <a:lnRef idx="0">
          <a:scrgbClr r="0" g="0" b="0"/>
        </a:lnRef>
        <a:fillRef idx="1">
          <a:scrgbClr r="0" g="0" b="0"/>
        </a:fillRef>
        <a:effectRef idx="2">
          <a:scrgbClr r="0" g="0" b="0"/>
        </a:effectRef>
        <a:fontRef idx="minor"/>
      </dsp:style>
    </dsp:sp>
    <dsp:sp modelId="{87D6E6C2-1C65-459C-A373-4AA87BFBE13B}">
      <dsp:nvSpPr>
        <dsp:cNvPr id="0" name=""/>
        <dsp:cNvSpPr/>
      </dsp:nvSpPr>
      <dsp:spPr>
        <a:xfrm>
          <a:off x="9425047" y="456011"/>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A65DDD9-5994-4708-BB16-23B67E786F2E}">
      <dsp:nvSpPr>
        <dsp:cNvPr id="0" name=""/>
        <dsp:cNvSpPr/>
      </dsp:nvSpPr>
      <dsp:spPr>
        <a:xfrm>
          <a:off x="8840047" y="1662011"/>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Stealing closed source software</a:t>
          </a:r>
        </a:p>
      </dsp:txBody>
      <dsp:txXfrm>
        <a:off x="8840047" y="1662011"/>
        <a:ext cx="1800000" cy="765000"/>
      </dsp:txXfrm>
    </dsp:sp>
    <dsp:sp modelId="{2D52366A-EEE8-4E6B-BDDD-C12CFC9609A3}">
      <dsp:nvSpPr>
        <dsp:cNvPr id="0" name=""/>
        <dsp:cNvSpPr/>
      </dsp:nvSpPr>
      <dsp:spPr>
        <a:xfrm>
          <a:off x="2846047" y="2877011"/>
          <a:ext cx="1098000" cy="1098000"/>
        </a:xfrm>
        <a:prstGeom prst="round2DiagRect">
          <a:avLst>
            <a:gd name="adj1" fmla="val 29727"/>
            <a:gd name="adj2" fmla="val 0"/>
          </a:avLst>
        </a:prstGeom>
        <a:solidFill>
          <a:schemeClr val="bg1"/>
        </a:solidFill>
        <a:ln w="38100">
          <a:solidFill>
            <a:srgbClr val="30CEB0"/>
          </a:solidFill>
        </a:ln>
        <a:effectLst/>
      </dsp:spPr>
      <dsp:style>
        <a:lnRef idx="0">
          <a:scrgbClr r="0" g="0" b="0"/>
        </a:lnRef>
        <a:fillRef idx="1">
          <a:scrgbClr r="0" g="0" b="0"/>
        </a:fillRef>
        <a:effectRef idx="2">
          <a:scrgbClr r="0" g="0" b="0"/>
        </a:effectRef>
        <a:fontRef idx="minor"/>
      </dsp:style>
    </dsp:sp>
    <dsp:sp modelId="{400D1170-A17A-4706-9CE2-6D03A01C8D8A}">
      <dsp:nvSpPr>
        <dsp:cNvPr id="0" name=""/>
        <dsp:cNvSpPr/>
      </dsp:nvSpPr>
      <dsp:spPr>
        <a:xfrm>
          <a:off x="3080047" y="3111011"/>
          <a:ext cx="630000" cy="6300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DF41871-74FA-4C5A-B4EE-A695BC9F05AD}">
      <dsp:nvSpPr>
        <dsp:cNvPr id="0" name=""/>
        <dsp:cNvSpPr/>
      </dsp:nvSpPr>
      <dsp:spPr>
        <a:xfrm>
          <a:off x="2495047" y="4317011"/>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Privilege escalation</a:t>
          </a:r>
        </a:p>
      </dsp:txBody>
      <dsp:txXfrm>
        <a:off x="2495047" y="4317011"/>
        <a:ext cx="1800000" cy="765000"/>
      </dsp:txXfrm>
    </dsp:sp>
    <dsp:sp modelId="{76B1B3B1-18F0-49DB-9477-B7DEBD5B563C}">
      <dsp:nvSpPr>
        <dsp:cNvPr id="0" name=""/>
        <dsp:cNvSpPr/>
      </dsp:nvSpPr>
      <dsp:spPr>
        <a:xfrm>
          <a:off x="4961047" y="2877011"/>
          <a:ext cx="1098000" cy="1098000"/>
        </a:xfrm>
        <a:prstGeom prst="round2DiagRect">
          <a:avLst>
            <a:gd name="adj1" fmla="val 29727"/>
            <a:gd name="adj2" fmla="val 0"/>
          </a:avLst>
        </a:prstGeom>
        <a:solidFill>
          <a:schemeClr val="bg1"/>
        </a:solidFill>
        <a:ln w="38100">
          <a:solidFill>
            <a:srgbClr val="3BAACB"/>
          </a:solidFill>
        </a:ln>
        <a:effectLst/>
      </dsp:spPr>
      <dsp:style>
        <a:lnRef idx="0">
          <a:scrgbClr r="0" g="0" b="0"/>
        </a:lnRef>
        <a:fillRef idx="1">
          <a:scrgbClr r="0" g="0" b="0"/>
        </a:fillRef>
        <a:effectRef idx="2">
          <a:scrgbClr r="0" g="0" b="0"/>
        </a:effectRef>
        <a:fontRef idx="minor"/>
      </dsp:style>
    </dsp:sp>
    <dsp:sp modelId="{286BD07D-5DE5-4347-970E-61B147DC82FF}">
      <dsp:nvSpPr>
        <dsp:cNvPr id="0" name=""/>
        <dsp:cNvSpPr/>
      </dsp:nvSpPr>
      <dsp:spPr>
        <a:xfrm>
          <a:off x="5195047" y="3111011"/>
          <a:ext cx="630000" cy="63000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3345EE3-A0C5-4AEC-9CC2-FF7E560152E7}">
      <dsp:nvSpPr>
        <dsp:cNvPr id="0" name=""/>
        <dsp:cNvSpPr/>
      </dsp:nvSpPr>
      <dsp:spPr>
        <a:xfrm>
          <a:off x="4610047" y="4317011"/>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Curiosity</a:t>
          </a:r>
        </a:p>
      </dsp:txBody>
      <dsp:txXfrm>
        <a:off x="4610047" y="4317011"/>
        <a:ext cx="1800000" cy="765000"/>
      </dsp:txXfrm>
    </dsp:sp>
    <dsp:sp modelId="{CD062CAB-D108-4DB2-B862-20B603AB2EB3}">
      <dsp:nvSpPr>
        <dsp:cNvPr id="0" name=""/>
        <dsp:cNvSpPr/>
      </dsp:nvSpPr>
      <dsp:spPr>
        <a:xfrm>
          <a:off x="7076047" y="2877011"/>
          <a:ext cx="1098000" cy="1098000"/>
        </a:xfrm>
        <a:prstGeom prst="round2DiagRect">
          <a:avLst>
            <a:gd name="adj1" fmla="val 29727"/>
            <a:gd name="adj2" fmla="val 0"/>
          </a:avLst>
        </a:prstGeom>
        <a:solidFill>
          <a:schemeClr val="bg1"/>
        </a:solidFill>
        <a:ln w="38100">
          <a:solidFill>
            <a:srgbClr val="4372C4"/>
          </a:solidFill>
        </a:ln>
        <a:effectLst/>
      </dsp:spPr>
      <dsp:style>
        <a:lnRef idx="0">
          <a:scrgbClr r="0" g="0" b="0"/>
        </a:lnRef>
        <a:fillRef idx="1">
          <a:scrgbClr r="0" g="0" b="0"/>
        </a:fillRef>
        <a:effectRef idx="2">
          <a:scrgbClr r="0" g="0" b="0"/>
        </a:effectRef>
        <a:fontRef idx="minor"/>
      </dsp:style>
    </dsp:sp>
    <dsp:sp modelId="{B0CA83E6-203B-47F0-89C2-BAB0AD70D9F8}">
      <dsp:nvSpPr>
        <dsp:cNvPr id="0" name=""/>
        <dsp:cNvSpPr/>
      </dsp:nvSpPr>
      <dsp:spPr>
        <a:xfrm>
          <a:off x="7310047" y="3111011"/>
          <a:ext cx="630000" cy="63000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C9606F4-D44D-46D0-A470-01F44C16BC1A}">
      <dsp:nvSpPr>
        <dsp:cNvPr id="0" name=""/>
        <dsp:cNvSpPr/>
      </dsp:nvSpPr>
      <dsp:spPr>
        <a:xfrm>
          <a:off x="6725047" y="4317011"/>
          <a:ext cx="18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Damaging the reputation of the target</a:t>
          </a:r>
        </a:p>
      </dsp:txBody>
      <dsp:txXfrm>
        <a:off x="6725047" y="4317011"/>
        <a:ext cx="1800000" cy="76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4B396B-779A-214B-85C5-A4302385A801}">
      <dsp:nvSpPr>
        <dsp:cNvPr id="0" name=""/>
        <dsp:cNvSpPr/>
      </dsp:nvSpPr>
      <dsp:spPr>
        <a:xfrm>
          <a:off x="1292776" y="445"/>
          <a:ext cx="8513371" cy="714725"/>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User account compromise</a:t>
          </a:r>
        </a:p>
      </dsp:txBody>
      <dsp:txXfrm>
        <a:off x="1327666" y="35335"/>
        <a:ext cx="8443591" cy="644945"/>
      </dsp:txXfrm>
    </dsp:sp>
    <dsp:sp modelId="{27F57D95-C701-C646-BE11-D55DA592A6C7}">
      <dsp:nvSpPr>
        <dsp:cNvPr id="0" name=""/>
        <dsp:cNvSpPr/>
      </dsp:nvSpPr>
      <dsp:spPr>
        <a:xfrm>
          <a:off x="1292776" y="750907"/>
          <a:ext cx="8513371" cy="714725"/>
        </a:xfrm>
        <a:prstGeom prst="roundRect">
          <a:avLst/>
        </a:prstGeom>
        <a:gradFill rotWithShape="0">
          <a:gsLst>
            <a:gs pos="0">
              <a:schemeClr val="accent5">
                <a:hueOff val="-1225557"/>
                <a:satOff val="-1705"/>
                <a:lumOff val="-654"/>
                <a:alphaOff val="0"/>
                <a:satMod val="103000"/>
                <a:lumMod val="102000"/>
                <a:tint val="94000"/>
              </a:schemeClr>
            </a:gs>
            <a:gs pos="50000">
              <a:schemeClr val="accent5">
                <a:hueOff val="-1225557"/>
                <a:satOff val="-1705"/>
                <a:lumOff val="-654"/>
                <a:alphaOff val="0"/>
                <a:satMod val="110000"/>
                <a:lumMod val="100000"/>
                <a:shade val="100000"/>
              </a:schemeClr>
            </a:gs>
            <a:gs pos="100000">
              <a:schemeClr val="accent5">
                <a:hueOff val="-1225557"/>
                <a:satOff val="-1705"/>
                <a:lumOff val="-65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Website defacement</a:t>
          </a:r>
        </a:p>
      </dsp:txBody>
      <dsp:txXfrm>
        <a:off x="1327666" y="785797"/>
        <a:ext cx="8443591" cy="644945"/>
      </dsp:txXfrm>
    </dsp:sp>
    <dsp:sp modelId="{83E2C4B6-60D3-D046-8C03-DE4A4F8D7E14}">
      <dsp:nvSpPr>
        <dsp:cNvPr id="0" name=""/>
        <dsp:cNvSpPr/>
      </dsp:nvSpPr>
      <dsp:spPr>
        <a:xfrm>
          <a:off x="1292776" y="1501368"/>
          <a:ext cx="8513371" cy="714725"/>
        </a:xfrm>
        <a:prstGeom prst="roundRect">
          <a:avLst/>
        </a:prstGeom>
        <a:gradFill rotWithShape="0">
          <a:gsLst>
            <a:gs pos="0">
              <a:schemeClr val="accent5">
                <a:hueOff val="-2451115"/>
                <a:satOff val="-3409"/>
                <a:lumOff val="-1307"/>
                <a:alphaOff val="0"/>
                <a:satMod val="103000"/>
                <a:lumMod val="102000"/>
                <a:tint val="94000"/>
              </a:schemeClr>
            </a:gs>
            <a:gs pos="50000">
              <a:schemeClr val="accent5">
                <a:hueOff val="-2451115"/>
                <a:satOff val="-3409"/>
                <a:lumOff val="-1307"/>
                <a:alphaOff val="0"/>
                <a:satMod val="110000"/>
                <a:lumMod val="100000"/>
                <a:shade val="100000"/>
              </a:schemeClr>
            </a:gs>
            <a:gs pos="100000">
              <a:schemeClr val="accent5">
                <a:hueOff val="-2451115"/>
                <a:satOff val="-3409"/>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Secondary attacks from the website</a:t>
          </a:r>
        </a:p>
      </dsp:txBody>
      <dsp:txXfrm>
        <a:off x="1327666" y="1536258"/>
        <a:ext cx="8443591" cy="644945"/>
      </dsp:txXfrm>
    </dsp:sp>
    <dsp:sp modelId="{732EC69E-9B30-A648-A9A2-31B434C6E6C2}">
      <dsp:nvSpPr>
        <dsp:cNvPr id="0" name=""/>
        <dsp:cNvSpPr/>
      </dsp:nvSpPr>
      <dsp:spPr>
        <a:xfrm>
          <a:off x="1292776" y="2251830"/>
          <a:ext cx="8513371" cy="714725"/>
        </a:xfrm>
        <a:prstGeom prst="roundRect">
          <a:avLst/>
        </a:prstGeom>
        <a:gradFill rotWithShape="0">
          <a:gsLst>
            <a:gs pos="0">
              <a:schemeClr val="accent5">
                <a:hueOff val="-3676672"/>
                <a:satOff val="-5114"/>
                <a:lumOff val="-1961"/>
                <a:alphaOff val="0"/>
                <a:satMod val="103000"/>
                <a:lumMod val="102000"/>
                <a:tint val="94000"/>
              </a:schemeClr>
            </a:gs>
            <a:gs pos="50000">
              <a:schemeClr val="accent5">
                <a:hueOff val="-3676672"/>
                <a:satOff val="-5114"/>
                <a:lumOff val="-1961"/>
                <a:alphaOff val="0"/>
                <a:satMod val="110000"/>
                <a:lumMod val="100000"/>
                <a:shade val="100000"/>
              </a:schemeClr>
            </a:gs>
            <a:gs pos="100000">
              <a:schemeClr val="accent5">
                <a:hueOff val="-3676672"/>
                <a:satOff val="-5114"/>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Root access to server or other applications</a:t>
          </a:r>
        </a:p>
      </dsp:txBody>
      <dsp:txXfrm>
        <a:off x="1327666" y="2286720"/>
        <a:ext cx="8443591" cy="644945"/>
      </dsp:txXfrm>
    </dsp:sp>
    <dsp:sp modelId="{0D589EA5-B2F4-3B42-8445-BA899DC4205D}">
      <dsp:nvSpPr>
        <dsp:cNvPr id="0" name=""/>
        <dsp:cNvSpPr/>
      </dsp:nvSpPr>
      <dsp:spPr>
        <a:xfrm>
          <a:off x="1292776" y="3002291"/>
          <a:ext cx="8513371" cy="714725"/>
        </a:xfrm>
        <a:prstGeom prst="roundRect">
          <a:avLst/>
        </a:prstGeom>
        <a:gradFill rotWithShape="0">
          <a:gsLst>
            <a:gs pos="0">
              <a:schemeClr val="accent5">
                <a:hueOff val="-4902230"/>
                <a:satOff val="-6819"/>
                <a:lumOff val="-2615"/>
                <a:alphaOff val="0"/>
                <a:satMod val="103000"/>
                <a:lumMod val="102000"/>
                <a:tint val="94000"/>
              </a:schemeClr>
            </a:gs>
            <a:gs pos="50000">
              <a:schemeClr val="accent5">
                <a:hueOff val="-4902230"/>
                <a:satOff val="-6819"/>
                <a:lumOff val="-2615"/>
                <a:alphaOff val="0"/>
                <a:satMod val="110000"/>
                <a:lumMod val="100000"/>
                <a:shade val="100000"/>
              </a:schemeClr>
            </a:gs>
            <a:gs pos="100000">
              <a:schemeClr val="accent5">
                <a:hueOff val="-4902230"/>
                <a:satOff val="-6819"/>
                <a:lumOff val="-261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Data tampering </a:t>
          </a:r>
        </a:p>
      </dsp:txBody>
      <dsp:txXfrm>
        <a:off x="1327666" y="3037181"/>
        <a:ext cx="8443591" cy="644945"/>
      </dsp:txXfrm>
    </dsp:sp>
    <dsp:sp modelId="{F70EFF37-3B0A-424A-8FDF-42E1B407861A}">
      <dsp:nvSpPr>
        <dsp:cNvPr id="0" name=""/>
        <dsp:cNvSpPr/>
      </dsp:nvSpPr>
      <dsp:spPr>
        <a:xfrm>
          <a:off x="1292776" y="3752753"/>
          <a:ext cx="8513371" cy="714725"/>
        </a:xfrm>
        <a:prstGeom prst="roundRect">
          <a:avLst/>
        </a:prstGeom>
        <a:gradFill rotWithShape="0">
          <a:gsLst>
            <a:gs pos="0">
              <a:schemeClr val="accent5">
                <a:hueOff val="-6127787"/>
                <a:satOff val="-8523"/>
                <a:lumOff val="-3268"/>
                <a:alphaOff val="0"/>
                <a:satMod val="103000"/>
                <a:lumMod val="102000"/>
                <a:tint val="94000"/>
              </a:schemeClr>
            </a:gs>
            <a:gs pos="50000">
              <a:schemeClr val="accent5">
                <a:hueOff val="-6127787"/>
                <a:satOff val="-8523"/>
                <a:lumOff val="-3268"/>
                <a:alphaOff val="0"/>
                <a:satMod val="110000"/>
                <a:lumMod val="100000"/>
                <a:shade val="100000"/>
              </a:schemeClr>
            </a:gs>
            <a:gs pos="100000">
              <a:schemeClr val="accent5">
                <a:hueOff val="-6127787"/>
                <a:satOff val="-8523"/>
                <a:lumOff val="-326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Data Theft</a:t>
          </a:r>
        </a:p>
      </dsp:txBody>
      <dsp:txXfrm>
        <a:off x="1327666" y="3787643"/>
        <a:ext cx="8443591" cy="644945"/>
      </dsp:txXfrm>
    </dsp:sp>
    <dsp:sp modelId="{694F2FA4-BDA6-B54D-BCD9-A92A071BF4CD}">
      <dsp:nvSpPr>
        <dsp:cNvPr id="0" name=""/>
        <dsp:cNvSpPr/>
      </dsp:nvSpPr>
      <dsp:spPr>
        <a:xfrm>
          <a:off x="1292776" y="4503214"/>
          <a:ext cx="8513371" cy="714725"/>
        </a:xfrm>
        <a:prstGeom prst="round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a:t>Damage to company reputation</a:t>
          </a:r>
        </a:p>
      </dsp:txBody>
      <dsp:txXfrm>
        <a:off x="1327666" y="4538104"/>
        <a:ext cx="8443591" cy="6449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D0C1B7-A697-9444-BF34-BCFF9AC0D8FA}">
      <dsp:nvSpPr>
        <dsp:cNvPr id="0" name=""/>
        <dsp:cNvSpPr/>
      </dsp:nvSpPr>
      <dsp:spPr>
        <a:xfrm>
          <a:off x="0" y="0"/>
          <a:ext cx="559676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2895BF-2D99-294C-BB5B-0F361B463E28}">
      <dsp:nvSpPr>
        <dsp:cNvPr id="0" name=""/>
        <dsp:cNvSpPr/>
      </dsp:nvSpPr>
      <dsp:spPr>
        <a:xfrm>
          <a:off x="0" y="0"/>
          <a:ext cx="5596760" cy="638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DoS/</a:t>
          </a:r>
          <a:r>
            <a:rPr lang="en-US" sz="2900" kern="1200" dirty="0" err="1"/>
            <a:t>DDos</a:t>
          </a:r>
          <a:endParaRPr lang="en-US" sz="2900" kern="1200" dirty="0"/>
        </a:p>
      </dsp:txBody>
      <dsp:txXfrm>
        <a:off x="0" y="0"/>
        <a:ext cx="5596760" cy="638537"/>
      </dsp:txXfrm>
    </dsp:sp>
    <dsp:sp modelId="{3C71517D-2C27-8949-8064-3DBA77128B90}">
      <dsp:nvSpPr>
        <dsp:cNvPr id="0" name=""/>
        <dsp:cNvSpPr/>
      </dsp:nvSpPr>
      <dsp:spPr>
        <a:xfrm>
          <a:off x="0" y="638537"/>
          <a:ext cx="559676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009D2D-077B-7345-BFF0-1F951B8B6C94}">
      <dsp:nvSpPr>
        <dsp:cNvPr id="0" name=""/>
        <dsp:cNvSpPr/>
      </dsp:nvSpPr>
      <dsp:spPr>
        <a:xfrm>
          <a:off x="0" y="638537"/>
          <a:ext cx="5596760" cy="638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DNS Server Hijacking</a:t>
          </a:r>
        </a:p>
      </dsp:txBody>
      <dsp:txXfrm>
        <a:off x="0" y="638537"/>
        <a:ext cx="5596760" cy="638537"/>
      </dsp:txXfrm>
    </dsp:sp>
    <dsp:sp modelId="{25CC90F9-F579-E244-97BB-DB4958B483A6}">
      <dsp:nvSpPr>
        <dsp:cNvPr id="0" name=""/>
        <dsp:cNvSpPr/>
      </dsp:nvSpPr>
      <dsp:spPr>
        <a:xfrm>
          <a:off x="0" y="1277074"/>
          <a:ext cx="559676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B0FE7C-6F64-C442-A2B2-DC67C9029AE8}">
      <dsp:nvSpPr>
        <dsp:cNvPr id="0" name=""/>
        <dsp:cNvSpPr/>
      </dsp:nvSpPr>
      <dsp:spPr>
        <a:xfrm>
          <a:off x="0" y="1277074"/>
          <a:ext cx="5596760" cy="638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DNS Amplification</a:t>
          </a:r>
        </a:p>
      </dsp:txBody>
      <dsp:txXfrm>
        <a:off x="0" y="1277074"/>
        <a:ext cx="5596760" cy="638537"/>
      </dsp:txXfrm>
    </dsp:sp>
    <dsp:sp modelId="{307B3AB8-14DF-D54A-8C76-A33EDFF0362E}">
      <dsp:nvSpPr>
        <dsp:cNvPr id="0" name=""/>
        <dsp:cNvSpPr/>
      </dsp:nvSpPr>
      <dsp:spPr>
        <a:xfrm>
          <a:off x="0" y="1915610"/>
          <a:ext cx="559676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5F1DF0-C643-6447-8D7A-BAC62668B9CF}">
      <dsp:nvSpPr>
        <dsp:cNvPr id="0" name=""/>
        <dsp:cNvSpPr/>
      </dsp:nvSpPr>
      <dsp:spPr>
        <a:xfrm>
          <a:off x="0" y="1915611"/>
          <a:ext cx="5596760" cy="638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Directory Traversal</a:t>
          </a:r>
        </a:p>
      </dsp:txBody>
      <dsp:txXfrm>
        <a:off x="0" y="1915611"/>
        <a:ext cx="5596760" cy="638537"/>
      </dsp:txXfrm>
    </dsp:sp>
    <dsp:sp modelId="{D28962F2-8B76-AE4A-955A-335172CBA308}">
      <dsp:nvSpPr>
        <dsp:cNvPr id="0" name=""/>
        <dsp:cNvSpPr/>
      </dsp:nvSpPr>
      <dsp:spPr>
        <a:xfrm>
          <a:off x="0" y="2554148"/>
          <a:ext cx="559676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837014-26ED-4948-8DE0-C12541735B79}">
      <dsp:nvSpPr>
        <dsp:cNvPr id="0" name=""/>
        <dsp:cNvSpPr/>
      </dsp:nvSpPr>
      <dsp:spPr>
        <a:xfrm>
          <a:off x="0" y="2554148"/>
          <a:ext cx="5596760" cy="638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MITM/Sniffing</a:t>
          </a:r>
        </a:p>
      </dsp:txBody>
      <dsp:txXfrm>
        <a:off x="0" y="2554148"/>
        <a:ext cx="5596760" cy="638537"/>
      </dsp:txXfrm>
    </dsp:sp>
    <dsp:sp modelId="{141ADBDC-AFD2-D843-9A35-F7BFA9208824}">
      <dsp:nvSpPr>
        <dsp:cNvPr id="0" name=""/>
        <dsp:cNvSpPr/>
      </dsp:nvSpPr>
      <dsp:spPr>
        <a:xfrm>
          <a:off x="0" y="3192685"/>
          <a:ext cx="559676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B9FC47-F486-6246-8DF2-AE6A0A9BA8EF}">
      <dsp:nvSpPr>
        <dsp:cNvPr id="0" name=""/>
        <dsp:cNvSpPr/>
      </dsp:nvSpPr>
      <dsp:spPr>
        <a:xfrm>
          <a:off x="0" y="3192685"/>
          <a:ext cx="5596760" cy="638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Phishing</a:t>
          </a:r>
        </a:p>
      </dsp:txBody>
      <dsp:txXfrm>
        <a:off x="0" y="3192685"/>
        <a:ext cx="5596760" cy="638537"/>
      </dsp:txXfrm>
    </dsp:sp>
    <dsp:sp modelId="{AEDC982F-7D9D-BF45-B25E-367E59684904}">
      <dsp:nvSpPr>
        <dsp:cNvPr id="0" name=""/>
        <dsp:cNvSpPr/>
      </dsp:nvSpPr>
      <dsp:spPr>
        <a:xfrm>
          <a:off x="0" y="3831221"/>
          <a:ext cx="559676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23E202-538F-6048-BA05-C25A9A85F88C}">
      <dsp:nvSpPr>
        <dsp:cNvPr id="0" name=""/>
        <dsp:cNvSpPr/>
      </dsp:nvSpPr>
      <dsp:spPr>
        <a:xfrm>
          <a:off x="0" y="3831222"/>
          <a:ext cx="5596760" cy="638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Website Defacement</a:t>
          </a:r>
        </a:p>
      </dsp:txBody>
      <dsp:txXfrm>
        <a:off x="0" y="3831222"/>
        <a:ext cx="5596760" cy="638537"/>
      </dsp:txXfrm>
    </dsp:sp>
    <dsp:sp modelId="{7E696D2B-81B2-284A-BAF3-1469CE6104A8}">
      <dsp:nvSpPr>
        <dsp:cNvPr id="0" name=""/>
        <dsp:cNvSpPr/>
      </dsp:nvSpPr>
      <dsp:spPr>
        <a:xfrm>
          <a:off x="0" y="4469759"/>
          <a:ext cx="559676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F04C38-C825-DE4E-833D-9CD0EBE31846}">
      <dsp:nvSpPr>
        <dsp:cNvPr id="0" name=""/>
        <dsp:cNvSpPr/>
      </dsp:nvSpPr>
      <dsp:spPr>
        <a:xfrm>
          <a:off x="0" y="4469759"/>
          <a:ext cx="5596760" cy="638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Web Server Misconfiguration</a:t>
          </a:r>
        </a:p>
      </dsp:txBody>
      <dsp:txXfrm>
        <a:off x="0" y="4469759"/>
        <a:ext cx="5596760" cy="6385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C8634F-084F-4AE4-B206-7281C796210F}">
      <dsp:nvSpPr>
        <dsp:cNvPr id="0" name=""/>
        <dsp:cNvSpPr/>
      </dsp:nvSpPr>
      <dsp:spPr>
        <a:xfrm>
          <a:off x="2308072" y="790"/>
          <a:ext cx="9232288" cy="507565"/>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dirty="0"/>
            <a:t>block all unnecessary ports, ICMP, and unnecessary protocols such as NetBIOS and SMB</a:t>
          </a:r>
        </a:p>
      </dsp:txBody>
      <dsp:txXfrm>
        <a:off x="2308072" y="790"/>
        <a:ext cx="9232288" cy="507565"/>
      </dsp:txXfrm>
    </dsp:sp>
    <dsp:sp modelId="{F796F3CF-3405-49EB-84A6-B651D2CE17D9}">
      <dsp:nvSpPr>
        <dsp:cNvPr id="0" name=""/>
        <dsp:cNvSpPr/>
      </dsp:nvSpPr>
      <dsp:spPr>
        <a:xfrm>
          <a:off x="0" y="790"/>
          <a:ext cx="2308072" cy="507565"/>
        </a:xfrm>
        <a:prstGeom prst="rect">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Block</a:t>
          </a:r>
        </a:p>
      </dsp:txBody>
      <dsp:txXfrm>
        <a:off x="0" y="790"/>
        <a:ext cx="2308072" cy="507565"/>
      </dsp:txXfrm>
    </dsp:sp>
    <dsp:sp modelId="{02DDCADB-14A5-4080-846A-0A9FB59181EA}">
      <dsp:nvSpPr>
        <dsp:cNvPr id="0" name=""/>
        <dsp:cNvSpPr/>
      </dsp:nvSpPr>
      <dsp:spPr>
        <a:xfrm>
          <a:off x="2308072" y="558198"/>
          <a:ext cx="9232288" cy="507565"/>
        </a:xfrm>
        <a:prstGeom prst="rect">
          <a:avLst/>
        </a:prstGeom>
        <a:solidFill>
          <a:schemeClr val="accent5">
            <a:hueOff val="-817038"/>
            <a:satOff val="-1136"/>
            <a:lumOff val="-436"/>
            <a:alphaOff val="0"/>
          </a:schemeClr>
        </a:solidFill>
        <a:ln w="12700" cap="flat" cmpd="sng" algn="ctr">
          <a:solidFill>
            <a:schemeClr val="accent5">
              <a:hueOff val="-817038"/>
              <a:satOff val="-1136"/>
              <a:lumOff val="-43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dirty="0"/>
            <a:t>harden the TCP/IP stack</a:t>
          </a:r>
        </a:p>
      </dsp:txBody>
      <dsp:txXfrm>
        <a:off x="2308072" y="558198"/>
        <a:ext cx="9232288" cy="507565"/>
      </dsp:txXfrm>
    </dsp:sp>
    <dsp:sp modelId="{8BC74332-DC8A-45A0-9E33-696FA95722BF}">
      <dsp:nvSpPr>
        <dsp:cNvPr id="0" name=""/>
        <dsp:cNvSpPr/>
      </dsp:nvSpPr>
      <dsp:spPr>
        <a:xfrm>
          <a:off x="0" y="538809"/>
          <a:ext cx="2308072" cy="507565"/>
        </a:xfrm>
        <a:prstGeom prst="rect">
          <a:avLst/>
        </a:prstGeom>
        <a:solidFill>
          <a:schemeClr val="lt1">
            <a:hueOff val="0"/>
            <a:satOff val="0"/>
            <a:lumOff val="0"/>
            <a:alphaOff val="0"/>
          </a:schemeClr>
        </a:solidFill>
        <a:ln w="12700" cap="flat" cmpd="sng" algn="ctr">
          <a:solidFill>
            <a:schemeClr val="accent5">
              <a:hueOff val="-817038"/>
              <a:satOff val="-1136"/>
              <a:lumOff val="-43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Harden</a:t>
          </a:r>
        </a:p>
      </dsp:txBody>
      <dsp:txXfrm>
        <a:off x="0" y="538809"/>
        <a:ext cx="2308072" cy="507565"/>
      </dsp:txXfrm>
    </dsp:sp>
    <dsp:sp modelId="{833236BF-22BA-424C-BE7B-0ED9D167F490}">
      <dsp:nvSpPr>
        <dsp:cNvPr id="0" name=""/>
        <dsp:cNvSpPr/>
      </dsp:nvSpPr>
      <dsp:spPr>
        <a:xfrm>
          <a:off x="2308072" y="1076829"/>
          <a:ext cx="9232288" cy="507565"/>
        </a:xfrm>
        <a:prstGeom prst="rect">
          <a:avLst/>
        </a:prstGeom>
        <a:solidFill>
          <a:schemeClr val="accent5">
            <a:hueOff val="-1634077"/>
            <a:satOff val="-2273"/>
            <a:lumOff val="-872"/>
            <a:alphaOff val="0"/>
          </a:schemeClr>
        </a:solidFill>
        <a:ln w="12700" cap="flat" cmpd="sng" algn="ctr">
          <a:solidFill>
            <a:schemeClr val="accent5">
              <a:hueOff val="-1634077"/>
              <a:satOff val="-2273"/>
              <a:lumOff val="-87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a:t>use TLS/SSL for web server communication</a:t>
          </a:r>
        </a:p>
      </dsp:txBody>
      <dsp:txXfrm>
        <a:off x="2308072" y="1076829"/>
        <a:ext cx="9232288" cy="507565"/>
      </dsp:txXfrm>
    </dsp:sp>
    <dsp:sp modelId="{219103DB-76A8-4C00-BBAC-DFA471583E43}">
      <dsp:nvSpPr>
        <dsp:cNvPr id="0" name=""/>
        <dsp:cNvSpPr/>
      </dsp:nvSpPr>
      <dsp:spPr>
        <a:xfrm>
          <a:off x="0" y="1076829"/>
          <a:ext cx="2308072" cy="507565"/>
        </a:xfrm>
        <a:prstGeom prst="rect">
          <a:avLst/>
        </a:prstGeom>
        <a:solidFill>
          <a:schemeClr val="lt1">
            <a:hueOff val="0"/>
            <a:satOff val="0"/>
            <a:lumOff val="0"/>
            <a:alphaOff val="0"/>
          </a:schemeClr>
        </a:solidFill>
        <a:ln w="12700" cap="flat" cmpd="sng" algn="ctr">
          <a:solidFill>
            <a:schemeClr val="accent5">
              <a:hueOff val="-1634077"/>
              <a:satOff val="-2273"/>
              <a:lumOff val="-87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Use</a:t>
          </a:r>
        </a:p>
      </dsp:txBody>
      <dsp:txXfrm>
        <a:off x="0" y="1076829"/>
        <a:ext cx="2308072" cy="507565"/>
      </dsp:txXfrm>
    </dsp:sp>
    <dsp:sp modelId="{84A2B951-3A4A-4119-8ABC-FECA2FEA60C7}">
      <dsp:nvSpPr>
        <dsp:cNvPr id="0" name=""/>
        <dsp:cNvSpPr/>
      </dsp:nvSpPr>
      <dsp:spPr>
        <a:xfrm>
          <a:off x="2308072" y="1614848"/>
          <a:ext cx="9232288" cy="507565"/>
        </a:xfrm>
        <a:prstGeom prst="rect">
          <a:avLst/>
        </a:prstGeom>
        <a:solidFill>
          <a:schemeClr val="accent5">
            <a:hueOff val="-2451115"/>
            <a:satOff val="-3409"/>
            <a:lumOff val="-1307"/>
            <a:alphaOff val="0"/>
          </a:schemeClr>
        </a:solidFill>
        <a:ln w="12700" cap="flat" cmpd="sng" algn="ctr">
          <a:solidFill>
            <a:schemeClr val="accent5">
              <a:hueOff val="-2451115"/>
              <a:satOff val="-3409"/>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a:t>disable unused default user accounts</a:t>
          </a:r>
        </a:p>
      </dsp:txBody>
      <dsp:txXfrm>
        <a:off x="2308072" y="1614848"/>
        <a:ext cx="9232288" cy="507565"/>
      </dsp:txXfrm>
    </dsp:sp>
    <dsp:sp modelId="{BFC270DF-458E-4F70-BFA5-BBF92F8177B0}">
      <dsp:nvSpPr>
        <dsp:cNvPr id="0" name=""/>
        <dsp:cNvSpPr/>
      </dsp:nvSpPr>
      <dsp:spPr>
        <a:xfrm>
          <a:off x="0" y="1614848"/>
          <a:ext cx="2308072" cy="507565"/>
        </a:xfrm>
        <a:prstGeom prst="rect">
          <a:avLst/>
        </a:prstGeom>
        <a:solidFill>
          <a:schemeClr val="lt1">
            <a:hueOff val="0"/>
            <a:satOff val="0"/>
            <a:lumOff val="0"/>
            <a:alphaOff val="0"/>
          </a:schemeClr>
        </a:solidFill>
        <a:ln w="12700" cap="flat" cmpd="sng" algn="ctr">
          <a:solidFill>
            <a:schemeClr val="accent5">
              <a:hueOff val="-2451115"/>
              <a:satOff val="-3409"/>
              <a:lumOff val="-13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Disable</a:t>
          </a:r>
        </a:p>
      </dsp:txBody>
      <dsp:txXfrm>
        <a:off x="0" y="1614848"/>
        <a:ext cx="2308072" cy="507565"/>
      </dsp:txXfrm>
    </dsp:sp>
    <dsp:sp modelId="{AC3F862C-615C-4FF2-9E36-545CD9C13232}">
      <dsp:nvSpPr>
        <dsp:cNvPr id="0" name=""/>
        <dsp:cNvSpPr/>
      </dsp:nvSpPr>
      <dsp:spPr>
        <a:xfrm>
          <a:off x="2308072" y="2152867"/>
          <a:ext cx="9232288" cy="507565"/>
        </a:xfrm>
        <a:prstGeom prst="rect">
          <a:avLst/>
        </a:prstGeom>
        <a:solidFill>
          <a:schemeClr val="accent5">
            <a:hueOff val="-3268153"/>
            <a:satOff val="-4546"/>
            <a:lumOff val="-1743"/>
            <a:alphaOff val="0"/>
          </a:schemeClr>
        </a:solidFill>
        <a:ln w="12700" cap="flat" cmpd="sng" algn="ctr">
          <a:solidFill>
            <a:schemeClr val="accent5">
              <a:hueOff val="-3268153"/>
              <a:satOff val="-4546"/>
              <a:lumOff val="-17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a:t>eliminate unnecessary database users and stored procedures </a:t>
          </a:r>
        </a:p>
      </dsp:txBody>
      <dsp:txXfrm>
        <a:off x="2308072" y="2152867"/>
        <a:ext cx="9232288" cy="507565"/>
      </dsp:txXfrm>
    </dsp:sp>
    <dsp:sp modelId="{B0F29B37-02EE-465A-9CDF-8647429E2915}">
      <dsp:nvSpPr>
        <dsp:cNvPr id="0" name=""/>
        <dsp:cNvSpPr/>
      </dsp:nvSpPr>
      <dsp:spPr>
        <a:xfrm>
          <a:off x="0" y="2152867"/>
          <a:ext cx="2308072" cy="507565"/>
        </a:xfrm>
        <a:prstGeom prst="rect">
          <a:avLst/>
        </a:prstGeom>
        <a:solidFill>
          <a:schemeClr val="lt1">
            <a:hueOff val="0"/>
            <a:satOff val="0"/>
            <a:lumOff val="0"/>
            <a:alphaOff val="0"/>
          </a:schemeClr>
        </a:solidFill>
        <a:ln w="12700" cap="flat" cmpd="sng" algn="ctr">
          <a:solidFill>
            <a:schemeClr val="accent5">
              <a:hueOff val="-3268153"/>
              <a:satOff val="-4546"/>
              <a:lumOff val="-17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Eliminate</a:t>
          </a:r>
        </a:p>
      </dsp:txBody>
      <dsp:txXfrm>
        <a:off x="0" y="2152867"/>
        <a:ext cx="2308072" cy="507565"/>
      </dsp:txXfrm>
    </dsp:sp>
    <dsp:sp modelId="{445F65D4-392E-420C-BF6C-87C7ECB8141C}">
      <dsp:nvSpPr>
        <dsp:cNvPr id="0" name=""/>
        <dsp:cNvSpPr/>
      </dsp:nvSpPr>
      <dsp:spPr>
        <a:xfrm>
          <a:off x="2308072" y="2690886"/>
          <a:ext cx="9232288" cy="507565"/>
        </a:xfrm>
        <a:prstGeom prst="rect">
          <a:avLst/>
        </a:prstGeom>
        <a:solidFill>
          <a:schemeClr val="accent5">
            <a:hueOff val="-4085191"/>
            <a:satOff val="-5682"/>
            <a:lumOff val="-2179"/>
            <a:alphaOff val="0"/>
          </a:schemeClr>
        </a:solidFill>
        <a:ln w="12700" cap="flat" cmpd="sng" algn="ctr">
          <a:solidFill>
            <a:schemeClr val="accent5">
              <a:hueOff val="-4085191"/>
              <a:satOff val="-5682"/>
              <a:lumOff val="-21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a:t>follow the principle of least privilege</a:t>
          </a:r>
        </a:p>
      </dsp:txBody>
      <dsp:txXfrm>
        <a:off x="2308072" y="2690886"/>
        <a:ext cx="9232288" cy="507565"/>
      </dsp:txXfrm>
    </dsp:sp>
    <dsp:sp modelId="{96D2F852-3292-4D78-8FC9-2674A7855DB1}">
      <dsp:nvSpPr>
        <dsp:cNvPr id="0" name=""/>
        <dsp:cNvSpPr/>
      </dsp:nvSpPr>
      <dsp:spPr>
        <a:xfrm>
          <a:off x="0" y="2690886"/>
          <a:ext cx="2308072" cy="507565"/>
        </a:xfrm>
        <a:prstGeom prst="rect">
          <a:avLst/>
        </a:prstGeom>
        <a:solidFill>
          <a:schemeClr val="lt1">
            <a:hueOff val="0"/>
            <a:satOff val="0"/>
            <a:lumOff val="0"/>
            <a:alphaOff val="0"/>
          </a:schemeClr>
        </a:solidFill>
        <a:ln w="12700" cap="flat" cmpd="sng" algn="ctr">
          <a:solidFill>
            <a:schemeClr val="accent5">
              <a:hueOff val="-4085191"/>
              <a:satOff val="-5682"/>
              <a:lumOff val="-21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Follow</a:t>
          </a:r>
        </a:p>
      </dsp:txBody>
      <dsp:txXfrm>
        <a:off x="0" y="2690886"/>
        <a:ext cx="2308072" cy="507565"/>
      </dsp:txXfrm>
    </dsp:sp>
    <dsp:sp modelId="{63811BCE-0E97-41C8-AECF-EABF0878DC8B}">
      <dsp:nvSpPr>
        <dsp:cNvPr id="0" name=""/>
        <dsp:cNvSpPr/>
      </dsp:nvSpPr>
      <dsp:spPr>
        <a:xfrm>
          <a:off x="2308072" y="3228906"/>
          <a:ext cx="9232288" cy="507565"/>
        </a:xfrm>
        <a:prstGeom prst="rect">
          <a:avLst/>
        </a:prstGeom>
        <a:solidFill>
          <a:schemeClr val="accent5">
            <a:hueOff val="-4902230"/>
            <a:satOff val="-6819"/>
            <a:lumOff val="-2615"/>
            <a:alphaOff val="0"/>
          </a:schemeClr>
        </a:solidFill>
        <a:ln w="12700" cap="flat" cmpd="sng" algn="ctr">
          <a:solidFill>
            <a:schemeClr val="accent5">
              <a:hueOff val="-4902230"/>
              <a:satOff val="-6819"/>
              <a:lumOff val="-261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a:t>implement strong password policies, audits and alerts for login failures</a:t>
          </a:r>
        </a:p>
      </dsp:txBody>
      <dsp:txXfrm>
        <a:off x="2308072" y="3228906"/>
        <a:ext cx="9232288" cy="507565"/>
      </dsp:txXfrm>
    </dsp:sp>
    <dsp:sp modelId="{00E78F3D-E2A4-41CA-8C99-340FA95D3967}">
      <dsp:nvSpPr>
        <dsp:cNvPr id="0" name=""/>
        <dsp:cNvSpPr/>
      </dsp:nvSpPr>
      <dsp:spPr>
        <a:xfrm>
          <a:off x="0" y="3228906"/>
          <a:ext cx="2308072" cy="507565"/>
        </a:xfrm>
        <a:prstGeom prst="rect">
          <a:avLst/>
        </a:prstGeom>
        <a:solidFill>
          <a:schemeClr val="lt1">
            <a:hueOff val="0"/>
            <a:satOff val="0"/>
            <a:lumOff val="0"/>
            <a:alphaOff val="0"/>
          </a:schemeClr>
        </a:solidFill>
        <a:ln w="12700" cap="flat" cmpd="sng" algn="ctr">
          <a:solidFill>
            <a:schemeClr val="accent5">
              <a:hueOff val="-4902230"/>
              <a:satOff val="-6819"/>
              <a:lumOff val="-26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Implement</a:t>
          </a:r>
        </a:p>
      </dsp:txBody>
      <dsp:txXfrm>
        <a:off x="0" y="3228906"/>
        <a:ext cx="2308072" cy="507565"/>
      </dsp:txXfrm>
    </dsp:sp>
    <dsp:sp modelId="{5295C4E8-DE50-4F10-A02F-866733B7F435}">
      <dsp:nvSpPr>
        <dsp:cNvPr id="0" name=""/>
        <dsp:cNvSpPr/>
      </dsp:nvSpPr>
      <dsp:spPr>
        <a:xfrm>
          <a:off x="2308072" y="3766925"/>
          <a:ext cx="9232288" cy="507565"/>
        </a:xfrm>
        <a:prstGeom prst="rect">
          <a:avLst/>
        </a:prstGeom>
        <a:solidFill>
          <a:schemeClr val="accent5">
            <a:hueOff val="-5719268"/>
            <a:satOff val="-7955"/>
            <a:lumOff val="-3050"/>
            <a:alphaOff val="0"/>
          </a:schemeClr>
        </a:solidFill>
        <a:ln w="12700" cap="flat" cmpd="sng" algn="ctr">
          <a:solidFill>
            <a:schemeClr val="accent5">
              <a:hueOff val="-5719268"/>
              <a:satOff val="-7955"/>
              <a:lumOff val="-305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dirty="0"/>
            <a:t>monitor and check all network services logs, website access logs, database server logs, and OS logs frequently</a:t>
          </a:r>
        </a:p>
      </dsp:txBody>
      <dsp:txXfrm>
        <a:off x="2308072" y="3766925"/>
        <a:ext cx="9232288" cy="507565"/>
      </dsp:txXfrm>
    </dsp:sp>
    <dsp:sp modelId="{E533B2C2-8609-4D55-BEC9-B7A3CF62DC23}">
      <dsp:nvSpPr>
        <dsp:cNvPr id="0" name=""/>
        <dsp:cNvSpPr/>
      </dsp:nvSpPr>
      <dsp:spPr>
        <a:xfrm>
          <a:off x="0" y="3766925"/>
          <a:ext cx="2308072" cy="507565"/>
        </a:xfrm>
        <a:prstGeom prst="rect">
          <a:avLst/>
        </a:prstGeom>
        <a:solidFill>
          <a:schemeClr val="lt1">
            <a:hueOff val="0"/>
            <a:satOff val="0"/>
            <a:lumOff val="0"/>
            <a:alphaOff val="0"/>
          </a:schemeClr>
        </a:solidFill>
        <a:ln w="12700" cap="flat" cmpd="sng" algn="ctr">
          <a:solidFill>
            <a:schemeClr val="accent5">
              <a:hueOff val="-5719268"/>
              <a:satOff val="-7955"/>
              <a:lumOff val="-30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Monitor and check</a:t>
          </a:r>
        </a:p>
      </dsp:txBody>
      <dsp:txXfrm>
        <a:off x="0" y="3766925"/>
        <a:ext cx="2308072" cy="507565"/>
      </dsp:txXfrm>
    </dsp:sp>
    <dsp:sp modelId="{5FD262A9-8BB0-4E8A-8B67-EE3FAE001911}">
      <dsp:nvSpPr>
        <dsp:cNvPr id="0" name=""/>
        <dsp:cNvSpPr/>
      </dsp:nvSpPr>
      <dsp:spPr>
        <a:xfrm>
          <a:off x="2308072" y="4304944"/>
          <a:ext cx="9232288" cy="507565"/>
        </a:xfrm>
        <a:prstGeom prst="rect">
          <a:avLst/>
        </a:prstGeom>
        <a:solidFill>
          <a:schemeClr val="accent5">
            <a:hueOff val="-6536306"/>
            <a:satOff val="-9092"/>
            <a:lumOff val="-3486"/>
            <a:alphaOff val="0"/>
          </a:schemeClr>
        </a:solidFill>
        <a:ln w="12700" cap="flat" cmpd="sng" algn="ctr">
          <a:solidFill>
            <a:schemeClr val="accent5">
              <a:hueOff val="-6536306"/>
              <a:satOff val="-9092"/>
              <a:lumOff val="-348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a:t>avoid all non-web file types from being referenced in a URL</a:t>
          </a:r>
        </a:p>
      </dsp:txBody>
      <dsp:txXfrm>
        <a:off x="2308072" y="4304944"/>
        <a:ext cx="9232288" cy="507565"/>
      </dsp:txXfrm>
    </dsp:sp>
    <dsp:sp modelId="{351F9082-596D-498C-9DB7-CBC1451390AE}">
      <dsp:nvSpPr>
        <dsp:cNvPr id="0" name=""/>
        <dsp:cNvSpPr/>
      </dsp:nvSpPr>
      <dsp:spPr>
        <a:xfrm>
          <a:off x="0" y="4304944"/>
          <a:ext cx="2308072" cy="507565"/>
        </a:xfrm>
        <a:prstGeom prst="rect">
          <a:avLst/>
        </a:prstGeom>
        <a:solidFill>
          <a:schemeClr val="lt1">
            <a:hueOff val="0"/>
            <a:satOff val="0"/>
            <a:lumOff val="0"/>
            <a:alphaOff val="0"/>
          </a:schemeClr>
        </a:solidFill>
        <a:ln w="12700" cap="flat" cmpd="sng" algn="ctr">
          <a:solidFill>
            <a:schemeClr val="accent5">
              <a:hueOff val="-6536306"/>
              <a:satOff val="-9092"/>
              <a:lumOff val="-34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Avoid</a:t>
          </a:r>
        </a:p>
      </dsp:txBody>
      <dsp:txXfrm>
        <a:off x="0" y="4304944"/>
        <a:ext cx="2308072" cy="507565"/>
      </dsp:txXfrm>
    </dsp:sp>
    <dsp:sp modelId="{21142756-0F93-4EF8-A0D1-13D4B9958F0D}">
      <dsp:nvSpPr>
        <dsp:cNvPr id="0" name=""/>
        <dsp:cNvSpPr/>
      </dsp:nvSpPr>
      <dsp:spPr>
        <a:xfrm>
          <a:off x="2308072" y="4842964"/>
          <a:ext cx="9232288" cy="507565"/>
        </a:xfrm>
        <a:prstGeom prst="rect">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132" tIns="128922" rIns="179132" bIns="128922" numCol="1" spcCol="1270" anchor="ctr" anchorCtr="0">
          <a:noAutofit/>
        </a:bodyPr>
        <a:lstStyle/>
        <a:p>
          <a:pPr marL="0" lvl="0" indent="0" algn="l" defTabSz="800100">
            <a:lnSpc>
              <a:spcPct val="90000"/>
            </a:lnSpc>
            <a:spcBef>
              <a:spcPct val="0"/>
            </a:spcBef>
            <a:spcAft>
              <a:spcPct val="35000"/>
            </a:spcAft>
            <a:buNone/>
          </a:pPr>
          <a:r>
            <a:rPr lang="en-US" sz="1800" kern="1200"/>
            <a:t>*refer to additional countermeasures in the reading</a:t>
          </a:r>
        </a:p>
      </dsp:txBody>
      <dsp:txXfrm>
        <a:off x="2308072" y="4842964"/>
        <a:ext cx="9232288" cy="507565"/>
      </dsp:txXfrm>
    </dsp:sp>
    <dsp:sp modelId="{21A37375-D4E2-41F3-9542-7134237BB242}">
      <dsp:nvSpPr>
        <dsp:cNvPr id="0" name=""/>
        <dsp:cNvSpPr/>
      </dsp:nvSpPr>
      <dsp:spPr>
        <a:xfrm>
          <a:off x="0" y="4842964"/>
          <a:ext cx="2308072" cy="507565"/>
        </a:xfrm>
        <a:prstGeom prst="rect">
          <a:avLst/>
        </a:prstGeom>
        <a:solidFill>
          <a:schemeClr val="lt1">
            <a:hueOff val="0"/>
            <a:satOff val="0"/>
            <a:lumOff val="0"/>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135" tIns="50136" rIns="122135" bIns="50136" numCol="1" spcCol="1270" anchor="ctr" anchorCtr="0">
          <a:noAutofit/>
        </a:bodyPr>
        <a:lstStyle/>
        <a:p>
          <a:pPr marL="0" lvl="0" indent="0" algn="ctr" defTabSz="933450">
            <a:lnSpc>
              <a:spcPct val="90000"/>
            </a:lnSpc>
            <a:spcBef>
              <a:spcPct val="0"/>
            </a:spcBef>
            <a:spcAft>
              <a:spcPct val="35000"/>
            </a:spcAft>
            <a:buNone/>
          </a:pPr>
          <a:r>
            <a:rPr lang="en-US" sz="2100" kern="1200"/>
            <a:t>Refer</a:t>
          </a:r>
        </a:p>
      </dsp:txBody>
      <dsp:txXfrm>
        <a:off x="0" y="4842964"/>
        <a:ext cx="2308072" cy="507565"/>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EDA5B5-8092-447C-B740-1772CD1A73A3}"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8E2D20-6F10-41F3-820B-9D5130953720}" type="slidenum">
              <a:rPr lang="en-US" smtClean="0"/>
              <a:t>‹#›</a:t>
            </a:fld>
            <a:endParaRPr lang="en-US"/>
          </a:p>
        </p:txBody>
      </p:sp>
    </p:spTree>
    <p:extLst>
      <p:ext uri="{BB962C8B-B14F-4D97-AF65-F5344CB8AC3E}">
        <p14:creationId xmlns:p14="http://schemas.microsoft.com/office/powerpoint/2010/main" val="67856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Consolas" panose="020B0609020204030204" pitchFamily="49" charset="0"/>
              </a:rPr>
              <a:t>Document Root</a:t>
            </a:r>
          </a:p>
          <a:p>
            <a:r>
              <a:rPr lang="en-US" sz="1200" dirty="0">
                <a:latin typeface="Consolas" panose="020B0609020204030204" pitchFamily="49" charset="0"/>
              </a:rPr>
              <a:t>Server Root</a:t>
            </a:r>
          </a:p>
          <a:p>
            <a:r>
              <a:rPr lang="en-US" sz="1200" dirty="0">
                <a:latin typeface="Consolas" panose="020B0609020204030204" pitchFamily="49" charset="0"/>
              </a:rPr>
              <a:t>Virtual Document Tree</a:t>
            </a:r>
          </a:p>
          <a:p>
            <a:r>
              <a:rPr lang="en-US" sz="1200" dirty="0">
                <a:latin typeface="Consolas" panose="020B0609020204030204" pitchFamily="49" charset="0"/>
              </a:rPr>
              <a:t>Virtual Hosting</a:t>
            </a:r>
          </a:p>
          <a:p>
            <a:r>
              <a:rPr lang="en-US" sz="1200" dirty="0">
                <a:latin typeface="Consolas" panose="020B0609020204030204" pitchFamily="49" charset="0"/>
              </a:rPr>
              <a:t>Web Proxy</a:t>
            </a:r>
          </a:p>
          <a:p>
            <a:endParaRPr lang="en-US" sz="1200" dirty="0">
              <a:latin typeface="Consolas" panose="020B0609020204030204" pitchFamily="49" charset="0"/>
            </a:endParaRPr>
          </a:p>
          <a:p>
            <a:endParaRPr lang="en-US" sz="1200" dirty="0">
              <a:latin typeface="Consolas" panose="020B0609020204030204" pitchFamily="49" charset="0"/>
            </a:endParaRPr>
          </a:p>
          <a:p>
            <a:r>
              <a:rPr lang="en-US" sz="1200" dirty="0">
                <a:latin typeface="Consolas" panose="020B0609020204030204" pitchFamily="49" charset="0"/>
              </a:rPr>
              <a:t>Open-source Web Server Architecture – LAMP: Linux, Apache, MySQL, PHP</a:t>
            </a:r>
          </a:p>
          <a:p>
            <a:r>
              <a:rPr lang="en-US" sz="1200" dirty="0">
                <a:latin typeface="Consolas" panose="020B0609020204030204" pitchFamily="49" charset="0"/>
              </a:rPr>
              <a:t>IIS Web Server Architecture</a:t>
            </a:r>
            <a:endParaRPr lang="en-US" dirty="0"/>
          </a:p>
        </p:txBody>
      </p:sp>
      <p:sp>
        <p:nvSpPr>
          <p:cNvPr id="4" name="Slide Number Placeholder 3"/>
          <p:cNvSpPr>
            <a:spLocks noGrp="1"/>
          </p:cNvSpPr>
          <p:nvPr>
            <p:ph type="sldNum" sz="quarter" idx="5"/>
          </p:nvPr>
        </p:nvSpPr>
        <p:spPr/>
        <p:txBody>
          <a:bodyPr/>
          <a:lstStyle/>
          <a:p>
            <a:fld id="{A28E2D20-6F10-41F3-820B-9D5130953720}" type="slidenum">
              <a:rPr lang="en-US" smtClean="0"/>
              <a:t>2</a:t>
            </a:fld>
            <a:endParaRPr lang="en-US"/>
          </a:p>
        </p:txBody>
      </p:sp>
    </p:spTree>
    <p:extLst>
      <p:ext uri="{BB962C8B-B14F-4D97-AF65-F5344CB8AC3E}">
        <p14:creationId xmlns:p14="http://schemas.microsoft.com/office/powerpoint/2010/main" val="1780685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 server is a hardware/software application that hosts websites and makes them accessible over the Internet. A web server, along with a browser, successfully implements client–server model architecture. In this model, the web server plays the role of the server, and the browser acts as the client. To host websites, a web server stores the web pages of websites and delivers a particular web page upon request. Each web server has a domain name and an IP address associated with that domain name. A web server can host more than one website. Any computer can act as a web server if it has specific server software (a web server program) installed and is connected to the Internet.</a:t>
            </a:r>
          </a:p>
        </p:txBody>
      </p:sp>
      <p:sp>
        <p:nvSpPr>
          <p:cNvPr id="4" name="Slide Number Placeholder 3"/>
          <p:cNvSpPr>
            <a:spLocks noGrp="1"/>
          </p:cNvSpPr>
          <p:nvPr>
            <p:ph type="sldNum" sz="quarter" idx="5"/>
          </p:nvPr>
        </p:nvSpPr>
        <p:spPr/>
        <p:txBody>
          <a:bodyPr/>
          <a:lstStyle/>
          <a:p>
            <a:fld id="{A28E2D20-6F10-41F3-820B-9D5130953720}" type="slidenum">
              <a:rPr lang="en-US" smtClean="0"/>
              <a:t>3</a:t>
            </a:fld>
            <a:endParaRPr lang="en-US"/>
          </a:p>
        </p:txBody>
      </p:sp>
    </p:spTree>
    <p:extLst>
      <p:ext uri="{BB962C8B-B14F-4D97-AF65-F5344CB8AC3E}">
        <p14:creationId xmlns:p14="http://schemas.microsoft.com/office/powerpoint/2010/main" val="2107130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Internet Information Service (IIS) is a web server application developed by Microsoft for Windows. IIS for Windows Server is a flexible, secure, and easy-to-manage web server for hosting anything on the web. It supports HTTP, HTTP Secure (HTTPS), File Transfer Protocol (FTP), FTP Secure (FTPS), Simple Mail Transfer Protocol (SMTP), and Network News Transfer Protocol (NNTP</a:t>
            </a:r>
          </a:p>
        </p:txBody>
      </p:sp>
      <p:sp>
        <p:nvSpPr>
          <p:cNvPr id="4" name="Slide Number Placeholder 3"/>
          <p:cNvSpPr>
            <a:spLocks noGrp="1"/>
          </p:cNvSpPr>
          <p:nvPr>
            <p:ph type="sldNum" sz="quarter" idx="5"/>
          </p:nvPr>
        </p:nvSpPr>
        <p:spPr/>
        <p:txBody>
          <a:bodyPr/>
          <a:lstStyle/>
          <a:p>
            <a:fld id="{A28E2D20-6F10-41F3-820B-9D5130953720}" type="slidenum">
              <a:rPr lang="en-US" smtClean="0"/>
              <a:t>4</a:t>
            </a:fld>
            <a:endParaRPr lang="en-US"/>
          </a:p>
        </p:txBody>
      </p:sp>
    </p:spTree>
    <p:extLst>
      <p:ext uri="{BB962C8B-B14F-4D97-AF65-F5344CB8AC3E}">
        <p14:creationId xmlns:p14="http://schemas.microsoft.com/office/powerpoint/2010/main" val="755297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Web server attacks are carried out with various goals in mind, aiming to exploit vulnerabilities and weaknesses in web servers to gain unauthorized access, steal sensitive information, disrupt services, or cause damage to the targeted system. Here are some common goals of web server attacks:</a:t>
            </a:r>
            <a:endParaRPr lang="en-US" dirty="0"/>
          </a:p>
        </p:txBody>
      </p:sp>
      <p:sp>
        <p:nvSpPr>
          <p:cNvPr id="4" name="Slide Number Placeholder 3"/>
          <p:cNvSpPr>
            <a:spLocks noGrp="1"/>
          </p:cNvSpPr>
          <p:nvPr>
            <p:ph type="sldNum" sz="quarter" idx="5"/>
          </p:nvPr>
        </p:nvSpPr>
        <p:spPr/>
        <p:txBody>
          <a:bodyPr/>
          <a:lstStyle/>
          <a:p>
            <a:fld id="{A28E2D20-6F10-41F3-820B-9D5130953720}" type="slidenum">
              <a:rPr lang="en-US" smtClean="0"/>
              <a:t>5</a:t>
            </a:fld>
            <a:endParaRPr lang="en-US"/>
          </a:p>
        </p:txBody>
      </p:sp>
    </p:spTree>
    <p:extLst>
      <p:ext uri="{BB962C8B-B14F-4D97-AF65-F5344CB8AC3E}">
        <p14:creationId xmlns:p14="http://schemas.microsoft.com/office/powerpoint/2010/main" val="3436398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000000"/>
                </a:solidFill>
                <a:effectLst/>
                <a:latin typeface="Söhne"/>
              </a:rPr>
              <a:t>Downtime: Many attacks, such as Denial of Service (DoS) and Distributed Denial of Service (DDoS), can lead to server overloading, causing it to become unresponsive or crash. This results in website downtime, disrupting services and inconveniencing users.</a:t>
            </a:r>
          </a:p>
          <a:p>
            <a:pPr algn="l">
              <a:buFont typeface="+mj-lt"/>
              <a:buAutoNum type="arabicPeriod"/>
            </a:pPr>
            <a:r>
              <a:rPr lang="en-US" b="0" i="0" dirty="0">
                <a:solidFill>
                  <a:srgbClr val="000000"/>
                </a:solidFill>
                <a:effectLst/>
                <a:latin typeface="Söhne"/>
              </a:rPr>
              <a:t>Data Breach: If the attack is successful in bypassing security controls, sensitive data stored on the server may be exposed or stolen. This could include personal information, financial data, user credentials, and confidential business information.</a:t>
            </a:r>
          </a:p>
          <a:p>
            <a:pPr algn="l">
              <a:buFont typeface="+mj-lt"/>
              <a:buAutoNum type="arabicPeriod"/>
            </a:pPr>
            <a:r>
              <a:rPr lang="en-US" b="0" i="0" dirty="0">
                <a:solidFill>
                  <a:srgbClr val="000000"/>
                </a:solidFill>
                <a:effectLst/>
                <a:latin typeface="Söhne"/>
              </a:rPr>
              <a:t>Loss of Revenue: Website downtime or a compromised server can lead to a loss of revenue for e-commerce businesses that rely on their online presence to conduct transactions.</a:t>
            </a:r>
          </a:p>
          <a:p>
            <a:pPr algn="l">
              <a:buFont typeface="+mj-lt"/>
              <a:buAutoNum type="arabicPeriod"/>
            </a:pPr>
            <a:r>
              <a:rPr lang="en-US" b="0" i="0" dirty="0">
                <a:solidFill>
                  <a:srgbClr val="000000"/>
                </a:solidFill>
                <a:effectLst/>
                <a:latin typeface="Söhne"/>
              </a:rPr>
              <a:t>Reputation Damage: A successful attack can severely damage the reputation of the organization or website, leading to a loss of trust from customers, partners, and stakeholders.</a:t>
            </a:r>
          </a:p>
          <a:p>
            <a:pPr algn="l">
              <a:buFont typeface="+mj-lt"/>
              <a:buAutoNum type="arabicPeriod"/>
            </a:pPr>
            <a:r>
              <a:rPr lang="en-US" b="0" i="0" dirty="0">
                <a:solidFill>
                  <a:srgbClr val="000000"/>
                </a:solidFill>
                <a:effectLst/>
                <a:latin typeface="Söhne"/>
              </a:rPr>
              <a:t>Defacement: Web server attacks that result in defacement can tarnish a website's image and credibility. Visitors may be deterred from using the site due to its altered content.</a:t>
            </a:r>
          </a:p>
          <a:p>
            <a:pPr algn="l">
              <a:buFont typeface="+mj-lt"/>
              <a:buAutoNum type="arabicPeriod"/>
            </a:pPr>
            <a:r>
              <a:rPr lang="en-US" b="0" i="0" dirty="0">
                <a:solidFill>
                  <a:srgbClr val="000000"/>
                </a:solidFill>
                <a:effectLst/>
                <a:latin typeface="Söhne"/>
              </a:rPr>
              <a:t>Malware Distribution: If attackers use the web server to distribute malware to visitors' devices, it can lead to the spread of viruses, ransomware, or other malicious software, causing harm to users.</a:t>
            </a:r>
          </a:p>
          <a:p>
            <a:pPr algn="l">
              <a:buFont typeface="+mj-lt"/>
              <a:buAutoNum type="arabicPeriod"/>
            </a:pPr>
            <a:r>
              <a:rPr lang="en-US" b="0" i="0" dirty="0">
                <a:solidFill>
                  <a:srgbClr val="000000"/>
                </a:solidFill>
                <a:effectLst/>
                <a:latin typeface="Söhne"/>
              </a:rPr>
              <a:t>Legal and Regulatory Consequences: Depending on the nature of the attack and the data involved, organizations may face legal consequences, especially if they are found to be non-compliant with data protection regulations.</a:t>
            </a:r>
          </a:p>
          <a:p>
            <a:pPr algn="l">
              <a:buFont typeface="+mj-lt"/>
              <a:buAutoNum type="arabicPeriod"/>
            </a:pPr>
            <a:r>
              <a:rPr lang="en-US" b="0" i="0" dirty="0">
                <a:solidFill>
                  <a:srgbClr val="000000"/>
                </a:solidFill>
                <a:effectLst/>
                <a:latin typeface="Söhne"/>
              </a:rPr>
              <a:t>Financial Loss: Recovering from a successful attack can be costly. Organizations may need to invest in forensic investigations, security improvements, data recovery, and legal assistance.</a:t>
            </a:r>
          </a:p>
          <a:p>
            <a:pPr algn="l">
              <a:buFont typeface="+mj-lt"/>
              <a:buAutoNum type="arabicPeriod"/>
            </a:pPr>
            <a:r>
              <a:rPr lang="en-US" b="0" i="0" dirty="0">
                <a:solidFill>
                  <a:srgbClr val="000000"/>
                </a:solidFill>
                <a:effectLst/>
                <a:latin typeface="Söhne"/>
              </a:rPr>
              <a:t>Disruption of Services: In the case of botnet recruitment, the compromised server may be used to participate in other attacks, leading to further disruption of services on the internet.</a:t>
            </a:r>
          </a:p>
          <a:p>
            <a:pPr algn="l">
              <a:buFont typeface="+mj-lt"/>
              <a:buAutoNum type="arabicPeriod"/>
            </a:pPr>
            <a:r>
              <a:rPr lang="en-US" b="0" i="0" dirty="0">
                <a:solidFill>
                  <a:srgbClr val="000000"/>
                </a:solidFill>
                <a:effectLst/>
                <a:latin typeface="Söhne"/>
              </a:rPr>
              <a:t>Loss of Intellectual Property: Attacks targeted at stealing intellectual property can result in valuable proprietary information being stolen or leaked, affecting a company's competitive edge.</a:t>
            </a:r>
          </a:p>
          <a:p>
            <a:br>
              <a:rPr lang="en-US" b="0" i="0" dirty="0">
                <a:solidFill>
                  <a:srgbClr val="000000"/>
                </a:solidFill>
                <a:effectLst/>
                <a:latin typeface="Söhne"/>
              </a:rPr>
            </a:br>
            <a:endParaRPr lang="en-US" dirty="0"/>
          </a:p>
        </p:txBody>
      </p:sp>
      <p:sp>
        <p:nvSpPr>
          <p:cNvPr id="4" name="Slide Number Placeholder 3"/>
          <p:cNvSpPr>
            <a:spLocks noGrp="1"/>
          </p:cNvSpPr>
          <p:nvPr>
            <p:ph type="sldNum" sz="quarter" idx="5"/>
          </p:nvPr>
        </p:nvSpPr>
        <p:spPr/>
        <p:txBody>
          <a:bodyPr/>
          <a:lstStyle/>
          <a:p>
            <a:fld id="{A28E2D20-6F10-41F3-820B-9D5130953720}" type="slidenum">
              <a:rPr lang="en-US" smtClean="0"/>
              <a:t>6</a:t>
            </a:fld>
            <a:endParaRPr lang="en-US"/>
          </a:p>
        </p:txBody>
      </p:sp>
    </p:spTree>
    <p:extLst>
      <p:ext uri="{BB962C8B-B14F-4D97-AF65-F5344CB8AC3E}">
        <p14:creationId xmlns:p14="http://schemas.microsoft.com/office/powerpoint/2010/main" val="1789022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374151"/>
                </a:solidFill>
                <a:effectLst/>
                <a:latin typeface="Söhne"/>
              </a:rPr>
              <a:t>DoS/DDoS (Denial of Service/Distributed Denial of Service):</a:t>
            </a:r>
          </a:p>
          <a:p>
            <a:pPr marL="742950" lvl="1" indent="-285750" algn="l">
              <a:buFont typeface="+mj-lt"/>
              <a:buAutoNum type="arabicPeriod"/>
            </a:pPr>
            <a:r>
              <a:rPr lang="en-US" b="0" i="0" dirty="0">
                <a:solidFill>
                  <a:srgbClr val="374151"/>
                </a:solidFill>
                <a:effectLst/>
                <a:latin typeface="Söhne"/>
              </a:rPr>
              <a:t>Denial of Service (DoS) refers to an attack where a single source attempts to overwhelm a target (e.g., a web server) with an excessive amount of traffic or requests, causing it to become unavailable to legitimate users.</a:t>
            </a:r>
          </a:p>
          <a:p>
            <a:pPr marL="742950" lvl="1" indent="-285750" algn="l">
              <a:buFont typeface="+mj-lt"/>
              <a:buAutoNum type="arabicPeriod"/>
            </a:pPr>
            <a:r>
              <a:rPr lang="en-US" b="0" i="0" dirty="0">
                <a:solidFill>
                  <a:srgbClr val="374151"/>
                </a:solidFill>
                <a:effectLst/>
                <a:latin typeface="Söhne"/>
              </a:rPr>
              <a:t>Distributed Denial of Service (DDoS) is a variant of DoS that involves multiple sources (often a botnet) coordinating to flood the target with traffic simultaneously, making it even harder to defend against.</a:t>
            </a:r>
          </a:p>
          <a:p>
            <a:pPr algn="l">
              <a:buFont typeface="+mj-lt"/>
              <a:buAutoNum type="arabicPeriod"/>
            </a:pPr>
            <a:r>
              <a:rPr lang="en-US" b="0" i="0" dirty="0">
                <a:solidFill>
                  <a:srgbClr val="374151"/>
                </a:solidFill>
                <a:effectLst/>
                <a:latin typeface="Söhne"/>
              </a:rPr>
              <a:t>DNS Server Hijacking:</a:t>
            </a:r>
          </a:p>
          <a:p>
            <a:pPr marL="742950" lvl="1" indent="-285750" algn="l">
              <a:buFont typeface="+mj-lt"/>
              <a:buAutoNum type="arabicPeriod"/>
            </a:pPr>
            <a:r>
              <a:rPr lang="en-US" b="0" i="0" dirty="0">
                <a:solidFill>
                  <a:srgbClr val="374151"/>
                </a:solidFill>
                <a:effectLst/>
                <a:latin typeface="Söhne"/>
              </a:rPr>
              <a:t>DNS Server Hijacking involves attackers gaining unauthorized access to a DNS server or altering its settings to redirect domain names to malicious IP addresses. This can lead to users being redirected to fake websites, enabling various attacks like phishing.</a:t>
            </a:r>
          </a:p>
          <a:p>
            <a:pPr algn="l">
              <a:buFont typeface="+mj-lt"/>
              <a:buAutoNum type="arabicPeriod"/>
            </a:pPr>
            <a:r>
              <a:rPr lang="en-US" b="0" i="0" dirty="0">
                <a:solidFill>
                  <a:srgbClr val="374151"/>
                </a:solidFill>
                <a:effectLst/>
                <a:latin typeface="Söhne"/>
              </a:rPr>
              <a:t>DNS Amplification:</a:t>
            </a:r>
          </a:p>
          <a:p>
            <a:pPr marL="742950" lvl="1" indent="-285750" algn="l">
              <a:buFont typeface="+mj-lt"/>
              <a:buAutoNum type="arabicPeriod"/>
            </a:pPr>
            <a:r>
              <a:rPr lang="en-US" b="0" i="0" dirty="0">
                <a:solidFill>
                  <a:srgbClr val="374151"/>
                </a:solidFill>
                <a:effectLst/>
                <a:latin typeface="Söhne"/>
              </a:rPr>
              <a:t>DNS Amplification is a type of DDoS attack that abuses the behavior of open DNS resolvers. Attackers send small requests with the victim's IP address as the source to these resolvers, which then respond with much larger responses, amplifying the attack traffic and overwhelming the target.</a:t>
            </a:r>
          </a:p>
          <a:p>
            <a:pPr algn="l">
              <a:buFont typeface="+mj-lt"/>
              <a:buAutoNum type="arabicPeriod"/>
            </a:pPr>
            <a:r>
              <a:rPr lang="en-US" b="0" i="0" dirty="0">
                <a:solidFill>
                  <a:srgbClr val="374151"/>
                </a:solidFill>
                <a:effectLst/>
                <a:latin typeface="Söhne"/>
              </a:rPr>
              <a:t>Directory Traversal:</a:t>
            </a:r>
          </a:p>
          <a:p>
            <a:pPr marL="742950" lvl="1" indent="-285750" algn="l">
              <a:buFont typeface="+mj-lt"/>
              <a:buAutoNum type="arabicPeriod"/>
            </a:pPr>
            <a:r>
              <a:rPr lang="en-US" b="0" i="0" dirty="0">
                <a:solidFill>
                  <a:srgbClr val="374151"/>
                </a:solidFill>
                <a:effectLst/>
                <a:latin typeface="Söhne"/>
              </a:rPr>
              <a:t>Directory Traversal (also known as Path Traversal) is a vulnerability that allows attackers to access files or directories outside of the web server's intended directory structure. This can lead to unauthorized access to sensitive files, including configuration files or user data.</a:t>
            </a:r>
          </a:p>
          <a:p>
            <a:pPr algn="l">
              <a:buFont typeface="+mj-lt"/>
              <a:buAutoNum type="arabicPeriod"/>
            </a:pPr>
            <a:r>
              <a:rPr lang="en-US" b="0" i="0" dirty="0">
                <a:solidFill>
                  <a:srgbClr val="374151"/>
                </a:solidFill>
                <a:effectLst/>
                <a:latin typeface="Söhne"/>
              </a:rPr>
              <a:t>MITM/Sniffing (Man-in-the-Middle/Sniffing):</a:t>
            </a:r>
          </a:p>
          <a:p>
            <a:pPr marL="742950" lvl="1" indent="-285750" algn="l">
              <a:buFont typeface="+mj-lt"/>
              <a:buAutoNum type="arabicPeriod"/>
            </a:pPr>
            <a:r>
              <a:rPr lang="en-US" b="0" i="0" dirty="0">
                <a:solidFill>
                  <a:srgbClr val="374151"/>
                </a:solidFill>
                <a:effectLst/>
                <a:latin typeface="Söhne"/>
              </a:rPr>
              <a:t>Man-in-the-Middle (MITM) refers to an attack where an attacker intercepts and relays communication between two parties without their knowledge. This allows the attacker to eavesdrop on sensitive data or modify the communication.</a:t>
            </a:r>
          </a:p>
          <a:p>
            <a:pPr marL="742950" lvl="1" indent="-285750" algn="l">
              <a:buFont typeface="+mj-lt"/>
              <a:buAutoNum type="arabicPeriod"/>
            </a:pPr>
            <a:r>
              <a:rPr lang="en-US" b="0" i="0" dirty="0">
                <a:solidFill>
                  <a:srgbClr val="374151"/>
                </a:solidFill>
                <a:effectLst/>
                <a:latin typeface="Söhne"/>
              </a:rPr>
              <a:t>Sniffing is the act of intercepting and monitoring network traffic to capture data, such as login credentials or sensitive information, in plain text.</a:t>
            </a:r>
          </a:p>
          <a:p>
            <a:pPr algn="l">
              <a:buFont typeface="+mj-lt"/>
              <a:buAutoNum type="arabicPeriod"/>
            </a:pPr>
            <a:r>
              <a:rPr lang="en-US" b="0" i="0" dirty="0">
                <a:solidFill>
                  <a:srgbClr val="374151"/>
                </a:solidFill>
                <a:effectLst/>
                <a:latin typeface="Söhne"/>
              </a:rPr>
              <a:t>Phishing:</a:t>
            </a:r>
          </a:p>
          <a:p>
            <a:pPr marL="742950" lvl="1" indent="-285750" algn="l">
              <a:buFont typeface="+mj-lt"/>
              <a:buAutoNum type="arabicPeriod"/>
            </a:pPr>
            <a:r>
              <a:rPr lang="en-US" b="0" i="0" dirty="0">
                <a:solidFill>
                  <a:srgbClr val="374151"/>
                </a:solidFill>
                <a:effectLst/>
                <a:latin typeface="Söhne"/>
              </a:rPr>
              <a:t>Phishing is a social engineering attack where attackers attempt to deceive users into revealing sensitive information, such as login credentials or financial details. This is usually done through fraudulent emails, websites, or messages that impersonate legitimate entities.</a:t>
            </a:r>
          </a:p>
          <a:p>
            <a:pPr algn="l">
              <a:buFont typeface="+mj-lt"/>
              <a:buAutoNum type="arabicPeriod"/>
            </a:pPr>
            <a:r>
              <a:rPr lang="en-US" b="0" i="0" dirty="0">
                <a:solidFill>
                  <a:srgbClr val="374151"/>
                </a:solidFill>
                <a:effectLst/>
                <a:latin typeface="Söhne"/>
              </a:rPr>
              <a:t>Website Defacement:</a:t>
            </a:r>
          </a:p>
          <a:p>
            <a:pPr marL="742950" lvl="1" indent="-285750" algn="l">
              <a:buFont typeface="+mj-lt"/>
              <a:buAutoNum type="arabicPeriod"/>
            </a:pPr>
            <a:r>
              <a:rPr lang="en-US" b="0" i="0" dirty="0">
                <a:solidFill>
                  <a:srgbClr val="374151"/>
                </a:solidFill>
                <a:effectLst/>
                <a:latin typeface="Söhne"/>
              </a:rPr>
              <a:t>Website Defacement involves attackers altering the visual appearance or content of a website without permission. This can be done to spread a message, embarrass the website owner, or promote a cause.</a:t>
            </a:r>
          </a:p>
          <a:p>
            <a:pPr algn="l">
              <a:buFont typeface="+mj-lt"/>
              <a:buAutoNum type="arabicPeriod"/>
            </a:pPr>
            <a:r>
              <a:rPr lang="en-US" b="0" i="0" dirty="0">
                <a:solidFill>
                  <a:srgbClr val="374151"/>
                </a:solidFill>
                <a:effectLst/>
                <a:latin typeface="Söhne"/>
              </a:rPr>
              <a:t>Web Server Misconfiguration:</a:t>
            </a:r>
          </a:p>
          <a:p>
            <a:pPr marL="742950" lvl="1" indent="-285750" algn="l">
              <a:buFont typeface="+mj-lt"/>
              <a:buAutoNum type="arabicPeriod"/>
            </a:pPr>
            <a:r>
              <a:rPr lang="en-US" b="0" i="0" dirty="0">
                <a:solidFill>
                  <a:srgbClr val="374151"/>
                </a:solidFill>
                <a:effectLst/>
                <a:latin typeface="Söhne"/>
              </a:rPr>
              <a:t>Web Server Misconfiguration refers to unintentional errors or oversights in configuring a web server's settings, leaving it vulnerable to exploitation. These misconfigurations can lead to unauthorized access, data leaks, or other security issues.</a:t>
            </a:r>
          </a:p>
          <a:p>
            <a:endParaRPr lang="en-US" dirty="0"/>
          </a:p>
        </p:txBody>
      </p:sp>
      <p:sp>
        <p:nvSpPr>
          <p:cNvPr id="4" name="Slide Number Placeholder 3"/>
          <p:cNvSpPr>
            <a:spLocks noGrp="1"/>
          </p:cNvSpPr>
          <p:nvPr>
            <p:ph type="sldNum" sz="quarter" idx="5"/>
          </p:nvPr>
        </p:nvSpPr>
        <p:spPr/>
        <p:txBody>
          <a:bodyPr/>
          <a:lstStyle/>
          <a:p>
            <a:fld id="{A28E2D20-6F10-41F3-820B-9D5130953720}" type="slidenum">
              <a:rPr lang="en-US" smtClean="0"/>
              <a:t>7</a:t>
            </a:fld>
            <a:endParaRPr lang="en-US"/>
          </a:p>
        </p:txBody>
      </p:sp>
    </p:spTree>
    <p:extLst>
      <p:ext uri="{BB962C8B-B14F-4D97-AF65-F5344CB8AC3E}">
        <p14:creationId xmlns:p14="http://schemas.microsoft.com/office/powerpoint/2010/main" val="2570718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0" i="0" dirty="0">
                <a:solidFill>
                  <a:srgbClr val="374151"/>
                </a:solidFill>
                <a:effectLst/>
                <a:latin typeface="Söhne"/>
              </a:rPr>
              <a:t>HTTP Response-Splitting is a web application vulnerability that allows attackers to manipulate the content of an HTTP response. By inserting specific characters into user-provided input, attackers can split the response into multiple parts, potentially leading to various security issues, such as injecting malicious content or bypassing security mechanisms.</a:t>
            </a:r>
          </a:p>
          <a:p>
            <a:pPr algn="l">
              <a:buFont typeface="+mj-lt"/>
              <a:buNone/>
            </a:pPr>
            <a:endParaRPr lang="en-US" b="0" i="0" dirty="0">
              <a:solidFill>
                <a:srgbClr val="374151"/>
              </a:solidFill>
              <a:effectLst/>
              <a:latin typeface="Söhne"/>
            </a:endParaRPr>
          </a:p>
          <a:p>
            <a:pPr algn="l">
              <a:buFont typeface="+mj-lt"/>
              <a:buNone/>
            </a:pPr>
            <a:r>
              <a:rPr lang="en-US" b="0" i="0" dirty="0">
                <a:solidFill>
                  <a:srgbClr val="374151"/>
                </a:solidFill>
                <a:effectLst/>
                <a:latin typeface="Söhne"/>
              </a:rPr>
              <a:t>Web Cache </a:t>
            </a:r>
            <a:r>
              <a:rPr lang="en-US" b="0" i="0" dirty="0" err="1">
                <a:solidFill>
                  <a:srgbClr val="374151"/>
                </a:solidFill>
                <a:effectLst/>
                <a:latin typeface="Söhne"/>
              </a:rPr>
              <a:t>Poisoning:Web</a:t>
            </a:r>
            <a:r>
              <a:rPr lang="en-US" b="0" i="0" dirty="0">
                <a:solidFill>
                  <a:srgbClr val="374151"/>
                </a:solidFill>
                <a:effectLst/>
                <a:latin typeface="Söhne"/>
              </a:rPr>
              <a:t> Cache Poisoning is an attack that involves manipulating the cached content in a web server's cache or an intermediary cache (e.g., a CDN). Attackers insert malicious data into the cache, causing subsequent users to receive the manipulated content, which may lead to unauthorized access, data leaks, or other security breaches.</a:t>
            </a:r>
          </a:p>
          <a:p>
            <a:pPr algn="l">
              <a:buFont typeface="+mj-lt"/>
              <a:buNone/>
            </a:pPr>
            <a:endParaRPr lang="en-US" b="0" i="0" dirty="0">
              <a:solidFill>
                <a:srgbClr val="374151"/>
              </a:solidFill>
              <a:effectLst/>
              <a:latin typeface="Söhne"/>
            </a:endParaRPr>
          </a:p>
          <a:p>
            <a:pPr algn="l">
              <a:buFont typeface="+mj-lt"/>
              <a:buNone/>
            </a:pPr>
            <a:r>
              <a:rPr lang="en-US" b="0" i="0" dirty="0">
                <a:solidFill>
                  <a:srgbClr val="374151"/>
                </a:solidFill>
                <a:effectLst/>
                <a:latin typeface="Söhne"/>
              </a:rPr>
              <a:t>SSH Brute </a:t>
            </a:r>
            <a:r>
              <a:rPr lang="en-US" b="0" i="0" dirty="0" err="1">
                <a:solidFill>
                  <a:srgbClr val="374151"/>
                </a:solidFill>
                <a:effectLst/>
                <a:latin typeface="Söhne"/>
              </a:rPr>
              <a:t>Force:SSH</a:t>
            </a:r>
            <a:r>
              <a:rPr lang="en-US" b="0" i="0" dirty="0">
                <a:solidFill>
                  <a:srgbClr val="374151"/>
                </a:solidFill>
                <a:effectLst/>
                <a:latin typeface="Söhne"/>
              </a:rPr>
              <a:t> Brute Force is an attack where attackers attempt to gain unauthorized access to a system by systematically trying different combinations of usernames and passwords. They use automated tools to conduct repeated login attempts until they find valid credentials, potentially leading to unauthorized access or a compromised system.</a:t>
            </a:r>
          </a:p>
          <a:p>
            <a:pPr algn="l">
              <a:buFont typeface="+mj-lt"/>
              <a:buNone/>
            </a:pPr>
            <a:endParaRPr lang="en-US" b="0" i="0" dirty="0">
              <a:solidFill>
                <a:srgbClr val="374151"/>
              </a:solidFill>
              <a:effectLst/>
              <a:latin typeface="Söhne"/>
            </a:endParaRPr>
          </a:p>
          <a:p>
            <a:pPr algn="l">
              <a:buFont typeface="+mj-lt"/>
              <a:buNone/>
            </a:pPr>
            <a:r>
              <a:rPr lang="en-US" b="0" i="0" dirty="0">
                <a:solidFill>
                  <a:srgbClr val="374151"/>
                </a:solidFill>
                <a:effectLst/>
                <a:latin typeface="Söhne"/>
              </a:rPr>
              <a:t>Web Server Password </a:t>
            </a:r>
            <a:r>
              <a:rPr lang="en-US" b="0" i="0" dirty="0" err="1">
                <a:solidFill>
                  <a:srgbClr val="374151"/>
                </a:solidFill>
                <a:effectLst/>
                <a:latin typeface="Söhne"/>
              </a:rPr>
              <a:t>Cracking:Web</a:t>
            </a:r>
            <a:r>
              <a:rPr lang="en-US" b="0" i="0" dirty="0">
                <a:solidFill>
                  <a:srgbClr val="374151"/>
                </a:solidFill>
                <a:effectLst/>
                <a:latin typeface="Söhne"/>
              </a:rPr>
              <a:t> Server Password Cracking involves attempting to crack passwords used to access web servers, either through brute-force attacks (trying all possible combinations) or using dictionaries of commonly used passwords. Successful password cracking can lead to unauthorized access and control over the server.</a:t>
            </a:r>
          </a:p>
          <a:p>
            <a:pPr algn="l">
              <a:buFont typeface="+mj-lt"/>
              <a:buNone/>
            </a:pPr>
            <a:endParaRPr lang="en-US" b="0" i="0" dirty="0">
              <a:solidFill>
                <a:srgbClr val="374151"/>
              </a:solidFill>
              <a:effectLst/>
              <a:latin typeface="Söhne"/>
            </a:endParaRPr>
          </a:p>
          <a:p>
            <a:pPr algn="l">
              <a:buFont typeface="+mj-lt"/>
              <a:buNone/>
            </a:pPr>
            <a:r>
              <a:rPr lang="en-US" b="0" i="0" dirty="0">
                <a:solidFill>
                  <a:srgbClr val="374151"/>
                </a:solidFill>
                <a:effectLst/>
                <a:latin typeface="Söhne"/>
              </a:rPr>
              <a:t>Server-Side Request Forgery (SSRF):Server-Side Request Forgery (SSRF) is a web application vulnerability where an attacker can manipulate the server into making requests to internal or external resources on behalf of the application. This can lead to unauthorized data access, potential information disclosure, or attacks against internal systems.</a:t>
            </a:r>
          </a:p>
          <a:p>
            <a:pPr algn="l">
              <a:buFont typeface="+mj-lt"/>
              <a:buNone/>
            </a:pPr>
            <a:endParaRPr lang="en-US" b="0" i="0" dirty="0">
              <a:solidFill>
                <a:srgbClr val="374151"/>
              </a:solidFill>
              <a:effectLst/>
              <a:latin typeface="Söhne"/>
            </a:endParaRPr>
          </a:p>
          <a:p>
            <a:pPr algn="l">
              <a:buFont typeface="+mj-lt"/>
              <a:buNone/>
            </a:pPr>
            <a:r>
              <a:rPr lang="en-US" b="0" i="0" dirty="0">
                <a:solidFill>
                  <a:srgbClr val="374151"/>
                </a:solidFill>
                <a:effectLst/>
                <a:latin typeface="Söhne"/>
              </a:rPr>
              <a:t>Web Application </a:t>
            </a:r>
            <a:r>
              <a:rPr lang="en-US" b="0" i="0" dirty="0" err="1">
                <a:solidFill>
                  <a:srgbClr val="374151"/>
                </a:solidFill>
                <a:effectLst/>
                <a:latin typeface="Söhne"/>
              </a:rPr>
              <a:t>Attacks:Web</a:t>
            </a:r>
            <a:r>
              <a:rPr lang="en-US" b="0" i="0" dirty="0">
                <a:solidFill>
                  <a:srgbClr val="374151"/>
                </a:solidFill>
                <a:effectLst/>
                <a:latin typeface="Söhne"/>
              </a:rPr>
              <a:t> Application Attacks refer to a wide range of attacks specifically targeting vulnerabilities in web applications. These can include various attack types, such as SQL injection, Cross-Site Scripting (XSS), Cross-Site Request Forgery (CSRF), and more. The aim is to exploit weaknesses in the application code or design to compromise data or gain unauthorized access.</a:t>
            </a:r>
          </a:p>
          <a:p>
            <a:endParaRPr lang="en-US" dirty="0"/>
          </a:p>
        </p:txBody>
      </p:sp>
      <p:sp>
        <p:nvSpPr>
          <p:cNvPr id="4" name="Slide Number Placeholder 3"/>
          <p:cNvSpPr>
            <a:spLocks noGrp="1"/>
          </p:cNvSpPr>
          <p:nvPr>
            <p:ph type="sldNum" sz="quarter" idx="5"/>
          </p:nvPr>
        </p:nvSpPr>
        <p:spPr/>
        <p:txBody>
          <a:bodyPr/>
          <a:lstStyle/>
          <a:p>
            <a:fld id="{A28E2D20-6F10-41F3-820B-9D5130953720}" type="slidenum">
              <a:rPr lang="en-US" smtClean="0"/>
              <a:t>8</a:t>
            </a:fld>
            <a:endParaRPr lang="en-US"/>
          </a:p>
        </p:txBody>
      </p:sp>
    </p:spTree>
    <p:extLst>
      <p:ext uri="{BB962C8B-B14F-4D97-AF65-F5344CB8AC3E}">
        <p14:creationId xmlns:p14="http://schemas.microsoft.com/office/powerpoint/2010/main" val="4199372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nSpc>
                <a:spcPct val="107000"/>
              </a:lnSpc>
              <a:spcBef>
                <a:spcPts val="0"/>
              </a:spcBef>
              <a:spcAft>
                <a:spcPts val="0"/>
              </a:spcAft>
              <a:buSzPts val="1000"/>
              <a:buFont typeface="Symbol" panose="05050102010706020507" pitchFamily="18" charset="2"/>
              <a:buNone/>
              <a:tabLst>
                <a:tab pos="914400" algn="l"/>
              </a:tabLst>
            </a:pPr>
            <a:r>
              <a:rPr lang="en-US" b="0" i="0" dirty="0">
                <a:solidFill>
                  <a:srgbClr val="374151"/>
                </a:solidFill>
                <a:effectLst/>
                <a:latin typeface="Söhne"/>
              </a:rPr>
              <a:t>It is essential to understand these techniques for both defensive and offensive purposes in the field of cybersecurity. Ethical hackers and security professionals use some of these tools to identify vulnerabilities and strengthen security measures, while malicious actors may exploit these techniques to launch cyberattacks. Organizations must be proactive in securing their web servers and applications to protect against potential threats.</a:t>
            </a:r>
            <a:endParaRPr lang="en-US" dirty="0"/>
          </a:p>
        </p:txBody>
      </p:sp>
      <p:sp>
        <p:nvSpPr>
          <p:cNvPr id="4" name="Slide Number Placeholder 3"/>
          <p:cNvSpPr>
            <a:spLocks noGrp="1"/>
          </p:cNvSpPr>
          <p:nvPr>
            <p:ph type="sldNum" sz="quarter" idx="5"/>
          </p:nvPr>
        </p:nvSpPr>
        <p:spPr/>
        <p:txBody>
          <a:bodyPr/>
          <a:lstStyle/>
          <a:p>
            <a:fld id="{A28E2D20-6F10-41F3-820B-9D5130953720}" type="slidenum">
              <a:rPr lang="en-US" smtClean="0"/>
              <a:t>9</a:t>
            </a:fld>
            <a:endParaRPr lang="en-US"/>
          </a:p>
        </p:txBody>
      </p:sp>
    </p:spTree>
    <p:extLst>
      <p:ext uri="{BB962C8B-B14F-4D97-AF65-F5344CB8AC3E}">
        <p14:creationId xmlns:p14="http://schemas.microsoft.com/office/powerpoint/2010/main" val="3434671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Regular Software Updates: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Keep web server software, applications, and all associated components up to date with the latest security patches. Regularly check for updates and apply them promptly to address known vulnerabilities.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Web Application Firewalls (WAF):</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Implement a Web Application Firewall (WAF) to filter and monitor incoming HTTP/HTTPS traffic. A WAF can help block malicious requests, SQL injections, XSS attacks, and other web application threats.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Secure Configuration:</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Properly configure the web server and associated services to follow security best practices. Disable unnecessary features and services that might introduce potential risks.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Use HTTPS: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Implement HTTPS (SSL/TLS) encryption for secure communication between the web server and clients. This helps protect sensitive data in transit and prevents man-in-the-middle attacks.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Access Control and Authentication:</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Enforce strong access controls and use multi-factor authentication (MFA) for administrative access. Limit access rights to only necessary personnel and ensure strong password policies.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Rate Limiting and IP Whitelisting:</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Implement rate limiting to prevent brute-force attacks and use IP whitelisting to restrict access to the web server to trusted IP addresses only.</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Intrusion Detection/Prevention Systems (IDS/IPS):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Utilize Intrusion Detection and Prevention Systems to monitor and respond to suspicious activities in real-time. These systems can help identify and block attacks as they happen.</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Security Audits and Penetration Testing:</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Conduct regular security audits and penetration tests to identify vulnerabilities and weaknesses in the web server and web applications. This allows for timely remediation of potential risks.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Secure Coding Practices: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Train developers in secure coding practices to build robust and secure web applications. This helps minimize the chances of introducing security flaws during the development process.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Security Monitoring and Logging:</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Enable detailed logging and monitoring on the web server to track and analyze potential security incidents. This aids in identifying unusual activities and responding to attacks effectively.</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DDoS Mitigation Services: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Consider using DDoS mitigation services or appliances to help protect against large-scale Distributed Denial of Service (DDoS) attacks.</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Incident Response Plan:</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Have a well-defined incident response plan in place to quickly respond to security incidents, mitigate their impact, and recover from attacks effectively.</a:t>
            </a:r>
          </a:p>
          <a:p>
            <a:pPr marL="0" marR="0">
              <a:lnSpc>
                <a:spcPct val="107000"/>
              </a:lnSpc>
              <a:spcBef>
                <a:spcPts val="0"/>
              </a:spcBef>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Implementing these countermeasures collectively strengthens the overall security posture of the web server and reduces the risk of successful attacks. Regularly reassessing security measures and staying informed about emerging threats are also crucial aspects of maintaining web server security.</a:t>
            </a:r>
          </a:p>
          <a:p>
            <a:endParaRPr lang="en-US" dirty="0"/>
          </a:p>
        </p:txBody>
      </p:sp>
      <p:sp>
        <p:nvSpPr>
          <p:cNvPr id="4" name="Slide Number Placeholder 3"/>
          <p:cNvSpPr>
            <a:spLocks noGrp="1"/>
          </p:cNvSpPr>
          <p:nvPr>
            <p:ph type="sldNum" sz="quarter" idx="5"/>
          </p:nvPr>
        </p:nvSpPr>
        <p:spPr/>
        <p:txBody>
          <a:bodyPr/>
          <a:lstStyle/>
          <a:p>
            <a:fld id="{A28E2D20-6F10-41F3-820B-9D5130953720}" type="slidenum">
              <a:rPr lang="en-US" smtClean="0"/>
              <a:t>10</a:t>
            </a:fld>
            <a:endParaRPr lang="en-US"/>
          </a:p>
        </p:txBody>
      </p:sp>
    </p:spTree>
    <p:extLst>
      <p:ext uri="{BB962C8B-B14F-4D97-AF65-F5344CB8AC3E}">
        <p14:creationId xmlns:p14="http://schemas.microsoft.com/office/powerpoint/2010/main" val="713292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ideal web hosting network should be designed with three segments: an Internet segment; a secure server security segment, which is often called the demilitarized zone (DMZ); and an internal network. The first step in securing web servers is to place them separately in the DMZ, which is isolated from the public network and from the internal web-hosting network.</a:t>
            </a:r>
          </a:p>
          <a:p>
            <a:endParaRPr lang="en-US" dirty="0"/>
          </a:p>
          <a:p>
            <a:r>
              <a:rPr lang="en-US" dirty="0"/>
              <a:t> In a segmented network, an attacker who compromises one segment of the network will not be able to compromise the security of other segments of the network</a:t>
            </a:r>
          </a:p>
        </p:txBody>
      </p:sp>
      <p:sp>
        <p:nvSpPr>
          <p:cNvPr id="4" name="Slide Number Placeholder 3"/>
          <p:cNvSpPr>
            <a:spLocks noGrp="1"/>
          </p:cNvSpPr>
          <p:nvPr>
            <p:ph type="sldNum" sz="quarter" idx="5"/>
          </p:nvPr>
        </p:nvSpPr>
        <p:spPr/>
        <p:txBody>
          <a:bodyPr/>
          <a:lstStyle/>
          <a:p>
            <a:fld id="{A28E2D20-6F10-41F3-820B-9D5130953720}" type="slidenum">
              <a:rPr lang="en-US" smtClean="0"/>
              <a:t>12</a:t>
            </a:fld>
            <a:endParaRPr lang="en-US"/>
          </a:p>
        </p:txBody>
      </p:sp>
    </p:spTree>
    <p:extLst>
      <p:ext uri="{BB962C8B-B14F-4D97-AF65-F5344CB8AC3E}">
        <p14:creationId xmlns:p14="http://schemas.microsoft.com/office/powerpoint/2010/main" val="3380809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Syhunt</a:t>
            </a:r>
            <a:r>
              <a:rPr lang="en-US" dirty="0"/>
              <a:t> Hybrid scanner automates web application security testing and guards the organization’s web infrastructure against web application security threats. </a:t>
            </a:r>
            <a:r>
              <a:rPr lang="en-US" dirty="0" err="1"/>
              <a:t>Syhunt</a:t>
            </a:r>
            <a:r>
              <a:rPr lang="en-US" dirty="0"/>
              <a:t> Dynamic crawls websites and detects XSS, directory transversal problems,</a:t>
            </a:r>
          </a:p>
        </p:txBody>
      </p:sp>
      <p:sp>
        <p:nvSpPr>
          <p:cNvPr id="4" name="Slide Number Placeholder 3"/>
          <p:cNvSpPr>
            <a:spLocks noGrp="1"/>
          </p:cNvSpPr>
          <p:nvPr>
            <p:ph type="sldNum" sz="quarter" idx="5"/>
          </p:nvPr>
        </p:nvSpPr>
        <p:spPr/>
        <p:txBody>
          <a:bodyPr/>
          <a:lstStyle/>
          <a:p>
            <a:fld id="{A28E2D20-6F10-41F3-820B-9D5130953720}" type="slidenum">
              <a:rPr lang="en-US" smtClean="0"/>
              <a:t>13</a:t>
            </a:fld>
            <a:endParaRPr lang="en-US"/>
          </a:p>
        </p:txBody>
      </p:sp>
    </p:spTree>
    <p:extLst>
      <p:ext uri="{BB962C8B-B14F-4D97-AF65-F5344CB8AC3E}">
        <p14:creationId xmlns:p14="http://schemas.microsoft.com/office/powerpoint/2010/main" val="4017709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ScanMyServer</a:t>
            </a:r>
            <a:r>
              <a:rPr lang="en-US" dirty="0"/>
              <a:t> is used to find security vulnerabilities in a website or web server. It can generate comprehensive test reports and assist in fixing security problems that might exist in a company’s website or web server.</a:t>
            </a:r>
          </a:p>
        </p:txBody>
      </p:sp>
      <p:sp>
        <p:nvSpPr>
          <p:cNvPr id="4" name="Slide Number Placeholder 3"/>
          <p:cNvSpPr>
            <a:spLocks noGrp="1"/>
          </p:cNvSpPr>
          <p:nvPr>
            <p:ph type="sldNum" sz="quarter" idx="5"/>
          </p:nvPr>
        </p:nvSpPr>
        <p:spPr/>
        <p:txBody>
          <a:bodyPr/>
          <a:lstStyle/>
          <a:p>
            <a:fld id="{A28E2D20-6F10-41F3-820B-9D5130953720}" type="slidenum">
              <a:rPr lang="en-US" smtClean="0"/>
              <a:t>14</a:t>
            </a:fld>
            <a:endParaRPr lang="en-US"/>
          </a:p>
        </p:txBody>
      </p:sp>
    </p:spTree>
    <p:extLst>
      <p:ext uri="{BB962C8B-B14F-4D97-AF65-F5344CB8AC3E}">
        <p14:creationId xmlns:p14="http://schemas.microsoft.com/office/powerpoint/2010/main" val="2232692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latin typeface="Consolas" panose="020B0609020204030204" pitchFamily="49" charset="0"/>
              </a:rPr>
              <a:t>Web Application Architecture:</a:t>
            </a:r>
          </a:p>
          <a:p>
            <a:pPr lvl="1"/>
            <a:r>
              <a:rPr lang="en-US" sz="1800" dirty="0">
                <a:latin typeface="Consolas" panose="020B0609020204030204" pitchFamily="49" charset="0"/>
              </a:rPr>
              <a:t>Client/Presentation layer</a:t>
            </a:r>
          </a:p>
          <a:p>
            <a:pPr lvl="1"/>
            <a:r>
              <a:rPr lang="en-US" sz="1800" dirty="0">
                <a:latin typeface="Consolas" panose="020B0609020204030204" pitchFamily="49" charset="0"/>
              </a:rPr>
              <a:t>Business logic layer</a:t>
            </a:r>
          </a:p>
          <a:p>
            <a:pPr lvl="1"/>
            <a:r>
              <a:rPr lang="en-US" sz="1800" dirty="0">
                <a:latin typeface="Consolas" panose="020B0609020204030204" pitchFamily="49" charset="0"/>
              </a:rPr>
              <a:t>Database layer</a:t>
            </a:r>
            <a:endParaRPr lang="en-US" dirty="0"/>
          </a:p>
        </p:txBody>
      </p:sp>
      <p:sp>
        <p:nvSpPr>
          <p:cNvPr id="4" name="Slide Number Placeholder 3"/>
          <p:cNvSpPr>
            <a:spLocks noGrp="1"/>
          </p:cNvSpPr>
          <p:nvPr>
            <p:ph type="sldNum" sz="quarter" idx="5"/>
          </p:nvPr>
        </p:nvSpPr>
        <p:spPr/>
        <p:txBody>
          <a:bodyPr/>
          <a:lstStyle/>
          <a:p>
            <a:fld id="{887D97A0-97B1-488A-9068-C8A621D7803F}" type="slidenum">
              <a:rPr lang="en-US" smtClean="0"/>
              <a:t>18</a:t>
            </a:fld>
            <a:endParaRPr lang="en-US"/>
          </a:p>
        </p:txBody>
      </p:sp>
    </p:spTree>
    <p:extLst>
      <p:ext uri="{BB962C8B-B14F-4D97-AF65-F5344CB8AC3E}">
        <p14:creationId xmlns:p14="http://schemas.microsoft.com/office/powerpoint/2010/main" val="3506223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nsolas" panose="020B0609020204030204" pitchFamily="49" charset="0"/>
              </a:rPr>
              <a:t>Architecture:</a:t>
            </a:r>
          </a:p>
          <a:p>
            <a:pPr lvl="1"/>
            <a:r>
              <a:rPr lang="en-US" dirty="0">
                <a:latin typeface="Consolas" panose="020B0609020204030204" pitchFamily="49" charset="0"/>
              </a:rPr>
              <a:t>Service Provider</a:t>
            </a:r>
          </a:p>
          <a:p>
            <a:pPr lvl="1"/>
            <a:r>
              <a:rPr lang="en-US" dirty="0">
                <a:latin typeface="Consolas" panose="020B0609020204030204" pitchFamily="49" charset="0"/>
              </a:rPr>
              <a:t>Service Requester</a:t>
            </a:r>
          </a:p>
          <a:p>
            <a:pPr lvl="1"/>
            <a:r>
              <a:rPr lang="en-US" dirty="0">
                <a:latin typeface="Consolas" panose="020B0609020204030204" pitchFamily="49" charset="0"/>
              </a:rPr>
              <a:t>Service Registry</a:t>
            </a:r>
          </a:p>
          <a:p>
            <a:r>
              <a:rPr lang="en-US" dirty="0"/>
              <a:t>Operations:</a:t>
            </a:r>
          </a:p>
          <a:p>
            <a:pPr lvl="1"/>
            <a:r>
              <a:rPr lang="en-US" dirty="0"/>
              <a:t>Publish</a:t>
            </a:r>
          </a:p>
          <a:p>
            <a:pPr lvl="1"/>
            <a:r>
              <a:rPr lang="en-US" dirty="0"/>
              <a:t>Find</a:t>
            </a:r>
          </a:p>
          <a:p>
            <a:pPr lvl="1"/>
            <a:r>
              <a:rPr lang="en-US" dirty="0"/>
              <a:t>Bind</a:t>
            </a:r>
          </a:p>
          <a:p>
            <a:r>
              <a:rPr lang="en-US" dirty="0"/>
              <a:t>Characteristics of Web Services  XML-based: Web services use XML for data representation and transportation. XML usage can avoid OS, networking, or platform binding. Applications that provide web services are highly interoperable.</a:t>
            </a:r>
          </a:p>
          <a:p>
            <a:r>
              <a:rPr lang="en-US" dirty="0"/>
              <a:t> Coarse-grained service: In web services, some objects contain a massive amount of information and offer greater functionality than fine-grained services. A coarse-grained service is a combination of multiple fine-grained services.</a:t>
            </a:r>
          </a:p>
          <a:p>
            <a:r>
              <a:rPr lang="en-US" dirty="0"/>
              <a:t> Loosely coupled: Web services support a loosely coupled approach for interconnecting systems. The interaction between the systems can occur via the web API by sending XML messages. The web API incorporates a layer of abstraction for the infrastructure to make the connection flexible and adaptable.</a:t>
            </a:r>
          </a:p>
          <a:p>
            <a:r>
              <a:rPr lang="en-US" dirty="0"/>
              <a:t> Asynchronous and synchronous support: Synchronous services are called by users who wait for a response, whereas asynchronous services are called by users who do not wait for a response. RPC-based messages and document-based messages are often used for synchronous and asynchronous web services.</a:t>
            </a:r>
          </a:p>
          <a:p>
            <a:r>
              <a:rPr lang="en-US" dirty="0"/>
              <a:t>Synchronous and asynchronous endpoints are implemented using servlets, SOAP/XML, and HTTP.</a:t>
            </a:r>
          </a:p>
          <a:p>
            <a:r>
              <a:rPr lang="en-US" dirty="0"/>
              <a:t> RPC support: Web services support remote procedure calls (RPC) similarly to traditional applications.</a:t>
            </a:r>
          </a:p>
          <a:p>
            <a:endParaRPr lang="en-US" dirty="0"/>
          </a:p>
        </p:txBody>
      </p:sp>
      <p:sp>
        <p:nvSpPr>
          <p:cNvPr id="4" name="Slide Number Placeholder 3"/>
          <p:cNvSpPr>
            <a:spLocks noGrp="1"/>
          </p:cNvSpPr>
          <p:nvPr>
            <p:ph type="sldNum" sz="quarter" idx="5"/>
          </p:nvPr>
        </p:nvSpPr>
        <p:spPr/>
        <p:txBody>
          <a:bodyPr/>
          <a:lstStyle/>
          <a:p>
            <a:fld id="{887D97A0-97B1-488A-9068-C8A621D7803F}" type="slidenum">
              <a:rPr lang="en-US" smtClean="0"/>
              <a:t>19</a:t>
            </a:fld>
            <a:endParaRPr lang="en-US"/>
          </a:p>
        </p:txBody>
      </p:sp>
    </p:spTree>
    <p:extLst>
      <p:ext uri="{BB962C8B-B14F-4D97-AF65-F5344CB8AC3E}">
        <p14:creationId xmlns:p14="http://schemas.microsoft.com/office/powerpoint/2010/main" val="2483111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7D97A0-97B1-488A-9068-C8A621D7803F}" type="slidenum">
              <a:rPr lang="en-US" smtClean="0"/>
              <a:t>20</a:t>
            </a:fld>
            <a:endParaRPr lang="en-US"/>
          </a:p>
        </p:txBody>
      </p:sp>
    </p:spTree>
    <p:extLst>
      <p:ext uri="{BB962C8B-B14F-4D97-AF65-F5344CB8AC3E}">
        <p14:creationId xmlns:p14="http://schemas.microsoft.com/office/powerpoint/2010/main" val="4218993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Consolas" panose="020B0609020204030204" pitchFamily="49" charset="0"/>
              </a:rPr>
              <a:t>Injection </a:t>
            </a:r>
            <a:r>
              <a:rPr lang="en-US" sz="1200" dirty="0">
                <a:latin typeface="Consolas" panose="020B0609020204030204" pitchFamily="49" charset="0"/>
              </a:rPr>
              <a:t>(SQL; command – shell, file, HTML embedding; LDAP; Server-side JS; CRLF; HTML)</a:t>
            </a:r>
          </a:p>
          <a:p>
            <a:r>
              <a:rPr lang="en-US" sz="1400" dirty="0">
                <a:latin typeface="Consolas" panose="020B0609020204030204" pitchFamily="49" charset="0"/>
              </a:rPr>
              <a:t>Broken Authentication </a:t>
            </a:r>
            <a:r>
              <a:rPr lang="en-US" sz="1200" dirty="0">
                <a:latin typeface="Consolas" panose="020B0609020204030204" pitchFamily="49" charset="0"/>
              </a:rPr>
              <a:t>(Session ID shown in URL; Password Exploitation; Timeout Exploitation)</a:t>
            </a:r>
          </a:p>
          <a:p>
            <a:r>
              <a:rPr lang="en-US" sz="1400" dirty="0">
                <a:latin typeface="Consolas" panose="020B0609020204030204" pitchFamily="49" charset="0"/>
              </a:rPr>
              <a:t>Sensitive Data Exposure</a:t>
            </a:r>
          </a:p>
          <a:p>
            <a:r>
              <a:rPr lang="en-US" sz="1400" dirty="0">
                <a:latin typeface="Consolas" panose="020B0609020204030204" pitchFamily="49" charset="0"/>
              </a:rPr>
              <a:t>XML External Entity (XXE)</a:t>
            </a:r>
          </a:p>
          <a:p>
            <a:r>
              <a:rPr lang="en-US" sz="1400" dirty="0">
                <a:latin typeface="Consolas" panose="020B0609020204030204" pitchFamily="49" charset="0"/>
              </a:rPr>
              <a:t>Broken access Control </a:t>
            </a:r>
            <a:r>
              <a:rPr lang="en-US" sz="1200" dirty="0">
                <a:latin typeface="Consolas" panose="020B0609020204030204" pitchFamily="49" charset="0"/>
              </a:rPr>
              <a:t>(Insecure Direct Object references; Missing Function Level Access Control)</a:t>
            </a:r>
          </a:p>
          <a:p>
            <a:r>
              <a:rPr lang="en-US" sz="1400" dirty="0">
                <a:latin typeface="Consolas" panose="020B0609020204030204" pitchFamily="49" charset="0"/>
              </a:rPr>
              <a:t>Security Misconfiguration </a:t>
            </a:r>
            <a:r>
              <a:rPr lang="en-US" sz="1200" dirty="0">
                <a:latin typeface="Consolas" panose="020B0609020204030204" pitchFamily="49" charset="0"/>
              </a:rPr>
              <a:t>(Unvalidated Input; Parameter/Form Tampering; Improper Error Handling; Insufficient Transport Layer Protection)</a:t>
            </a:r>
          </a:p>
          <a:p>
            <a:r>
              <a:rPr lang="en-US" sz="1400" dirty="0">
                <a:latin typeface="Consolas" panose="020B0609020204030204" pitchFamily="49" charset="0"/>
              </a:rPr>
              <a:t>Cross-Site Scripting (XSS)</a:t>
            </a:r>
          </a:p>
          <a:p>
            <a:r>
              <a:rPr lang="en-US" sz="1400" dirty="0">
                <a:latin typeface="Consolas" panose="020B0609020204030204" pitchFamily="49" charset="0"/>
              </a:rPr>
              <a:t>Insecure Deserialization</a:t>
            </a:r>
          </a:p>
          <a:p>
            <a:r>
              <a:rPr lang="en-US" sz="1400" dirty="0">
                <a:latin typeface="Consolas" panose="020B0609020204030204" pitchFamily="49" charset="0"/>
              </a:rPr>
              <a:t>Using Component with Known Vulnerabilities</a:t>
            </a:r>
          </a:p>
          <a:p>
            <a:r>
              <a:rPr lang="en-US" sz="1400" dirty="0">
                <a:latin typeface="Consolas" panose="020B0609020204030204" pitchFamily="49" charset="0"/>
              </a:rPr>
              <a:t>Insufficient Logging and Monitoring</a:t>
            </a:r>
          </a:p>
          <a:p>
            <a:endParaRPr lang="en-US" dirty="0"/>
          </a:p>
        </p:txBody>
      </p:sp>
      <p:sp>
        <p:nvSpPr>
          <p:cNvPr id="4" name="Slide Number Placeholder 3"/>
          <p:cNvSpPr>
            <a:spLocks noGrp="1"/>
          </p:cNvSpPr>
          <p:nvPr>
            <p:ph type="sldNum" sz="quarter" idx="5"/>
          </p:nvPr>
        </p:nvSpPr>
        <p:spPr/>
        <p:txBody>
          <a:bodyPr/>
          <a:lstStyle/>
          <a:p>
            <a:fld id="{887D97A0-97B1-488A-9068-C8A621D7803F}" type="slidenum">
              <a:rPr lang="en-US" smtClean="0"/>
              <a:t>21</a:t>
            </a:fld>
            <a:endParaRPr lang="en-US"/>
          </a:p>
        </p:txBody>
      </p:sp>
    </p:spTree>
    <p:extLst>
      <p:ext uri="{BB962C8B-B14F-4D97-AF65-F5344CB8AC3E}">
        <p14:creationId xmlns:p14="http://schemas.microsoft.com/office/powerpoint/2010/main" val="2832161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Consolas" panose="020B0609020204030204" pitchFamily="49" charset="0"/>
              </a:rPr>
              <a:t>Injection </a:t>
            </a:r>
            <a:r>
              <a:rPr lang="en-US" sz="1200" dirty="0">
                <a:latin typeface="Consolas" panose="020B0609020204030204" pitchFamily="49" charset="0"/>
              </a:rPr>
              <a:t>(SQL; command – shell, file, HTML embedding; LDAP; Server-side JS; CRLF; HTML)</a:t>
            </a:r>
          </a:p>
          <a:p>
            <a:r>
              <a:rPr lang="en-US" sz="1400" dirty="0">
                <a:latin typeface="Consolas" panose="020B0609020204030204" pitchFamily="49" charset="0"/>
              </a:rPr>
              <a:t>Broken Authentication </a:t>
            </a:r>
            <a:r>
              <a:rPr lang="en-US" sz="1200" dirty="0">
                <a:latin typeface="Consolas" panose="020B0609020204030204" pitchFamily="49" charset="0"/>
              </a:rPr>
              <a:t>(Session ID shown in URL; Password Exploitation; Timeout Exploitation)</a:t>
            </a:r>
          </a:p>
          <a:p>
            <a:r>
              <a:rPr lang="en-US" sz="1400" dirty="0">
                <a:latin typeface="Consolas" panose="020B0609020204030204" pitchFamily="49" charset="0"/>
              </a:rPr>
              <a:t>Sensitive Data Exposure</a:t>
            </a:r>
          </a:p>
          <a:p>
            <a:r>
              <a:rPr lang="en-US" sz="1400" dirty="0">
                <a:latin typeface="Consolas" panose="020B0609020204030204" pitchFamily="49" charset="0"/>
              </a:rPr>
              <a:t>XML External Entity (XXE)</a:t>
            </a:r>
          </a:p>
          <a:p>
            <a:r>
              <a:rPr lang="en-US" sz="1400" dirty="0">
                <a:latin typeface="Consolas" panose="020B0609020204030204" pitchFamily="49" charset="0"/>
              </a:rPr>
              <a:t>Broken access Control </a:t>
            </a:r>
            <a:r>
              <a:rPr lang="en-US" sz="1200" dirty="0">
                <a:latin typeface="Consolas" panose="020B0609020204030204" pitchFamily="49" charset="0"/>
              </a:rPr>
              <a:t>(Insecure Direct Object references; Missing Function Level Access Control)</a:t>
            </a:r>
          </a:p>
          <a:p>
            <a:r>
              <a:rPr lang="en-US" sz="1400" dirty="0">
                <a:latin typeface="Consolas" panose="020B0609020204030204" pitchFamily="49" charset="0"/>
              </a:rPr>
              <a:t>Security Misconfiguration </a:t>
            </a:r>
            <a:r>
              <a:rPr lang="en-US" sz="1200" dirty="0">
                <a:latin typeface="Consolas" panose="020B0609020204030204" pitchFamily="49" charset="0"/>
              </a:rPr>
              <a:t>(Unvalidated Input; Parameter/Form Tampering; Improper Error Handling; Insufficient Transport Layer Protection)</a:t>
            </a:r>
          </a:p>
          <a:p>
            <a:r>
              <a:rPr lang="en-US" sz="1400" dirty="0">
                <a:latin typeface="Consolas" panose="020B0609020204030204" pitchFamily="49" charset="0"/>
              </a:rPr>
              <a:t>Cross-Site Scripting (XSS)</a:t>
            </a:r>
          </a:p>
          <a:p>
            <a:r>
              <a:rPr lang="en-US" sz="1400" dirty="0">
                <a:latin typeface="Consolas" panose="020B0609020204030204" pitchFamily="49" charset="0"/>
              </a:rPr>
              <a:t>Insecure Deserialization</a:t>
            </a:r>
          </a:p>
          <a:p>
            <a:r>
              <a:rPr lang="en-US" sz="1400" dirty="0">
                <a:latin typeface="Consolas" panose="020B0609020204030204" pitchFamily="49" charset="0"/>
              </a:rPr>
              <a:t>Using Component with Known Vulnerabilities</a:t>
            </a:r>
          </a:p>
          <a:p>
            <a:r>
              <a:rPr lang="en-US" sz="1400" dirty="0">
                <a:latin typeface="Consolas" panose="020B0609020204030204" pitchFamily="49" charset="0"/>
              </a:rPr>
              <a:t>Insufficient Logging and Monitoring</a:t>
            </a:r>
          </a:p>
          <a:p>
            <a:endParaRPr lang="en-US" dirty="0"/>
          </a:p>
        </p:txBody>
      </p:sp>
      <p:sp>
        <p:nvSpPr>
          <p:cNvPr id="4" name="Slide Number Placeholder 3"/>
          <p:cNvSpPr>
            <a:spLocks noGrp="1"/>
          </p:cNvSpPr>
          <p:nvPr>
            <p:ph type="sldNum" sz="quarter" idx="5"/>
          </p:nvPr>
        </p:nvSpPr>
        <p:spPr/>
        <p:txBody>
          <a:bodyPr/>
          <a:lstStyle/>
          <a:p>
            <a:fld id="{887D97A0-97B1-488A-9068-C8A621D7803F}" type="slidenum">
              <a:rPr lang="en-US" smtClean="0"/>
              <a:t>22</a:t>
            </a:fld>
            <a:endParaRPr lang="en-US"/>
          </a:p>
        </p:txBody>
      </p:sp>
    </p:spTree>
    <p:extLst>
      <p:ext uri="{BB962C8B-B14F-4D97-AF65-F5344CB8AC3E}">
        <p14:creationId xmlns:p14="http://schemas.microsoft.com/office/powerpoint/2010/main" val="720014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7D97A0-97B1-488A-9068-C8A621D7803F}" type="slidenum">
              <a:rPr lang="en-US" smtClean="0"/>
              <a:t>23</a:t>
            </a:fld>
            <a:endParaRPr lang="en-US"/>
          </a:p>
        </p:txBody>
      </p:sp>
    </p:spTree>
    <p:extLst>
      <p:ext uri="{BB962C8B-B14F-4D97-AF65-F5344CB8AC3E}">
        <p14:creationId xmlns:p14="http://schemas.microsoft.com/office/powerpoint/2010/main" val="3853556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 enters the following malicious code (account number) with a new password. www.certifiedhacker.com/banner.gif||newpassword||1036|60|468 The last two sets of numbers denote the banner size. Once the attacker clicks the submit button, the password for the account 1036 is changed to “</a:t>
            </a:r>
            <a:r>
              <a:rPr lang="en-US" dirty="0" err="1"/>
              <a:t>newpassword</a:t>
            </a:r>
            <a:r>
              <a:rPr lang="en-US" dirty="0"/>
              <a:t>." The server script assumes that only the URL of the banner image file is inserted into that field.</a:t>
            </a:r>
          </a:p>
          <a:p>
            <a:endParaRPr lang="en-US" dirty="0"/>
          </a:p>
        </p:txBody>
      </p:sp>
      <p:sp>
        <p:nvSpPr>
          <p:cNvPr id="4" name="Slide Number Placeholder 3"/>
          <p:cNvSpPr>
            <a:spLocks noGrp="1"/>
          </p:cNvSpPr>
          <p:nvPr>
            <p:ph type="sldNum" sz="quarter" idx="5"/>
          </p:nvPr>
        </p:nvSpPr>
        <p:spPr/>
        <p:txBody>
          <a:bodyPr/>
          <a:lstStyle/>
          <a:p>
            <a:fld id="{887D97A0-97B1-488A-9068-C8A621D7803F}" type="slidenum">
              <a:rPr lang="en-US" smtClean="0"/>
              <a:t>24</a:t>
            </a:fld>
            <a:endParaRPr lang="en-US"/>
          </a:p>
        </p:txBody>
      </p:sp>
    </p:spTree>
    <p:extLst>
      <p:ext uri="{BB962C8B-B14F-4D97-AF65-F5344CB8AC3E}">
        <p14:creationId xmlns:p14="http://schemas.microsoft.com/office/powerpoint/2010/main" val="28352921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LDAP injection attack works in the same way as an SQL injection attack, but it exploits user parameters to generate an LDAP query. It runs on an Internet transport protocol such as TCP, and it is an open-standard protocol for manipulating and querying Directory Services.</a:t>
            </a:r>
          </a:p>
        </p:txBody>
      </p:sp>
      <p:sp>
        <p:nvSpPr>
          <p:cNvPr id="4" name="Slide Number Placeholder 3"/>
          <p:cNvSpPr>
            <a:spLocks noGrp="1"/>
          </p:cNvSpPr>
          <p:nvPr>
            <p:ph type="sldNum" sz="quarter" idx="5"/>
          </p:nvPr>
        </p:nvSpPr>
        <p:spPr/>
        <p:txBody>
          <a:bodyPr/>
          <a:lstStyle/>
          <a:p>
            <a:fld id="{887D97A0-97B1-488A-9068-C8A621D7803F}" type="slidenum">
              <a:rPr lang="en-US" smtClean="0"/>
              <a:t>25</a:t>
            </a:fld>
            <a:endParaRPr lang="en-US"/>
          </a:p>
        </p:txBody>
      </p:sp>
    </p:spTree>
    <p:extLst>
      <p:ext uri="{BB962C8B-B14F-4D97-AF65-F5344CB8AC3E}">
        <p14:creationId xmlns:p14="http://schemas.microsoft.com/office/powerpoint/2010/main" val="7995746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web applications do not protect their sensitive data properly from unauthorized users. Web applications use cryptographic algorithms to encrypt their data and other sensitive information that they need to transfer from the server to the client or vice versa. Sensitive data exposure occurs due to flaws such as insecure cryptographic storage and information leakage.</a:t>
            </a:r>
          </a:p>
        </p:txBody>
      </p:sp>
      <p:sp>
        <p:nvSpPr>
          <p:cNvPr id="4" name="Slide Number Placeholder 3"/>
          <p:cNvSpPr>
            <a:spLocks noGrp="1"/>
          </p:cNvSpPr>
          <p:nvPr>
            <p:ph type="sldNum" sz="quarter" idx="5"/>
          </p:nvPr>
        </p:nvSpPr>
        <p:spPr/>
        <p:txBody>
          <a:bodyPr/>
          <a:lstStyle/>
          <a:p>
            <a:fld id="{887D97A0-97B1-488A-9068-C8A621D7803F}" type="slidenum">
              <a:rPr lang="en-US" smtClean="0"/>
              <a:t>26</a:t>
            </a:fld>
            <a:endParaRPr lang="en-US"/>
          </a:p>
        </p:txBody>
      </p:sp>
    </p:spTree>
    <p:extLst>
      <p:ext uri="{BB962C8B-B14F-4D97-AF65-F5344CB8AC3E}">
        <p14:creationId xmlns:p14="http://schemas.microsoft.com/office/powerpoint/2010/main" val="2662558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7D97A0-97B1-488A-9068-C8A621D7803F}" type="slidenum">
              <a:rPr lang="en-US" smtClean="0"/>
              <a:t>27</a:t>
            </a:fld>
            <a:endParaRPr lang="en-US"/>
          </a:p>
        </p:txBody>
      </p:sp>
    </p:spTree>
    <p:extLst>
      <p:ext uri="{BB962C8B-B14F-4D97-AF65-F5344CB8AC3E}">
        <p14:creationId xmlns:p14="http://schemas.microsoft.com/office/powerpoint/2010/main" val="1334477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to the malicious script and sends it to the victim, luring the victim into clicking the link containing the malicious script/query. For example, if the attacker finds a cross-site scripting vulnerability on the bank.com website, he/she constructs a link embedded with a malicious script such as</a:t>
            </a:r>
          </a:p>
          <a:p>
            <a:r>
              <a:rPr lang="en-US" dirty="0"/>
              <a:t>&lt;AHREF=http://bank.com/registration.cgi?clientprofile=&lt;SCRIPT&gt;maliciouscode&lt;/ SCRIPT&gt;&gt;Click here&lt;/A&gt;</a:t>
            </a:r>
          </a:p>
          <a:p>
            <a:r>
              <a:rPr lang="en-US" dirty="0"/>
              <a:t>and sends an email to the target user. When the user clicks the link, the URL is sent to bank.com with the malicious code. The legitimate server hosting the bank.com website sends a page back to the user including the value of </a:t>
            </a:r>
            <a:r>
              <a:rPr lang="en-US" dirty="0" err="1"/>
              <a:t>clientprofile</a:t>
            </a:r>
            <a:r>
              <a:rPr lang="en-US" dirty="0"/>
              <a:t>, and the malicious code is executed on the client machine. </a:t>
            </a:r>
          </a:p>
        </p:txBody>
      </p:sp>
      <p:sp>
        <p:nvSpPr>
          <p:cNvPr id="4" name="Slide Number Placeholder 3"/>
          <p:cNvSpPr>
            <a:spLocks noGrp="1"/>
          </p:cNvSpPr>
          <p:nvPr>
            <p:ph type="sldNum" sz="quarter" idx="5"/>
          </p:nvPr>
        </p:nvSpPr>
        <p:spPr/>
        <p:txBody>
          <a:bodyPr/>
          <a:lstStyle/>
          <a:p>
            <a:fld id="{887D97A0-97B1-488A-9068-C8A621D7803F}" type="slidenum">
              <a:rPr lang="en-US" smtClean="0"/>
              <a:t>28</a:t>
            </a:fld>
            <a:endParaRPr lang="en-US"/>
          </a:p>
        </p:txBody>
      </p:sp>
    </p:spTree>
    <p:extLst>
      <p:ext uri="{BB962C8B-B14F-4D97-AF65-F5344CB8AC3E}">
        <p14:creationId xmlns:p14="http://schemas.microsoft.com/office/powerpoint/2010/main" val="1349486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to the malicious script and sends it to the victim, luring the victim into clicking the link containing the malicious script/query. For example, if the attacker finds a cross-site scripting vulnerability on the bank.com website, he/she constructs a link embedded with a malicious script such as</a:t>
            </a:r>
          </a:p>
          <a:p>
            <a:r>
              <a:rPr lang="en-US" dirty="0"/>
              <a:t>&lt;AHREF=http://bank.com/registration.cgi?clientprofile=&lt;SCRIPT&gt;maliciouscode&lt;/ SCRIPT&gt;&gt;Click here&lt;/A&gt;</a:t>
            </a:r>
          </a:p>
          <a:p>
            <a:r>
              <a:rPr lang="en-US" dirty="0"/>
              <a:t>and sends an email to the target user. When the user clicks the link, the URL is sent to bank.com with the malicious code. The legitimate server hosting the bank.com website sends a page back to the user including the value of </a:t>
            </a:r>
            <a:r>
              <a:rPr lang="en-US" dirty="0" err="1"/>
              <a:t>clientprofile</a:t>
            </a:r>
            <a:r>
              <a:rPr lang="en-US" dirty="0"/>
              <a:t>, and the malicious code is executed on the client machine. </a:t>
            </a:r>
          </a:p>
        </p:txBody>
      </p:sp>
      <p:sp>
        <p:nvSpPr>
          <p:cNvPr id="4" name="Slide Number Placeholder 3"/>
          <p:cNvSpPr>
            <a:spLocks noGrp="1"/>
          </p:cNvSpPr>
          <p:nvPr>
            <p:ph type="sldNum" sz="quarter" idx="5"/>
          </p:nvPr>
        </p:nvSpPr>
        <p:spPr/>
        <p:txBody>
          <a:bodyPr/>
          <a:lstStyle/>
          <a:p>
            <a:fld id="{887D97A0-97B1-488A-9068-C8A621D7803F}" type="slidenum">
              <a:rPr lang="en-US" smtClean="0"/>
              <a:t>29</a:t>
            </a:fld>
            <a:endParaRPr lang="en-US"/>
          </a:p>
        </p:txBody>
      </p:sp>
    </p:spTree>
    <p:extLst>
      <p:ext uri="{BB962C8B-B14F-4D97-AF65-F5344CB8AC3E}">
        <p14:creationId xmlns:p14="http://schemas.microsoft.com/office/powerpoint/2010/main" val="70642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access is provided outside a defined application, there exists the possibility of unintended information disclosure or modification. Complex applications are configured with multiple directories that exist as application components and data. An application can traverse these directories to locate and execute the legitimate portions of an application. A directory traversal/forceful browsing attack occurs when the attacker is able to browse the directories and files outside the normal application access.</a:t>
            </a:r>
          </a:p>
        </p:txBody>
      </p:sp>
      <p:sp>
        <p:nvSpPr>
          <p:cNvPr id="4" name="Slide Number Placeholder 3"/>
          <p:cNvSpPr>
            <a:spLocks noGrp="1"/>
          </p:cNvSpPr>
          <p:nvPr>
            <p:ph type="sldNum" sz="quarter" idx="5"/>
          </p:nvPr>
        </p:nvSpPr>
        <p:spPr/>
        <p:txBody>
          <a:bodyPr/>
          <a:lstStyle/>
          <a:p>
            <a:fld id="{887D97A0-97B1-488A-9068-C8A621D7803F}" type="slidenum">
              <a:rPr lang="en-US" smtClean="0"/>
              <a:t>30</a:t>
            </a:fld>
            <a:endParaRPr lang="en-US"/>
          </a:p>
        </p:txBody>
      </p:sp>
    </p:spTree>
    <p:extLst>
      <p:ext uri="{BB962C8B-B14F-4D97-AF65-F5344CB8AC3E}">
        <p14:creationId xmlns:p14="http://schemas.microsoft.com/office/powerpoint/2010/main" val="15142498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Directory traversal allows attackers to access restricted directories, including application source code, configuration, and critical system files, and execute commands outside the web server's root directory.</a:t>
            </a:r>
          </a:p>
        </p:txBody>
      </p:sp>
      <p:sp>
        <p:nvSpPr>
          <p:cNvPr id="4" name="Slide Number Placeholder 3"/>
          <p:cNvSpPr>
            <a:spLocks noGrp="1"/>
          </p:cNvSpPr>
          <p:nvPr>
            <p:ph type="sldNum" sz="quarter" idx="5"/>
          </p:nvPr>
        </p:nvSpPr>
        <p:spPr/>
        <p:txBody>
          <a:bodyPr/>
          <a:lstStyle/>
          <a:p>
            <a:fld id="{887D97A0-97B1-488A-9068-C8A621D7803F}" type="slidenum">
              <a:rPr lang="en-US" smtClean="0"/>
              <a:t>31</a:t>
            </a:fld>
            <a:endParaRPr lang="en-US"/>
          </a:p>
        </p:txBody>
      </p:sp>
    </p:spTree>
    <p:extLst>
      <p:ext uri="{BB962C8B-B14F-4D97-AF65-F5344CB8AC3E}">
        <p14:creationId xmlns:p14="http://schemas.microsoft.com/office/powerpoint/2010/main" val="2443485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3129413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817921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1370667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01E408-9ECA-4E33-A9A0-3E824B8B21B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152593561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01E408-9ECA-4E33-A9A0-3E824B8B21B9}"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309376874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B01E408-9ECA-4E33-A9A0-3E824B8B21B9}"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125205200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01E408-9ECA-4E33-A9A0-3E824B8B21B9}"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3938921173"/>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B01E408-9ECA-4E33-A9A0-3E824B8B21B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330111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B01E408-9ECA-4E33-A9A0-3E824B8B21B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2845080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2364065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586030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0000"/>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01E408-9ECA-4E33-A9A0-3E824B8B21B9}" type="datetimeFigureOut">
              <a:rPr lang="en-US" smtClean="0"/>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987E7E-2F50-495C-98D0-48A5AF555872}" type="slidenum">
              <a:rPr lang="en-US" smtClean="0"/>
              <a:t>‹#›</a:t>
            </a:fld>
            <a:endParaRPr lang="en-US"/>
          </a:p>
        </p:txBody>
      </p:sp>
    </p:spTree>
    <p:extLst>
      <p:ext uri="{BB962C8B-B14F-4D97-AF65-F5344CB8AC3E}">
        <p14:creationId xmlns:p14="http://schemas.microsoft.com/office/powerpoint/2010/main" val="86856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4.jpg"/></Relationships>
</file>

<file path=ppt/slides/_rels/slide2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7.jpg"/></Relationships>
</file>

<file path=ppt/slides/_rels/slide2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3.jpg"/><Relationship Id="rId5" Type="http://schemas.openxmlformats.org/officeDocument/2006/relationships/image" Target="../media/image42.jpg"/><Relationship Id="rId4" Type="http://schemas.openxmlformats.org/officeDocument/2006/relationships/image" Target="../media/image41.jpg"/></Relationships>
</file>

<file path=ppt/slides/_rels/slide30.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hyperlink" Target="https://github.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Electronic System">
            <a:extLst>
              <a:ext uri="{FF2B5EF4-FFF2-40B4-BE49-F238E27FC236}">
                <a16:creationId xmlns:a16="http://schemas.microsoft.com/office/drawing/2014/main" id="{8F4FFA28-852E-5EEF-7154-C064197EDF6B}"/>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latin typeface="Consolas" panose="020B0609020204030204" pitchFamily="49" charset="0"/>
              </a:rPr>
              <a:t>Hacking Web Servers</a:t>
            </a:r>
          </a:p>
        </p:txBody>
      </p:sp>
      <p:sp>
        <p:nvSpPr>
          <p:cNvPr id="3" name="Subtitle 2"/>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dirty="0">
                <a:solidFill>
                  <a:srgbClr val="FFFFFF"/>
                </a:solidFill>
                <a:latin typeface="Consolas" panose="020B0609020204030204" pitchFamily="49" charset="0"/>
              </a:rPr>
              <a:t>Volume 3, Module 3, v12, with v13 updates at the end</a:t>
            </a:r>
          </a:p>
        </p:txBody>
      </p:sp>
    </p:spTree>
    <p:extLst>
      <p:ext uri="{BB962C8B-B14F-4D97-AF65-F5344CB8AC3E}">
        <p14:creationId xmlns:p14="http://schemas.microsoft.com/office/powerpoint/2010/main" val="368997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1575" y="2477335"/>
            <a:ext cx="2883775" cy="1621699"/>
          </a:xfrm>
        </p:spPr>
        <p:txBody>
          <a:bodyPr vert="horz" lIns="91440" tIns="45720" rIns="91440" bIns="45720" rtlCol="0" anchor="ctr">
            <a:normAutofit/>
          </a:bodyPr>
          <a:lstStyle/>
          <a:p>
            <a:pPr algn="ctr"/>
            <a:r>
              <a:rPr lang="en-US" sz="4000" kern="1200" dirty="0">
                <a:latin typeface="+mn-lt"/>
                <a:ea typeface="+mj-ea"/>
                <a:cs typeface="+mj-cs"/>
              </a:rPr>
              <a:t>Web Server Components</a:t>
            </a:r>
          </a:p>
        </p:txBody>
      </p:sp>
      <p:pic>
        <p:nvPicPr>
          <p:cNvPr id="4" name="Picture 3" descr="A diagram of a web server&#10;&#10;Description automatically generated">
            <a:extLst>
              <a:ext uri="{FF2B5EF4-FFF2-40B4-BE49-F238E27FC236}">
                <a16:creationId xmlns:a16="http://schemas.microsoft.com/office/drawing/2014/main" id="{6DD5DAC8-98EF-617F-AAC0-93BD969358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0332" y="236484"/>
            <a:ext cx="7916259" cy="6495392"/>
          </a:xfrm>
          <a:prstGeom prst="rect">
            <a:avLst/>
          </a:prstGeom>
        </p:spPr>
      </p:pic>
      <p:sp>
        <p:nvSpPr>
          <p:cNvPr id="6" name="Rectangle 5">
            <a:extLst>
              <a:ext uri="{FF2B5EF4-FFF2-40B4-BE49-F238E27FC236}">
                <a16:creationId xmlns:a16="http://schemas.microsoft.com/office/drawing/2014/main" id="{E17D909C-CD74-0061-3E70-CB30E4B28E8B}"/>
              </a:ext>
            </a:extLst>
          </p:cNvPr>
          <p:cNvSpPr/>
          <p:nvPr/>
        </p:nvSpPr>
        <p:spPr>
          <a:xfrm>
            <a:off x="0" y="2477335"/>
            <a:ext cx="488515" cy="16216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DF8E488-DB06-9B5F-0BB8-A2874F93CFE1}"/>
              </a:ext>
            </a:extLst>
          </p:cNvPr>
          <p:cNvSpPr txBox="1"/>
          <p:nvPr/>
        </p:nvSpPr>
        <p:spPr>
          <a:xfrm>
            <a:off x="6511158" y="6416566"/>
            <a:ext cx="5680841" cy="430887"/>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cxnSp>
        <p:nvCxnSpPr>
          <p:cNvPr id="9" name="Straight Connector 8">
            <a:extLst>
              <a:ext uri="{FF2B5EF4-FFF2-40B4-BE49-F238E27FC236}">
                <a16:creationId xmlns:a16="http://schemas.microsoft.com/office/drawing/2014/main" id="{BE70A961-008B-6CE2-9674-2DDC16DAB8DD}"/>
              </a:ext>
            </a:extLst>
          </p:cNvPr>
          <p:cNvCxnSpPr>
            <a:cxnSpLocks/>
          </p:cNvCxnSpPr>
          <p:nvPr/>
        </p:nvCxnSpPr>
        <p:spPr>
          <a:xfrm>
            <a:off x="3436882" y="1044465"/>
            <a:ext cx="0" cy="5133866"/>
          </a:xfrm>
          <a:prstGeom prst="line">
            <a:avLst/>
          </a:prstGeom>
          <a:ln w="38100">
            <a:gradFill>
              <a:gsLst>
                <a:gs pos="0">
                  <a:schemeClr val="accent1">
                    <a:lumMod val="5000"/>
                    <a:lumOff val="95000"/>
                  </a:schemeClr>
                </a:gs>
                <a:gs pos="44000">
                  <a:schemeClr val="bg2">
                    <a:lumMod val="50000"/>
                  </a:schemeClr>
                </a:gs>
                <a:gs pos="62000">
                  <a:schemeClr val="bg2">
                    <a:lumMod val="50000"/>
                  </a:schemeClr>
                </a:gs>
                <a:gs pos="75000">
                  <a:srgbClr val="7B7878"/>
                </a:gs>
                <a:gs pos="100000">
                  <a:schemeClr val="bg1"/>
                </a:gs>
              </a:gsLst>
              <a:lin ang="5400000" scaled="1"/>
            </a:gra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32558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8515" y="135080"/>
            <a:ext cx="10515600" cy="1063099"/>
          </a:xfrm>
        </p:spPr>
        <p:txBody>
          <a:bodyPr vert="horz" lIns="91440" tIns="45720" rIns="91440" bIns="45720" rtlCol="0" anchor="ctr">
            <a:normAutofit/>
          </a:bodyPr>
          <a:lstStyle/>
          <a:p>
            <a:r>
              <a:rPr lang="en-US" kern="1200" dirty="0">
                <a:latin typeface="+mn-lt"/>
                <a:ea typeface="+mj-ea"/>
                <a:cs typeface="+mj-cs"/>
              </a:rPr>
              <a:t>Web Server Security Issues</a:t>
            </a:r>
          </a:p>
        </p:txBody>
      </p:sp>
      <p:sp>
        <p:nvSpPr>
          <p:cNvPr id="3" name="Rectangle 2">
            <a:extLst>
              <a:ext uri="{FF2B5EF4-FFF2-40B4-BE49-F238E27FC236}">
                <a16:creationId xmlns:a16="http://schemas.microsoft.com/office/drawing/2014/main" id="{8FA467CE-B2CD-B23B-375F-ADEA196B4F80}"/>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web server&#10;&#10;Description automatically generated">
            <a:extLst>
              <a:ext uri="{FF2B5EF4-FFF2-40B4-BE49-F238E27FC236}">
                <a16:creationId xmlns:a16="http://schemas.microsoft.com/office/drawing/2014/main" id="{D4C2E51E-9727-91EF-9032-3CE9C294DB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257" y="1734206"/>
            <a:ext cx="11752743" cy="4162097"/>
          </a:xfrm>
          <a:prstGeom prst="rect">
            <a:avLst/>
          </a:prstGeom>
        </p:spPr>
      </p:pic>
      <p:sp>
        <p:nvSpPr>
          <p:cNvPr id="7" name="TextBox 6">
            <a:extLst>
              <a:ext uri="{FF2B5EF4-FFF2-40B4-BE49-F238E27FC236}">
                <a16:creationId xmlns:a16="http://schemas.microsoft.com/office/drawing/2014/main" id="{B7C363FF-7E12-1312-6CE4-873078F5D32A}"/>
              </a:ext>
            </a:extLst>
          </p:cNvPr>
          <p:cNvSpPr txBox="1"/>
          <p:nvPr/>
        </p:nvSpPr>
        <p:spPr>
          <a:xfrm>
            <a:off x="4824248" y="6416566"/>
            <a:ext cx="7367751"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Tree>
    <p:extLst>
      <p:ext uri="{BB962C8B-B14F-4D97-AF65-F5344CB8AC3E}">
        <p14:creationId xmlns:p14="http://schemas.microsoft.com/office/powerpoint/2010/main" val="1762107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1CA475-5C1E-2EDB-4FBA-35C357070258}"/>
              </a:ext>
            </a:extLst>
          </p:cNvPr>
          <p:cNvPicPr>
            <a:picLocks noChangeAspect="1"/>
          </p:cNvPicPr>
          <p:nvPr/>
        </p:nvPicPr>
        <p:blipFill rotWithShape="1">
          <a:blip r:embed="rId3">
            <a:extLst>
              <a:ext uri="{28A0092B-C50C-407E-A947-70E740481C1C}">
                <a14:useLocalDpi xmlns:a14="http://schemas.microsoft.com/office/drawing/2010/main" val="0"/>
              </a:ext>
            </a:extLst>
          </a:blip>
          <a:srcRect l="2529" r="2525" b="9571"/>
          <a:stretch/>
        </p:blipFill>
        <p:spPr>
          <a:xfrm>
            <a:off x="441572" y="1371600"/>
            <a:ext cx="11276849" cy="5155324"/>
          </a:xfrm>
          <a:prstGeom prst="rect">
            <a:avLst/>
          </a:prstGeom>
        </p:spPr>
      </p:pic>
      <p:sp>
        <p:nvSpPr>
          <p:cNvPr id="3" name="Title 1">
            <a:extLst>
              <a:ext uri="{FF2B5EF4-FFF2-40B4-BE49-F238E27FC236}">
                <a16:creationId xmlns:a16="http://schemas.microsoft.com/office/drawing/2014/main" id="{F924D006-BE8E-4F49-3CB0-4D98492E280A}"/>
              </a:ext>
            </a:extLst>
          </p:cNvPr>
          <p:cNvSpPr txBox="1">
            <a:spLocks/>
          </p:cNvSpPr>
          <p:nvPr/>
        </p:nvSpPr>
        <p:spPr>
          <a:xfrm>
            <a:off x="488515" y="135080"/>
            <a:ext cx="10515600" cy="10630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mn-lt"/>
              </a:rPr>
              <a:t>IIS Web Server Architecture</a:t>
            </a:r>
          </a:p>
        </p:txBody>
      </p:sp>
      <p:sp>
        <p:nvSpPr>
          <p:cNvPr id="4" name="Rectangle 3">
            <a:extLst>
              <a:ext uri="{FF2B5EF4-FFF2-40B4-BE49-F238E27FC236}">
                <a16:creationId xmlns:a16="http://schemas.microsoft.com/office/drawing/2014/main" id="{529D172D-C182-B985-1F06-8D3F6F349AA7}"/>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FCFBE09-FF1C-F74C-3CFD-0428550B5E63}"/>
              </a:ext>
            </a:extLst>
          </p:cNvPr>
          <p:cNvSpPr txBox="1"/>
          <p:nvPr/>
        </p:nvSpPr>
        <p:spPr>
          <a:xfrm>
            <a:off x="4776951" y="6546948"/>
            <a:ext cx="7367751"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Tree>
    <p:extLst>
      <p:ext uri="{BB962C8B-B14F-4D97-AF65-F5344CB8AC3E}">
        <p14:creationId xmlns:p14="http://schemas.microsoft.com/office/powerpoint/2010/main" val="2657480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8515" y="135080"/>
            <a:ext cx="10515600" cy="1063098"/>
          </a:xfrm>
        </p:spPr>
        <p:txBody>
          <a:bodyPr anchor="ctr">
            <a:normAutofit/>
          </a:bodyPr>
          <a:lstStyle/>
          <a:p>
            <a:r>
              <a:rPr lang="en-US" sz="4000" dirty="0">
                <a:latin typeface="+mn-lt"/>
              </a:rPr>
              <a:t>Web Server Attack Goals</a:t>
            </a:r>
          </a:p>
        </p:txBody>
      </p:sp>
      <p:graphicFrame>
        <p:nvGraphicFramePr>
          <p:cNvPr id="5" name="Content Placeholder 2">
            <a:extLst>
              <a:ext uri="{FF2B5EF4-FFF2-40B4-BE49-F238E27FC236}">
                <a16:creationId xmlns:a16="http://schemas.microsoft.com/office/drawing/2014/main" id="{A1580FF7-2645-FEC9-D097-87FE09E2F859}"/>
              </a:ext>
            </a:extLst>
          </p:cNvPr>
          <p:cNvGraphicFramePr>
            <a:graphicFrameLocks noGrp="1"/>
          </p:cNvGraphicFramePr>
          <p:nvPr>
            <p:ph idx="4294967295"/>
            <p:extLst>
              <p:ext uri="{D42A27DB-BD31-4B8C-83A1-F6EECF244321}">
                <p14:modId xmlns:p14="http://schemas.microsoft.com/office/powerpoint/2010/main" val="132608162"/>
              </p:ext>
            </p:extLst>
          </p:nvPr>
        </p:nvGraphicFramePr>
        <p:xfrm>
          <a:off x="599090" y="1418897"/>
          <a:ext cx="11020095" cy="5304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367F8D51-74D4-F53F-6663-2ECAB2C37912}"/>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317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6386" y="135080"/>
            <a:ext cx="10515600" cy="1063100"/>
          </a:xfrm>
        </p:spPr>
        <p:txBody>
          <a:bodyPr>
            <a:normAutofit/>
          </a:bodyPr>
          <a:lstStyle/>
          <a:p>
            <a:r>
              <a:rPr lang="en-US">
                <a:latin typeface="+mn-lt"/>
              </a:rPr>
              <a:t>Web Server Attack Impact</a:t>
            </a:r>
            <a:endParaRPr lang="en-US" dirty="0">
              <a:latin typeface="+mn-lt"/>
            </a:endParaRPr>
          </a:p>
        </p:txBody>
      </p:sp>
      <p:graphicFrame>
        <p:nvGraphicFramePr>
          <p:cNvPr id="11" name="Content Placeholder 2">
            <a:extLst>
              <a:ext uri="{FF2B5EF4-FFF2-40B4-BE49-F238E27FC236}">
                <a16:creationId xmlns:a16="http://schemas.microsoft.com/office/drawing/2014/main" id="{919E950E-C70E-995D-6D71-F7F3C25DD555}"/>
              </a:ext>
            </a:extLst>
          </p:cNvPr>
          <p:cNvGraphicFramePr>
            <a:graphicFrameLocks noGrp="1"/>
          </p:cNvGraphicFramePr>
          <p:nvPr>
            <p:ph idx="4294967295"/>
            <p:extLst>
              <p:ext uri="{D42A27DB-BD31-4B8C-83A1-F6EECF244321}">
                <p14:modId xmlns:p14="http://schemas.microsoft.com/office/powerpoint/2010/main" val="3892795274"/>
              </p:ext>
            </p:extLst>
          </p:nvPr>
        </p:nvGraphicFramePr>
        <p:xfrm>
          <a:off x="546538" y="1504534"/>
          <a:ext cx="11098924" cy="52183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4A5C9145-F41D-17CF-1B38-9B8769C8253A}"/>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6412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30621" y="231911"/>
            <a:ext cx="4683125" cy="869435"/>
          </a:xfrm>
        </p:spPr>
        <p:txBody>
          <a:bodyPr vert="horz" lIns="91440" tIns="45720" rIns="91440" bIns="45720" rtlCol="0" anchor="ctr">
            <a:normAutofit/>
          </a:bodyPr>
          <a:lstStyle/>
          <a:p>
            <a:r>
              <a:rPr lang="en-US" dirty="0"/>
              <a:t>Web Server Attacks</a:t>
            </a:r>
          </a:p>
        </p:txBody>
      </p:sp>
      <p:graphicFrame>
        <p:nvGraphicFramePr>
          <p:cNvPr id="9" name="Content Placeholder 3">
            <a:extLst>
              <a:ext uri="{FF2B5EF4-FFF2-40B4-BE49-F238E27FC236}">
                <a16:creationId xmlns:a16="http://schemas.microsoft.com/office/drawing/2014/main" id="{10A8E20C-80D5-2973-F83E-8B6D08E35C6C}"/>
              </a:ext>
            </a:extLst>
          </p:cNvPr>
          <p:cNvGraphicFramePr>
            <a:graphicFrameLocks noGrp="1"/>
          </p:cNvGraphicFramePr>
          <p:nvPr>
            <p:ph sz="half" idx="4294967295"/>
            <p:extLst>
              <p:ext uri="{D42A27DB-BD31-4B8C-83A1-F6EECF244321}">
                <p14:modId xmlns:p14="http://schemas.microsoft.com/office/powerpoint/2010/main" val="3797909572"/>
              </p:ext>
            </p:extLst>
          </p:nvPr>
        </p:nvGraphicFramePr>
        <p:xfrm>
          <a:off x="6117021" y="1101347"/>
          <a:ext cx="5596760" cy="51082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descr="Cosa sono gli attacchi Brute Force per scovare password e ..."/>
          <p:cNvPicPr>
            <a:picLocks noChangeAspect="1"/>
          </p:cNvPicPr>
          <p:nvPr/>
        </p:nvPicPr>
        <p:blipFill rotWithShape="1">
          <a:blip r:embed="rId8">
            <a:extLst>
              <a:ext uri="{28A0092B-C50C-407E-A947-70E740481C1C}">
                <a14:useLocalDpi xmlns:a14="http://schemas.microsoft.com/office/drawing/2010/main" val="0"/>
              </a:ext>
            </a:extLst>
          </a:blip>
          <a:srcRect b="13137"/>
          <a:stretch/>
        </p:blipFill>
        <p:spPr>
          <a:xfrm>
            <a:off x="1" y="3206548"/>
            <a:ext cx="6096000" cy="3651453"/>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Rectangle 2">
            <a:extLst>
              <a:ext uri="{FF2B5EF4-FFF2-40B4-BE49-F238E27FC236}">
                <a16:creationId xmlns:a16="http://schemas.microsoft.com/office/drawing/2014/main" id="{88AA1B0B-F25B-3CE0-AB6D-F21B247EA03B}"/>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153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8A1AC04A-4709-5526-3D42-FEC62BB16C45}"/>
              </a:ext>
            </a:extLst>
          </p:cNvPr>
          <p:cNvSpPr/>
          <p:nvPr/>
        </p:nvSpPr>
        <p:spPr>
          <a:xfrm>
            <a:off x="5259438" y="301481"/>
            <a:ext cx="6754763" cy="6512277"/>
          </a:xfrm>
          <a:custGeom>
            <a:avLst/>
            <a:gdLst>
              <a:gd name="connsiteX0" fmla="*/ 0 w 6351093"/>
              <a:gd name="connsiteY0" fmla="*/ 3028146 h 6056291"/>
              <a:gd name="connsiteX1" fmla="*/ 3175547 w 6351093"/>
              <a:gd name="connsiteY1" fmla="*/ 0 h 6056291"/>
              <a:gd name="connsiteX2" fmla="*/ 6351094 w 6351093"/>
              <a:gd name="connsiteY2" fmla="*/ 3028146 h 6056291"/>
              <a:gd name="connsiteX3" fmla="*/ 3175547 w 6351093"/>
              <a:gd name="connsiteY3" fmla="*/ 6056292 h 6056291"/>
              <a:gd name="connsiteX4" fmla="*/ 0 w 6351093"/>
              <a:gd name="connsiteY4" fmla="*/ 3028146 h 6056291"/>
              <a:gd name="connsiteX0" fmla="*/ 38 w 6351132"/>
              <a:gd name="connsiteY0" fmla="*/ 2837646 h 5865792"/>
              <a:gd name="connsiteX1" fmla="*/ 3124785 w 6351132"/>
              <a:gd name="connsiteY1" fmla="*/ 0 h 5865792"/>
              <a:gd name="connsiteX2" fmla="*/ 6351132 w 6351132"/>
              <a:gd name="connsiteY2" fmla="*/ 2837646 h 5865792"/>
              <a:gd name="connsiteX3" fmla="*/ 3175585 w 6351132"/>
              <a:gd name="connsiteY3" fmla="*/ 5865792 h 5865792"/>
              <a:gd name="connsiteX4" fmla="*/ 38 w 6351132"/>
              <a:gd name="connsiteY4" fmla="*/ 2837646 h 5865792"/>
              <a:gd name="connsiteX0" fmla="*/ 8871 w 6359965"/>
              <a:gd name="connsiteY0" fmla="*/ 2837646 h 6056292"/>
              <a:gd name="connsiteX1" fmla="*/ 3133618 w 6359965"/>
              <a:gd name="connsiteY1" fmla="*/ 0 h 6056292"/>
              <a:gd name="connsiteX2" fmla="*/ 6359965 w 6359965"/>
              <a:gd name="connsiteY2" fmla="*/ 2837646 h 6056292"/>
              <a:gd name="connsiteX3" fmla="*/ 2498618 w 6359965"/>
              <a:gd name="connsiteY3" fmla="*/ 6056292 h 6056292"/>
              <a:gd name="connsiteX4" fmla="*/ 8871 w 6359965"/>
              <a:gd name="connsiteY4" fmla="*/ 2837646 h 6056292"/>
              <a:gd name="connsiteX0" fmla="*/ 4316 w 6749110"/>
              <a:gd name="connsiteY0" fmla="*/ 2446027 h 6060310"/>
              <a:gd name="connsiteX1" fmla="*/ 3522763 w 6749110"/>
              <a:gd name="connsiteY1" fmla="*/ 2081 h 6060310"/>
              <a:gd name="connsiteX2" fmla="*/ 6749110 w 6749110"/>
              <a:gd name="connsiteY2" fmla="*/ 2839727 h 6060310"/>
              <a:gd name="connsiteX3" fmla="*/ 2887763 w 6749110"/>
              <a:gd name="connsiteY3" fmla="*/ 6058373 h 6060310"/>
              <a:gd name="connsiteX4" fmla="*/ 4316 w 6749110"/>
              <a:gd name="connsiteY4" fmla="*/ 2446027 h 6060310"/>
              <a:gd name="connsiteX0" fmla="*/ 1317 w 6746111"/>
              <a:gd name="connsiteY0" fmla="*/ 2420657 h 6034940"/>
              <a:gd name="connsiteX1" fmla="*/ 3227664 w 6746111"/>
              <a:gd name="connsiteY1" fmla="*/ 2111 h 6034940"/>
              <a:gd name="connsiteX2" fmla="*/ 6746111 w 6746111"/>
              <a:gd name="connsiteY2" fmla="*/ 2814357 h 6034940"/>
              <a:gd name="connsiteX3" fmla="*/ 2884764 w 6746111"/>
              <a:gd name="connsiteY3" fmla="*/ 6033003 h 6034940"/>
              <a:gd name="connsiteX4" fmla="*/ 1317 w 6746111"/>
              <a:gd name="connsiteY4" fmla="*/ 2420657 h 6034940"/>
              <a:gd name="connsiteX0" fmla="*/ 663 w 6745457"/>
              <a:gd name="connsiteY0" fmla="*/ 2369917 h 5984200"/>
              <a:gd name="connsiteX1" fmla="*/ 3125410 w 6745457"/>
              <a:gd name="connsiteY1" fmla="*/ 2171 h 5984200"/>
              <a:gd name="connsiteX2" fmla="*/ 6745457 w 6745457"/>
              <a:gd name="connsiteY2" fmla="*/ 2763617 h 5984200"/>
              <a:gd name="connsiteX3" fmla="*/ 2884110 w 6745457"/>
              <a:gd name="connsiteY3" fmla="*/ 5982263 h 5984200"/>
              <a:gd name="connsiteX4" fmla="*/ 663 w 6745457"/>
              <a:gd name="connsiteY4" fmla="*/ 2369917 h 5984200"/>
              <a:gd name="connsiteX0" fmla="*/ 663 w 6745457"/>
              <a:gd name="connsiteY0" fmla="*/ 2424564 h 6038847"/>
              <a:gd name="connsiteX1" fmla="*/ 3125410 w 6745457"/>
              <a:gd name="connsiteY1" fmla="*/ 56818 h 6038847"/>
              <a:gd name="connsiteX2" fmla="*/ 6745457 w 6745457"/>
              <a:gd name="connsiteY2" fmla="*/ 2818264 h 6038847"/>
              <a:gd name="connsiteX3" fmla="*/ 2884110 w 6745457"/>
              <a:gd name="connsiteY3" fmla="*/ 6036910 h 6038847"/>
              <a:gd name="connsiteX4" fmla="*/ 663 w 6745457"/>
              <a:gd name="connsiteY4" fmla="*/ 2424564 h 6038847"/>
              <a:gd name="connsiteX0" fmla="*/ 9969 w 6754763"/>
              <a:gd name="connsiteY0" fmla="*/ 2897994 h 6512277"/>
              <a:gd name="connsiteX1" fmla="*/ 3884016 w 6754763"/>
              <a:gd name="connsiteY1" fmla="*/ 47648 h 6512277"/>
              <a:gd name="connsiteX2" fmla="*/ 6754763 w 6754763"/>
              <a:gd name="connsiteY2" fmla="*/ 3291694 h 6512277"/>
              <a:gd name="connsiteX3" fmla="*/ 2893416 w 6754763"/>
              <a:gd name="connsiteY3" fmla="*/ 6510340 h 6512277"/>
              <a:gd name="connsiteX4" fmla="*/ 9969 w 6754763"/>
              <a:gd name="connsiteY4" fmla="*/ 2897994 h 6512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4763" h="6512277">
                <a:moveTo>
                  <a:pt x="9969" y="2897994"/>
                </a:moveTo>
                <a:cubicBezTo>
                  <a:pt x="175069" y="1820879"/>
                  <a:pt x="3356784" y="-348169"/>
                  <a:pt x="3884016" y="47648"/>
                </a:cubicBezTo>
                <a:cubicBezTo>
                  <a:pt x="4411248" y="443465"/>
                  <a:pt x="6754763" y="1619295"/>
                  <a:pt x="6754763" y="3291694"/>
                </a:cubicBezTo>
                <a:cubicBezTo>
                  <a:pt x="6754763" y="4964093"/>
                  <a:pt x="4017548" y="6575957"/>
                  <a:pt x="2893416" y="6510340"/>
                </a:cubicBezTo>
                <a:cubicBezTo>
                  <a:pt x="1769284" y="6444723"/>
                  <a:pt x="-155131" y="3975109"/>
                  <a:pt x="9969" y="2897994"/>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omputer and server room&#10;&#10;Description automatically generated with medium confidence">
            <a:extLst>
              <a:ext uri="{FF2B5EF4-FFF2-40B4-BE49-F238E27FC236}">
                <a16:creationId xmlns:a16="http://schemas.microsoft.com/office/drawing/2014/main" id="{8114F2A4-BEF0-D700-555D-8F8DF4AA2601}"/>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PaintBrush/>
                    </a14:imgEffect>
                    <a14:imgEffect>
                      <a14:sharpenSoften amount="50000"/>
                    </a14:imgEffect>
                  </a14:imgLayer>
                </a14:imgProps>
              </a:ext>
              <a:ext uri="{28A0092B-C50C-407E-A947-70E740481C1C}">
                <a14:useLocalDpi xmlns:a14="http://schemas.microsoft.com/office/drawing/2010/main" val="0"/>
              </a:ext>
            </a:extLst>
          </a:blip>
          <a:srcRect l="1184" t="6951" r="39921" b="422"/>
          <a:stretch/>
        </p:blipFill>
        <p:spPr>
          <a:xfrm flipH="1">
            <a:off x="5529614" y="565029"/>
            <a:ext cx="6173871" cy="6056291"/>
          </a:xfrm>
          <a:prstGeom prst="ellipse">
            <a:avLst/>
          </a:prstGeom>
          <a:effectLst>
            <a:softEdge rad="12700"/>
          </a:effectLst>
        </p:spPr>
      </p:pic>
      <p:sp>
        <p:nvSpPr>
          <p:cNvPr id="2" name="Title 1"/>
          <p:cNvSpPr>
            <a:spLocks noGrp="1"/>
          </p:cNvSpPr>
          <p:nvPr>
            <p:ph type="title" idx="4294967295"/>
          </p:nvPr>
        </p:nvSpPr>
        <p:spPr>
          <a:xfrm>
            <a:off x="488515" y="44242"/>
            <a:ext cx="6317347" cy="1403350"/>
          </a:xfrm>
        </p:spPr>
        <p:txBody>
          <a:bodyPr vert="horz" lIns="91440" tIns="45720" rIns="91440" bIns="45720" rtlCol="0" anchor="ctr">
            <a:normAutofit/>
          </a:bodyPr>
          <a:lstStyle/>
          <a:p>
            <a:r>
              <a:rPr lang="en-US" sz="4000" dirty="0"/>
              <a:t>Web Server Attacks (Cont’d)</a:t>
            </a:r>
          </a:p>
        </p:txBody>
      </p:sp>
      <p:sp>
        <p:nvSpPr>
          <p:cNvPr id="5" name="Content Placeholder 4"/>
          <p:cNvSpPr>
            <a:spLocks noGrp="1"/>
          </p:cNvSpPr>
          <p:nvPr>
            <p:ph sz="half" idx="4294967295"/>
          </p:nvPr>
        </p:nvSpPr>
        <p:spPr>
          <a:xfrm>
            <a:off x="464479" y="1803400"/>
            <a:ext cx="4484243" cy="4014787"/>
          </a:xfrm>
        </p:spPr>
        <p:txBody>
          <a:bodyPr vert="horz" lIns="91440" tIns="45720" rIns="91440" bIns="45720" rtlCol="0" anchor="ctr">
            <a:normAutofit/>
          </a:bodyPr>
          <a:lstStyle/>
          <a:p>
            <a:pPr marL="333756" indent="-342900">
              <a:spcBef>
                <a:spcPts val="0"/>
              </a:spcBef>
              <a:spcAft>
                <a:spcPts val="1800"/>
              </a:spcAft>
              <a:buClr>
                <a:srgbClr val="477FA5"/>
              </a:buClr>
              <a:buSzPct val="125000"/>
              <a:buFont typeface="Wingdings" pitchFamily="2" charset="2"/>
              <a:buChar char="§"/>
            </a:pPr>
            <a:r>
              <a:rPr lang="en-US" sz="2000" spc="190" dirty="0"/>
              <a:t>HTTP Response-Splitting</a:t>
            </a:r>
          </a:p>
          <a:p>
            <a:pPr marL="333756" indent="-342900">
              <a:spcBef>
                <a:spcPts val="0"/>
              </a:spcBef>
              <a:spcAft>
                <a:spcPts val="1800"/>
              </a:spcAft>
              <a:buClr>
                <a:srgbClr val="477FA5"/>
              </a:buClr>
              <a:buSzPct val="125000"/>
              <a:buFont typeface="Wingdings" pitchFamily="2" charset="2"/>
              <a:buChar char="§"/>
            </a:pPr>
            <a:r>
              <a:rPr lang="en-US" sz="2000" spc="190" dirty="0"/>
              <a:t>Web Cache Poisoning</a:t>
            </a:r>
          </a:p>
          <a:p>
            <a:pPr marL="333756" indent="-342900">
              <a:spcBef>
                <a:spcPts val="0"/>
              </a:spcBef>
              <a:spcAft>
                <a:spcPts val="1800"/>
              </a:spcAft>
              <a:buClr>
                <a:srgbClr val="477FA5"/>
              </a:buClr>
              <a:buSzPct val="125000"/>
              <a:buFont typeface="Wingdings" pitchFamily="2" charset="2"/>
              <a:buChar char="§"/>
            </a:pPr>
            <a:r>
              <a:rPr lang="en-US" sz="2000" spc="190" dirty="0"/>
              <a:t>SSH Brute Force</a:t>
            </a:r>
          </a:p>
          <a:p>
            <a:pPr marL="333756" indent="-342900">
              <a:spcBef>
                <a:spcPts val="0"/>
              </a:spcBef>
              <a:spcAft>
                <a:spcPts val="1800"/>
              </a:spcAft>
              <a:buClr>
                <a:srgbClr val="477FA5"/>
              </a:buClr>
              <a:buSzPct val="125000"/>
              <a:buFont typeface="Wingdings" pitchFamily="2" charset="2"/>
              <a:buChar char="§"/>
            </a:pPr>
            <a:r>
              <a:rPr lang="en-US" sz="2000" spc="190" dirty="0"/>
              <a:t>Web Server Password Cracking</a:t>
            </a:r>
          </a:p>
          <a:p>
            <a:pPr marL="333756" indent="-342900">
              <a:spcBef>
                <a:spcPts val="0"/>
              </a:spcBef>
              <a:spcAft>
                <a:spcPts val="1800"/>
              </a:spcAft>
              <a:buClr>
                <a:srgbClr val="477FA5"/>
              </a:buClr>
              <a:buSzPct val="125000"/>
              <a:buFont typeface="Wingdings" pitchFamily="2" charset="2"/>
              <a:buChar char="§"/>
            </a:pPr>
            <a:r>
              <a:rPr lang="en-US" sz="2000" spc="190" dirty="0"/>
              <a:t>Server-Side Request Forgery (SSRF)</a:t>
            </a:r>
          </a:p>
          <a:p>
            <a:pPr marL="333756" indent="-342900">
              <a:spcBef>
                <a:spcPts val="0"/>
              </a:spcBef>
              <a:spcAft>
                <a:spcPts val="1800"/>
              </a:spcAft>
              <a:buClr>
                <a:srgbClr val="477FA5"/>
              </a:buClr>
              <a:buSzPct val="125000"/>
              <a:buFont typeface="Wingdings" pitchFamily="2" charset="2"/>
              <a:buChar char="§"/>
            </a:pPr>
            <a:r>
              <a:rPr lang="en-US" sz="2000" spc="190" dirty="0"/>
              <a:t>Web Application Attacks</a:t>
            </a:r>
          </a:p>
        </p:txBody>
      </p:sp>
      <p:sp>
        <p:nvSpPr>
          <p:cNvPr id="3" name="Rectangle 2">
            <a:extLst>
              <a:ext uri="{FF2B5EF4-FFF2-40B4-BE49-F238E27FC236}">
                <a16:creationId xmlns:a16="http://schemas.microsoft.com/office/drawing/2014/main" id="{48B48BDC-0F6B-5E2F-582E-17686607D032}"/>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8131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1013" y="3799851"/>
            <a:ext cx="3544887" cy="2452687"/>
          </a:xfrm>
        </p:spPr>
        <p:txBody>
          <a:bodyPr vert="horz" lIns="91440" tIns="45720" rIns="91440" bIns="45720" rtlCol="0" anchor="ctr">
            <a:normAutofit/>
          </a:bodyPr>
          <a:lstStyle/>
          <a:p>
            <a:r>
              <a:rPr lang="en-US" sz="4000" dirty="0">
                <a:latin typeface="+mn-lt"/>
              </a:rPr>
              <a:t>Web Server Attack Methodology</a:t>
            </a:r>
          </a:p>
        </p:txBody>
      </p:sp>
      <p:pic>
        <p:nvPicPr>
          <p:cNvPr id="5" name="Picture 4" descr="Electronic circuit board">
            <a:extLst>
              <a:ext uri="{FF2B5EF4-FFF2-40B4-BE49-F238E27FC236}">
                <a16:creationId xmlns:a16="http://schemas.microsoft.com/office/drawing/2014/main" id="{D19B6E7A-906C-E0AA-2DCE-B9E347C423D5}"/>
              </a:ext>
            </a:extLst>
          </p:cNvPr>
          <p:cNvPicPr>
            <a:picLocks noChangeAspect="1"/>
          </p:cNvPicPr>
          <p:nvPr/>
        </p:nvPicPr>
        <p:blipFill rotWithShape="1">
          <a:blip r:embed="rId3"/>
          <a:srcRect t="52307" b="10115"/>
          <a:stretch/>
        </p:blipFill>
        <p:spPr>
          <a:xfrm>
            <a:off x="20" y="0"/>
            <a:ext cx="12191980" cy="3058150"/>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p:cNvSpPr>
            <a:spLocks noGrp="1"/>
          </p:cNvSpPr>
          <p:nvPr>
            <p:ph idx="4294967295"/>
          </p:nvPr>
        </p:nvSpPr>
        <p:spPr>
          <a:xfrm>
            <a:off x="3733800" y="3429000"/>
            <a:ext cx="8193087" cy="2950200"/>
          </a:xfrm>
        </p:spPr>
        <p:txBody>
          <a:bodyPr vert="horz" lIns="91440" tIns="45720" rIns="91440" bIns="45720" rtlCol="0" anchor="ctr">
            <a:normAutofit fontScale="92500" lnSpcReduction="20000"/>
          </a:bodyPr>
          <a:lstStyle/>
          <a:p>
            <a:pPr marL="320040" indent="-320040">
              <a:spcBef>
                <a:spcPts val="0"/>
              </a:spcBef>
              <a:spcAft>
                <a:spcPts val="1800"/>
              </a:spcAft>
              <a:buClr>
                <a:srgbClr val="477FA5"/>
              </a:buClr>
              <a:buSzPct val="105000"/>
              <a:buFont typeface="System Font Regular"/>
              <a:buChar char="❍"/>
            </a:pPr>
            <a:r>
              <a:rPr lang="en-US" sz="2000" spc="150" dirty="0"/>
              <a:t>Information Gathering (ex: </a:t>
            </a:r>
            <a:r>
              <a:rPr lang="en-US" sz="2000" spc="150" dirty="0" err="1"/>
              <a:t>Whois</a:t>
            </a:r>
            <a:r>
              <a:rPr lang="en-US" sz="2000" spc="150" dirty="0"/>
              <a:t>, </a:t>
            </a:r>
            <a:r>
              <a:rPr lang="en-US" sz="2000" spc="150" dirty="0" err="1"/>
              <a:t>centralops.net</a:t>
            </a:r>
            <a:r>
              <a:rPr lang="en-US" sz="2000" spc="150" dirty="0"/>
              <a:t>) </a:t>
            </a:r>
          </a:p>
          <a:p>
            <a:pPr marL="320040" indent="-320040">
              <a:spcBef>
                <a:spcPts val="0"/>
              </a:spcBef>
              <a:spcAft>
                <a:spcPts val="1800"/>
              </a:spcAft>
              <a:buClr>
                <a:srgbClr val="477FA5"/>
              </a:buClr>
              <a:buSzPct val="105000"/>
              <a:buFont typeface="System Font Regular"/>
              <a:buChar char="❍"/>
            </a:pPr>
            <a:r>
              <a:rPr lang="en-US" sz="2000" spc="150" dirty="0"/>
              <a:t>Web Server Footprinting/Banner Grabbing (ex: </a:t>
            </a:r>
            <a:r>
              <a:rPr lang="en-US" sz="2000" spc="150" dirty="0" err="1"/>
              <a:t>Netcraft</a:t>
            </a:r>
            <a:r>
              <a:rPr lang="en-US" sz="2000" spc="150" dirty="0"/>
              <a:t>, </a:t>
            </a:r>
            <a:r>
              <a:rPr lang="en-US" sz="2000" spc="150" dirty="0" err="1"/>
              <a:t>Netcat</a:t>
            </a:r>
            <a:r>
              <a:rPr lang="en-US" sz="2000" spc="150" dirty="0"/>
              <a:t>, </a:t>
            </a:r>
            <a:r>
              <a:rPr lang="en-US" sz="2000" spc="150" dirty="0" err="1"/>
              <a:t>httprecon</a:t>
            </a:r>
            <a:r>
              <a:rPr lang="en-US" sz="2000" spc="150" dirty="0"/>
              <a:t>) </a:t>
            </a:r>
          </a:p>
          <a:p>
            <a:pPr marL="320040" indent="-320040">
              <a:spcBef>
                <a:spcPts val="0"/>
              </a:spcBef>
              <a:spcAft>
                <a:spcPts val="1800"/>
              </a:spcAft>
              <a:buClr>
                <a:srgbClr val="477FA5"/>
              </a:buClr>
              <a:buSzPct val="105000"/>
              <a:buFont typeface="System Font Regular"/>
              <a:buChar char="❍"/>
            </a:pPr>
            <a:r>
              <a:rPr lang="en-US" sz="2000" spc="150" dirty="0"/>
              <a:t>Website Mirroring (ex: </a:t>
            </a:r>
            <a:r>
              <a:rPr lang="en-US" sz="2000" spc="150" dirty="0" err="1"/>
              <a:t>NCollector</a:t>
            </a:r>
            <a:r>
              <a:rPr lang="en-US" sz="2000" spc="150" dirty="0"/>
              <a:t> Studio, </a:t>
            </a:r>
            <a:r>
              <a:rPr lang="en-US" sz="2000" spc="150" dirty="0" err="1"/>
              <a:t>HTTrack</a:t>
            </a:r>
            <a:r>
              <a:rPr lang="en-US" sz="2000" spc="150" dirty="0"/>
              <a:t>)</a:t>
            </a:r>
          </a:p>
          <a:p>
            <a:pPr marL="320040" indent="-320040">
              <a:spcBef>
                <a:spcPts val="0"/>
              </a:spcBef>
              <a:spcAft>
                <a:spcPts val="1800"/>
              </a:spcAft>
              <a:buClr>
                <a:srgbClr val="477FA5"/>
              </a:buClr>
              <a:buSzPct val="105000"/>
              <a:buFont typeface="System Font Regular"/>
              <a:buChar char="❍"/>
            </a:pPr>
            <a:r>
              <a:rPr lang="en-US" sz="2000" spc="150" dirty="0"/>
              <a:t>Vulnerability Scanning (ex: </a:t>
            </a:r>
            <a:r>
              <a:rPr lang="en-US" sz="2000" spc="150" dirty="0" err="1"/>
              <a:t>Netsparker</a:t>
            </a:r>
            <a:r>
              <a:rPr lang="en-US" sz="2000" spc="150" dirty="0"/>
              <a:t>, Fortify </a:t>
            </a:r>
            <a:r>
              <a:rPr lang="en-US" sz="2000" spc="150" dirty="0" err="1"/>
              <a:t>WebInspect</a:t>
            </a:r>
            <a:r>
              <a:rPr lang="en-US" sz="2000" spc="150" dirty="0"/>
              <a:t>)</a:t>
            </a:r>
          </a:p>
          <a:p>
            <a:pPr marL="320040" indent="-320040">
              <a:spcBef>
                <a:spcPts val="0"/>
              </a:spcBef>
              <a:spcAft>
                <a:spcPts val="1800"/>
              </a:spcAft>
              <a:buClr>
                <a:srgbClr val="477FA5"/>
              </a:buClr>
              <a:buSzPct val="105000"/>
              <a:buFont typeface="System Font Regular"/>
              <a:buChar char="❍"/>
            </a:pPr>
            <a:r>
              <a:rPr lang="en-US" sz="2000" spc="150" dirty="0"/>
              <a:t>Session Hijacking (ex: Burp Suite, Ettercap)</a:t>
            </a:r>
          </a:p>
          <a:p>
            <a:pPr marL="320040" indent="-320040">
              <a:spcBef>
                <a:spcPts val="0"/>
              </a:spcBef>
              <a:spcAft>
                <a:spcPts val="1800"/>
              </a:spcAft>
              <a:buClr>
                <a:srgbClr val="477FA5"/>
              </a:buClr>
              <a:buSzPct val="105000"/>
              <a:buFont typeface="System Font Regular"/>
              <a:buChar char="❍"/>
            </a:pPr>
            <a:r>
              <a:rPr lang="en-US" sz="2000" spc="150" dirty="0"/>
              <a:t>Web Server Passwords Hacking (ex: </a:t>
            </a:r>
            <a:r>
              <a:rPr lang="en-US" sz="2000" spc="150" dirty="0" err="1"/>
              <a:t>Hashcat</a:t>
            </a:r>
            <a:r>
              <a:rPr lang="en-US" sz="2000" spc="150" dirty="0"/>
              <a:t>, </a:t>
            </a:r>
            <a:r>
              <a:rPr lang="en-US" sz="2000" spc="150" dirty="0" err="1"/>
              <a:t>Ncrack</a:t>
            </a:r>
            <a:r>
              <a:rPr lang="en-US" sz="2000" spc="150" dirty="0"/>
              <a:t>, Rainbow crack )</a:t>
            </a:r>
          </a:p>
        </p:txBody>
      </p:sp>
      <p:sp>
        <p:nvSpPr>
          <p:cNvPr id="4" name="Rectangle 3">
            <a:extLst>
              <a:ext uri="{FF2B5EF4-FFF2-40B4-BE49-F238E27FC236}">
                <a16:creationId xmlns:a16="http://schemas.microsoft.com/office/drawing/2014/main" id="{6214F8F4-E666-F3D7-C0C3-9FA4CAA89C04}"/>
              </a:ext>
            </a:extLst>
          </p:cNvPr>
          <p:cNvSpPr/>
          <p:nvPr/>
        </p:nvSpPr>
        <p:spPr>
          <a:xfrm>
            <a:off x="-7502" y="4122880"/>
            <a:ext cx="488515" cy="1795320"/>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8551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2618" y="144036"/>
            <a:ext cx="10926761" cy="1063099"/>
          </a:xfrm>
        </p:spPr>
        <p:txBody>
          <a:bodyPr anchor="ctr">
            <a:normAutofit/>
          </a:bodyPr>
          <a:lstStyle/>
          <a:p>
            <a:r>
              <a:rPr lang="en-US" sz="4000" dirty="0">
                <a:latin typeface="+mn-lt"/>
              </a:rPr>
              <a:t>Web Server Attack Countermeasures* </a:t>
            </a:r>
          </a:p>
        </p:txBody>
      </p:sp>
      <p:sp>
        <p:nvSpPr>
          <p:cNvPr id="3" name="Rectangle 2">
            <a:extLst>
              <a:ext uri="{FF2B5EF4-FFF2-40B4-BE49-F238E27FC236}">
                <a16:creationId xmlns:a16="http://schemas.microsoft.com/office/drawing/2014/main" id="{93DEA514-A263-B8D9-11B0-2955898DCB3F}"/>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BDA39AC-BC97-A6C2-92B2-3A115B4C253F}"/>
              </a:ext>
            </a:extLst>
          </p:cNvPr>
          <p:cNvSpPr/>
          <p:nvPr/>
        </p:nvSpPr>
        <p:spPr>
          <a:xfrm>
            <a:off x="518159" y="1380677"/>
            <a:ext cx="11155680" cy="548640"/>
          </a:xfrm>
          <a:prstGeom prst="rect">
            <a:avLst/>
          </a:prstGeom>
          <a:solidFill>
            <a:schemeClr val="bg1"/>
          </a:solidFill>
          <a:ln>
            <a:solidFill>
              <a:schemeClr val="accent5"/>
            </a:solidFill>
          </a:ln>
          <a:effectLst>
            <a:innerShdw blurRad="114300">
              <a:srgbClr val="477FA5"/>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Patch and update the server regularly </a:t>
            </a:r>
          </a:p>
        </p:txBody>
      </p:sp>
      <p:sp>
        <p:nvSpPr>
          <p:cNvPr id="6" name="Rectangle 5">
            <a:extLst>
              <a:ext uri="{FF2B5EF4-FFF2-40B4-BE49-F238E27FC236}">
                <a16:creationId xmlns:a16="http://schemas.microsoft.com/office/drawing/2014/main" id="{4700223E-4FA9-C10A-1E33-2941AB73016D}"/>
              </a:ext>
            </a:extLst>
          </p:cNvPr>
          <p:cNvSpPr/>
          <p:nvPr/>
        </p:nvSpPr>
        <p:spPr>
          <a:xfrm>
            <a:off x="518160" y="2056023"/>
            <a:ext cx="11155680" cy="548640"/>
          </a:xfrm>
          <a:prstGeom prst="rect">
            <a:avLst/>
          </a:prstGeom>
          <a:solidFill>
            <a:schemeClr val="bg1"/>
          </a:solidFill>
          <a:ln>
            <a:solidFill>
              <a:schemeClr val="accent5"/>
            </a:solidFill>
          </a:ln>
          <a:effectLst>
            <a:innerShdw blurRad="114300">
              <a:srgbClr val="30CEB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Update on an “as-needed” basis</a:t>
            </a:r>
          </a:p>
        </p:txBody>
      </p:sp>
      <p:sp>
        <p:nvSpPr>
          <p:cNvPr id="7" name="Rectangle 6">
            <a:extLst>
              <a:ext uri="{FF2B5EF4-FFF2-40B4-BE49-F238E27FC236}">
                <a16:creationId xmlns:a16="http://schemas.microsoft.com/office/drawing/2014/main" id="{643E3859-927C-4D87-2D67-BD0E179CD6D2}"/>
              </a:ext>
            </a:extLst>
          </p:cNvPr>
          <p:cNvSpPr/>
          <p:nvPr/>
        </p:nvSpPr>
        <p:spPr>
          <a:xfrm>
            <a:off x="518159" y="2731369"/>
            <a:ext cx="11155680" cy="548640"/>
          </a:xfrm>
          <a:prstGeom prst="rect">
            <a:avLst/>
          </a:prstGeom>
          <a:solidFill>
            <a:schemeClr val="bg1"/>
          </a:solidFill>
          <a:ln>
            <a:solidFill>
              <a:schemeClr val="accent5"/>
            </a:solidFill>
          </a:ln>
          <a:effectLst>
            <a:innerShdw blurRad="114300">
              <a:srgbClr val="27DD7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Test service packs and hotfixes prior to deployment in production</a:t>
            </a:r>
          </a:p>
        </p:txBody>
      </p:sp>
      <p:sp>
        <p:nvSpPr>
          <p:cNvPr id="8" name="Rectangle 7">
            <a:extLst>
              <a:ext uri="{FF2B5EF4-FFF2-40B4-BE49-F238E27FC236}">
                <a16:creationId xmlns:a16="http://schemas.microsoft.com/office/drawing/2014/main" id="{2F84F71E-6D6B-967B-432C-766901C7E42D}"/>
              </a:ext>
            </a:extLst>
          </p:cNvPr>
          <p:cNvSpPr/>
          <p:nvPr/>
        </p:nvSpPr>
        <p:spPr>
          <a:xfrm>
            <a:off x="518159" y="3406715"/>
            <a:ext cx="11155680" cy="548640"/>
          </a:xfrm>
          <a:prstGeom prst="rect">
            <a:avLst/>
          </a:prstGeom>
          <a:solidFill>
            <a:schemeClr val="bg1"/>
          </a:solidFill>
          <a:ln>
            <a:solidFill>
              <a:schemeClr val="accent5"/>
            </a:solidFill>
          </a:ln>
          <a:effectLst>
            <a:innerShdw blurRad="114300">
              <a:srgbClr val="FFC00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dirty="0">
                <a:solidFill>
                  <a:schemeClr val="tx1"/>
                </a:solidFill>
              </a:rPr>
              <a:t>Service packs, hotfixes, and security patch levels should be consistent on all domain controllers (DCs)</a:t>
            </a:r>
          </a:p>
        </p:txBody>
      </p:sp>
      <p:sp>
        <p:nvSpPr>
          <p:cNvPr id="10" name="Rectangle 9">
            <a:extLst>
              <a:ext uri="{FF2B5EF4-FFF2-40B4-BE49-F238E27FC236}">
                <a16:creationId xmlns:a16="http://schemas.microsoft.com/office/drawing/2014/main" id="{3C289968-A94A-2D96-6616-A0F3662BC317}"/>
              </a:ext>
            </a:extLst>
          </p:cNvPr>
          <p:cNvSpPr/>
          <p:nvPr/>
        </p:nvSpPr>
        <p:spPr>
          <a:xfrm>
            <a:off x="518159" y="4082061"/>
            <a:ext cx="11155680" cy="548640"/>
          </a:xfrm>
          <a:prstGeom prst="rect">
            <a:avLst/>
          </a:prstGeom>
          <a:solidFill>
            <a:schemeClr val="bg1"/>
          </a:solidFill>
          <a:ln>
            <a:solidFill>
              <a:schemeClr val="accent5"/>
            </a:solidFill>
          </a:ln>
          <a:effectLst>
            <a:innerShdw blurRad="114300">
              <a:srgbClr val="112986"/>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400" dirty="0">
                <a:solidFill>
                  <a:schemeClr val="tx1"/>
                </a:solidFill>
              </a:rPr>
              <a:t>Backup tapes and repair disks should be created</a:t>
            </a:r>
          </a:p>
        </p:txBody>
      </p:sp>
      <p:sp>
        <p:nvSpPr>
          <p:cNvPr id="12" name="Rectangle 11">
            <a:extLst>
              <a:ext uri="{FF2B5EF4-FFF2-40B4-BE49-F238E27FC236}">
                <a16:creationId xmlns:a16="http://schemas.microsoft.com/office/drawing/2014/main" id="{CC40276E-624B-9283-E1CE-0B729CD3DBFD}"/>
              </a:ext>
            </a:extLst>
          </p:cNvPr>
          <p:cNvSpPr/>
          <p:nvPr/>
        </p:nvSpPr>
        <p:spPr>
          <a:xfrm>
            <a:off x="518159" y="4757407"/>
            <a:ext cx="11155680" cy="548640"/>
          </a:xfrm>
          <a:prstGeom prst="rect">
            <a:avLst/>
          </a:prstGeom>
          <a:solidFill>
            <a:schemeClr val="bg1"/>
          </a:solidFill>
          <a:ln>
            <a:solidFill>
              <a:schemeClr val="accent5"/>
            </a:solidFill>
          </a:ln>
          <a:effectLst>
            <a:innerShdw blurRad="114300">
              <a:srgbClr val="D0F61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400" dirty="0">
                <a:solidFill>
                  <a:schemeClr val="tx1"/>
                </a:solidFill>
              </a:rPr>
              <a:t>Never trail by more than two service packs</a:t>
            </a:r>
          </a:p>
        </p:txBody>
      </p:sp>
      <p:sp>
        <p:nvSpPr>
          <p:cNvPr id="14" name="Rectangle 13">
            <a:extLst>
              <a:ext uri="{FF2B5EF4-FFF2-40B4-BE49-F238E27FC236}">
                <a16:creationId xmlns:a16="http://schemas.microsoft.com/office/drawing/2014/main" id="{C3DDC135-F240-1623-3403-1EB1189F7233}"/>
              </a:ext>
            </a:extLst>
          </p:cNvPr>
          <p:cNvSpPr/>
          <p:nvPr/>
        </p:nvSpPr>
        <p:spPr>
          <a:xfrm>
            <a:off x="518159" y="5432753"/>
            <a:ext cx="11155680" cy="548640"/>
          </a:xfrm>
          <a:prstGeom prst="rect">
            <a:avLst/>
          </a:prstGeom>
          <a:solidFill>
            <a:schemeClr val="bg1"/>
          </a:solidFill>
          <a:ln>
            <a:solidFill>
              <a:schemeClr val="accent5"/>
            </a:solidFill>
          </a:ln>
          <a:effectLst>
            <a:innerShdw blurRad="114300">
              <a:srgbClr val="30CEB0"/>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solidFill>
                  <a:schemeClr val="tx1"/>
                </a:solidFill>
              </a:rPr>
              <a:t>Disable all unused script extension mappings</a:t>
            </a:r>
          </a:p>
        </p:txBody>
      </p:sp>
      <p:sp>
        <p:nvSpPr>
          <p:cNvPr id="16" name="Rectangle 15">
            <a:extLst>
              <a:ext uri="{FF2B5EF4-FFF2-40B4-BE49-F238E27FC236}">
                <a16:creationId xmlns:a16="http://schemas.microsoft.com/office/drawing/2014/main" id="{818F20FB-EEF3-1520-EEEB-B2E5D674D328}"/>
              </a:ext>
            </a:extLst>
          </p:cNvPr>
          <p:cNvSpPr/>
          <p:nvPr/>
        </p:nvSpPr>
        <p:spPr>
          <a:xfrm>
            <a:off x="518159" y="6108098"/>
            <a:ext cx="11155680" cy="548640"/>
          </a:xfrm>
          <a:prstGeom prst="rect">
            <a:avLst/>
          </a:prstGeom>
          <a:solidFill>
            <a:schemeClr val="bg1"/>
          </a:solidFill>
          <a:ln>
            <a:solidFill>
              <a:schemeClr val="accent5"/>
            </a:solidFill>
          </a:ln>
          <a:effectLst>
            <a:innerShdw blurRad="114300">
              <a:srgbClr val="4372C4"/>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400" dirty="0">
                <a:solidFill>
                  <a:schemeClr val="tx1"/>
                </a:solidFill>
              </a:rPr>
              <a:t>Avoid using default configurations</a:t>
            </a:r>
          </a:p>
        </p:txBody>
      </p:sp>
    </p:spTree>
    <p:extLst>
      <p:ext uri="{BB962C8B-B14F-4D97-AF65-F5344CB8AC3E}">
        <p14:creationId xmlns:p14="http://schemas.microsoft.com/office/powerpoint/2010/main" val="2137496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515" y="135080"/>
            <a:ext cx="10515600" cy="1063099"/>
          </a:xfrm>
          <a:solidFill>
            <a:schemeClr val="bg1">
              <a:alpha val="60000"/>
            </a:schemeClr>
          </a:solidFill>
        </p:spPr>
        <p:txBody>
          <a:bodyPr>
            <a:normAutofit/>
          </a:bodyPr>
          <a:lstStyle/>
          <a:p>
            <a:r>
              <a:rPr lang="en-US" sz="4000" dirty="0">
                <a:latin typeface="+mn-lt"/>
              </a:rPr>
              <a:t>Web Server Attack Countermeasures (Cont’d)</a:t>
            </a:r>
          </a:p>
        </p:txBody>
      </p:sp>
      <p:graphicFrame>
        <p:nvGraphicFramePr>
          <p:cNvPr id="5" name="Content Placeholder 2">
            <a:extLst>
              <a:ext uri="{FF2B5EF4-FFF2-40B4-BE49-F238E27FC236}">
                <a16:creationId xmlns:a16="http://schemas.microsoft.com/office/drawing/2014/main" id="{32B73E5F-FCCB-8E86-5D99-A2811D59A9DD}"/>
              </a:ext>
            </a:extLst>
          </p:cNvPr>
          <p:cNvGraphicFramePr>
            <a:graphicFrameLocks noGrp="1"/>
          </p:cNvGraphicFramePr>
          <p:nvPr>
            <p:ph idx="4294967295"/>
            <p:extLst>
              <p:ext uri="{D42A27DB-BD31-4B8C-83A1-F6EECF244321}">
                <p14:modId xmlns:p14="http://schemas.microsoft.com/office/powerpoint/2010/main" val="131380809"/>
              </p:ext>
            </p:extLst>
          </p:nvPr>
        </p:nvGraphicFramePr>
        <p:xfrm>
          <a:off x="362607" y="1371600"/>
          <a:ext cx="11540360" cy="5351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9215AFB3-F16B-F1B1-9AFB-5A62D5121744}"/>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0992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3467" y="218571"/>
            <a:ext cx="10515600" cy="896116"/>
          </a:xfrm>
        </p:spPr>
        <p:txBody>
          <a:bodyPr vert="horz" lIns="91440" tIns="45720" rIns="91440" bIns="45720" rtlCol="0" anchor="ctr">
            <a:normAutofit/>
          </a:bodyPr>
          <a:lstStyle/>
          <a:p>
            <a:r>
              <a:rPr lang="en-US" sz="4000" kern="1200" dirty="0">
                <a:latin typeface="+mn-lt"/>
                <a:ea typeface="+mj-ea"/>
                <a:cs typeface="+mj-cs"/>
              </a:rPr>
              <a:t>Securing Web Servers</a:t>
            </a:r>
          </a:p>
        </p:txBody>
      </p:sp>
      <p:sp>
        <p:nvSpPr>
          <p:cNvPr id="3" name="Rectangle 2">
            <a:extLst>
              <a:ext uri="{FF2B5EF4-FFF2-40B4-BE49-F238E27FC236}">
                <a16:creationId xmlns:a16="http://schemas.microsoft.com/office/drawing/2014/main" id="{1A545FF6-07E7-FAB1-A89F-2E2CCFB24737}"/>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4E1B423-78D8-EA33-41A5-0C16E2629E2D}"/>
              </a:ext>
            </a:extLst>
          </p:cNvPr>
          <p:cNvSpPr txBox="1"/>
          <p:nvPr/>
        </p:nvSpPr>
        <p:spPr>
          <a:xfrm>
            <a:off x="4776951" y="6546948"/>
            <a:ext cx="7367751"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pic>
        <p:nvPicPr>
          <p:cNvPr id="7" name="Picture 6" descr="A diagram of a firewall&#10;&#10;Description automatically generated">
            <a:extLst>
              <a:ext uri="{FF2B5EF4-FFF2-40B4-BE49-F238E27FC236}">
                <a16:creationId xmlns:a16="http://schemas.microsoft.com/office/drawing/2014/main" id="{80B147BA-DA53-F90B-FFB1-2B9498E44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18" y="2000614"/>
            <a:ext cx="12161520" cy="3660407"/>
          </a:xfrm>
          <a:prstGeom prst="rect">
            <a:avLst/>
          </a:prstGeom>
        </p:spPr>
      </p:pic>
    </p:spTree>
    <p:extLst>
      <p:ext uri="{BB962C8B-B14F-4D97-AF65-F5344CB8AC3E}">
        <p14:creationId xmlns:p14="http://schemas.microsoft.com/office/powerpoint/2010/main" val="2906601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0545" y="135080"/>
            <a:ext cx="10515600" cy="1063099"/>
          </a:xfrm>
        </p:spPr>
        <p:txBody>
          <a:bodyPr vert="horz" lIns="91440" tIns="45720" rIns="91440" bIns="45720" rtlCol="0" anchor="ctr">
            <a:normAutofit/>
          </a:bodyPr>
          <a:lstStyle/>
          <a:p>
            <a:r>
              <a:rPr lang="en-US" sz="4000" kern="1200" dirty="0">
                <a:solidFill>
                  <a:schemeClr val="tx1"/>
                </a:solidFill>
                <a:latin typeface="+mn-lt"/>
                <a:ea typeface="+mj-ea"/>
                <a:cs typeface="+mj-cs"/>
              </a:rPr>
              <a:t>Web Application Security Tools</a:t>
            </a:r>
          </a:p>
        </p:txBody>
      </p:sp>
      <p:sp>
        <p:nvSpPr>
          <p:cNvPr id="3" name="TextBox 2">
            <a:extLst>
              <a:ext uri="{FF2B5EF4-FFF2-40B4-BE49-F238E27FC236}">
                <a16:creationId xmlns:a16="http://schemas.microsoft.com/office/drawing/2014/main" id="{74515589-FBEE-F25B-90B0-17544C2EA677}"/>
              </a:ext>
            </a:extLst>
          </p:cNvPr>
          <p:cNvSpPr txBox="1"/>
          <p:nvPr/>
        </p:nvSpPr>
        <p:spPr>
          <a:xfrm>
            <a:off x="4776951" y="6610012"/>
            <a:ext cx="7367751"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
        <p:nvSpPr>
          <p:cNvPr id="4" name="Rectangle 3">
            <a:extLst>
              <a:ext uri="{FF2B5EF4-FFF2-40B4-BE49-F238E27FC236}">
                <a16:creationId xmlns:a16="http://schemas.microsoft.com/office/drawing/2014/main" id="{E9B124E0-D1E6-DF7E-A490-87CC1E6838FE}"/>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Description automatically generated">
            <a:extLst>
              <a:ext uri="{FF2B5EF4-FFF2-40B4-BE49-F238E27FC236}">
                <a16:creationId xmlns:a16="http://schemas.microsoft.com/office/drawing/2014/main" id="{81D6AD1D-5EA0-C5EE-D6ED-D752066C8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6388" y="1294460"/>
            <a:ext cx="9403914" cy="5288697"/>
          </a:xfrm>
          <a:prstGeom prst="rect">
            <a:avLst/>
          </a:prstGeom>
        </p:spPr>
      </p:pic>
    </p:spTree>
    <p:extLst>
      <p:ext uri="{BB962C8B-B14F-4D97-AF65-F5344CB8AC3E}">
        <p14:creationId xmlns:p14="http://schemas.microsoft.com/office/powerpoint/2010/main" val="1693976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1717" y="135080"/>
            <a:ext cx="10515600" cy="1063100"/>
          </a:xfrm>
        </p:spPr>
        <p:txBody>
          <a:bodyPr vert="horz" lIns="91440" tIns="45720" rIns="91440" bIns="45720" rtlCol="0" anchor="ctr">
            <a:normAutofit/>
          </a:bodyPr>
          <a:lstStyle/>
          <a:p>
            <a:r>
              <a:rPr lang="en-US" sz="3600" kern="1200" dirty="0">
                <a:solidFill>
                  <a:schemeClr val="tx1"/>
                </a:solidFill>
                <a:latin typeface="+mn-lt"/>
                <a:ea typeface="+mj-ea"/>
                <a:cs typeface="+mj-cs"/>
              </a:rPr>
              <a:t>Web Security Tools</a:t>
            </a:r>
          </a:p>
        </p:txBody>
      </p:sp>
      <p:pic>
        <p:nvPicPr>
          <p:cNvPr id="5" name="Picture 4">
            <a:extLst>
              <a:ext uri="{FF2B5EF4-FFF2-40B4-BE49-F238E27FC236}">
                <a16:creationId xmlns:a16="http://schemas.microsoft.com/office/drawing/2014/main" id="{CE1CA475-5C1E-2EDB-4FBA-35C357070258}"/>
              </a:ext>
            </a:extLst>
          </p:cNvPr>
          <p:cNvPicPr>
            <a:picLocks noChangeAspect="1"/>
          </p:cNvPicPr>
          <p:nvPr/>
        </p:nvPicPr>
        <p:blipFill rotWithShape="1">
          <a:blip r:embed="rId3">
            <a:extLst>
              <a:ext uri="{28A0092B-C50C-407E-A947-70E740481C1C}">
                <a14:useLocalDpi xmlns:a14="http://schemas.microsoft.com/office/drawing/2010/main" val="0"/>
              </a:ext>
            </a:extLst>
          </a:blip>
          <a:srcRect t="5621" b="9776"/>
          <a:stretch/>
        </p:blipFill>
        <p:spPr>
          <a:xfrm>
            <a:off x="870884" y="1618095"/>
            <a:ext cx="9977265" cy="4508938"/>
          </a:xfrm>
          <a:prstGeom prst="rect">
            <a:avLst/>
          </a:prstGeom>
        </p:spPr>
      </p:pic>
      <p:sp>
        <p:nvSpPr>
          <p:cNvPr id="3" name="TextBox 2">
            <a:extLst>
              <a:ext uri="{FF2B5EF4-FFF2-40B4-BE49-F238E27FC236}">
                <a16:creationId xmlns:a16="http://schemas.microsoft.com/office/drawing/2014/main" id="{A2227FBD-658D-E39E-80C3-1176EDA1EF93}"/>
              </a:ext>
            </a:extLst>
          </p:cNvPr>
          <p:cNvSpPr txBox="1"/>
          <p:nvPr/>
        </p:nvSpPr>
        <p:spPr>
          <a:xfrm>
            <a:off x="4776951" y="6546948"/>
            <a:ext cx="7367751"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
        <p:nvSpPr>
          <p:cNvPr id="4" name="Rectangle 3">
            <a:extLst>
              <a:ext uri="{FF2B5EF4-FFF2-40B4-BE49-F238E27FC236}">
                <a16:creationId xmlns:a16="http://schemas.microsoft.com/office/drawing/2014/main" id="{80CEF631-6774-9997-DD3C-7B8A093ABD6F}"/>
              </a:ext>
            </a:extLst>
          </p:cNvPr>
          <p:cNvSpPr/>
          <p:nvPr/>
        </p:nvSpPr>
        <p:spPr>
          <a:xfrm>
            <a:off x="0" y="135080"/>
            <a:ext cx="488515" cy="1063099"/>
          </a:xfrm>
          <a:prstGeom prst="rect">
            <a:avLst/>
          </a:prstGeom>
          <a:solidFill>
            <a:srgbClr val="477FA5"/>
          </a:solidFill>
          <a:ln>
            <a:solidFill>
              <a:schemeClr val="bg1"/>
            </a:solid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7220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13B9B-347A-C3B7-A4A0-EC389A85F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A36F4-D5F6-D849-929A-1E3FA6BA8908}"/>
              </a:ext>
            </a:extLst>
          </p:cNvPr>
          <p:cNvSpPr>
            <a:spLocks noGrp="1"/>
          </p:cNvSpPr>
          <p:nvPr>
            <p:ph type="title"/>
          </p:nvPr>
        </p:nvSpPr>
        <p:spPr/>
        <p:txBody>
          <a:bodyPr/>
          <a:lstStyle/>
          <a:p>
            <a:r>
              <a:rPr lang="en-US" dirty="0"/>
              <a:t>CEHv13 Update – Advanced Web Server Exploits</a:t>
            </a:r>
          </a:p>
        </p:txBody>
      </p:sp>
      <p:sp>
        <p:nvSpPr>
          <p:cNvPr id="4" name="TextBox 3">
            <a:extLst>
              <a:ext uri="{FF2B5EF4-FFF2-40B4-BE49-F238E27FC236}">
                <a16:creationId xmlns:a16="http://schemas.microsoft.com/office/drawing/2014/main" id="{86E2E4DF-BB08-5637-7013-5A553BE5FF3E}"/>
              </a:ext>
            </a:extLst>
          </p:cNvPr>
          <p:cNvSpPr txBox="1"/>
          <p:nvPr/>
        </p:nvSpPr>
        <p:spPr>
          <a:xfrm>
            <a:off x="838200" y="1845449"/>
            <a:ext cx="10120122" cy="4524315"/>
          </a:xfrm>
          <a:prstGeom prst="rect">
            <a:avLst/>
          </a:prstGeom>
          <a:noFill/>
        </p:spPr>
        <p:txBody>
          <a:bodyPr wrap="square">
            <a:spAutoFit/>
          </a:bodyPr>
          <a:lstStyle/>
          <a:p>
            <a:pPr marL="285750" indent="-285750">
              <a:buFont typeface="Arial" panose="020B0604020202020204" pitchFamily="34" charset="0"/>
              <a:buChar char="•"/>
            </a:pPr>
            <a:r>
              <a:rPr lang="en-US" sz="2800" dirty="0"/>
              <a:t>CEHv13 adds emphasis on:</a:t>
            </a:r>
          </a:p>
          <a:p>
            <a:pPr marL="742950" lvl="1" indent="-285750">
              <a:buFont typeface="Arial" panose="020B0604020202020204" pitchFamily="34" charset="0"/>
              <a:buChar char="•"/>
            </a:pPr>
            <a:r>
              <a:rPr lang="en-US" sz="2400" dirty="0"/>
              <a:t>Server-side request forgery (SSRF) in cloud environments (e.g., AWS metadata abuse)</a:t>
            </a:r>
          </a:p>
          <a:p>
            <a:pPr marL="742950" lvl="1" indent="-285750">
              <a:buFont typeface="Arial" panose="020B0604020202020204" pitchFamily="34" charset="0"/>
              <a:buChar char="•"/>
            </a:pPr>
            <a:r>
              <a:rPr lang="en-US" sz="2400" dirty="0"/>
              <a:t>HTTP/2 and API-based web servers with nontraditional vulnerabilities</a:t>
            </a:r>
          </a:p>
          <a:p>
            <a:pPr marL="742950" lvl="1" indent="-285750">
              <a:buFont typeface="Arial" panose="020B0604020202020204" pitchFamily="34" charset="0"/>
              <a:buChar char="•"/>
            </a:pPr>
            <a:r>
              <a:rPr lang="en-US" sz="2400" dirty="0"/>
              <a:t>Chaining misconfigurations, outdated frameworks, and weak credentials for privilege escalation</a:t>
            </a:r>
          </a:p>
          <a:p>
            <a:pPr marL="285750" indent="-285750">
              <a:buFont typeface="Arial" panose="020B0604020202020204" pitchFamily="34" charset="0"/>
              <a:buChar char="•"/>
            </a:pPr>
            <a:r>
              <a:rPr lang="en-US" sz="2800" dirty="0"/>
              <a:t>Web server enumeration now includes detection of:</a:t>
            </a:r>
          </a:p>
          <a:p>
            <a:pPr marL="742950" lvl="1" indent="-285750">
              <a:buFont typeface="Arial" panose="020B0604020202020204" pitchFamily="34" charset="0"/>
              <a:buChar char="•"/>
            </a:pPr>
            <a:r>
              <a:rPr lang="en-US" sz="2400" dirty="0"/>
              <a:t>Containerized workloads (Docker, Kubernetes)</a:t>
            </a:r>
          </a:p>
          <a:p>
            <a:pPr marL="742950" lvl="1" indent="-285750">
              <a:buFont typeface="Arial" panose="020B0604020202020204" pitchFamily="34" charset="0"/>
              <a:buChar char="•"/>
            </a:pPr>
            <a:r>
              <a:rPr lang="en-US" sz="2400" dirty="0"/>
              <a:t>Serverless misconfigurations</a:t>
            </a:r>
          </a:p>
          <a:p>
            <a:pPr marL="285750" indent="-285750">
              <a:buFont typeface="Arial" panose="020B0604020202020204" pitchFamily="34" charset="0"/>
              <a:buChar char="•"/>
            </a:pPr>
            <a:r>
              <a:rPr lang="en-US" sz="2800" dirty="0"/>
              <a:t>Pen testers are trained to use automation tools like AI-enhanced Burp extensions and deep scan scripts</a:t>
            </a:r>
            <a:endParaRPr lang="en-US" sz="2400" dirty="0"/>
          </a:p>
        </p:txBody>
      </p:sp>
    </p:spTree>
    <p:extLst>
      <p:ext uri="{BB962C8B-B14F-4D97-AF65-F5344CB8AC3E}">
        <p14:creationId xmlns:p14="http://schemas.microsoft.com/office/powerpoint/2010/main" val="663497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D6BF-700C-16AA-29CF-EDDF7061B8C2}"/>
              </a:ext>
            </a:extLst>
          </p:cNvPr>
          <p:cNvSpPr>
            <a:spLocks noGrp="1"/>
          </p:cNvSpPr>
          <p:nvPr>
            <p:ph type="title"/>
          </p:nvPr>
        </p:nvSpPr>
        <p:spPr/>
        <p:txBody>
          <a:bodyPr/>
          <a:lstStyle/>
          <a:p>
            <a:r>
              <a:rPr lang="en-US" dirty="0"/>
              <a:t>CEHv13 Update – Web Server Defense Enhancements</a:t>
            </a:r>
          </a:p>
        </p:txBody>
      </p:sp>
      <p:sp>
        <p:nvSpPr>
          <p:cNvPr id="4" name="TextBox 3">
            <a:extLst>
              <a:ext uri="{FF2B5EF4-FFF2-40B4-BE49-F238E27FC236}">
                <a16:creationId xmlns:a16="http://schemas.microsoft.com/office/drawing/2014/main" id="{0FB83415-79FE-5FA1-977E-4B6D06E7B3F3}"/>
              </a:ext>
            </a:extLst>
          </p:cNvPr>
          <p:cNvSpPr txBox="1"/>
          <p:nvPr/>
        </p:nvSpPr>
        <p:spPr>
          <a:xfrm>
            <a:off x="838200" y="1845449"/>
            <a:ext cx="10120122" cy="4647426"/>
          </a:xfrm>
          <a:prstGeom prst="rect">
            <a:avLst/>
          </a:prstGeom>
          <a:noFill/>
        </p:spPr>
        <p:txBody>
          <a:bodyPr wrap="square">
            <a:spAutoFit/>
          </a:bodyPr>
          <a:lstStyle/>
          <a:p>
            <a:pPr marL="285750" indent="-285750">
              <a:buFont typeface="Arial" panose="020B0604020202020204" pitchFamily="34" charset="0"/>
              <a:buChar char="•"/>
            </a:pPr>
            <a:r>
              <a:rPr lang="en-US" sz="2800" dirty="0"/>
              <a:t>Web server security focus now includes:</a:t>
            </a:r>
          </a:p>
          <a:p>
            <a:pPr marL="742950" lvl="1" indent="-285750">
              <a:buFont typeface="Arial" panose="020B0604020202020204" pitchFamily="34" charset="0"/>
              <a:buChar char="•"/>
            </a:pPr>
            <a:r>
              <a:rPr lang="en-US" sz="2400" dirty="0"/>
              <a:t>Runtime Application Self-Protection (RASP) integration</a:t>
            </a:r>
          </a:p>
          <a:p>
            <a:pPr marL="742950" lvl="1" indent="-285750">
              <a:buFont typeface="Arial" panose="020B0604020202020204" pitchFamily="34" charset="0"/>
              <a:buChar char="•"/>
            </a:pPr>
            <a:r>
              <a:rPr lang="en-US" sz="2400" dirty="0"/>
              <a:t>Deployment of WAFs with AI anomaly detection (e.g., AWS WAF Bot Control)</a:t>
            </a:r>
          </a:p>
          <a:p>
            <a:pPr marL="742950" lvl="1" indent="-285750">
              <a:buFont typeface="Arial" panose="020B0604020202020204" pitchFamily="34" charset="0"/>
              <a:buChar char="•"/>
            </a:pPr>
            <a:r>
              <a:rPr lang="en-US" sz="2400" dirty="0"/>
              <a:t>Shift from patching schedules to Continuous Threat Exposure Management (CTEM)</a:t>
            </a:r>
          </a:p>
          <a:p>
            <a:pPr marL="285750" indent="-285750">
              <a:buFont typeface="Arial" panose="020B0604020202020204" pitchFamily="34" charset="0"/>
              <a:buChar char="•"/>
            </a:pPr>
            <a:r>
              <a:rPr lang="en-US" sz="2800" dirty="0"/>
              <a:t>New CEHv13 guidance on:</a:t>
            </a:r>
          </a:p>
          <a:p>
            <a:pPr marL="742950" lvl="1" indent="-285750">
              <a:buFont typeface="Arial" panose="020B0604020202020204" pitchFamily="34" charset="0"/>
              <a:buChar char="•"/>
            </a:pPr>
            <a:r>
              <a:rPr lang="en-US" sz="2400" dirty="0"/>
              <a:t>Mapping server risks to MITRE ATT&amp;CK T1190 (Exploit Public-Facing App)</a:t>
            </a:r>
          </a:p>
          <a:p>
            <a:pPr marL="742950" lvl="1" indent="-285750">
              <a:buFont typeface="Arial" panose="020B0604020202020204" pitchFamily="34" charset="0"/>
              <a:buChar char="•"/>
            </a:pPr>
            <a:r>
              <a:rPr lang="en-US" sz="2400" dirty="0"/>
              <a:t>Using cloud-native web server controls (e.g., Azure App Gateway, GCP Armor)</a:t>
            </a:r>
          </a:p>
          <a:p>
            <a:pPr marL="742950" lvl="1" indent="-285750">
              <a:buFont typeface="Arial" panose="020B0604020202020204" pitchFamily="34" charset="0"/>
              <a:buChar char="•"/>
            </a:pPr>
            <a:r>
              <a:rPr lang="en-US" sz="2400" dirty="0"/>
              <a:t>Performing zero-trust validation of inbound and outbound traffic at the web tier</a:t>
            </a:r>
          </a:p>
        </p:txBody>
      </p:sp>
    </p:spTree>
    <p:extLst>
      <p:ext uri="{BB962C8B-B14F-4D97-AF65-F5344CB8AC3E}">
        <p14:creationId xmlns:p14="http://schemas.microsoft.com/office/powerpoint/2010/main" val="3230960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38266"/>
            <a:ext cx="9144000" cy="1655762"/>
          </a:xfrm>
          <a:solidFill>
            <a:schemeClr val="bg1">
              <a:alpha val="60000"/>
            </a:schemeClr>
          </a:solidFill>
        </p:spPr>
        <p:txBody>
          <a:bodyPr>
            <a:normAutofit fontScale="90000"/>
          </a:bodyPr>
          <a:lstStyle/>
          <a:p>
            <a:r>
              <a:rPr lang="en-US" dirty="0">
                <a:latin typeface="Consolas" panose="020B0609020204030204" pitchFamily="49" charset="0"/>
              </a:rPr>
              <a:t>Hacking Web Applications</a:t>
            </a:r>
          </a:p>
        </p:txBody>
      </p:sp>
      <p:sp>
        <p:nvSpPr>
          <p:cNvPr id="3" name="Subtitle 2"/>
          <p:cNvSpPr>
            <a:spLocks noGrp="1"/>
          </p:cNvSpPr>
          <p:nvPr>
            <p:ph type="subTitle" idx="1"/>
          </p:nvPr>
        </p:nvSpPr>
        <p:spPr>
          <a:xfrm>
            <a:off x="1524000" y="2794028"/>
            <a:ext cx="9144000" cy="644285"/>
          </a:xfrm>
          <a:solidFill>
            <a:schemeClr val="bg1">
              <a:alpha val="60000"/>
            </a:schemeClr>
          </a:solidFill>
        </p:spPr>
        <p:txBody>
          <a:bodyPr>
            <a:normAutofit fontScale="77500" lnSpcReduction="20000"/>
          </a:bodyPr>
          <a:lstStyle/>
          <a:p>
            <a:r>
              <a:rPr lang="en-US" sz="3200" dirty="0">
                <a:latin typeface="Consolas" panose="020B0609020204030204" pitchFamily="49" charset="0"/>
              </a:rPr>
              <a:t>Volume 3, Module 4, v12, with v13 additions at the end</a:t>
            </a:r>
          </a:p>
        </p:txBody>
      </p:sp>
    </p:spTree>
    <p:extLst>
      <p:ext uri="{BB962C8B-B14F-4D97-AF65-F5344CB8AC3E}">
        <p14:creationId xmlns:p14="http://schemas.microsoft.com/office/powerpoint/2010/main" val="3941133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87375" y="66859"/>
            <a:ext cx="11017250" cy="873125"/>
          </a:xfrm>
        </p:spPr>
        <p:txBody>
          <a:bodyPr vert="horz" lIns="91440" tIns="45720" rIns="91440" bIns="45720" rtlCol="0" anchor="b">
            <a:normAutofit/>
          </a:bodyPr>
          <a:lstStyle/>
          <a:p>
            <a:r>
              <a:rPr lang="en-US" sz="5400" dirty="0">
                <a:latin typeface="+mn-lt"/>
              </a:rPr>
              <a:t>Web Applications Concepts</a:t>
            </a:r>
          </a:p>
        </p:txBody>
      </p:sp>
      <p:pic>
        <p:nvPicPr>
          <p:cNvPr id="5" name="Picture 4" descr="A diagram of a computer network&#10;&#10;Description automatically generated">
            <a:extLst>
              <a:ext uri="{FF2B5EF4-FFF2-40B4-BE49-F238E27FC236}">
                <a16:creationId xmlns:a16="http://schemas.microsoft.com/office/drawing/2014/main" id="{9CAC585D-6E9F-ACBE-8896-7DC5860559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06845"/>
            <a:ext cx="9425136" cy="5417892"/>
          </a:xfrm>
          <a:prstGeom prst="rect">
            <a:avLst/>
          </a:prstGeom>
        </p:spPr>
      </p:pic>
      <p:sp>
        <p:nvSpPr>
          <p:cNvPr id="10" name="TextBox 9">
            <a:extLst>
              <a:ext uri="{FF2B5EF4-FFF2-40B4-BE49-F238E27FC236}">
                <a16:creationId xmlns:a16="http://schemas.microsoft.com/office/drawing/2014/main" id="{A7D4BC60-31CF-592D-CBBA-57806EA7F74F}"/>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
        <p:nvSpPr>
          <p:cNvPr id="11" name="Rectangle 10">
            <a:extLst>
              <a:ext uri="{FF2B5EF4-FFF2-40B4-BE49-F238E27FC236}">
                <a16:creationId xmlns:a16="http://schemas.microsoft.com/office/drawing/2014/main" id="{673ED3D0-A23D-143B-D508-9809FE6FF188}"/>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5E1607D-8716-0BE0-1B93-6263693C7BC6}"/>
              </a:ext>
            </a:extLst>
          </p:cNvPr>
          <p:cNvSpPr/>
          <p:nvPr/>
        </p:nvSpPr>
        <p:spPr>
          <a:xfrm>
            <a:off x="9670093" y="2543917"/>
            <a:ext cx="2066794" cy="2409987"/>
          </a:xfrm>
          <a:prstGeom prst="rect">
            <a:avLst/>
          </a:prstGeom>
          <a:solidFill>
            <a:srgbClr val="358A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The main function of web application is fetching user-requests from a database</a:t>
            </a:r>
          </a:p>
        </p:txBody>
      </p:sp>
    </p:spTree>
    <p:extLst>
      <p:ext uri="{BB962C8B-B14F-4D97-AF65-F5344CB8AC3E}">
        <p14:creationId xmlns:p14="http://schemas.microsoft.com/office/powerpoint/2010/main" val="3454392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A898A94-5E6E-F18E-E1CC-07FFF834DABA}"/>
              </a:ext>
            </a:extLst>
          </p:cNvPr>
          <p:cNvSpPr txBox="1">
            <a:spLocks/>
          </p:cNvSpPr>
          <p:nvPr/>
        </p:nvSpPr>
        <p:spPr>
          <a:xfrm>
            <a:off x="587375" y="66859"/>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Web Service Architecture</a:t>
            </a:r>
          </a:p>
        </p:txBody>
      </p:sp>
      <p:sp>
        <p:nvSpPr>
          <p:cNvPr id="7" name="Rectangle 6">
            <a:extLst>
              <a:ext uri="{FF2B5EF4-FFF2-40B4-BE49-F238E27FC236}">
                <a16:creationId xmlns:a16="http://schemas.microsoft.com/office/drawing/2014/main" id="{1E2B9858-2868-423B-201D-B28DEB44C590}"/>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diagram of service registration&#10;&#10;Description automatically generated">
            <a:extLst>
              <a:ext uri="{FF2B5EF4-FFF2-40B4-BE49-F238E27FC236}">
                <a16:creationId xmlns:a16="http://schemas.microsoft.com/office/drawing/2014/main" id="{328853FD-2B2F-3EAD-E57D-E710BFDE3C4C}"/>
              </a:ext>
            </a:extLst>
          </p:cNvPr>
          <p:cNvPicPr>
            <a:picLocks noChangeAspect="1"/>
          </p:cNvPicPr>
          <p:nvPr/>
        </p:nvPicPr>
        <p:blipFill rotWithShape="1">
          <a:blip r:embed="rId3">
            <a:extLst>
              <a:ext uri="{28A0092B-C50C-407E-A947-70E740481C1C}">
                <a14:useLocalDpi xmlns:a14="http://schemas.microsoft.com/office/drawing/2010/main" val="0"/>
              </a:ext>
            </a:extLst>
          </a:blip>
          <a:srcRect l="1145" r="1462"/>
          <a:stretch/>
        </p:blipFill>
        <p:spPr>
          <a:xfrm>
            <a:off x="1298531" y="939984"/>
            <a:ext cx="9594937" cy="5666737"/>
          </a:xfrm>
          <a:prstGeom prst="rect">
            <a:avLst/>
          </a:prstGeom>
        </p:spPr>
      </p:pic>
      <p:sp>
        <p:nvSpPr>
          <p:cNvPr id="13" name="TextBox 12">
            <a:extLst>
              <a:ext uri="{FF2B5EF4-FFF2-40B4-BE49-F238E27FC236}">
                <a16:creationId xmlns:a16="http://schemas.microsoft.com/office/drawing/2014/main" id="{262BFF33-DF5E-2C6E-261C-710CF7E7CB65}"/>
              </a:ext>
            </a:extLst>
          </p:cNvPr>
          <p:cNvSpPr txBox="1"/>
          <p:nvPr/>
        </p:nvSpPr>
        <p:spPr>
          <a:xfrm>
            <a:off x="4419600" y="6609638"/>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Tree>
    <p:extLst>
      <p:ext uri="{BB962C8B-B14F-4D97-AF65-F5344CB8AC3E}">
        <p14:creationId xmlns:p14="http://schemas.microsoft.com/office/powerpoint/2010/main" val="1430615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5356D3-9B36-3355-4C98-514053A76498}"/>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
        <p:nvSpPr>
          <p:cNvPr id="7" name="Title 1">
            <a:extLst>
              <a:ext uri="{FF2B5EF4-FFF2-40B4-BE49-F238E27FC236}">
                <a16:creationId xmlns:a16="http://schemas.microsoft.com/office/drawing/2014/main" id="{6A600F92-B062-8E57-DBC4-7C0B67AB7F0C}"/>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Vulnerability Stack</a:t>
            </a:r>
          </a:p>
        </p:txBody>
      </p:sp>
      <p:sp>
        <p:nvSpPr>
          <p:cNvPr id="8" name="Rectangle 7">
            <a:extLst>
              <a:ext uri="{FF2B5EF4-FFF2-40B4-BE49-F238E27FC236}">
                <a16:creationId xmlns:a16="http://schemas.microsoft.com/office/drawing/2014/main" id="{FE8FEDA0-3C8F-BB3D-2B9B-07E7146EAAB4}"/>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diagram of a multi-layered pyramid&#10;&#10;Description automatically generated with medium confidence">
            <a:extLst>
              <a:ext uri="{FF2B5EF4-FFF2-40B4-BE49-F238E27FC236}">
                <a16:creationId xmlns:a16="http://schemas.microsoft.com/office/drawing/2014/main" id="{B073FB8B-E0D1-43BF-80FC-DEE4A9BC2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62" y="1365337"/>
            <a:ext cx="11989875" cy="5046552"/>
          </a:xfrm>
          <a:prstGeom prst="rect">
            <a:avLst/>
          </a:prstGeom>
        </p:spPr>
      </p:pic>
    </p:spTree>
    <p:extLst>
      <p:ext uri="{BB962C8B-B14F-4D97-AF65-F5344CB8AC3E}">
        <p14:creationId xmlns:p14="http://schemas.microsoft.com/office/powerpoint/2010/main" val="2867891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48013CF-BB5B-240B-77F2-B5E7780BABD8}"/>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Web Application Threats</a:t>
            </a:r>
          </a:p>
        </p:txBody>
      </p:sp>
      <p:sp>
        <p:nvSpPr>
          <p:cNvPr id="5" name="Rectangle 4">
            <a:extLst>
              <a:ext uri="{FF2B5EF4-FFF2-40B4-BE49-F238E27FC236}">
                <a16:creationId xmlns:a16="http://schemas.microsoft.com/office/drawing/2014/main" id="{5A23ABCF-576A-2E24-4E55-A842C89BBEB8}"/>
              </a:ext>
            </a:extLst>
          </p:cNvPr>
          <p:cNvSpPr/>
          <p:nvPr/>
        </p:nvSpPr>
        <p:spPr>
          <a:xfrm>
            <a:off x="2664"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F34A18-1E25-D246-7B8B-9051D5841673}"/>
              </a:ext>
            </a:extLst>
          </p:cNvPr>
          <p:cNvSpPr/>
          <p:nvPr/>
        </p:nvSpPr>
        <p:spPr>
          <a:xfrm>
            <a:off x="408428" y="1299719"/>
            <a:ext cx="3657600" cy="146304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marL="123825" algn="ctr">
              <a:spcAft>
                <a:spcPts val="600"/>
              </a:spcAft>
            </a:pPr>
            <a:r>
              <a:rPr lang="en-US" sz="2000" b="1" dirty="0">
                <a:solidFill>
                  <a:srgbClr val="575F8D"/>
                </a:solidFill>
              </a:rPr>
              <a:t>Injection</a:t>
            </a:r>
          </a:p>
          <a:p>
            <a:pPr marL="123825">
              <a:spcAft>
                <a:spcPts val="1200"/>
              </a:spcAft>
            </a:pPr>
            <a:r>
              <a:rPr lang="en-US" sz="1600" dirty="0">
                <a:solidFill>
                  <a:schemeClr val="tx1"/>
                </a:solidFill>
              </a:rPr>
              <a:t>(SQL; command – shell, file, HTML embedding; LDAP; Server-side JS; CRLF; HTML)</a:t>
            </a:r>
          </a:p>
        </p:txBody>
      </p:sp>
      <p:sp>
        <p:nvSpPr>
          <p:cNvPr id="28" name="Rectangle 27">
            <a:extLst>
              <a:ext uri="{FF2B5EF4-FFF2-40B4-BE49-F238E27FC236}">
                <a16:creationId xmlns:a16="http://schemas.microsoft.com/office/drawing/2014/main" id="{08FC424C-4CDB-8E37-CDFE-D051981F100D}"/>
              </a:ext>
            </a:extLst>
          </p:cNvPr>
          <p:cNvSpPr/>
          <p:nvPr/>
        </p:nvSpPr>
        <p:spPr>
          <a:xfrm>
            <a:off x="4269166" y="1299719"/>
            <a:ext cx="3657600" cy="146304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marL="123825" algn="ctr">
              <a:spcAft>
                <a:spcPts val="600"/>
              </a:spcAft>
            </a:pPr>
            <a:r>
              <a:rPr lang="en-US" sz="2000" b="1" dirty="0">
                <a:solidFill>
                  <a:srgbClr val="575F8D"/>
                </a:solidFill>
              </a:rPr>
              <a:t>Broken Authentication</a:t>
            </a:r>
          </a:p>
          <a:p>
            <a:pPr marL="123825">
              <a:spcAft>
                <a:spcPts val="600"/>
              </a:spcAft>
            </a:pPr>
            <a:r>
              <a:rPr lang="en-US" sz="1600" dirty="0">
                <a:solidFill>
                  <a:schemeClr val="tx1"/>
                </a:solidFill>
              </a:rPr>
              <a:t>(Session ID shown in URL; Password Exploitation; Timeout Exploitation)</a:t>
            </a:r>
          </a:p>
        </p:txBody>
      </p:sp>
      <p:sp>
        <p:nvSpPr>
          <p:cNvPr id="30" name="Rectangle 29">
            <a:extLst>
              <a:ext uri="{FF2B5EF4-FFF2-40B4-BE49-F238E27FC236}">
                <a16:creationId xmlns:a16="http://schemas.microsoft.com/office/drawing/2014/main" id="{8A5F9E3E-C2D5-BB86-1677-4EE312AB3F1C}"/>
              </a:ext>
            </a:extLst>
          </p:cNvPr>
          <p:cNvSpPr/>
          <p:nvPr/>
        </p:nvSpPr>
        <p:spPr>
          <a:xfrm>
            <a:off x="4269166" y="4499194"/>
            <a:ext cx="3657600" cy="100584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marL="123825" algn="ctr">
              <a:spcAft>
                <a:spcPts val="1200"/>
              </a:spcAft>
            </a:pPr>
            <a:r>
              <a:rPr lang="en-US" sz="2000" b="1" dirty="0">
                <a:solidFill>
                  <a:srgbClr val="575F8D"/>
                </a:solidFill>
              </a:rPr>
              <a:t>Sensitive Data Exposure </a:t>
            </a:r>
          </a:p>
        </p:txBody>
      </p:sp>
      <p:sp>
        <p:nvSpPr>
          <p:cNvPr id="34" name="Rectangle 33">
            <a:extLst>
              <a:ext uri="{FF2B5EF4-FFF2-40B4-BE49-F238E27FC236}">
                <a16:creationId xmlns:a16="http://schemas.microsoft.com/office/drawing/2014/main" id="{25D194BD-FA08-2DAF-0B1E-E05F4AABAFEF}"/>
              </a:ext>
            </a:extLst>
          </p:cNvPr>
          <p:cNvSpPr/>
          <p:nvPr/>
        </p:nvSpPr>
        <p:spPr>
          <a:xfrm>
            <a:off x="408428" y="3011958"/>
            <a:ext cx="3657600" cy="128016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marL="123825" algn="ctr">
              <a:spcAft>
                <a:spcPts val="600"/>
              </a:spcAft>
            </a:pPr>
            <a:r>
              <a:rPr lang="en-US" sz="2000" b="1" dirty="0">
                <a:solidFill>
                  <a:srgbClr val="575F8D"/>
                </a:solidFill>
              </a:rPr>
              <a:t>XML External Entity </a:t>
            </a:r>
          </a:p>
          <a:p>
            <a:pPr marL="123825" algn="ctr">
              <a:spcAft>
                <a:spcPts val="600"/>
              </a:spcAft>
            </a:pPr>
            <a:r>
              <a:rPr lang="en-US" sz="1600" dirty="0">
                <a:solidFill>
                  <a:schemeClr val="tx1"/>
                </a:solidFill>
              </a:rPr>
              <a:t>(XXE)</a:t>
            </a:r>
          </a:p>
        </p:txBody>
      </p:sp>
      <p:sp>
        <p:nvSpPr>
          <p:cNvPr id="36" name="Rectangle 35">
            <a:extLst>
              <a:ext uri="{FF2B5EF4-FFF2-40B4-BE49-F238E27FC236}">
                <a16:creationId xmlns:a16="http://schemas.microsoft.com/office/drawing/2014/main" id="{0044D658-FA08-AC17-52DC-29603629BCA6}"/>
              </a:ext>
            </a:extLst>
          </p:cNvPr>
          <p:cNvSpPr/>
          <p:nvPr/>
        </p:nvSpPr>
        <p:spPr>
          <a:xfrm>
            <a:off x="4269166" y="3005143"/>
            <a:ext cx="3657600" cy="128016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marL="123825" algn="ctr">
              <a:spcAft>
                <a:spcPts val="600"/>
              </a:spcAft>
            </a:pPr>
            <a:r>
              <a:rPr lang="en-US" sz="2000" b="1" dirty="0">
                <a:solidFill>
                  <a:srgbClr val="575F8D"/>
                </a:solidFill>
              </a:rPr>
              <a:t>Broken Access Control </a:t>
            </a:r>
          </a:p>
          <a:p>
            <a:pPr marL="123825" algn="ctr">
              <a:spcAft>
                <a:spcPts val="600"/>
              </a:spcAft>
            </a:pPr>
            <a:r>
              <a:rPr lang="en-US" sz="1600" dirty="0">
                <a:solidFill>
                  <a:schemeClr val="tx1"/>
                </a:solidFill>
              </a:rPr>
              <a:t>(Insecure Direct Object references; Missing Function Level Access Control)</a:t>
            </a:r>
          </a:p>
        </p:txBody>
      </p:sp>
      <p:sp>
        <p:nvSpPr>
          <p:cNvPr id="38" name="Rectangle 37">
            <a:extLst>
              <a:ext uri="{FF2B5EF4-FFF2-40B4-BE49-F238E27FC236}">
                <a16:creationId xmlns:a16="http://schemas.microsoft.com/office/drawing/2014/main" id="{0E316474-33E9-D264-2F0C-6DC2742D7A88}"/>
              </a:ext>
            </a:extLst>
          </p:cNvPr>
          <p:cNvSpPr/>
          <p:nvPr/>
        </p:nvSpPr>
        <p:spPr>
          <a:xfrm>
            <a:off x="8129905" y="1289823"/>
            <a:ext cx="3657600" cy="146304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marL="123825" algn="ctr">
              <a:spcAft>
                <a:spcPts val="1200"/>
              </a:spcAft>
            </a:pPr>
            <a:r>
              <a:rPr lang="en-US" b="1" dirty="0">
                <a:solidFill>
                  <a:srgbClr val="575F8D"/>
                </a:solidFill>
              </a:rPr>
              <a:t>Security Misconfiguration</a:t>
            </a:r>
          </a:p>
          <a:p>
            <a:pPr marL="61913">
              <a:spcAft>
                <a:spcPts val="1200"/>
              </a:spcAft>
            </a:pPr>
            <a:r>
              <a:rPr lang="en-US" sz="1600" dirty="0">
                <a:solidFill>
                  <a:schemeClr val="tx1"/>
                </a:solidFill>
              </a:rPr>
              <a:t>Unvalidated Input; Parameter/ Form Tampering; Improper Error Handling; Insufficient Transport Layer Protection</a:t>
            </a:r>
          </a:p>
        </p:txBody>
      </p:sp>
      <p:sp>
        <p:nvSpPr>
          <p:cNvPr id="40" name="Rectangle 39">
            <a:extLst>
              <a:ext uri="{FF2B5EF4-FFF2-40B4-BE49-F238E27FC236}">
                <a16:creationId xmlns:a16="http://schemas.microsoft.com/office/drawing/2014/main" id="{E39ABE59-AC17-5899-32E7-7CBEE973B96C}"/>
              </a:ext>
            </a:extLst>
          </p:cNvPr>
          <p:cNvSpPr/>
          <p:nvPr/>
        </p:nvSpPr>
        <p:spPr>
          <a:xfrm>
            <a:off x="8129905" y="3005143"/>
            <a:ext cx="3657600" cy="128016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marL="123825" algn="ctr">
              <a:spcAft>
                <a:spcPts val="600"/>
              </a:spcAft>
            </a:pPr>
            <a:r>
              <a:rPr lang="en-US" sz="2000" b="1" dirty="0">
                <a:solidFill>
                  <a:srgbClr val="575F8D"/>
                </a:solidFill>
              </a:rPr>
              <a:t>Cross-Site Scripting </a:t>
            </a:r>
          </a:p>
          <a:p>
            <a:pPr marL="123825" algn="ctr">
              <a:spcAft>
                <a:spcPts val="600"/>
              </a:spcAft>
            </a:pPr>
            <a:r>
              <a:rPr lang="en-US" sz="1600" dirty="0">
                <a:solidFill>
                  <a:schemeClr val="tx1"/>
                </a:solidFill>
              </a:rPr>
              <a:t>(XSS)</a:t>
            </a:r>
          </a:p>
        </p:txBody>
      </p:sp>
      <p:sp>
        <p:nvSpPr>
          <p:cNvPr id="41" name="Rectangle 40">
            <a:extLst>
              <a:ext uri="{FF2B5EF4-FFF2-40B4-BE49-F238E27FC236}">
                <a16:creationId xmlns:a16="http://schemas.microsoft.com/office/drawing/2014/main" id="{CB168239-A190-5ACD-35BF-40213A4F3653}"/>
              </a:ext>
            </a:extLst>
          </p:cNvPr>
          <p:cNvSpPr/>
          <p:nvPr/>
        </p:nvSpPr>
        <p:spPr>
          <a:xfrm>
            <a:off x="408428" y="4499194"/>
            <a:ext cx="3657600" cy="100584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marL="123825" algn="ctr">
              <a:spcAft>
                <a:spcPts val="600"/>
              </a:spcAft>
            </a:pPr>
            <a:r>
              <a:rPr lang="en-US" sz="2000" b="1" dirty="0">
                <a:solidFill>
                  <a:srgbClr val="575F8D"/>
                </a:solidFill>
              </a:rPr>
              <a:t>Insecure Deserialization</a:t>
            </a:r>
          </a:p>
        </p:txBody>
      </p:sp>
      <p:sp>
        <p:nvSpPr>
          <p:cNvPr id="42" name="Rectangle 41">
            <a:extLst>
              <a:ext uri="{FF2B5EF4-FFF2-40B4-BE49-F238E27FC236}">
                <a16:creationId xmlns:a16="http://schemas.microsoft.com/office/drawing/2014/main" id="{1C3F9FEF-FC0F-33B3-EAFB-877E5F521F74}"/>
              </a:ext>
            </a:extLst>
          </p:cNvPr>
          <p:cNvSpPr/>
          <p:nvPr/>
        </p:nvSpPr>
        <p:spPr>
          <a:xfrm>
            <a:off x="8129905" y="4499194"/>
            <a:ext cx="3657600" cy="100584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algn="ctr"/>
            <a:r>
              <a:rPr lang="en-US" sz="2000" b="1" dirty="0">
                <a:solidFill>
                  <a:srgbClr val="575F8D"/>
                </a:solidFill>
              </a:rPr>
              <a:t>Using Component with Known Vulnerabilities</a:t>
            </a:r>
          </a:p>
        </p:txBody>
      </p:sp>
      <p:sp>
        <p:nvSpPr>
          <p:cNvPr id="43" name="Rectangle 42">
            <a:extLst>
              <a:ext uri="{FF2B5EF4-FFF2-40B4-BE49-F238E27FC236}">
                <a16:creationId xmlns:a16="http://schemas.microsoft.com/office/drawing/2014/main" id="{F9BD2AF5-6C12-DDD2-340B-3DA7117D9C2F}"/>
              </a:ext>
            </a:extLst>
          </p:cNvPr>
          <p:cNvSpPr/>
          <p:nvPr/>
        </p:nvSpPr>
        <p:spPr>
          <a:xfrm>
            <a:off x="4267200" y="5718925"/>
            <a:ext cx="3657600" cy="1005840"/>
          </a:xfrm>
          <a:prstGeom prst="rect">
            <a:avLst/>
          </a:prstGeom>
          <a:solidFill>
            <a:schemeClr val="bg1"/>
          </a:solidFill>
          <a:ln>
            <a:solidFill>
              <a:schemeClr val="bg1">
                <a:lumMod val="95000"/>
              </a:schemeClr>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rtlCol="0" anchor="ctr"/>
          <a:lstStyle/>
          <a:p>
            <a:pPr algn="ctr"/>
            <a:r>
              <a:rPr lang="en-US" sz="2000" b="1" dirty="0">
                <a:solidFill>
                  <a:srgbClr val="575F8D"/>
                </a:solidFill>
              </a:rPr>
              <a:t>Insufficient Logging and Monitoring</a:t>
            </a:r>
          </a:p>
        </p:txBody>
      </p:sp>
    </p:spTree>
    <p:extLst>
      <p:ext uri="{BB962C8B-B14F-4D97-AF65-F5344CB8AC3E}">
        <p14:creationId xmlns:p14="http://schemas.microsoft.com/office/powerpoint/2010/main" val="2666957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D992D3E-EDBD-C913-D95C-9F8D8C2A252B}"/>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Web Application SQL Threats</a:t>
            </a:r>
          </a:p>
        </p:txBody>
      </p:sp>
      <p:sp>
        <p:nvSpPr>
          <p:cNvPr id="4" name="Rectangle 3">
            <a:extLst>
              <a:ext uri="{FF2B5EF4-FFF2-40B4-BE49-F238E27FC236}">
                <a16:creationId xmlns:a16="http://schemas.microsoft.com/office/drawing/2014/main" id="{E0555642-6631-9550-92BC-17DACCAEB86B}"/>
              </a:ext>
            </a:extLst>
          </p:cNvPr>
          <p:cNvSpPr/>
          <p:nvPr/>
        </p:nvSpPr>
        <p:spPr>
          <a:xfrm>
            <a:off x="2664"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0FFA9BF-27F8-5993-19D9-A220B8CA5E35}"/>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pic>
        <p:nvPicPr>
          <p:cNvPr id="8" name="Picture 7" descr="A diagram of a table&#10;&#10;Description automatically generated">
            <a:extLst>
              <a:ext uri="{FF2B5EF4-FFF2-40B4-BE49-F238E27FC236}">
                <a16:creationId xmlns:a16="http://schemas.microsoft.com/office/drawing/2014/main" id="{D07A1608-862C-9EB5-C3A5-894B94D47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187" y="1657787"/>
            <a:ext cx="11849625" cy="4249107"/>
          </a:xfrm>
          <a:prstGeom prst="rect">
            <a:avLst/>
          </a:prstGeom>
        </p:spPr>
      </p:pic>
    </p:spTree>
    <p:extLst>
      <p:ext uri="{BB962C8B-B14F-4D97-AF65-F5344CB8AC3E}">
        <p14:creationId xmlns:p14="http://schemas.microsoft.com/office/powerpoint/2010/main" val="636231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173795-618D-47AC-A1FB-D5E51193850C}"/>
              </a:ext>
            </a:extLst>
          </p:cNvPr>
          <p:cNvPicPr>
            <a:picLocks noChangeAspect="1"/>
          </p:cNvPicPr>
          <p:nvPr/>
        </p:nvPicPr>
        <p:blipFill>
          <a:blip r:embed="rId3">
            <a:extLst>
              <a:ext uri="{28A0092B-C50C-407E-A947-70E740481C1C}">
                <a14:useLocalDpi xmlns:a14="http://schemas.microsoft.com/office/drawing/2010/main" val="0"/>
              </a:ext>
            </a:extLst>
          </a:blip>
          <a:srcRect l="6908" r="6908"/>
          <a:stretch/>
        </p:blipFill>
        <p:spPr>
          <a:xfrm>
            <a:off x="7154509" y="1302707"/>
            <a:ext cx="4472739" cy="4649158"/>
          </a:xfrm>
          <a:prstGeom prst="rect">
            <a:avLst/>
          </a:prstGeom>
        </p:spPr>
      </p:pic>
      <p:sp>
        <p:nvSpPr>
          <p:cNvPr id="3" name="Title 1">
            <a:extLst>
              <a:ext uri="{FF2B5EF4-FFF2-40B4-BE49-F238E27FC236}">
                <a16:creationId xmlns:a16="http://schemas.microsoft.com/office/drawing/2014/main" id="{ED929F5E-77C8-7866-2E4D-28C133C1536F}"/>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Other Web Application Threats</a:t>
            </a:r>
          </a:p>
        </p:txBody>
      </p:sp>
      <p:sp>
        <p:nvSpPr>
          <p:cNvPr id="6" name="Rectangle 5">
            <a:extLst>
              <a:ext uri="{FF2B5EF4-FFF2-40B4-BE49-F238E27FC236}">
                <a16:creationId xmlns:a16="http://schemas.microsoft.com/office/drawing/2014/main" id="{E990EA56-E7B2-210A-F94F-0CF1E61CBC4E}"/>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166041A-7C21-28B6-A291-4BF0064E4B0A}"/>
              </a:ext>
            </a:extLst>
          </p:cNvPr>
          <p:cNvSpPr/>
          <p:nvPr/>
        </p:nvSpPr>
        <p:spPr>
          <a:xfrm>
            <a:off x="879981" y="1183613"/>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Directory Traversal</a:t>
            </a:r>
          </a:p>
        </p:txBody>
      </p:sp>
      <p:sp>
        <p:nvSpPr>
          <p:cNvPr id="8" name="Rectangle 7">
            <a:extLst>
              <a:ext uri="{FF2B5EF4-FFF2-40B4-BE49-F238E27FC236}">
                <a16:creationId xmlns:a16="http://schemas.microsoft.com/office/drawing/2014/main" id="{132C846D-2C84-C633-B09F-0C90785A5DC2}"/>
              </a:ext>
            </a:extLst>
          </p:cNvPr>
          <p:cNvSpPr/>
          <p:nvPr/>
        </p:nvSpPr>
        <p:spPr>
          <a:xfrm>
            <a:off x="4007602" y="1183613"/>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Unvalidated Redirects and Forwards</a:t>
            </a:r>
          </a:p>
        </p:txBody>
      </p:sp>
      <p:sp>
        <p:nvSpPr>
          <p:cNvPr id="9" name="Rectangle 8">
            <a:extLst>
              <a:ext uri="{FF2B5EF4-FFF2-40B4-BE49-F238E27FC236}">
                <a16:creationId xmlns:a16="http://schemas.microsoft.com/office/drawing/2014/main" id="{E56F5346-803B-D59F-B741-D24FFE3B411E}"/>
              </a:ext>
            </a:extLst>
          </p:cNvPr>
          <p:cNvSpPr/>
          <p:nvPr/>
        </p:nvSpPr>
        <p:spPr>
          <a:xfrm>
            <a:off x="860695" y="2009247"/>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Watering Hole Attack</a:t>
            </a:r>
          </a:p>
        </p:txBody>
      </p:sp>
      <p:sp>
        <p:nvSpPr>
          <p:cNvPr id="11" name="Rectangle 10">
            <a:extLst>
              <a:ext uri="{FF2B5EF4-FFF2-40B4-BE49-F238E27FC236}">
                <a16:creationId xmlns:a16="http://schemas.microsoft.com/office/drawing/2014/main" id="{1CBF18D4-B036-B966-43D1-7D69B2C70E4B}"/>
              </a:ext>
            </a:extLst>
          </p:cNvPr>
          <p:cNvSpPr/>
          <p:nvPr/>
        </p:nvSpPr>
        <p:spPr>
          <a:xfrm>
            <a:off x="4007602" y="2009247"/>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Cross-Site Request Forgery (CSRF) Attack</a:t>
            </a:r>
          </a:p>
        </p:txBody>
      </p:sp>
      <p:sp>
        <p:nvSpPr>
          <p:cNvPr id="13" name="Rectangle 12">
            <a:extLst>
              <a:ext uri="{FF2B5EF4-FFF2-40B4-BE49-F238E27FC236}">
                <a16:creationId xmlns:a16="http://schemas.microsoft.com/office/drawing/2014/main" id="{B32C4303-DDA4-4E38-906D-42C1B67F8D32}"/>
              </a:ext>
            </a:extLst>
          </p:cNvPr>
          <p:cNvSpPr/>
          <p:nvPr/>
        </p:nvSpPr>
        <p:spPr>
          <a:xfrm>
            <a:off x="879981" y="2834881"/>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Cookie/Session Poisoning</a:t>
            </a:r>
          </a:p>
        </p:txBody>
      </p:sp>
      <p:sp>
        <p:nvSpPr>
          <p:cNvPr id="14" name="Rectangle 13">
            <a:extLst>
              <a:ext uri="{FF2B5EF4-FFF2-40B4-BE49-F238E27FC236}">
                <a16:creationId xmlns:a16="http://schemas.microsoft.com/office/drawing/2014/main" id="{663B0F98-D463-0F76-C5A6-FDFDF4340BF6}"/>
              </a:ext>
            </a:extLst>
          </p:cNvPr>
          <p:cNvSpPr/>
          <p:nvPr/>
        </p:nvSpPr>
        <p:spPr>
          <a:xfrm>
            <a:off x="4019839" y="2834881"/>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Web Service Attack</a:t>
            </a:r>
          </a:p>
        </p:txBody>
      </p:sp>
      <p:sp>
        <p:nvSpPr>
          <p:cNvPr id="15" name="Rectangle 14">
            <a:extLst>
              <a:ext uri="{FF2B5EF4-FFF2-40B4-BE49-F238E27FC236}">
                <a16:creationId xmlns:a16="http://schemas.microsoft.com/office/drawing/2014/main" id="{9EFCAE38-61C8-CACD-369A-13037ED2079E}"/>
              </a:ext>
            </a:extLst>
          </p:cNvPr>
          <p:cNvSpPr/>
          <p:nvPr/>
        </p:nvSpPr>
        <p:spPr>
          <a:xfrm>
            <a:off x="881725" y="3660515"/>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Web Service XML Poisoning </a:t>
            </a:r>
          </a:p>
        </p:txBody>
      </p:sp>
      <p:sp>
        <p:nvSpPr>
          <p:cNvPr id="16" name="Rectangle 15">
            <a:extLst>
              <a:ext uri="{FF2B5EF4-FFF2-40B4-BE49-F238E27FC236}">
                <a16:creationId xmlns:a16="http://schemas.microsoft.com/office/drawing/2014/main" id="{CDCA52AA-E6EF-0B55-B001-9108F6953DE2}"/>
              </a:ext>
            </a:extLst>
          </p:cNvPr>
          <p:cNvSpPr/>
          <p:nvPr/>
        </p:nvSpPr>
        <p:spPr>
          <a:xfrm>
            <a:off x="879981" y="4486149"/>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Hidden Field Manipulation Attack </a:t>
            </a:r>
          </a:p>
        </p:txBody>
      </p:sp>
      <p:sp>
        <p:nvSpPr>
          <p:cNvPr id="17" name="Rectangle 16">
            <a:extLst>
              <a:ext uri="{FF2B5EF4-FFF2-40B4-BE49-F238E27FC236}">
                <a16:creationId xmlns:a16="http://schemas.microsoft.com/office/drawing/2014/main" id="{E3E37095-97A0-B198-6F71-CE5437CF9275}"/>
              </a:ext>
            </a:extLst>
          </p:cNvPr>
          <p:cNvSpPr/>
          <p:nvPr/>
        </p:nvSpPr>
        <p:spPr>
          <a:xfrm>
            <a:off x="3957539" y="4486149"/>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Web-based Timing Attacks</a:t>
            </a:r>
          </a:p>
        </p:txBody>
      </p:sp>
      <p:sp>
        <p:nvSpPr>
          <p:cNvPr id="18" name="Rectangle 17">
            <a:extLst>
              <a:ext uri="{FF2B5EF4-FFF2-40B4-BE49-F238E27FC236}">
                <a16:creationId xmlns:a16="http://schemas.microsoft.com/office/drawing/2014/main" id="{4BF1DFBD-DDB9-63AB-554D-0962C4DCF46E}"/>
              </a:ext>
            </a:extLst>
          </p:cNvPr>
          <p:cNvSpPr/>
          <p:nvPr/>
        </p:nvSpPr>
        <p:spPr>
          <a:xfrm>
            <a:off x="860695" y="5311785"/>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MarioNetAttack</a:t>
            </a:r>
            <a:endParaRPr lang="en-US" b="1" dirty="0">
              <a:solidFill>
                <a:schemeClr val="tx1"/>
              </a:solidFill>
            </a:endParaRPr>
          </a:p>
        </p:txBody>
      </p:sp>
      <p:sp>
        <p:nvSpPr>
          <p:cNvPr id="19" name="Rectangle 18">
            <a:extLst>
              <a:ext uri="{FF2B5EF4-FFF2-40B4-BE49-F238E27FC236}">
                <a16:creationId xmlns:a16="http://schemas.microsoft.com/office/drawing/2014/main" id="{6782524A-E132-8B0B-B41E-2822CDE55C8A}"/>
              </a:ext>
            </a:extLst>
          </p:cNvPr>
          <p:cNvSpPr/>
          <p:nvPr/>
        </p:nvSpPr>
        <p:spPr>
          <a:xfrm>
            <a:off x="3957539" y="5311785"/>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Clickjacking Attack </a:t>
            </a:r>
          </a:p>
        </p:txBody>
      </p:sp>
      <p:sp>
        <p:nvSpPr>
          <p:cNvPr id="20" name="Rectangle 19">
            <a:extLst>
              <a:ext uri="{FF2B5EF4-FFF2-40B4-BE49-F238E27FC236}">
                <a16:creationId xmlns:a16="http://schemas.microsoft.com/office/drawing/2014/main" id="{FA064E26-0751-C432-39A9-96F42930D9CC}"/>
              </a:ext>
            </a:extLst>
          </p:cNvPr>
          <p:cNvSpPr/>
          <p:nvPr/>
        </p:nvSpPr>
        <p:spPr>
          <a:xfrm>
            <a:off x="2343021" y="6084200"/>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DNS Rebinding Attack</a:t>
            </a:r>
          </a:p>
        </p:txBody>
      </p:sp>
      <p:sp>
        <p:nvSpPr>
          <p:cNvPr id="21" name="Rectangle 20">
            <a:extLst>
              <a:ext uri="{FF2B5EF4-FFF2-40B4-BE49-F238E27FC236}">
                <a16:creationId xmlns:a16="http://schemas.microsoft.com/office/drawing/2014/main" id="{785EE3BB-3D05-7456-1CA8-5D2962BC5355}"/>
              </a:ext>
            </a:extLst>
          </p:cNvPr>
          <p:cNvSpPr/>
          <p:nvPr/>
        </p:nvSpPr>
        <p:spPr>
          <a:xfrm>
            <a:off x="4007602" y="3660515"/>
            <a:ext cx="2926080" cy="640080"/>
          </a:xfrm>
          <a:prstGeom prst="rect">
            <a:avLst/>
          </a:prstGeom>
          <a:solidFill>
            <a:schemeClr val="bg1"/>
          </a:solidFill>
          <a:ln>
            <a:solidFill>
              <a:srgbClr val="575F8D"/>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Web Service Footprinting Attack </a:t>
            </a:r>
          </a:p>
        </p:txBody>
      </p:sp>
    </p:spTree>
    <p:extLst>
      <p:ext uri="{BB962C8B-B14F-4D97-AF65-F5344CB8AC3E}">
        <p14:creationId xmlns:p14="http://schemas.microsoft.com/office/powerpoint/2010/main" val="2483254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D4E70D-FB37-570C-B72A-2EDA6DBA6A74}"/>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Command Injection Example</a:t>
            </a:r>
          </a:p>
        </p:txBody>
      </p:sp>
      <p:sp>
        <p:nvSpPr>
          <p:cNvPr id="4" name="Rectangle 3">
            <a:extLst>
              <a:ext uri="{FF2B5EF4-FFF2-40B4-BE49-F238E27FC236}">
                <a16:creationId xmlns:a16="http://schemas.microsoft.com/office/drawing/2014/main" id="{AF61B33B-5B16-68BE-9593-E42940042C9F}"/>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ack and white banner with text&#10;&#10;Description automatically generated">
            <a:extLst>
              <a:ext uri="{FF2B5EF4-FFF2-40B4-BE49-F238E27FC236}">
                <a16:creationId xmlns:a16="http://schemas.microsoft.com/office/drawing/2014/main" id="{41ABE3CC-F06D-EBF0-7B04-D2E7C6A750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515" y="2465085"/>
            <a:ext cx="6025346" cy="1578231"/>
          </a:xfrm>
          <a:prstGeom prst="rect">
            <a:avLst/>
          </a:prstGeom>
        </p:spPr>
      </p:pic>
      <p:pic>
        <p:nvPicPr>
          <p:cNvPr id="15" name="Picture 14" descr="A computer screen with a computer error&#10;&#10;Description automatically generated">
            <a:extLst>
              <a:ext uri="{FF2B5EF4-FFF2-40B4-BE49-F238E27FC236}">
                <a16:creationId xmlns:a16="http://schemas.microsoft.com/office/drawing/2014/main" id="{A9FBA066-955F-06D2-7238-9B86634772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3861" y="1223669"/>
            <a:ext cx="5377841" cy="5289860"/>
          </a:xfrm>
          <a:prstGeom prst="rect">
            <a:avLst/>
          </a:prstGeom>
        </p:spPr>
      </p:pic>
      <p:cxnSp>
        <p:nvCxnSpPr>
          <p:cNvPr id="18" name="Straight Arrow Connector 17">
            <a:extLst>
              <a:ext uri="{FF2B5EF4-FFF2-40B4-BE49-F238E27FC236}">
                <a16:creationId xmlns:a16="http://schemas.microsoft.com/office/drawing/2014/main" id="{5C24F483-A20C-2504-6381-56358C440409}"/>
              </a:ext>
            </a:extLst>
          </p:cNvPr>
          <p:cNvCxnSpPr>
            <a:cxnSpLocks/>
          </p:cNvCxnSpPr>
          <p:nvPr/>
        </p:nvCxnSpPr>
        <p:spPr>
          <a:xfrm>
            <a:off x="4985359" y="2768252"/>
            <a:ext cx="2091846" cy="0"/>
          </a:xfrm>
          <a:prstGeom prst="straightConnector1">
            <a:avLst/>
          </a:prstGeom>
          <a:ln w="38100">
            <a:solidFill>
              <a:srgbClr val="0070C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24BDB0D-2ACB-A020-32D2-76FC72D22B66}"/>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Tree>
    <p:extLst>
      <p:ext uri="{BB962C8B-B14F-4D97-AF65-F5344CB8AC3E}">
        <p14:creationId xmlns:p14="http://schemas.microsoft.com/office/powerpoint/2010/main" val="3256429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19D2786-DCA6-BE63-AC04-2AC7AE6A1A3E}"/>
              </a:ext>
            </a:extLst>
          </p:cNvPr>
          <p:cNvSpPr txBox="1">
            <a:spLocks/>
          </p:cNvSpPr>
          <p:nvPr/>
        </p:nvSpPr>
        <p:spPr>
          <a:xfrm>
            <a:off x="739035" y="2120029"/>
            <a:ext cx="2780778" cy="261794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dirty="0">
                <a:latin typeface="+mn-lt"/>
              </a:rPr>
              <a:t>LDAP Injection Attack </a:t>
            </a:r>
          </a:p>
        </p:txBody>
      </p:sp>
      <p:sp>
        <p:nvSpPr>
          <p:cNvPr id="4" name="Rectangle 3">
            <a:extLst>
              <a:ext uri="{FF2B5EF4-FFF2-40B4-BE49-F238E27FC236}">
                <a16:creationId xmlns:a16="http://schemas.microsoft.com/office/drawing/2014/main" id="{0698AF22-EFD5-C875-C5A4-4EED5A8E5E1F}"/>
              </a:ext>
            </a:extLst>
          </p:cNvPr>
          <p:cNvSpPr/>
          <p:nvPr/>
        </p:nvSpPr>
        <p:spPr>
          <a:xfrm>
            <a:off x="0" y="2925577"/>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 code&#10;&#10;Description automatically generated">
            <a:extLst>
              <a:ext uri="{FF2B5EF4-FFF2-40B4-BE49-F238E27FC236}">
                <a16:creationId xmlns:a16="http://schemas.microsoft.com/office/drawing/2014/main" id="{3F9ACF7B-DE31-BA31-AAF9-236163B646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9163" y="422555"/>
            <a:ext cx="5645905" cy="6012889"/>
          </a:xfrm>
          <a:prstGeom prst="rect">
            <a:avLst/>
          </a:prstGeom>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FCEACC53-EC84-A0E0-50CD-76304AA29359}"/>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spTree>
    <p:extLst>
      <p:ext uri="{BB962C8B-B14F-4D97-AF65-F5344CB8AC3E}">
        <p14:creationId xmlns:p14="http://schemas.microsoft.com/office/powerpoint/2010/main" val="2201902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67013"/>
            <a:ext cx="2879725" cy="3071812"/>
          </a:xfrm>
        </p:spPr>
        <p:txBody>
          <a:bodyPr vert="horz" lIns="91440" tIns="45720" rIns="91440" bIns="45720" rtlCol="0" anchor="t">
            <a:normAutofit/>
          </a:bodyPr>
          <a:lstStyle/>
          <a:p>
            <a:r>
              <a:rPr lang="en-US" sz="4000" kern="1200" dirty="0">
                <a:solidFill>
                  <a:srgbClr val="FFFFFF"/>
                </a:solidFill>
                <a:latin typeface="+mj-lt"/>
                <a:ea typeface="+mj-ea"/>
                <a:cs typeface="+mj-cs"/>
              </a:rPr>
              <a:t>Sensitive </a:t>
            </a:r>
            <a:r>
              <a:rPr lang="en-US" sz="4000" dirty="0">
                <a:solidFill>
                  <a:srgbClr val="FFFFFF"/>
                </a:solidFill>
              </a:rPr>
              <a:t>D</a:t>
            </a:r>
            <a:r>
              <a:rPr lang="en-US" sz="4000" kern="1200" dirty="0">
                <a:solidFill>
                  <a:srgbClr val="FFFFFF"/>
                </a:solidFill>
                <a:latin typeface="+mj-lt"/>
                <a:ea typeface="+mj-ea"/>
                <a:cs typeface="+mj-cs"/>
              </a:rPr>
              <a:t>ata Exposure</a:t>
            </a:r>
          </a:p>
        </p:txBody>
      </p:sp>
      <p:sp>
        <p:nvSpPr>
          <p:cNvPr id="3" name="Title 1">
            <a:extLst>
              <a:ext uri="{FF2B5EF4-FFF2-40B4-BE49-F238E27FC236}">
                <a16:creationId xmlns:a16="http://schemas.microsoft.com/office/drawing/2014/main" id="{2620B977-7976-F891-4DD4-B86AE0B69DE5}"/>
              </a:ext>
            </a:extLst>
          </p:cNvPr>
          <p:cNvSpPr txBox="1">
            <a:spLocks/>
          </p:cNvSpPr>
          <p:nvPr/>
        </p:nvSpPr>
        <p:spPr>
          <a:xfrm>
            <a:off x="587375" y="14605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Sensitive Data Exposure</a:t>
            </a:r>
          </a:p>
        </p:txBody>
      </p:sp>
      <p:sp>
        <p:nvSpPr>
          <p:cNvPr id="4" name="Rectangle 3">
            <a:extLst>
              <a:ext uri="{FF2B5EF4-FFF2-40B4-BE49-F238E27FC236}">
                <a16:creationId xmlns:a16="http://schemas.microsoft.com/office/drawing/2014/main" id="{CCF44CC2-1690-F8DC-0F88-9820F95592D4}"/>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2A354D1-38A8-BEBB-54CF-AA4AAF6C7005}"/>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pic>
        <p:nvPicPr>
          <p:cNvPr id="12" name="Picture 11" descr="A close-up of a code&#10;&#10;Description automatically generated">
            <a:extLst>
              <a:ext uri="{FF2B5EF4-FFF2-40B4-BE49-F238E27FC236}">
                <a16:creationId xmlns:a16="http://schemas.microsoft.com/office/drawing/2014/main" id="{42B01C84-C596-307C-556F-039D13729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780" y="2110671"/>
            <a:ext cx="5575300" cy="2908300"/>
          </a:xfrm>
          <a:prstGeom prst="rect">
            <a:avLst/>
          </a:prstGeom>
          <a:effectLst>
            <a:outerShdw blurRad="63500" sx="102000" sy="102000" algn="ctr" rotWithShape="0">
              <a:prstClr val="black">
                <a:alpha val="40000"/>
              </a:prstClr>
            </a:outerShdw>
          </a:effectLst>
        </p:spPr>
      </p:pic>
      <p:pic>
        <p:nvPicPr>
          <p:cNvPr id="14" name="Picture 13" descr="A computer code with many letters&#10;&#10;Description automatically generated with medium confidence">
            <a:extLst>
              <a:ext uri="{FF2B5EF4-FFF2-40B4-BE49-F238E27FC236}">
                <a16:creationId xmlns:a16="http://schemas.microsoft.com/office/drawing/2014/main" id="{533C1EBE-09DB-CE65-FC00-5782452A60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0663" y="1103726"/>
            <a:ext cx="5233962" cy="528467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88724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C34D26E-2C18-B4C3-D06F-58CCABE2DA3F}"/>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Parameter Tampering</a:t>
            </a:r>
          </a:p>
        </p:txBody>
      </p:sp>
      <p:sp>
        <p:nvSpPr>
          <p:cNvPr id="4" name="Rectangle 3">
            <a:extLst>
              <a:ext uri="{FF2B5EF4-FFF2-40B4-BE49-F238E27FC236}">
                <a16:creationId xmlns:a16="http://schemas.microsoft.com/office/drawing/2014/main" id="{CEAC2707-5F5B-4380-64F3-A258B3BDCF2F}"/>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0623C4A-9019-1240-7BE4-2438683B3755}"/>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pic>
        <p:nvPicPr>
          <p:cNvPr id="12" name="Picture 11" descr="A screenshot of a computer program&#10;&#10;Description automatically generated">
            <a:extLst>
              <a:ext uri="{FF2B5EF4-FFF2-40B4-BE49-F238E27FC236}">
                <a16:creationId xmlns:a16="http://schemas.microsoft.com/office/drawing/2014/main" id="{327FF45E-1B51-2713-15C8-3F0C06E06E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474" y="1221487"/>
            <a:ext cx="11423051" cy="5121708"/>
          </a:xfrm>
          <a:prstGeom prst="rect">
            <a:avLst/>
          </a:prstGeom>
        </p:spPr>
      </p:pic>
    </p:spTree>
    <p:extLst>
      <p:ext uri="{BB962C8B-B14F-4D97-AF65-F5344CB8AC3E}">
        <p14:creationId xmlns:p14="http://schemas.microsoft.com/office/powerpoint/2010/main" val="824432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3B22D2A-EE3B-C551-5ED6-EED9A4CAE66B}"/>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XSS Attack</a:t>
            </a:r>
          </a:p>
        </p:txBody>
      </p:sp>
      <p:sp>
        <p:nvSpPr>
          <p:cNvPr id="4" name="Rectangle 3">
            <a:extLst>
              <a:ext uri="{FF2B5EF4-FFF2-40B4-BE49-F238E27FC236}">
                <a16:creationId xmlns:a16="http://schemas.microsoft.com/office/drawing/2014/main" id="{FEF517CF-6406-0C08-1323-8306C2AA0677}"/>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051FF6A-26CD-C775-4DF2-3C0E51F7B423}"/>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pic>
        <p:nvPicPr>
          <p:cNvPr id="6" name="Picture 5" descr="A computer screen with a computer code&#10;&#10;Description automatically generated with medium confidence">
            <a:extLst>
              <a:ext uri="{FF2B5EF4-FFF2-40B4-BE49-F238E27FC236}">
                <a16:creationId xmlns:a16="http://schemas.microsoft.com/office/drawing/2014/main" id="{C9161EA5-C5AE-5A7E-C5A3-A45E44BD61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9" y="1056169"/>
            <a:ext cx="9443107" cy="5500576"/>
          </a:xfrm>
          <a:prstGeom prst="rect">
            <a:avLst/>
          </a:prstGeom>
        </p:spPr>
      </p:pic>
    </p:spTree>
    <p:extLst>
      <p:ext uri="{BB962C8B-B14F-4D97-AF65-F5344CB8AC3E}">
        <p14:creationId xmlns:p14="http://schemas.microsoft.com/office/powerpoint/2010/main" val="231327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8DC5D0-D115-C9E7-0CEE-FE59BFCF49BD}"/>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Watering Hole Attack </a:t>
            </a:r>
          </a:p>
        </p:txBody>
      </p:sp>
      <p:sp>
        <p:nvSpPr>
          <p:cNvPr id="4" name="Rectangle 3">
            <a:extLst>
              <a:ext uri="{FF2B5EF4-FFF2-40B4-BE49-F238E27FC236}">
                <a16:creationId xmlns:a16="http://schemas.microsoft.com/office/drawing/2014/main" id="{194426BF-0D5D-06CC-E545-B7F776909788}"/>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54EC0D6-4AA8-E6AD-0BC3-B293F69D4D97}"/>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pic>
        <p:nvPicPr>
          <p:cNvPr id="9" name="Picture 8" descr="A person with a computer&#10;&#10;Description automatically generated">
            <a:extLst>
              <a:ext uri="{FF2B5EF4-FFF2-40B4-BE49-F238E27FC236}">
                <a16:creationId xmlns:a16="http://schemas.microsoft.com/office/drawing/2014/main" id="{1C46F27B-6498-5072-3448-F618E223E693}"/>
              </a:ext>
            </a:extLst>
          </p:cNvPr>
          <p:cNvPicPr>
            <a:picLocks noChangeAspect="1"/>
          </p:cNvPicPr>
          <p:nvPr/>
        </p:nvPicPr>
        <p:blipFill rotWithShape="1">
          <a:blip r:embed="rId3">
            <a:extLst>
              <a:ext uri="{28A0092B-C50C-407E-A947-70E740481C1C}">
                <a14:useLocalDpi xmlns:a14="http://schemas.microsoft.com/office/drawing/2010/main" val="0"/>
              </a:ext>
            </a:extLst>
          </a:blip>
          <a:srcRect r="42431"/>
          <a:stretch/>
        </p:blipFill>
        <p:spPr>
          <a:xfrm>
            <a:off x="971038" y="1148057"/>
            <a:ext cx="7982331" cy="2569617"/>
          </a:xfrm>
          <a:prstGeom prst="rect">
            <a:avLst/>
          </a:prstGeom>
        </p:spPr>
      </p:pic>
      <p:pic>
        <p:nvPicPr>
          <p:cNvPr id="15" name="Picture 14" descr="A computer server logo with virus&#10;&#10;Description automatically generated">
            <a:extLst>
              <a:ext uri="{FF2B5EF4-FFF2-40B4-BE49-F238E27FC236}">
                <a16:creationId xmlns:a16="http://schemas.microsoft.com/office/drawing/2014/main" id="{D6461DF6-385B-CF93-B3EA-86CCC5BA18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2595" y="3429000"/>
            <a:ext cx="2508511" cy="2789314"/>
          </a:xfrm>
          <a:prstGeom prst="rect">
            <a:avLst/>
          </a:prstGeom>
        </p:spPr>
      </p:pic>
      <p:pic>
        <p:nvPicPr>
          <p:cNvPr id="17" name="Picture 16" descr="A close up of black text&#10;&#10;Description automatically generated">
            <a:extLst>
              <a:ext uri="{FF2B5EF4-FFF2-40B4-BE49-F238E27FC236}">
                <a16:creationId xmlns:a16="http://schemas.microsoft.com/office/drawing/2014/main" id="{78B4C776-C043-A8BF-ABD1-23420B3AAC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13650" y="3948694"/>
            <a:ext cx="2500884" cy="823722"/>
          </a:xfrm>
          <a:prstGeom prst="rect">
            <a:avLst/>
          </a:prstGeom>
        </p:spPr>
      </p:pic>
      <p:pic>
        <p:nvPicPr>
          <p:cNvPr id="26" name="Picture 25">
            <a:extLst>
              <a:ext uri="{FF2B5EF4-FFF2-40B4-BE49-F238E27FC236}">
                <a16:creationId xmlns:a16="http://schemas.microsoft.com/office/drawing/2014/main" id="{F089A20A-118E-1955-DEEE-9D560A07EA72}"/>
              </a:ext>
            </a:extLst>
          </p:cNvPr>
          <p:cNvPicPr>
            <a:picLocks noChangeAspect="1"/>
          </p:cNvPicPr>
          <p:nvPr/>
        </p:nvPicPr>
        <p:blipFill rotWithShape="1">
          <a:blip r:embed="rId6">
            <a:extLst>
              <a:ext uri="{28A0092B-C50C-407E-A947-70E740481C1C}">
                <a14:useLocalDpi xmlns:a14="http://schemas.microsoft.com/office/drawing/2010/main" val="0"/>
              </a:ext>
            </a:extLst>
          </a:blip>
          <a:srcRect l="50031" t="6696" b="-1"/>
          <a:stretch/>
        </p:blipFill>
        <p:spPr>
          <a:xfrm>
            <a:off x="7162892" y="5034154"/>
            <a:ext cx="2316387" cy="261610"/>
          </a:xfrm>
          <a:prstGeom prst="rect">
            <a:avLst/>
          </a:prstGeom>
        </p:spPr>
      </p:pic>
      <p:pic>
        <p:nvPicPr>
          <p:cNvPr id="27" name="Picture 26">
            <a:extLst>
              <a:ext uri="{FF2B5EF4-FFF2-40B4-BE49-F238E27FC236}">
                <a16:creationId xmlns:a16="http://schemas.microsoft.com/office/drawing/2014/main" id="{2E5B9CF7-674A-8998-72F3-8AA9D0EA9033}"/>
              </a:ext>
            </a:extLst>
          </p:cNvPr>
          <p:cNvPicPr>
            <a:picLocks noChangeAspect="1"/>
          </p:cNvPicPr>
          <p:nvPr/>
        </p:nvPicPr>
        <p:blipFill rotWithShape="1">
          <a:blip r:embed="rId6">
            <a:extLst>
              <a:ext uri="{28A0092B-C50C-407E-A947-70E740481C1C}">
                <a14:useLocalDpi xmlns:a14="http://schemas.microsoft.com/office/drawing/2010/main" val="0"/>
              </a:ext>
            </a:extLst>
          </a:blip>
          <a:srcRect l="27015" t="19762" r="34853" b="60483"/>
          <a:stretch/>
        </p:blipFill>
        <p:spPr>
          <a:xfrm rot="5400000">
            <a:off x="6232713" y="4104292"/>
            <a:ext cx="1963642" cy="103284"/>
          </a:xfrm>
          <a:prstGeom prst="rect">
            <a:avLst/>
          </a:prstGeom>
        </p:spPr>
      </p:pic>
    </p:spTree>
    <p:extLst>
      <p:ext uri="{BB962C8B-B14F-4D97-AF65-F5344CB8AC3E}">
        <p14:creationId xmlns:p14="http://schemas.microsoft.com/office/powerpoint/2010/main" val="3246253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7CFC18D-5AC0-9D53-B23F-9F2B6BAF9162}"/>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Directory Traversal Attack </a:t>
            </a:r>
          </a:p>
        </p:txBody>
      </p:sp>
      <p:sp>
        <p:nvSpPr>
          <p:cNvPr id="4" name="Rectangle 3">
            <a:extLst>
              <a:ext uri="{FF2B5EF4-FFF2-40B4-BE49-F238E27FC236}">
                <a16:creationId xmlns:a16="http://schemas.microsoft.com/office/drawing/2014/main" id="{EDDA5FA4-3022-B36D-4CA6-546CF0E0EA89}"/>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D887A68-4712-2545-5030-1D8B4A47F538}"/>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pic>
        <p:nvPicPr>
          <p:cNvPr id="9" name="Picture 8" descr="A diagram of a cloud server&#10;&#10;Description automatically generated">
            <a:extLst>
              <a:ext uri="{FF2B5EF4-FFF2-40B4-BE49-F238E27FC236}">
                <a16:creationId xmlns:a16="http://schemas.microsoft.com/office/drawing/2014/main" id="{41E3E142-5288-368C-EFB8-066DB06F72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99" y="1891430"/>
            <a:ext cx="11756401" cy="2843408"/>
          </a:xfrm>
          <a:prstGeom prst="rect">
            <a:avLst/>
          </a:prstGeom>
        </p:spPr>
      </p:pic>
    </p:spTree>
    <p:extLst>
      <p:ext uri="{BB962C8B-B14F-4D97-AF65-F5344CB8AC3E}">
        <p14:creationId xmlns:p14="http://schemas.microsoft.com/office/powerpoint/2010/main" val="1246381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A5115A-C69B-851F-721A-3C59AA6F1546}"/>
              </a:ext>
            </a:extLst>
          </p:cNvPr>
          <p:cNvSpPr txBox="1">
            <a:spLocks/>
          </p:cNvSpPr>
          <p:nvPr/>
        </p:nvSpPr>
        <p:spPr>
          <a:xfrm>
            <a:off x="587375" y="133720"/>
            <a:ext cx="11017250" cy="87312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mn-lt"/>
              </a:rPr>
              <a:t>Web Shells</a:t>
            </a:r>
          </a:p>
        </p:txBody>
      </p:sp>
      <p:sp>
        <p:nvSpPr>
          <p:cNvPr id="6" name="Rectangle 5">
            <a:extLst>
              <a:ext uri="{FF2B5EF4-FFF2-40B4-BE49-F238E27FC236}">
                <a16:creationId xmlns:a16="http://schemas.microsoft.com/office/drawing/2014/main" id="{53180F09-02A3-7EF6-987C-BD65B9F21980}"/>
              </a:ext>
            </a:extLst>
          </p:cNvPr>
          <p:cNvSpPr/>
          <p:nvPr/>
        </p:nvSpPr>
        <p:spPr>
          <a:xfrm>
            <a:off x="0" y="0"/>
            <a:ext cx="488515" cy="1006845"/>
          </a:xfrm>
          <a:prstGeom prst="rect">
            <a:avLst/>
          </a:prstGeom>
          <a:solidFill>
            <a:srgbClr val="575F8D"/>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B751CBB-105B-466A-FA50-2BD4BD2A9F2B}"/>
              </a:ext>
            </a:extLst>
          </p:cNvPr>
          <p:cNvSpPr txBox="1"/>
          <p:nvPr/>
        </p:nvSpPr>
        <p:spPr>
          <a:xfrm>
            <a:off x="4416552" y="6557837"/>
            <a:ext cx="7772400" cy="261610"/>
          </a:xfrm>
          <a:prstGeom prst="rect">
            <a:avLst/>
          </a:prstGeom>
          <a:noFill/>
        </p:spPr>
        <p:txBody>
          <a:bodyPr wrap="square">
            <a:spAutoFit/>
          </a:bodyPr>
          <a:lstStyle/>
          <a:p>
            <a:pPr algn="r"/>
            <a:r>
              <a:rPr lang="en-US" sz="1100" dirty="0">
                <a:solidFill>
                  <a:srgbClr val="000000"/>
                </a:solidFill>
                <a:effectLst/>
              </a:rPr>
              <a:t>Ethical Hacking and Countermeasures Copyright © by </a:t>
            </a:r>
            <a:r>
              <a:rPr lang="en-US" sz="1100" b="1" dirty="0">
                <a:solidFill>
                  <a:srgbClr val="000000"/>
                </a:solidFill>
                <a:effectLst/>
              </a:rPr>
              <a:t>EC-Counci</a:t>
            </a:r>
            <a:r>
              <a:rPr lang="en-US" sz="1100" b="1" dirty="0">
                <a:solidFill>
                  <a:srgbClr val="000000"/>
                </a:solidFill>
              </a:rPr>
              <a:t>l. </a:t>
            </a:r>
            <a:r>
              <a:rPr lang="en-US" sz="1100" dirty="0">
                <a:solidFill>
                  <a:srgbClr val="000000"/>
                </a:solidFill>
                <a:effectLst/>
              </a:rPr>
              <a:t>All Rights Reserved. Reproduction is Strictly Prohibited.</a:t>
            </a:r>
          </a:p>
        </p:txBody>
      </p:sp>
      <p:pic>
        <p:nvPicPr>
          <p:cNvPr id="16" name="Picture 15" descr="A screenshot of a computer&#10;&#10;Description automatically generated">
            <a:extLst>
              <a:ext uri="{FF2B5EF4-FFF2-40B4-BE49-F238E27FC236}">
                <a16:creationId xmlns:a16="http://schemas.microsoft.com/office/drawing/2014/main" id="{69C20E2F-43DE-FF1A-2D90-E4BB50CD12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1896" y="1567503"/>
            <a:ext cx="7308376" cy="4429675"/>
          </a:xfrm>
          <a:prstGeom prst="rect">
            <a:avLst/>
          </a:prstGeom>
        </p:spPr>
      </p:pic>
      <p:sp>
        <p:nvSpPr>
          <p:cNvPr id="17" name="Rectangle 16">
            <a:extLst>
              <a:ext uri="{FF2B5EF4-FFF2-40B4-BE49-F238E27FC236}">
                <a16:creationId xmlns:a16="http://schemas.microsoft.com/office/drawing/2014/main" id="{AAACF1C0-8580-BB3A-7ED7-9A99FD145818}"/>
              </a:ext>
            </a:extLst>
          </p:cNvPr>
          <p:cNvSpPr/>
          <p:nvPr/>
        </p:nvSpPr>
        <p:spPr>
          <a:xfrm>
            <a:off x="361728" y="1252602"/>
            <a:ext cx="3796913" cy="1503123"/>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Clr>
                <a:schemeClr val="accent2"/>
              </a:buClr>
              <a:buSzPct val="125000"/>
              <a:buFont typeface="Wingdings" pitchFamily="2" charset="2"/>
              <a:buChar char="§"/>
            </a:pPr>
            <a:r>
              <a:rPr lang="en-US" sz="1600" dirty="0" err="1">
                <a:solidFill>
                  <a:schemeClr val="tx1"/>
                </a:solidFill>
              </a:rPr>
              <a:t>Mailcious</a:t>
            </a:r>
            <a:r>
              <a:rPr lang="en-US" sz="1600" dirty="0">
                <a:solidFill>
                  <a:schemeClr val="tx1"/>
                </a:solidFill>
              </a:rPr>
              <a:t> piece of code or script</a:t>
            </a:r>
          </a:p>
          <a:p>
            <a:pPr marL="285750" indent="-285750">
              <a:buClr>
                <a:schemeClr val="accent2"/>
              </a:buClr>
              <a:buSzPct val="125000"/>
              <a:buFont typeface="Wingdings" pitchFamily="2" charset="2"/>
              <a:buChar char="§"/>
            </a:pPr>
            <a:r>
              <a:rPr lang="en-US" sz="1600" dirty="0">
                <a:solidFill>
                  <a:schemeClr val="tx1"/>
                </a:solidFill>
              </a:rPr>
              <a:t>Written in server-side languages (PHP, ASP, PERL, RUBY, Python)</a:t>
            </a:r>
          </a:p>
          <a:p>
            <a:pPr marL="285750" indent="-285750">
              <a:buClr>
                <a:schemeClr val="accent2"/>
              </a:buClr>
              <a:buSzPct val="125000"/>
              <a:buFont typeface="Wingdings" pitchFamily="2" charset="2"/>
              <a:buChar char="§"/>
            </a:pPr>
            <a:r>
              <a:rPr lang="en-US" sz="1600" dirty="0">
                <a:solidFill>
                  <a:schemeClr val="tx1"/>
                </a:solidFill>
              </a:rPr>
              <a:t>Installed on a target server</a:t>
            </a:r>
          </a:p>
        </p:txBody>
      </p:sp>
      <p:sp>
        <p:nvSpPr>
          <p:cNvPr id="18" name="Rectangle 17">
            <a:extLst>
              <a:ext uri="{FF2B5EF4-FFF2-40B4-BE49-F238E27FC236}">
                <a16:creationId xmlns:a16="http://schemas.microsoft.com/office/drawing/2014/main" id="{D6AA3852-A539-8A64-FE12-09C4CF504D0A}"/>
              </a:ext>
            </a:extLst>
          </p:cNvPr>
          <p:cNvSpPr/>
          <p:nvPr/>
        </p:nvSpPr>
        <p:spPr>
          <a:xfrm>
            <a:off x="361728" y="3006245"/>
            <a:ext cx="3796913" cy="3551591"/>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buClr>
                <a:schemeClr val="accent2"/>
              </a:buClr>
              <a:buSzPct val="125000"/>
            </a:pPr>
            <a:r>
              <a:rPr lang="en-US" b="1" dirty="0">
                <a:solidFill>
                  <a:schemeClr val="accent2"/>
                </a:solidFill>
              </a:rPr>
              <a:t>Common Tools</a:t>
            </a:r>
            <a:endParaRPr lang="en-US" b="1" dirty="0">
              <a:solidFill>
                <a:schemeClr val="tx1"/>
              </a:solidFill>
            </a:endParaRPr>
          </a:p>
          <a:p>
            <a:pPr marL="285750" indent="-285750">
              <a:spcAft>
                <a:spcPts val="600"/>
              </a:spcAft>
              <a:buClr>
                <a:schemeClr val="accent2"/>
              </a:buClr>
              <a:buSzPct val="125000"/>
              <a:buFont typeface="Wingdings" pitchFamily="2" charset="2"/>
              <a:buChar char="§"/>
            </a:pPr>
            <a:r>
              <a:rPr lang="en-US" sz="1800" dirty="0">
                <a:solidFill>
                  <a:schemeClr val="tx1"/>
                </a:solidFill>
              </a:rPr>
              <a:t>WSO </a:t>
            </a:r>
            <a:r>
              <a:rPr lang="en-US" sz="1800" dirty="0" err="1">
                <a:solidFill>
                  <a:schemeClr val="tx1"/>
                </a:solidFill>
              </a:rPr>
              <a:t>Php</a:t>
            </a:r>
            <a:r>
              <a:rPr lang="en-US" sz="1800" dirty="0">
                <a:solidFill>
                  <a:schemeClr val="tx1"/>
                </a:solidFill>
              </a:rPr>
              <a:t> </a:t>
            </a:r>
            <a:r>
              <a:rPr lang="en-US" sz="1800" dirty="0" err="1">
                <a:solidFill>
                  <a:schemeClr val="tx1"/>
                </a:solidFill>
              </a:rPr>
              <a:t>Webshell</a:t>
            </a:r>
            <a:r>
              <a:rPr lang="en-US" sz="1800" dirty="0">
                <a:solidFill>
                  <a:schemeClr val="tx1"/>
                </a:solidFill>
              </a:rPr>
              <a:t> </a:t>
            </a:r>
            <a:r>
              <a:rPr lang="en-US" sz="1400" dirty="0">
                <a:solidFill>
                  <a:schemeClr val="tx1"/>
                </a:solidFill>
              </a:rPr>
              <a:t>(https://</a:t>
            </a:r>
            <a:r>
              <a:rPr lang="en-US" sz="1400" dirty="0" err="1">
                <a:solidFill>
                  <a:schemeClr val="tx1"/>
                </a:solidFill>
              </a:rPr>
              <a:t>github.com</a:t>
            </a:r>
            <a:r>
              <a:rPr lang="en-US" sz="1400" dirty="0">
                <a:solidFill>
                  <a:schemeClr val="tx1"/>
                </a:solidFill>
              </a:rPr>
              <a:t>) </a:t>
            </a:r>
            <a:endParaRPr lang="en-US" sz="1800" dirty="0">
              <a:solidFill>
                <a:schemeClr val="tx1"/>
              </a:solidFill>
            </a:endParaRPr>
          </a:p>
          <a:p>
            <a:pPr marL="285750" indent="-285750">
              <a:spcAft>
                <a:spcPts val="600"/>
              </a:spcAft>
              <a:buClr>
                <a:schemeClr val="accent2"/>
              </a:buClr>
              <a:buSzPct val="125000"/>
              <a:buFont typeface="Wingdings" pitchFamily="2" charset="2"/>
              <a:buChar char="§"/>
            </a:pPr>
            <a:r>
              <a:rPr lang="en-US" dirty="0">
                <a:solidFill>
                  <a:schemeClr val="tx1"/>
                </a:solidFill>
              </a:rPr>
              <a:t>b374k </a:t>
            </a:r>
            <a:r>
              <a:rPr lang="en-US" sz="1400" dirty="0">
                <a:solidFill>
                  <a:schemeClr val="tx1"/>
                </a:solidFill>
              </a:rPr>
              <a:t>(https://</a:t>
            </a:r>
            <a:r>
              <a:rPr lang="en-US" sz="1400" dirty="0" err="1">
                <a:solidFill>
                  <a:schemeClr val="tx1"/>
                </a:solidFill>
              </a:rPr>
              <a:t>github.com</a:t>
            </a:r>
            <a:r>
              <a:rPr lang="en-US" sz="1400" dirty="0">
                <a:solidFill>
                  <a:schemeClr val="tx1"/>
                </a:solidFill>
              </a:rPr>
              <a:t>)</a:t>
            </a:r>
          </a:p>
          <a:p>
            <a:pPr marL="285750" indent="-285750">
              <a:spcAft>
                <a:spcPts val="600"/>
              </a:spcAft>
              <a:buClr>
                <a:schemeClr val="accent2"/>
              </a:buClr>
              <a:buSzPct val="125000"/>
              <a:buFont typeface="Wingdings" pitchFamily="2" charset="2"/>
              <a:buChar char="§"/>
            </a:pPr>
            <a:r>
              <a:rPr lang="en-US" dirty="0">
                <a:solidFill>
                  <a:schemeClr val="tx1"/>
                </a:solidFill>
              </a:rPr>
              <a:t>C99 </a:t>
            </a:r>
            <a:r>
              <a:rPr lang="en-US" sz="1400" dirty="0">
                <a:solidFill>
                  <a:schemeClr val="tx1"/>
                </a:solidFill>
              </a:rPr>
              <a:t>(https://</a:t>
            </a:r>
            <a:r>
              <a:rPr lang="en-US" sz="1400" dirty="0" err="1">
                <a:solidFill>
                  <a:schemeClr val="tx1"/>
                </a:solidFill>
              </a:rPr>
              <a:t>github.com</a:t>
            </a:r>
            <a:r>
              <a:rPr lang="en-US" sz="1400" dirty="0">
                <a:solidFill>
                  <a:schemeClr val="tx1"/>
                </a:solidFill>
              </a:rPr>
              <a:t>)</a:t>
            </a:r>
          </a:p>
          <a:p>
            <a:pPr marL="285750" indent="-285750">
              <a:spcAft>
                <a:spcPts val="600"/>
              </a:spcAft>
              <a:buClr>
                <a:schemeClr val="accent2"/>
              </a:buClr>
              <a:buSzPct val="125000"/>
              <a:buFont typeface="Wingdings" pitchFamily="2" charset="2"/>
              <a:buChar char="§"/>
            </a:pPr>
            <a:r>
              <a:rPr lang="en-US" dirty="0">
                <a:solidFill>
                  <a:schemeClr val="tx1"/>
                </a:solidFill>
              </a:rPr>
              <a:t>China Chopper </a:t>
            </a:r>
            <a:r>
              <a:rPr lang="en-US" sz="1400" dirty="0">
                <a:solidFill>
                  <a:schemeClr val="tx1"/>
                </a:solidFill>
              </a:rPr>
              <a:t>(https://</a:t>
            </a:r>
            <a:r>
              <a:rPr lang="en-US" sz="1400" dirty="0" err="1">
                <a:solidFill>
                  <a:schemeClr val="tx1"/>
                </a:solidFill>
              </a:rPr>
              <a:t>www.fireeye.com</a:t>
            </a:r>
            <a:r>
              <a:rPr lang="en-US" sz="1400" dirty="0">
                <a:solidFill>
                  <a:schemeClr val="tx1"/>
                </a:solidFill>
              </a:rPr>
              <a:t>)</a:t>
            </a:r>
          </a:p>
          <a:p>
            <a:pPr marL="285750" indent="-285750">
              <a:spcAft>
                <a:spcPts val="600"/>
              </a:spcAft>
              <a:buClr>
                <a:schemeClr val="accent2"/>
              </a:buClr>
              <a:buSzPct val="125000"/>
              <a:buFont typeface="Wingdings" pitchFamily="2" charset="2"/>
              <a:buChar char="§"/>
            </a:pPr>
            <a:r>
              <a:rPr lang="en-US" dirty="0">
                <a:solidFill>
                  <a:schemeClr val="tx1"/>
                </a:solidFill>
              </a:rPr>
              <a:t>R57 </a:t>
            </a:r>
            <a:r>
              <a:rPr lang="en-US" sz="1400" dirty="0">
                <a:solidFill>
                  <a:schemeClr val="tx1"/>
                </a:solidFill>
              </a:rPr>
              <a:t>(https://</a:t>
            </a:r>
            <a:r>
              <a:rPr lang="en-US" sz="1400" dirty="0" err="1">
                <a:solidFill>
                  <a:schemeClr val="tx1"/>
                </a:solidFill>
              </a:rPr>
              <a:t>github.com</a:t>
            </a:r>
            <a:r>
              <a:rPr lang="en-US" sz="1400" dirty="0">
                <a:solidFill>
                  <a:schemeClr val="tx1"/>
                </a:solidFill>
              </a:rPr>
              <a:t>)</a:t>
            </a:r>
          </a:p>
          <a:p>
            <a:pPr marL="285750" indent="-285750">
              <a:spcAft>
                <a:spcPts val="600"/>
              </a:spcAft>
              <a:buClr>
                <a:schemeClr val="accent2"/>
              </a:buClr>
              <a:buSzPct val="125000"/>
              <a:buFont typeface="Wingdings" pitchFamily="2" charset="2"/>
              <a:buChar char="§"/>
            </a:pPr>
            <a:r>
              <a:rPr lang="en-US" dirty="0" err="1">
                <a:solidFill>
                  <a:schemeClr val="tx1"/>
                </a:solidFill>
              </a:rPr>
              <a:t>Pouya</a:t>
            </a:r>
            <a:r>
              <a:rPr lang="en-US" dirty="0">
                <a:solidFill>
                  <a:schemeClr val="tx1"/>
                </a:solidFill>
              </a:rPr>
              <a:t> ASP Web Shell </a:t>
            </a:r>
            <a:r>
              <a:rPr lang="en-US" sz="1400" dirty="0">
                <a:solidFill>
                  <a:schemeClr val="tx1"/>
                </a:solidFill>
              </a:rPr>
              <a:t>(</a:t>
            </a:r>
            <a:r>
              <a:rPr lang="en-US" sz="1400" dirty="0">
                <a:solidFill>
                  <a:schemeClr val="tx1"/>
                </a:solidFill>
                <a:hlinkClick r:id="rId4">
                  <a:extLst>
                    <a:ext uri="{A12FA001-AC4F-418D-AE19-62706E023703}">
                      <ahyp:hlinkClr xmlns:ahyp="http://schemas.microsoft.com/office/drawing/2018/hyperlinkcolor" val="tx"/>
                    </a:ext>
                  </a:extLst>
                </a:hlinkClick>
              </a:rPr>
              <a:t>https://github.com</a:t>
            </a:r>
            <a:r>
              <a:rPr lang="en-US" sz="1400" dirty="0">
                <a:solidFill>
                  <a:schemeClr val="tx1"/>
                </a:solidFill>
              </a:rPr>
              <a:t>)</a:t>
            </a:r>
          </a:p>
          <a:p>
            <a:pPr marL="285750" indent="-285750">
              <a:spcAft>
                <a:spcPts val="600"/>
              </a:spcAft>
              <a:buClr>
                <a:schemeClr val="accent2"/>
              </a:buClr>
              <a:buSzPct val="125000"/>
              <a:buFont typeface="Wingdings" pitchFamily="2" charset="2"/>
              <a:buChar char="§"/>
            </a:pPr>
            <a:r>
              <a:rPr lang="en-US" dirty="0" err="1">
                <a:solidFill>
                  <a:schemeClr val="tx1"/>
                </a:solidFill>
              </a:rPr>
              <a:t>Weevely</a:t>
            </a:r>
            <a:r>
              <a:rPr lang="en-US" dirty="0">
                <a:solidFill>
                  <a:schemeClr val="tx1"/>
                </a:solidFill>
              </a:rPr>
              <a:t> </a:t>
            </a:r>
            <a:r>
              <a:rPr lang="en-US" sz="1400" dirty="0">
                <a:solidFill>
                  <a:schemeClr val="tx1"/>
                </a:solidFill>
              </a:rPr>
              <a:t>(https://</a:t>
            </a:r>
            <a:r>
              <a:rPr lang="en-US" sz="1400" dirty="0" err="1">
                <a:solidFill>
                  <a:schemeClr val="tx1"/>
                </a:solidFill>
              </a:rPr>
              <a:t>github.com</a:t>
            </a:r>
            <a:r>
              <a:rPr lang="en-US" sz="1400" dirty="0">
                <a:solidFill>
                  <a:schemeClr val="tx1"/>
                </a:solidFill>
              </a:rPr>
              <a:t>)</a:t>
            </a:r>
          </a:p>
          <a:p>
            <a:pPr marL="285750" indent="-285750" algn="ctr">
              <a:buClr>
                <a:schemeClr val="accent2"/>
              </a:buClr>
              <a:buSzPct val="125000"/>
              <a:buFont typeface="Wingdings" pitchFamily="2" charset="2"/>
              <a:buChar char="§"/>
            </a:pPr>
            <a:endParaRPr lang="en-US" dirty="0">
              <a:solidFill>
                <a:schemeClr val="tx1"/>
              </a:solidFill>
            </a:endParaRPr>
          </a:p>
          <a:p>
            <a:pPr algn="ctr">
              <a:buClr>
                <a:schemeClr val="accent2"/>
              </a:buClr>
              <a:buSzPct val="125000"/>
            </a:pPr>
            <a:endParaRPr lang="en-US" dirty="0">
              <a:solidFill>
                <a:schemeClr val="accent2"/>
              </a:solidFill>
            </a:endParaRPr>
          </a:p>
        </p:txBody>
      </p:sp>
    </p:spTree>
    <p:extLst>
      <p:ext uri="{BB962C8B-B14F-4D97-AF65-F5344CB8AC3E}">
        <p14:creationId xmlns:p14="http://schemas.microsoft.com/office/powerpoint/2010/main" val="724842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9A319-1AF1-3533-0E69-550A9D923CA6}"/>
              </a:ext>
            </a:extLst>
          </p:cNvPr>
          <p:cNvSpPr>
            <a:spLocks noGrp="1"/>
          </p:cNvSpPr>
          <p:nvPr>
            <p:ph type="title"/>
          </p:nvPr>
        </p:nvSpPr>
        <p:spPr/>
        <p:txBody>
          <a:bodyPr/>
          <a:lstStyle/>
          <a:p>
            <a:r>
              <a:rPr lang="en-US" dirty="0"/>
              <a:t>CEHv13 Update – Advanced Web App Attack Vectors</a:t>
            </a:r>
          </a:p>
        </p:txBody>
      </p:sp>
      <p:sp>
        <p:nvSpPr>
          <p:cNvPr id="4" name="Rectangle 1">
            <a:extLst>
              <a:ext uri="{FF2B5EF4-FFF2-40B4-BE49-F238E27FC236}">
                <a16:creationId xmlns:a16="http://schemas.microsoft.com/office/drawing/2014/main" id="{9260AA8F-EF10-26E4-0BF1-C493D8747EF7}"/>
              </a:ext>
            </a:extLst>
          </p:cNvPr>
          <p:cNvSpPr>
            <a:spLocks noGrp="1" noChangeArrowheads="1"/>
          </p:cNvSpPr>
          <p:nvPr>
            <p:ph idx="1"/>
          </p:nvPr>
        </p:nvSpPr>
        <p:spPr bwMode="auto">
          <a:xfrm>
            <a:off x="726233" y="1857602"/>
            <a:ext cx="1087171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CEHv13 expands on modern attack types, including:</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API-specific vulnerabilities</a:t>
            </a:r>
            <a:r>
              <a:rPr kumimoji="0" lang="en-US" altLang="en-US" b="0" i="0" u="none" strike="noStrike" cap="none" normalizeH="0" baseline="0" dirty="0">
                <a:ln>
                  <a:noFill/>
                </a:ln>
                <a:solidFill>
                  <a:schemeClr val="tx1"/>
                </a:solidFill>
                <a:effectLst/>
              </a:rPr>
              <a:t> (e.g., broken object-level authorization, injection into REST/</a:t>
            </a:r>
            <a:r>
              <a:rPr kumimoji="0" lang="en-US" altLang="en-US" b="0" i="0" u="none" strike="noStrike" cap="none" normalizeH="0" baseline="0" dirty="0" err="1">
                <a:ln>
                  <a:noFill/>
                </a:ln>
                <a:solidFill>
                  <a:schemeClr val="tx1"/>
                </a:solidFill>
                <a:effectLst/>
              </a:rPr>
              <a:t>GraphQL</a:t>
            </a:r>
            <a:r>
              <a:rPr kumimoji="0" lang="en-US" altLang="en-US" b="0" i="0" u="none" strike="noStrike" cap="none" normalizeH="0" baseline="0" dirty="0">
                <a:ln>
                  <a:noFill/>
                </a:ln>
                <a:solidFill>
                  <a:schemeClr val="tx1"/>
                </a:solidFill>
                <a:effectLst/>
              </a:rPr>
              <a:t>)</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AI-generated fuzzing</a:t>
            </a:r>
            <a:r>
              <a:rPr kumimoji="0" lang="en-US" altLang="en-US" b="0" i="0" u="none" strike="noStrike" cap="none" normalizeH="0" baseline="0" dirty="0">
                <a:ln>
                  <a:noFill/>
                </a:ln>
                <a:solidFill>
                  <a:schemeClr val="tx1"/>
                </a:solidFill>
                <a:effectLst/>
              </a:rPr>
              <a:t> for input validation bypass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Increased use of </a:t>
            </a:r>
            <a:r>
              <a:rPr kumimoji="0" lang="en-US" altLang="en-US" b="1" i="0" u="none" strike="noStrike" cap="none" normalizeH="0" baseline="0" dirty="0">
                <a:ln>
                  <a:noFill/>
                </a:ln>
                <a:solidFill>
                  <a:schemeClr val="tx1"/>
                </a:solidFill>
                <a:effectLst/>
              </a:rPr>
              <a:t>client-side attacks</a:t>
            </a:r>
            <a:r>
              <a:rPr kumimoji="0" lang="en-US" altLang="en-US" b="0" i="0" u="none" strike="noStrike" cap="none" normalizeH="0" baseline="0" dirty="0">
                <a:ln>
                  <a:noFill/>
                </a:ln>
                <a:solidFill>
                  <a:schemeClr val="tx1"/>
                </a:solidFill>
                <a:effectLst/>
              </a:rPr>
              <a:t>: CSRF, clickjacking, JavaScript injection, and DNS rebinding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Emphasis on hybrid threats like:</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Watering hole attacks combined with credential harvesting</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Session poisoning across federated login services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Tools now include automated scanners like </a:t>
            </a:r>
            <a:r>
              <a:rPr kumimoji="0" lang="en-US" altLang="en-US" b="1" i="0" u="none" strike="noStrike" cap="none" normalizeH="0" baseline="0" dirty="0">
                <a:ln>
                  <a:noFill/>
                </a:ln>
                <a:solidFill>
                  <a:schemeClr val="tx1"/>
                </a:solidFill>
                <a:effectLst/>
              </a:rPr>
              <a:t>OWASP ZAP with ML-based plugin extensions</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935233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72458-6BB7-C23C-62B0-F5AD20C0AB6C}"/>
              </a:ext>
            </a:extLst>
          </p:cNvPr>
          <p:cNvSpPr>
            <a:spLocks noGrp="1"/>
          </p:cNvSpPr>
          <p:nvPr>
            <p:ph type="title"/>
          </p:nvPr>
        </p:nvSpPr>
        <p:spPr>
          <a:xfrm>
            <a:off x="838200" y="481857"/>
            <a:ext cx="10515600" cy="1325563"/>
          </a:xfrm>
        </p:spPr>
        <p:txBody>
          <a:bodyPr/>
          <a:lstStyle/>
          <a:p>
            <a:r>
              <a:rPr lang="en-US" dirty="0"/>
              <a:t>CEHv13 Update – Web App Defense &amp; </a:t>
            </a:r>
            <a:r>
              <a:rPr lang="en-US" dirty="0" err="1"/>
              <a:t>DevSecOps</a:t>
            </a:r>
            <a:r>
              <a:rPr lang="en-US" dirty="0"/>
              <a:t> Integration</a:t>
            </a:r>
          </a:p>
        </p:txBody>
      </p:sp>
      <p:sp>
        <p:nvSpPr>
          <p:cNvPr id="5" name="Rectangle 2">
            <a:extLst>
              <a:ext uri="{FF2B5EF4-FFF2-40B4-BE49-F238E27FC236}">
                <a16:creationId xmlns:a16="http://schemas.microsoft.com/office/drawing/2014/main" id="{28C227BB-A997-3EE6-E2F2-AA79DF5A6ED9}"/>
              </a:ext>
            </a:extLst>
          </p:cNvPr>
          <p:cNvSpPr>
            <a:spLocks noGrp="1" noChangeArrowheads="1"/>
          </p:cNvSpPr>
          <p:nvPr>
            <p:ph idx="1"/>
          </p:nvPr>
        </p:nvSpPr>
        <p:spPr bwMode="auto">
          <a:xfrm>
            <a:off x="838200" y="2125833"/>
            <a:ext cx="10921564"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CEHv13 promotes shifting security left with:</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Integration of </a:t>
            </a:r>
            <a:r>
              <a:rPr kumimoji="0" lang="en-US" altLang="en-US" b="1" i="0" u="none" strike="noStrike" cap="none" normalizeH="0" baseline="0" dirty="0">
                <a:ln>
                  <a:noFill/>
                </a:ln>
                <a:solidFill>
                  <a:schemeClr val="tx1"/>
                </a:solidFill>
                <a:effectLst/>
              </a:rPr>
              <a:t>dynamic application security testing (DAST)</a:t>
            </a:r>
            <a:r>
              <a:rPr kumimoji="0" lang="en-US" altLang="en-US" b="0" i="0" u="none" strike="noStrike" cap="none" normalizeH="0" baseline="0" dirty="0">
                <a:ln>
                  <a:noFill/>
                </a:ln>
                <a:solidFill>
                  <a:schemeClr val="tx1"/>
                </a:solidFill>
                <a:effectLst/>
              </a:rPr>
              <a:t> into CI/CD pipelines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Use of </a:t>
            </a:r>
            <a:r>
              <a:rPr kumimoji="0" lang="en-US" altLang="en-US" b="1" i="0" u="none" strike="noStrike" cap="none" normalizeH="0" baseline="0" dirty="0">
                <a:ln>
                  <a:noFill/>
                </a:ln>
                <a:solidFill>
                  <a:schemeClr val="tx1"/>
                </a:solidFill>
                <a:effectLst/>
              </a:rPr>
              <a:t>secure coding guidelines (e.g., OWASP ASVS)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Enhanced defense recommendations: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Implement </a:t>
            </a:r>
            <a:r>
              <a:rPr kumimoji="0" lang="en-US" altLang="en-US" b="1" i="0" u="none" strike="noStrike" cap="none" normalizeH="0" baseline="0" dirty="0">
                <a:ln>
                  <a:noFill/>
                </a:ln>
                <a:solidFill>
                  <a:schemeClr val="tx1"/>
                </a:solidFill>
                <a:effectLst/>
              </a:rPr>
              <a:t>rate limiting and input filtering at API gateways</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Use </a:t>
            </a:r>
            <a:r>
              <a:rPr kumimoji="0" lang="en-US" altLang="en-US" b="1" i="0" u="none" strike="noStrike" cap="none" normalizeH="0" baseline="0" dirty="0">
                <a:ln>
                  <a:noFill/>
                </a:ln>
                <a:solidFill>
                  <a:schemeClr val="tx1"/>
                </a:solidFill>
                <a:effectLst/>
              </a:rPr>
              <a:t>token validation, rotating secrets, and API inventory management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CEHv13 stresses aligning web application defense with </a:t>
            </a:r>
            <a:r>
              <a:rPr kumimoji="0" lang="en-US" altLang="en-US" b="1" i="0" u="none" strike="noStrike" cap="none" normalizeH="0" baseline="0" dirty="0">
                <a:ln>
                  <a:noFill/>
                </a:ln>
                <a:solidFill>
                  <a:schemeClr val="tx1"/>
                </a:solidFill>
                <a:effectLst/>
              </a:rPr>
              <a:t>OWASP Top 10</a:t>
            </a:r>
            <a:r>
              <a:rPr kumimoji="0" lang="en-US" altLang="en-US" b="0" i="0" u="none" strike="noStrike" cap="none" normalizeH="0" baseline="0" dirty="0">
                <a:ln>
                  <a:noFill/>
                </a:ln>
                <a:solidFill>
                  <a:schemeClr val="tx1"/>
                </a:solidFill>
                <a:effectLst/>
              </a:rPr>
              <a:t> and </a:t>
            </a:r>
            <a:r>
              <a:rPr kumimoji="0" lang="en-US" altLang="en-US" b="1" i="0" u="none" strike="noStrike" cap="none" normalizeH="0" baseline="0" dirty="0">
                <a:ln>
                  <a:noFill/>
                </a:ln>
                <a:solidFill>
                  <a:schemeClr val="tx1"/>
                </a:solidFill>
                <a:effectLst/>
              </a:rPr>
              <a:t>NIST SSDF (Secure Software Development Framework)</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9510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773663AEC73F64CB9310C74F592BBA1" ma:contentTypeVersion="20" ma:contentTypeDescription="Create a new document." ma:contentTypeScope="" ma:versionID="c4ee6c6961591c1a63add96d4ce05241">
  <xsd:schema xmlns:xsd="http://www.w3.org/2001/XMLSchema" xmlns:xs="http://www.w3.org/2001/XMLSchema" xmlns:p="http://schemas.microsoft.com/office/2006/metadata/properties" xmlns:ns2="c6c77d8f-09f6-4e2b-8f47-31ad1c0144f5" xmlns:ns3="146bd9e1-3fdb-4f50-9526-c68c2343cb8e" targetNamespace="http://schemas.microsoft.com/office/2006/metadata/properties" ma:root="true" ma:fieldsID="b2274d1538facf08196bf05114238597" ns2:_="" ns3:_="">
    <xsd:import namespace="c6c77d8f-09f6-4e2b-8f47-31ad1c0144f5"/>
    <xsd:import namespace="146bd9e1-3fdb-4f50-9526-c68c2343cb8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3:SharedWithUsers" minOccurs="0"/>
                <xsd:element ref="ns3:SharedWithDetails" minOccurs="0"/>
                <xsd:element ref="ns2:Preview"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c77d8f-09f6-4e2b-8f47-31ad1c0144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Preview" ma:index="21" nillable="true" ma:displayName="Preview" ma:format="Thumbnail" ma:internalName="Preview">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6a8cab3b-d731-4175-bae6-7d60d1a2576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6bd9e1-3fdb-4f50-9526-c68c2343cb8e"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42da5034-1a9c-45fa-ab74-54df4df1541d}" ma:internalName="TaxCatchAll" ma:showField="CatchAllData" ma:web="146bd9e1-3fdb-4f50-9526-c68c2343cb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review xmlns="c6c77d8f-09f6-4e2b-8f47-31ad1c0144f5" xsi:nil="true"/>
    <lcf76f155ced4ddcb4097134ff3c332f xmlns="c6c77d8f-09f6-4e2b-8f47-31ad1c0144f5">
      <Terms xmlns="http://schemas.microsoft.com/office/infopath/2007/PartnerControls"/>
    </lcf76f155ced4ddcb4097134ff3c332f>
    <TaxCatchAll xmlns="146bd9e1-3fdb-4f50-9526-c68c2343cb8e" xsi:nil="true"/>
  </documentManagement>
</p:properties>
</file>

<file path=customXml/itemProps1.xml><?xml version="1.0" encoding="utf-8"?>
<ds:datastoreItem xmlns:ds="http://schemas.openxmlformats.org/officeDocument/2006/customXml" ds:itemID="{47BCAAA0-F436-411F-B972-34A1C1356F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c77d8f-09f6-4e2b-8f47-31ad1c0144f5"/>
    <ds:schemaRef ds:uri="146bd9e1-3fdb-4f50-9526-c68c2343cb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42B24E-B614-4B26-ACEA-19D3B09C875B}">
  <ds:schemaRefs>
    <ds:schemaRef ds:uri="http://schemas.microsoft.com/sharepoint/v3/contenttype/forms"/>
  </ds:schemaRefs>
</ds:datastoreItem>
</file>

<file path=customXml/itemProps3.xml><?xml version="1.0" encoding="utf-8"?>
<ds:datastoreItem xmlns:ds="http://schemas.openxmlformats.org/officeDocument/2006/customXml" ds:itemID="{53519A1F-C986-4FC9-B666-CE6D0A5D76AB}">
  <ds:schemaRefs>
    <ds:schemaRef ds:uri="http://schemas.microsoft.com/office/2006/metadata/properties"/>
    <ds:schemaRef ds:uri="http://schemas.microsoft.com/office/infopath/2007/PartnerControls"/>
    <ds:schemaRef ds:uri="c6c77d8f-09f6-4e2b-8f47-31ad1c0144f5"/>
    <ds:schemaRef ds:uri="146bd9e1-3fdb-4f50-9526-c68c2343cb8e"/>
  </ds:schemaRefs>
</ds:datastoreItem>
</file>

<file path=docMetadata/LabelInfo.xml><?xml version="1.0" encoding="utf-8"?>
<clbl:labelList xmlns:clbl="http://schemas.microsoft.com/office/2020/mipLabelMetadata">
  <clbl:label id="{50656f6f-463c-4054-9fc2-6f4071c6e7fc}" enabled="0" method="" siteId="{50656f6f-463c-4054-9fc2-6f4071c6e7fc}" removed="1"/>
</clbl:labelList>
</file>

<file path=docProps/app.xml><?xml version="1.0" encoding="utf-8"?>
<Properties xmlns="http://schemas.openxmlformats.org/officeDocument/2006/extended-properties" xmlns:vt="http://schemas.openxmlformats.org/officeDocument/2006/docPropsVTypes">
  <TotalTime>1710</TotalTime>
  <Words>4527</Words>
  <Application>Microsoft Office PowerPoint</Application>
  <PresentationFormat>Widescreen</PresentationFormat>
  <Paragraphs>347</Paragraphs>
  <Slides>33</Slides>
  <Notes>26</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Calibri</vt:lpstr>
      <vt:lpstr>Calibri Light</vt:lpstr>
      <vt:lpstr>Consolas</vt:lpstr>
      <vt:lpstr>Söhne</vt:lpstr>
      <vt:lpstr>Symbol</vt:lpstr>
      <vt:lpstr>System Font Regular</vt:lpstr>
      <vt:lpstr>Wingdings</vt:lpstr>
      <vt:lpstr>Office Theme</vt:lpstr>
      <vt:lpstr>Hacking Web Servers</vt:lpstr>
      <vt:lpstr>Web Server Components</vt:lpstr>
      <vt:lpstr>Web Server Security Issues</vt:lpstr>
      <vt:lpstr>PowerPoint Presentation</vt:lpstr>
      <vt:lpstr>Web Server Attack Goals</vt:lpstr>
      <vt:lpstr>Web Server Attack Impact</vt:lpstr>
      <vt:lpstr>Web Server Attacks</vt:lpstr>
      <vt:lpstr>Web Server Attacks (Cont’d)</vt:lpstr>
      <vt:lpstr>Web Server Attack Methodology</vt:lpstr>
      <vt:lpstr>Web Server Attack Countermeasures* </vt:lpstr>
      <vt:lpstr>Web Server Attack Countermeasures (Cont’d)</vt:lpstr>
      <vt:lpstr>Securing Web Servers</vt:lpstr>
      <vt:lpstr>Web Application Security Tools</vt:lpstr>
      <vt:lpstr>Web Security Tools</vt:lpstr>
      <vt:lpstr>CEHv13 Update – Advanced Web Server Exploits</vt:lpstr>
      <vt:lpstr>CEHv13 Update – Web Server Defense Enhancements</vt:lpstr>
      <vt:lpstr>Hacking Web Applications</vt:lpstr>
      <vt:lpstr>Web Applications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Sensitive Data Exposure</vt:lpstr>
      <vt:lpstr>PowerPoint Presentation</vt:lpstr>
      <vt:lpstr>PowerPoint Presentation</vt:lpstr>
      <vt:lpstr>PowerPoint Presentation</vt:lpstr>
      <vt:lpstr>PowerPoint Presentation</vt:lpstr>
      <vt:lpstr>PowerPoint Presentation</vt:lpstr>
      <vt:lpstr>CEHv13 Update – Advanced Web App Attack Vectors</vt:lpstr>
      <vt:lpstr>CEHv13 Update – Web App Defense &amp; DevSecOps Integration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Vasilache, Simina (RICH-Inn)</dc:creator>
  <cp:lastModifiedBy>Michael Wandel (Virginia Beach)</cp:lastModifiedBy>
  <cp:revision>12</cp:revision>
  <dcterms:created xsi:type="dcterms:W3CDTF">2021-10-12T16:34:53Z</dcterms:created>
  <dcterms:modified xsi:type="dcterms:W3CDTF">2026-01-15T23:18:39Z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0x0101009773663AEC73F64CB9310C74F592BBA1</vt:lpwstr>
  </property>
  <property fmtid="{D5CDD505-2E9C-101B-9397-08002B2CF9AE}" pid="3" name="MediaServiceImageTags">
    <vt:lpwstr/>
  </property>
</Properties>
</file>