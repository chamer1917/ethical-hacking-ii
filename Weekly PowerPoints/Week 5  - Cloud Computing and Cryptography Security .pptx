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4" r:id="rId4"/>
  </p:sldMasterIdLst>
  <p:notesMasterIdLst>
    <p:notesMasterId r:id="rId29"/>
  </p:notesMasterIdLst>
  <p:handoutMasterIdLst>
    <p:handoutMasterId r:id="rId30"/>
  </p:handoutMasterIdLst>
  <p:sldIdLst>
    <p:sldId id="256" r:id="rId5"/>
    <p:sldId id="271" r:id="rId6"/>
    <p:sldId id="283" r:id="rId7"/>
    <p:sldId id="284" r:id="rId8"/>
    <p:sldId id="286" r:id="rId9"/>
    <p:sldId id="287" r:id="rId10"/>
    <p:sldId id="288" r:id="rId11"/>
    <p:sldId id="289" r:id="rId12"/>
    <p:sldId id="290" r:id="rId13"/>
    <p:sldId id="291" r:id="rId14"/>
    <p:sldId id="292" r:id="rId15"/>
    <p:sldId id="294" r:id="rId16"/>
    <p:sldId id="295" r:id="rId17"/>
    <p:sldId id="296" r:id="rId18"/>
    <p:sldId id="297" r:id="rId19"/>
    <p:sldId id="298" r:id="rId20"/>
    <p:sldId id="299" r:id="rId21"/>
    <p:sldId id="300" r:id="rId22"/>
    <p:sldId id="301" r:id="rId23"/>
    <p:sldId id="302" r:id="rId24"/>
    <p:sldId id="303" r:id="rId25"/>
    <p:sldId id="304" r:id="rId26"/>
    <p:sldId id="305" r:id="rId27"/>
    <p:sldId id="306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</p14:sldIdLst>
        </p14:section>
        <p14:section name="Design, Morph, Annotate, Work Together, Tell Me" id="{B9B51309-D148-4332-87C2-07BE32FBCA3B}">
          <p14:sldIdLst>
            <p14:sldId id="271"/>
            <p14:sldId id="283"/>
            <p14:sldId id="284"/>
            <p14:sldId id="286"/>
            <p14:sldId id="287"/>
            <p14:sldId id="288"/>
            <p14:sldId id="289"/>
            <p14:sldId id="290"/>
            <p14:sldId id="291"/>
            <p14:sldId id="292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</p14:sldIdLst>
        </p14:section>
        <p14:section name="Learn More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84A9"/>
    <a:srgbClr val="4E90D4"/>
    <a:srgbClr val="50C7FD"/>
    <a:srgbClr val="D24726"/>
    <a:srgbClr val="404040"/>
    <a:srgbClr val="FF9B45"/>
    <a:srgbClr val="DD462F"/>
    <a:srgbClr val="F8CFB6"/>
    <a:srgbClr val="F8CAB6"/>
    <a:srgbClr val="9239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171" autoAdjust="0"/>
    <p:restoredTop sz="94241" autoAdjust="0"/>
  </p:normalViewPr>
  <p:slideViewPr>
    <p:cSldViewPr snapToGrid="0">
      <p:cViewPr varScale="1">
        <p:scale>
          <a:sx n="111" d="100"/>
          <a:sy n="111" d="100"/>
        </p:scale>
        <p:origin x="756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Wandel (Virginia Beach)" userId="726ba044-74a1-4ea5-958e-dbf54831072b" providerId="ADAL" clId="{5AC4CBCD-5DDD-494C-B5B2-323CB4A1FFE6}"/>
    <pc:docChg chg="delSld modSection">
      <pc:chgData name="Michael Wandel (Virginia Beach)" userId="726ba044-74a1-4ea5-958e-dbf54831072b" providerId="ADAL" clId="{5AC4CBCD-5DDD-494C-B5B2-323CB4A1FFE6}" dt="2026-02-23T22:35:57.347" v="0" actId="2696"/>
      <pc:docMkLst>
        <pc:docMk/>
      </pc:docMkLst>
      <pc:sldChg chg="del">
        <pc:chgData name="Michael Wandel (Virginia Beach)" userId="726ba044-74a1-4ea5-958e-dbf54831072b" providerId="ADAL" clId="{5AC4CBCD-5DDD-494C-B5B2-323CB4A1FFE6}" dt="2026-02-23T22:35:57.347" v="0" actId="2696"/>
        <pc:sldMkLst>
          <pc:docMk/>
          <pc:sldMk cId="2950640123" sldId="293"/>
        </pc:sldMkLst>
      </pc:sldChg>
      <pc:sldMasterChg chg="delSldLayout">
        <pc:chgData name="Michael Wandel (Virginia Beach)" userId="726ba044-74a1-4ea5-958e-dbf54831072b" providerId="ADAL" clId="{5AC4CBCD-5DDD-494C-B5B2-323CB4A1FFE6}" dt="2026-02-23T22:35:57.347" v="0" actId="2696"/>
        <pc:sldMasterMkLst>
          <pc:docMk/>
          <pc:sldMasterMk cId="1056981808" sldId="2147483664"/>
        </pc:sldMasterMkLst>
        <pc:sldLayoutChg chg="del">
          <pc:chgData name="Michael Wandel (Virginia Beach)" userId="726ba044-74a1-4ea5-958e-dbf54831072b" providerId="ADAL" clId="{5AC4CBCD-5DDD-494C-B5B2-323CB4A1FFE6}" dt="2026-02-23T22:35:57.347" v="0" actId="2696"/>
          <pc:sldLayoutMkLst>
            <pc:docMk/>
            <pc:sldMasterMk cId="1056981808" sldId="2147483664"/>
            <pc:sldLayoutMk cId="3458604816" sldId="2147483678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1">
  <dgm:title val=""/>
  <dgm:desc val=""/>
  <dgm:catLst>
    <dgm:cat type="accent4" pri="11100"/>
  </dgm:catLst>
  <dgm:styleLbl name="node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4">
        <a:alpha val="4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7266E3E-5DEC-48B7-B3F7-8E6B5B01D46E}" type="doc">
      <dgm:prSet loTypeId="urn:microsoft.com/office/officeart/2008/layout/LinedList" loCatId="list" qsTypeId="urn:microsoft.com/office/officeart/2005/8/quickstyle/simple1" qsCatId="simple" csTypeId="urn:microsoft.com/office/officeart/2005/8/colors/accent4_1" csCatId="accent4"/>
      <dgm:spPr/>
      <dgm:t>
        <a:bodyPr/>
        <a:lstStyle/>
        <a:p>
          <a:endParaRPr lang="en-US"/>
        </a:p>
      </dgm:t>
    </dgm:pt>
    <dgm:pt modelId="{18206653-F6FF-4028-AA86-BE7100A4CB58}">
      <dgm:prSet custT="1"/>
      <dgm:spPr/>
      <dgm:t>
        <a:bodyPr/>
        <a:lstStyle/>
        <a:p>
          <a:r>
            <a:rPr lang="en-US" sz="2000"/>
            <a:t>SQL Injection</a:t>
          </a:r>
        </a:p>
      </dgm:t>
    </dgm:pt>
    <dgm:pt modelId="{906B0338-E32E-4C86-A287-F92357D911B7}" type="parTrans" cxnId="{9A3207C3-2905-4B6D-8DD8-62CD7084FCDB}">
      <dgm:prSet/>
      <dgm:spPr/>
      <dgm:t>
        <a:bodyPr/>
        <a:lstStyle/>
        <a:p>
          <a:endParaRPr lang="en-US" sz="2000"/>
        </a:p>
      </dgm:t>
    </dgm:pt>
    <dgm:pt modelId="{50D2160B-FA88-4DE8-97B5-0CF9CB7D97D8}" type="sibTrans" cxnId="{9A3207C3-2905-4B6D-8DD8-62CD7084FCDB}">
      <dgm:prSet/>
      <dgm:spPr/>
      <dgm:t>
        <a:bodyPr/>
        <a:lstStyle/>
        <a:p>
          <a:endParaRPr lang="en-US" sz="2000"/>
        </a:p>
      </dgm:t>
    </dgm:pt>
    <dgm:pt modelId="{05906A03-CDDA-4CC0-A36C-1176D0758895}">
      <dgm:prSet custT="1"/>
      <dgm:spPr/>
      <dgm:t>
        <a:bodyPr/>
        <a:lstStyle/>
        <a:p>
          <a:r>
            <a:rPr lang="en-US" sz="2000"/>
            <a:t>OS Command Injection</a:t>
          </a:r>
        </a:p>
      </dgm:t>
    </dgm:pt>
    <dgm:pt modelId="{9896C9CE-1039-4B8C-BDC4-1ADCA432A2AC}" type="parTrans" cxnId="{FF53A110-275A-4764-B9BF-D0043F7D2421}">
      <dgm:prSet/>
      <dgm:spPr/>
      <dgm:t>
        <a:bodyPr/>
        <a:lstStyle/>
        <a:p>
          <a:endParaRPr lang="en-US" sz="2000"/>
        </a:p>
      </dgm:t>
    </dgm:pt>
    <dgm:pt modelId="{1CBFA107-4A8E-4659-9628-E326596098D2}" type="sibTrans" cxnId="{FF53A110-275A-4764-B9BF-D0043F7D2421}">
      <dgm:prSet/>
      <dgm:spPr/>
      <dgm:t>
        <a:bodyPr/>
        <a:lstStyle/>
        <a:p>
          <a:endParaRPr lang="en-US" sz="2000"/>
        </a:p>
      </dgm:t>
    </dgm:pt>
    <dgm:pt modelId="{E655C328-3156-4AF4-9F06-75895C3C83B5}">
      <dgm:prSet custT="1"/>
      <dgm:spPr/>
      <dgm:t>
        <a:bodyPr/>
        <a:lstStyle/>
        <a:p>
          <a:r>
            <a:rPr lang="en-US" sz="2000"/>
            <a:t>Log monitoring not in place</a:t>
          </a:r>
        </a:p>
      </dgm:t>
    </dgm:pt>
    <dgm:pt modelId="{094FF260-C73E-45BA-92A3-6645A4043FF3}" type="parTrans" cxnId="{E1FA7981-8C5D-4D58-AAE5-C24A61A0CBA1}">
      <dgm:prSet/>
      <dgm:spPr/>
      <dgm:t>
        <a:bodyPr/>
        <a:lstStyle/>
        <a:p>
          <a:endParaRPr lang="en-US" sz="2000"/>
        </a:p>
      </dgm:t>
    </dgm:pt>
    <dgm:pt modelId="{A0EB1E67-21F1-4789-94E8-0779DFAB2EB2}" type="sibTrans" cxnId="{E1FA7981-8C5D-4D58-AAE5-C24A61A0CBA1}">
      <dgm:prSet/>
      <dgm:spPr/>
      <dgm:t>
        <a:bodyPr/>
        <a:lstStyle/>
        <a:p>
          <a:endParaRPr lang="en-US" sz="2000"/>
        </a:p>
      </dgm:t>
    </dgm:pt>
    <dgm:pt modelId="{A27288CA-1617-46F4-9BB5-92F4F7A10162}">
      <dgm:prSet custT="1"/>
      <dgm:spPr/>
      <dgm:t>
        <a:bodyPr/>
        <a:lstStyle/>
        <a:p>
          <a:r>
            <a:rPr lang="en-US" sz="2000"/>
            <a:t>Security misconfiguration</a:t>
          </a:r>
        </a:p>
      </dgm:t>
    </dgm:pt>
    <dgm:pt modelId="{B6B06917-2875-4372-A9A1-52B4A883A10E}" type="parTrans" cxnId="{DB195D8C-BE74-435D-8B2E-CF520462ABDF}">
      <dgm:prSet/>
      <dgm:spPr/>
      <dgm:t>
        <a:bodyPr/>
        <a:lstStyle/>
        <a:p>
          <a:endParaRPr lang="en-US" sz="2000"/>
        </a:p>
      </dgm:t>
    </dgm:pt>
    <dgm:pt modelId="{A8C5A554-776D-489B-ABEB-3882C7AA13B4}" type="sibTrans" cxnId="{DB195D8C-BE74-435D-8B2E-CF520462ABDF}">
      <dgm:prSet/>
      <dgm:spPr/>
      <dgm:t>
        <a:bodyPr/>
        <a:lstStyle/>
        <a:p>
          <a:endParaRPr lang="en-US" sz="2000"/>
        </a:p>
      </dgm:t>
    </dgm:pt>
    <dgm:pt modelId="{277A5EA0-DF25-43FC-B4E0-E44D721DCA56}">
      <dgm:prSet custT="1"/>
      <dgm:spPr/>
      <dgm:t>
        <a:bodyPr/>
        <a:lstStyle/>
        <a:p>
          <a:r>
            <a:rPr lang="en-US" sz="2000"/>
            <a:t>Sensitive data not encrypted</a:t>
          </a:r>
        </a:p>
      </dgm:t>
    </dgm:pt>
    <dgm:pt modelId="{A74A9E66-FDD3-4DDB-A933-4EDC09232BDA}" type="parTrans" cxnId="{1571F677-F714-49CB-BBCA-E08E81474FD4}">
      <dgm:prSet/>
      <dgm:spPr/>
      <dgm:t>
        <a:bodyPr/>
        <a:lstStyle/>
        <a:p>
          <a:endParaRPr lang="en-US" sz="2000"/>
        </a:p>
      </dgm:t>
    </dgm:pt>
    <dgm:pt modelId="{9D694930-4FF5-4082-A0D8-6A58C57E9588}" type="sibTrans" cxnId="{1571F677-F714-49CB-BBCA-E08E81474FD4}">
      <dgm:prSet/>
      <dgm:spPr/>
      <dgm:t>
        <a:bodyPr/>
        <a:lstStyle/>
        <a:p>
          <a:endParaRPr lang="en-US" sz="2000"/>
        </a:p>
      </dgm:t>
    </dgm:pt>
    <dgm:pt modelId="{F0B3E4DD-6BA6-4145-9F87-1C3EC3D3ADA1}">
      <dgm:prSet custT="1"/>
      <dgm:spPr/>
      <dgm:t>
        <a:bodyPr/>
        <a:lstStyle/>
        <a:p>
          <a:r>
            <a:rPr lang="en-US" sz="2000"/>
            <a:t>Coding errors</a:t>
          </a:r>
        </a:p>
      </dgm:t>
    </dgm:pt>
    <dgm:pt modelId="{8F42F0BE-F96B-4A91-A644-B120D227C923}" type="parTrans" cxnId="{C6738813-1D03-4933-BCF3-C8EB755A4E95}">
      <dgm:prSet/>
      <dgm:spPr/>
      <dgm:t>
        <a:bodyPr/>
        <a:lstStyle/>
        <a:p>
          <a:endParaRPr lang="en-US" sz="2000"/>
        </a:p>
      </dgm:t>
    </dgm:pt>
    <dgm:pt modelId="{F44BA080-D638-48E4-B12E-F88A5FF31157}" type="sibTrans" cxnId="{C6738813-1D03-4933-BCF3-C8EB755A4E95}">
      <dgm:prSet/>
      <dgm:spPr/>
      <dgm:t>
        <a:bodyPr/>
        <a:lstStyle/>
        <a:p>
          <a:endParaRPr lang="en-US" sz="2000"/>
        </a:p>
      </dgm:t>
    </dgm:pt>
    <dgm:pt modelId="{7A3B9239-F489-4F99-A4A6-5A217DFECE0A}">
      <dgm:prSet custT="1"/>
      <dgm:spPr/>
      <dgm:t>
        <a:bodyPr/>
        <a:lstStyle/>
        <a:p>
          <a:r>
            <a:rPr lang="en-US" sz="2000"/>
            <a:t>Over provisioning of permissions</a:t>
          </a:r>
        </a:p>
      </dgm:t>
    </dgm:pt>
    <dgm:pt modelId="{FECEB0E9-E259-483A-B013-C5AC653F2C7B}" type="parTrans" cxnId="{068CF5D3-D371-4F92-B1D5-2887315F699D}">
      <dgm:prSet/>
      <dgm:spPr/>
      <dgm:t>
        <a:bodyPr/>
        <a:lstStyle/>
        <a:p>
          <a:endParaRPr lang="en-US" sz="2000"/>
        </a:p>
      </dgm:t>
    </dgm:pt>
    <dgm:pt modelId="{B4B42795-82C0-4A29-9642-A41C4C3F94CD}" type="sibTrans" cxnId="{068CF5D3-D371-4F92-B1D5-2887315F699D}">
      <dgm:prSet/>
      <dgm:spPr/>
      <dgm:t>
        <a:bodyPr/>
        <a:lstStyle/>
        <a:p>
          <a:endParaRPr lang="en-US" sz="2000"/>
        </a:p>
      </dgm:t>
    </dgm:pt>
    <dgm:pt modelId="{67E0114B-F769-452B-934F-D8133EDA409F}">
      <dgm:prSet custT="1"/>
      <dgm:spPr/>
      <dgm:t>
        <a:bodyPr/>
        <a:lstStyle/>
        <a:p>
          <a:r>
            <a:rPr lang="en-US" sz="2000"/>
            <a:t>Cross-Site Scripting (XSS)</a:t>
          </a:r>
        </a:p>
      </dgm:t>
    </dgm:pt>
    <dgm:pt modelId="{03D6C989-8C5B-4E24-B357-F524666848F3}" type="parTrans" cxnId="{18175665-9395-4BC2-A5AE-845EA45D4E7A}">
      <dgm:prSet/>
      <dgm:spPr/>
      <dgm:t>
        <a:bodyPr/>
        <a:lstStyle/>
        <a:p>
          <a:endParaRPr lang="en-US" sz="2000"/>
        </a:p>
      </dgm:t>
    </dgm:pt>
    <dgm:pt modelId="{0BD6E856-8356-422D-928D-825D40307AB3}" type="sibTrans" cxnId="{18175665-9395-4BC2-A5AE-845EA45D4E7A}">
      <dgm:prSet/>
      <dgm:spPr/>
      <dgm:t>
        <a:bodyPr/>
        <a:lstStyle/>
        <a:p>
          <a:endParaRPr lang="en-US" sz="2000"/>
        </a:p>
      </dgm:t>
    </dgm:pt>
    <dgm:pt modelId="{E3378C6B-B2BD-6243-B60B-29E9CB41C211}" type="pres">
      <dgm:prSet presAssocID="{F7266E3E-5DEC-48B7-B3F7-8E6B5B01D46E}" presName="vert0" presStyleCnt="0">
        <dgm:presLayoutVars>
          <dgm:dir/>
          <dgm:animOne val="branch"/>
          <dgm:animLvl val="lvl"/>
        </dgm:presLayoutVars>
      </dgm:prSet>
      <dgm:spPr/>
    </dgm:pt>
    <dgm:pt modelId="{A526296B-C4E8-C543-A8FA-F31D8DED5F14}" type="pres">
      <dgm:prSet presAssocID="{18206653-F6FF-4028-AA86-BE7100A4CB58}" presName="thickLine" presStyleLbl="alignNode1" presStyleIdx="0" presStyleCnt="8"/>
      <dgm:spPr/>
    </dgm:pt>
    <dgm:pt modelId="{A0F62E33-8044-B84D-A19A-7E1EE6CB8F6C}" type="pres">
      <dgm:prSet presAssocID="{18206653-F6FF-4028-AA86-BE7100A4CB58}" presName="horz1" presStyleCnt="0"/>
      <dgm:spPr/>
    </dgm:pt>
    <dgm:pt modelId="{2A7BF0B2-624F-8A43-BAC1-03E0FDB46C5C}" type="pres">
      <dgm:prSet presAssocID="{18206653-F6FF-4028-AA86-BE7100A4CB58}" presName="tx1" presStyleLbl="revTx" presStyleIdx="0" presStyleCnt="8"/>
      <dgm:spPr/>
    </dgm:pt>
    <dgm:pt modelId="{2BA84A29-ABA0-7245-A670-898ABE498E15}" type="pres">
      <dgm:prSet presAssocID="{18206653-F6FF-4028-AA86-BE7100A4CB58}" presName="vert1" presStyleCnt="0"/>
      <dgm:spPr/>
    </dgm:pt>
    <dgm:pt modelId="{7693C4AD-57D3-2C46-8F44-43A3CC91395F}" type="pres">
      <dgm:prSet presAssocID="{05906A03-CDDA-4CC0-A36C-1176D0758895}" presName="thickLine" presStyleLbl="alignNode1" presStyleIdx="1" presStyleCnt="8"/>
      <dgm:spPr/>
    </dgm:pt>
    <dgm:pt modelId="{9DF160D8-1346-0B49-AB23-C60AD07D6E71}" type="pres">
      <dgm:prSet presAssocID="{05906A03-CDDA-4CC0-A36C-1176D0758895}" presName="horz1" presStyleCnt="0"/>
      <dgm:spPr/>
    </dgm:pt>
    <dgm:pt modelId="{9CAE8E49-BCB7-AF4D-BD34-6D199A1D59BA}" type="pres">
      <dgm:prSet presAssocID="{05906A03-CDDA-4CC0-A36C-1176D0758895}" presName="tx1" presStyleLbl="revTx" presStyleIdx="1" presStyleCnt="8"/>
      <dgm:spPr/>
    </dgm:pt>
    <dgm:pt modelId="{F5B7DEE6-C4A5-A241-86B1-573B400D69CB}" type="pres">
      <dgm:prSet presAssocID="{05906A03-CDDA-4CC0-A36C-1176D0758895}" presName="vert1" presStyleCnt="0"/>
      <dgm:spPr/>
    </dgm:pt>
    <dgm:pt modelId="{78D0B922-F534-344E-A076-8C09B3B7312B}" type="pres">
      <dgm:prSet presAssocID="{E655C328-3156-4AF4-9F06-75895C3C83B5}" presName="thickLine" presStyleLbl="alignNode1" presStyleIdx="2" presStyleCnt="8"/>
      <dgm:spPr/>
    </dgm:pt>
    <dgm:pt modelId="{4E7EC60D-5916-2542-99FD-86269B79EBEC}" type="pres">
      <dgm:prSet presAssocID="{E655C328-3156-4AF4-9F06-75895C3C83B5}" presName="horz1" presStyleCnt="0"/>
      <dgm:spPr/>
    </dgm:pt>
    <dgm:pt modelId="{0DCEAC73-9CF5-C54C-8F52-C7B40B3782E8}" type="pres">
      <dgm:prSet presAssocID="{E655C328-3156-4AF4-9F06-75895C3C83B5}" presName="tx1" presStyleLbl="revTx" presStyleIdx="2" presStyleCnt="8"/>
      <dgm:spPr/>
    </dgm:pt>
    <dgm:pt modelId="{FACCA412-90F6-EA43-9C03-F09FAC429B2B}" type="pres">
      <dgm:prSet presAssocID="{E655C328-3156-4AF4-9F06-75895C3C83B5}" presName="vert1" presStyleCnt="0"/>
      <dgm:spPr/>
    </dgm:pt>
    <dgm:pt modelId="{BFB2A843-7440-6A4A-A9E9-498822B443A9}" type="pres">
      <dgm:prSet presAssocID="{A27288CA-1617-46F4-9BB5-92F4F7A10162}" presName="thickLine" presStyleLbl="alignNode1" presStyleIdx="3" presStyleCnt="8"/>
      <dgm:spPr/>
    </dgm:pt>
    <dgm:pt modelId="{B665E072-4D32-BB46-AD87-D56027309914}" type="pres">
      <dgm:prSet presAssocID="{A27288CA-1617-46F4-9BB5-92F4F7A10162}" presName="horz1" presStyleCnt="0"/>
      <dgm:spPr/>
    </dgm:pt>
    <dgm:pt modelId="{A8140DDB-45F0-5B4E-B6A7-C20682A35049}" type="pres">
      <dgm:prSet presAssocID="{A27288CA-1617-46F4-9BB5-92F4F7A10162}" presName="tx1" presStyleLbl="revTx" presStyleIdx="3" presStyleCnt="8"/>
      <dgm:spPr/>
    </dgm:pt>
    <dgm:pt modelId="{75141847-3308-A441-81EC-F2FDEDE656EC}" type="pres">
      <dgm:prSet presAssocID="{A27288CA-1617-46F4-9BB5-92F4F7A10162}" presName="vert1" presStyleCnt="0"/>
      <dgm:spPr/>
    </dgm:pt>
    <dgm:pt modelId="{ADE0FA09-5B18-C344-822E-A1AB25C144E8}" type="pres">
      <dgm:prSet presAssocID="{277A5EA0-DF25-43FC-B4E0-E44D721DCA56}" presName="thickLine" presStyleLbl="alignNode1" presStyleIdx="4" presStyleCnt="8"/>
      <dgm:spPr/>
    </dgm:pt>
    <dgm:pt modelId="{6D3922CB-4E01-2046-BB27-CCC4D77F704C}" type="pres">
      <dgm:prSet presAssocID="{277A5EA0-DF25-43FC-B4E0-E44D721DCA56}" presName="horz1" presStyleCnt="0"/>
      <dgm:spPr/>
    </dgm:pt>
    <dgm:pt modelId="{271670F6-DE76-1741-812B-F3586322EED5}" type="pres">
      <dgm:prSet presAssocID="{277A5EA0-DF25-43FC-B4E0-E44D721DCA56}" presName="tx1" presStyleLbl="revTx" presStyleIdx="4" presStyleCnt="8"/>
      <dgm:spPr/>
    </dgm:pt>
    <dgm:pt modelId="{CC6614FE-8B34-124F-BAD8-03926F8C626B}" type="pres">
      <dgm:prSet presAssocID="{277A5EA0-DF25-43FC-B4E0-E44D721DCA56}" presName="vert1" presStyleCnt="0"/>
      <dgm:spPr/>
    </dgm:pt>
    <dgm:pt modelId="{FE46C92D-328F-744D-9279-7EC5B549051A}" type="pres">
      <dgm:prSet presAssocID="{F0B3E4DD-6BA6-4145-9F87-1C3EC3D3ADA1}" presName="thickLine" presStyleLbl="alignNode1" presStyleIdx="5" presStyleCnt="8"/>
      <dgm:spPr/>
    </dgm:pt>
    <dgm:pt modelId="{F85F0E38-F622-7F40-A755-B0CC6EF7B5CE}" type="pres">
      <dgm:prSet presAssocID="{F0B3E4DD-6BA6-4145-9F87-1C3EC3D3ADA1}" presName="horz1" presStyleCnt="0"/>
      <dgm:spPr/>
    </dgm:pt>
    <dgm:pt modelId="{BDEF5C42-CD24-CD4F-919C-73C8A2D14CD9}" type="pres">
      <dgm:prSet presAssocID="{F0B3E4DD-6BA6-4145-9F87-1C3EC3D3ADA1}" presName="tx1" presStyleLbl="revTx" presStyleIdx="5" presStyleCnt="8"/>
      <dgm:spPr/>
    </dgm:pt>
    <dgm:pt modelId="{9952F921-6E9A-B049-BF55-F1FF06CCFEA5}" type="pres">
      <dgm:prSet presAssocID="{F0B3E4DD-6BA6-4145-9F87-1C3EC3D3ADA1}" presName="vert1" presStyleCnt="0"/>
      <dgm:spPr/>
    </dgm:pt>
    <dgm:pt modelId="{DE59D323-56CF-454C-AA8C-BB037FD1BD44}" type="pres">
      <dgm:prSet presAssocID="{7A3B9239-F489-4F99-A4A6-5A217DFECE0A}" presName="thickLine" presStyleLbl="alignNode1" presStyleIdx="6" presStyleCnt="8"/>
      <dgm:spPr/>
    </dgm:pt>
    <dgm:pt modelId="{DFD59294-D49B-FE4D-AD7B-AE673AB4008E}" type="pres">
      <dgm:prSet presAssocID="{7A3B9239-F489-4F99-A4A6-5A217DFECE0A}" presName="horz1" presStyleCnt="0"/>
      <dgm:spPr/>
    </dgm:pt>
    <dgm:pt modelId="{4EBDE34F-FEA9-3549-9E07-6796E72EA786}" type="pres">
      <dgm:prSet presAssocID="{7A3B9239-F489-4F99-A4A6-5A217DFECE0A}" presName="tx1" presStyleLbl="revTx" presStyleIdx="6" presStyleCnt="8"/>
      <dgm:spPr/>
    </dgm:pt>
    <dgm:pt modelId="{C1A9633C-D4F9-1D4A-AF2F-19582E8A6D3B}" type="pres">
      <dgm:prSet presAssocID="{7A3B9239-F489-4F99-A4A6-5A217DFECE0A}" presName="vert1" presStyleCnt="0"/>
      <dgm:spPr/>
    </dgm:pt>
    <dgm:pt modelId="{404CB05A-E06D-9F43-8503-D85E017A4FB4}" type="pres">
      <dgm:prSet presAssocID="{67E0114B-F769-452B-934F-D8133EDA409F}" presName="thickLine" presStyleLbl="alignNode1" presStyleIdx="7" presStyleCnt="8"/>
      <dgm:spPr/>
    </dgm:pt>
    <dgm:pt modelId="{5BBBEC56-680A-0F4C-A491-9218F3DB1D35}" type="pres">
      <dgm:prSet presAssocID="{67E0114B-F769-452B-934F-D8133EDA409F}" presName="horz1" presStyleCnt="0"/>
      <dgm:spPr/>
    </dgm:pt>
    <dgm:pt modelId="{C7AF57E2-6013-1F41-9EB3-727F35C61DB5}" type="pres">
      <dgm:prSet presAssocID="{67E0114B-F769-452B-934F-D8133EDA409F}" presName="tx1" presStyleLbl="revTx" presStyleIdx="7" presStyleCnt="8"/>
      <dgm:spPr/>
    </dgm:pt>
    <dgm:pt modelId="{D1C6F2E8-5D28-D442-AA22-1B30D0CCC9D3}" type="pres">
      <dgm:prSet presAssocID="{67E0114B-F769-452B-934F-D8133EDA409F}" presName="vert1" presStyleCnt="0"/>
      <dgm:spPr/>
    </dgm:pt>
  </dgm:ptLst>
  <dgm:cxnLst>
    <dgm:cxn modelId="{FF53A110-275A-4764-B9BF-D0043F7D2421}" srcId="{F7266E3E-5DEC-48B7-B3F7-8E6B5B01D46E}" destId="{05906A03-CDDA-4CC0-A36C-1176D0758895}" srcOrd="1" destOrd="0" parTransId="{9896C9CE-1039-4B8C-BDC4-1ADCA432A2AC}" sibTransId="{1CBFA107-4A8E-4659-9628-E326596098D2}"/>
    <dgm:cxn modelId="{C6738813-1D03-4933-BCF3-C8EB755A4E95}" srcId="{F7266E3E-5DEC-48B7-B3F7-8E6B5B01D46E}" destId="{F0B3E4DD-6BA6-4145-9F87-1C3EC3D3ADA1}" srcOrd="5" destOrd="0" parTransId="{8F42F0BE-F96B-4A91-A644-B120D227C923}" sibTransId="{F44BA080-D638-48E4-B12E-F88A5FF31157}"/>
    <dgm:cxn modelId="{DFFFEC3A-27E0-8B46-8DE9-FCE1D1194E44}" type="presOf" srcId="{A27288CA-1617-46F4-9BB5-92F4F7A10162}" destId="{A8140DDB-45F0-5B4E-B6A7-C20682A35049}" srcOrd="0" destOrd="0" presId="urn:microsoft.com/office/officeart/2008/layout/LinedList"/>
    <dgm:cxn modelId="{BC708B3B-E554-A046-B10A-37E962E3C31B}" type="presOf" srcId="{67E0114B-F769-452B-934F-D8133EDA409F}" destId="{C7AF57E2-6013-1F41-9EB3-727F35C61DB5}" srcOrd="0" destOrd="0" presId="urn:microsoft.com/office/officeart/2008/layout/LinedList"/>
    <dgm:cxn modelId="{18175665-9395-4BC2-A5AE-845EA45D4E7A}" srcId="{F7266E3E-5DEC-48B7-B3F7-8E6B5B01D46E}" destId="{67E0114B-F769-452B-934F-D8133EDA409F}" srcOrd="7" destOrd="0" parTransId="{03D6C989-8C5B-4E24-B357-F524666848F3}" sibTransId="{0BD6E856-8356-422D-928D-825D40307AB3}"/>
    <dgm:cxn modelId="{9DFF8949-5D57-EC43-B052-99BA9C40A9F6}" type="presOf" srcId="{277A5EA0-DF25-43FC-B4E0-E44D721DCA56}" destId="{271670F6-DE76-1741-812B-F3586322EED5}" srcOrd="0" destOrd="0" presId="urn:microsoft.com/office/officeart/2008/layout/LinedList"/>
    <dgm:cxn modelId="{6B1AF177-28F5-504C-96B3-67F3DD24E664}" type="presOf" srcId="{7A3B9239-F489-4F99-A4A6-5A217DFECE0A}" destId="{4EBDE34F-FEA9-3549-9E07-6796E72EA786}" srcOrd="0" destOrd="0" presId="urn:microsoft.com/office/officeart/2008/layout/LinedList"/>
    <dgm:cxn modelId="{1571F677-F714-49CB-BBCA-E08E81474FD4}" srcId="{F7266E3E-5DEC-48B7-B3F7-8E6B5B01D46E}" destId="{277A5EA0-DF25-43FC-B4E0-E44D721DCA56}" srcOrd="4" destOrd="0" parTransId="{A74A9E66-FDD3-4DDB-A933-4EDC09232BDA}" sibTransId="{9D694930-4FF5-4082-A0D8-6A58C57E9588}"/>
    <dgm:cxn modelId="{5EB1CD59-A037-4D4D-8179-68375CC93521}" type="presOf" srcId="{F0B3E4DD-6BA6-4145-9F87-1C3EC3D3ADA1}" destId="{BDEF5C42-CD24-CD4F-919C-73C8A2D14CD9}" srcOrd="0" destOrd="0" presId="urn:microsoft.com/office/officeart/2008/layout/LinedList"/>
    <dgm:cxn modelId="{E1FA7981-8C5D-4D58-AAE5-C24A61A0CBA1}" srcId="{F7266E3E-5DEC-48B7-B3F7-8E6B5B01D46E}" destId="{E655C328-3156-4AF4-9F06-75895C3C83B5}" srcOrd="2" destOrd="0" parTransId="{094FF260-C73E-45BA-92A3-6645A4043FF3}" sibTransId="{A0EB1E67-21F1-4789-94E8-0779DFAB2EB2}"/>
    <dgm:cxn modelId="{095C0786-6F0A-4D41-8B36-2834A3F16327}" type="presOf" srcId="{05906A03-CDDA-4CC0-A36C-1176D0758895}" destId="{9CAE8E49-BCB7-AF4D-BD34-6D199A1D59BA}" srcOrd="0" destOrd="0" presId="urn:microsoft.com/office/officeart/2008/layout/LinedList"/>
    <dgm:cxn modelId="{6DF47886-B90F-584D-8EAF-42AD814A8FB9}" type="presOf" srcId="{18206653-F6FF-4028-AA86-BE7100A4CB58}" destId="{2A7BF0B2-624F-8A43-BAC1-03E0FDB46C5C}" srcOrd="0" destOrd="0" presId="urn:microsoft.com/office/officeart/2008/layout/LinedList"/>
    <dgm:cxn modelId="{DB195D8C-BE74-435D-8B2E-CF520462ABDF}" srcId="{F7266E3E-5DEC-48B7-B3F7-8E6B5B01D46E}" destId="{A27288CA-1617-46F4-9BB5-92F4F7A10162}" srcOrd="3" destOrd="0" parTransId="{B6B06917-2875-4372-A9A1-52B4A883A10E}" sibTransId="{A8C5A554-776D-489B-ABEB-3882C7AA13B4}"/>
    <dgm:cxn modelId="{EC8A5D9C-1E9F-BB43-9CFF-C1A73F8D8027}" type="presOf" srcId="{F7266E3E-5DEC-48B7-B3F7-8E6B5B01D46E}" destId="{E3378C6B-B2BD-6243-B60B-29E9CB41C211}" srcOrd="0" destOrd="0" presId="urn:microsoft.com/office/officeart/2008/layout/LinedList"/>
    <dgm:cxn modelId="{9A3207C3-2905-4B6D-8DD8-62CD7084FCDB}" srcId="{F7266E3E-5DEC-48B7-B3F7-8E6B5B01D46E}" destId="{18206653-F6FF-4028-AA86-BE7100A4CB58}" srcOrd="0" destOrd="0" parTransId="{906B0338-E32E-4C86-A287-F92357D911B7}" sibTransId="{50D2160B-FA88-4DE8-97B5-0CF9CB7D97D8}"/>
    <dgm:cxn modelId="{FEEB58C3-A5E5-AB4E-86A3-0EA5D95C7757}" type="presOf" srcId="{E655C328-3156-4AF4-9F06-75895C3C83B5}" destId="{0DCEAC73-9CF5-C54C-8F52-C7B40B3782E8}" srcOrd="0" destOrd="0" presId="urn:microsoft.com/office/officeart/2008/layout/LinedList"/>
    <dgm:cxn modelId="{068CF5D3-D371-4F92-B1D5-2887315F699D}" srcId="{F7266E3E-5DEC-48B7-B3F7-8E6B5B01D46E}" destId="{7A3B9239-F489-4F99-A4A6-5A217DFECE0A}" srcOrd="6" destOrd="0" parTransId="{FECEB0E9-E259-483A-B013-C5AC653F2C7B}" sibTransId="{B4B42795-82C0-4A29-9642-A41C4C3F94CD}"/>
    <dgm:cxn modelId="{6DF03139-C557-0847-9C0E-27D8487DFF9A}" type="presParOf" srcId="{E3378C6B-B2BD-6243-B60B-29E9CB41C211}" destId="{A526296B-C4E8-C543-A8FA-F31D8DED5F14}" srcOrd="0" destOrd="0" presId="urn:microsoft.com/office/officeart/2008/layout/LinedList"/>
    <dgm:cxn modelId="{F63AC64F-462C-4B47-8337-386F391D3BA5}" type="presParOf" srcId="{E3378C6B-B2BD-6243-B60B-29E9CB41C211}" destId="{A0F62E33-8044-B84D-A19A-7E1EE6CB8F6C}" srcOrd="1" destOrd="0" presId="urn:microsoft.com/office/officeart/2008/layout/LinedList"/>
    <dgm:cxn modelId="{4F42A258-C002-3945-B67A-C160010D108B}" type="presParOf" srcId="{A0F62E33-8044-B84D-A19A-7E1EE6CB8F6C}" destId="{2A7BF0B2-624F-8A43-BAC1-03E0FDB46C5C}" srcOrd="0" destOrd="0" presId="urn:microsoft.com/office/officeart/2008/layout/LinedList"/>
    <dgm:cxn modelId="{87989222-DFEE-8A4C-B5BA-F3CFA60144AC}" type="presParOf" srcId="{A0F62E33-8044-B84D-A19A-7E1EE6CB8F6C}" destId="{2BA84A29-ABA0-7245-A670-898ABE498E15}" srcOrd="1" destOrd="0" presId="urn:microsoft.com/office/officeart/2008/layout/LinedList"/>
    <dgm:cxn modelId="{EB3ACC4D-D2DC-F94F-99C5-043E67C011A0}" type="presParOf" srcId="{E3378C6B-B2BD-6243-B60B-29E9CB41C211}" destId="{7693C4AD-57D3-2C46-8F44-43A3CC91395F}" srcOrd="2" destOrd="0" presId="urn:microsoft.com/office/officeart/2008/layout/LinedList"/>
    <dgm:cxn modelId="{D37AB24C-B01F-AC43-BC88-9C9BA5181F7A}" type="presParOf" srcId="{E3378C6B-B2BD-6243-B60B-29E9CB41C211}" destId="{9DF160D8-1346-0B49-AB23-C60AD07D6E71}" srcOrd="3" destOrd="0" presId="urn:microsoft.com/office/officeart/2008/layout/LinedList"/>
    <dgm:cxn modelId="{E23E4AD3-B616-0F41-91F2-3FB090E8751A}" type="presParOf" srcId="{9DF160D8-1346-0B49-AB23-C60AD07D6E71}" destId="{9CAE8E49-BCB7-AF4D-BD34-6D199A1D59BA}" srcOrd="0" destOrd="0" presId="urn:microsoft.com/office/officeart/2008/layout/LinedList"/>
    <dgm:cxn modelId="{17FF558F-A571-344D-A7C5-D983EA84E289}" type="presParOf" srcId="{9DF160D8-1346-0B49-AB23-C60AD07D6E71}" destId="{F5B7DEE6-C4A5-A241-86B1-573B400D69CB}" srcOrd="1" destOrd="0" presId="urn:microsoft.com/office/officeart/2008/layout/LinedList"/>
    <dgm:cxn modelId="{601600FA-2DA3-4E49-B128-ABDDC0055533}" type="presParOf" srcId="{E3378C6B-B2BD-6243-B60B-29E9CB41C211}" destId="{78D0B922-F534-344E-A076-8C09B3B7312B}" srcOrd="4" destOrd="0" presId="urn:microsoft.com/office/officeart/2008/layout/LinedList"/>
    <dgm:cxn modelId="{F41A49BA-2FF5-594E-805F-74BE9C35B8EC}" type="presParOf" srcId="{E3378C6B-B2BD-6243-B60B-29E9CB41C211}" destId="{4E7EC60D-5916-2542-99FD-86269B79EBEC}" srcOrd="5" destOrd="0" presId="urn:microsoft.com/office/officeart/2008/layout/LinedList"/>
    <dgm:cxn modelId="{12DEDC5C-456A-814E-AB8C-3344B8F1D20A}" type="presParOf" srcId="{4E7EC60D-5916-2542-99FD-86269B79EBEC}" destId="{0DCEAC73-9CF5-C54C-8F52-C7B40B3782E8}" srcOrd="0" destOrd="0" presId="urn:microsoft.com/office/officeart/2008/layout/LinedList"/>
    <dgm:cxn modelId="{914DF0CB-CA73-D14B-B03C-813C83529B6E}" type="presParOf" srcId="{4E7EC60D-5916-2542-99FD-86269B79EBEC}" destId="{FACCA412-90F6-EA43-9C03-F09FAC429B2B}" srcOrd="1" destOrd="0" presId="urn:microsoft.com/office/officeart/2008/layout/LinedList"/>
    <dgm:cxn modelId="{1291CCD5-C62A-574E-B2CF-E4477CCA9958}" type="presParOf" srcId="{E3378C6B-B2BD-6243-B60B-29E9CB41C211}" destId="{BFB2A843-7440-6A4A-A9E9-498822B443A9}" srcOrd="6" destOrd="0" presId="urn:microsoft.com/office/officeart/2008/layout/LinedList"/>
    <dgm:cxn modelId="{93A923DC-87E1-C945-A63F-E1B9E50A967F}" type="presParOf" srcId="{E3378C6B-B2BD-6243-B60B-29E9CB41C211}" destId="{B665E072-4D32-BB46-AD87-D56027309914}" srcOrd="7" destOrd="0" presId="urn:microsoft.com/office/officeart/2008/layout/LinedList"/>
    <dgm:cxn modelId="{E7E7A753-23E1-9442-83B0-26687B156253}" type="presParOf" srcId="{B665E072-4D32-BB46-AD87-D56027309914}" destId="{A8140DDB-45F0-5B4E-B6A7-C20682A35049}" srcOrd="0" destOrd="0" presId="urn:microsoft.com/office/officeart/2008/layout/LinedList"/>
    <dgm:cxn modelId="{6BF9280C-8262-DD42-9772-F0A81DAF4526}" type="presParOf" srcId="{B665E072-4D32-BB46-AD87-D56027309914}" destId="{75141847-3308-A441-81EC-F2FDEDE656EC}" srcOrd="1" destOrd="0" presId="urn:microsoft.com/office/officeart/2008/layout/LinedList"/>
    <dgm:cxn modelId="{6DF8E275-BEFC-4947-ADCC-2E4A55AB5EA8}" type="presParOf" srcId="{E3378C6B-B2BD-6243-B60B-29E9CB41C211}" destId="{ADE0FA09-5B18-C344-822E-A1AB25C144E8}" srcOrd="8" destOrd="0" presId="urn:microsoft.com/office/officeart/2008/layout/LinedList"/>
    <dgm:cxn modelId="{E6D3354B-1F00-1349-A257-43654E48F3BA}" type="presParOf" srcId="{E3378C6B-B2BD-6243-B60B-29E9CB41C211}" destId="{6D3922CB-4E01-2046-BB27-CCC4D77F704C}" srcOrd="9" destOrd="0" presId="urn:microsoft.com/office/officeart/2008/layout/LinedList"/>
    <dgm:cxn modelId="{7D72A10A-0E17-3342-851B-88238041DE76}" type="presParOf" srcId="{6D3922CB-4E01-2046-BB27-CCC4D77F704C}" destId="{271670F6-DE76-1741-812B-F3586322EED5}" srcOrd="0" destOrd="0" presId="urn:microsoft.com/office/officeart/2008/layout/LinedList"/>
    <dgm:cxn modelId="{4A1CF7F9-134A-F141-9345-DEB9337EB849}" type="presParOf" srcId="{6D3922CB-4E01-2046-BB27-CCC4D77F704C}" destId="{CC6614FE-8B34-124F-BAD8-03926F8C626B}" srcOrd="1" destOrd="0" presId="urn:microsoft.com/office/officeart/2008/layout/LinedList"/>
    <dgm:cxn modelId="{0E7DE81D-68B8-1645-A686-49A50086E201}" type="presParOf" srcId="{E3378C6B-B2BD-6243-B60B-29E9CB41C211}" destId="{FE46C92D-328F-744D-9279-7EC5B549051A}" srcOrd="10" destOrd="0" presId="urn:microsoft.com/office/officeart/2008/layout/LinedList"/>
    <dgm:cxn modelId="{3DC11CBD-BF69-3444-994C-3484F57E17ED}" type="presParOf" srcId="{E3378C6B-B2BD-6243-B60B-29E9CB41C211}" destId="{F85F0E38-F622-7F40-A755-B0CC6EF7B5CE}" srcOrd="11" destOrd="0" presId="urn:microsoft.com/office/officeart/2008/layout/LinedList"/>
    <dgm:cxn modelId="{0A23B6C0-1734-1E4E-9F79-8DC1CEC7758D}" type="presParOf" srcId="{F85F0E38-F622-7F40-A755-B0CC6EF7B5CE}" destId="{BDEF5C42-CD24-CD4F-919C-73C8A2D14CD9}" srcOrd="0" destOrd="0" presId="urn:microsoft.com/office/officeart/2008/layout/LinedList"/>
    <dgm:cxn modelId="{C27198DB-FB9C-F44A-B8EC-631033A6CD60}" type="presParOf" srcId="{F85F0E38-F622-7F40-A755-B0CC6EF7B5CE}" destId="{9952F921-6E9A-B049-BF55-F1FF06CCFEA5}" srcOrd="1" destOrd="0" presId="urn:microsoft.com/office/officeart/2008/layout/LinedList"/>
    <dgm:cxn modelId="{B8322EDC-A062-1E4C-BE5B-38327919EF95}" type="presParOf" srcId="{E3378C6B-B2BD-6243-B60B-29E9CB41C211}" destId="{DE59D323-56CF-454C-AA8C-BB037FD1BD44}" srcOrd="12" destOrd="0" presId="urn:microsoft.com/office/officeart/2008/layout/LinedList"/>
    <dgm:cxn modelId="{C972F99D-716F-AB4B-BD4B-1ADA453930D5}" type="presParOf" srcId="{E3378C6B-B2BD-6243-B60B-29E9CB41C211}" destId="{DFD59294-D49B-FE4D-AD7B-AE673AB4008E}" srcOrd="13" destOrd="0" presId="urn:microsoft.com/office/officeart/2008/layout/LinedList"/>
    <dgm:cxn modelId="{536660BA-5ED3-7645-A3FB-16D228FDECBB}" type="presParOf" srcId="{DFD59294-D49B-FE4D-AD7B-AE673AB4008E}" destId="{4EBDE34F-FEA9-3549-9E07-6796E72EA786}" srcOrd="0" destOrd="0" presId="urn:microsoft.com/office/officeart/2008/layout/LinedList"/>
    <dgm:cxn modelId="{8DE6ADF0-9235-BF4F-9B47-0E7AD223FDB5}" type="presParOf" srcId="{DFD59294-D49B-FE4D-AD7B-AE673AB4008E}" destId="{C1A9633C-D4F9-1D4A-AF2F-19582E8A6D3B}" srcOrd="1" destOrd="0" presId="urn:microsoft.com/office/officeart/2008/layout/LinedList"/>
    <dgm:cxn modelId="{ABE1A191-153C-D448-B52A-5FB56ACB2191}" type="presParOf" srcId="{E3378C6B-B2BD-6243-B60B-29E9CB41C211}" destId="{404CB05A-E06D-9F43-8503-D85E017A4FB4}" srcOrd="14" destOrd="0" presId="urn:microsoft.com/office/officeart/2008/layout/LinedList"/>
    <dgm:cxn modelId="{68437994-82C1-1D47-9772-CAAE7090935A}" type="presParOf" srcId="{E3378C6B-B2BD-6243-B60B-29E9CB41C211}" destId="{5BBBEC56-680A-0F4C-A491-9218F3DB1D35}" srcOrd="15" destOrd="0" presId="urn:microsoft.com/office/officeart/2008/layout/LinedList"/>
    <dgm:cxn modelId="{FACB57B3-E4B4-3249-A7B5-5D89052C4CB5}" type="presParOf" srcId="{5BBBEC56-680A-0F4C-A491-9218F3DB1D35}" destId="{C7AF57E2-6013-1F41-9EB3-727F35C61DB5}" srcOrd="0" destOrd="0" presId="urn:microsoft.com/office/officeart/2008/layout/LinedList"/>
    <dgm:cxn modelId="{CCFA6BCD-B05A-4541-804E-C090BCD2574D}" type="presParOf" srcId="{5BBBEC56-680A-0F4C-A491-9218F3DB1D35}" destId="{D1C6F2E8-5D28-D442-AA22-1B30D0CCC9D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26296B-C4E8-C543-A8FA-F31D8DED5F14}">
      <dsp:nvSpPr>
        <dsp:cNvPr id="0" name=""/>
        <dsp:cNvSpPr/>
      </dsp:nvSpPr>
      <dsp:spPr>
        <a:xfrm>
          <a:off x="0" y="0"/>
          <a:ext cx="5087607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7BF0B2-624F-8A43-BAC1-03E0FDB46C5C}">
      <dsp:nvSpPr>
        <dsp:cNvPr id="0" name=""/>
        <dsp:cNvSpPr/>
      </dsp:nvSpPr>
      <dsp:spPr>
        <a:xfrm>
          <a:off x="0" y="0"/>
          <a:ext cx="5087607" cy="5340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SQL Injection</a:t>
          </a:r>
        </a:p>
      </dsp:txBody>
      <dsp:txXfrm>
        <a:off x="0" y="0"/>
        <a:ext cx="5087607" cy="534004"/>
      </dsp:txXfrm>
    </dsp:sp>
    <dsp:sp modelId="{7693C4AD-57D3-2C46-8F44-43A3CC91395F}">
      <dsp:nvSpPr>
        <dsp:cNvPr id="0" name=""/>
        <dsp:cNvSpPr/>
      </dsp:nvSpPr>
      <dsp:spPr>
        <a:xfrm>
          <a:off x="0" y="534004"/>
          <a:ext cx="5087607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AE8E49-BCB7-AF4D-BD34-6D199A1D59BA}">
      <dsp:nvSpPr>
        <dsp:cNvPr id="0" name=""/>
        <dsp:cNvSpPr/>
      </dsp:nvSpPr>
      <dsp:spPr>
        <a:xfrm>
          <a:off x="0" y="534004"/>
          <a:ext cx="5087607" cy="5340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OS Command Injection</a:t>
          </a:r>
        </a:p>
      </dsp:txBody>
      <dsp:txXfrm>
        <a:off x="0" y="534004"/>
        <a:ext cx="5087607" cy="534004"/>
      </dsp:txXfrm>
    </dsp:sp>
    <dsp:sp modelId="{78D0B922-F534-344E-A076-8C09B3B7312B}">
      <dsp:nvSpPr>
        <dsp:cNvPr id="0" name=""/>
        <dsp:cNvSpPr/>
      </dsp:nvSpPr>
      <dsp:spPr>
        <a:xfrm>
          <a:off x="0" y="1068009"/>
          <a:ext cx="5087607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CEAC73-9CF5-C54C-8F52-C7B40B3782E8}">
      <dsp:nvSpPr>
        <dsp:cNvPr id="0" name=""/>
        <dsp:cNvSpPr/>
      </dsp:nvSpPr>
      <dsp:spPr>
        <a:xfrm>
          <a:off x="0" y="1068009"/>
          <a:ext cx="5087607" cy="5340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Log monitoring not in place</a:t>
          </a:r>
        </a:p>
      </dsp:txBody>
      <dsp:txXfrm>
        <a:off x="0" y="1068009"/>
        <a:ext cx="5087607" cy="534004"/>
      </dsp:txXfrm>
    </dsp:sp>
    <dsp:sp modelId="{BFB2A843-7440-6A4A-A9E9-498822B443A9}">
      <dsp:nvSpPr>
        <dsp:cNvPr id="0" name=""/>
        <dsp:cNvSpPr/>
      </dsp:nvSpPr>
      <dsp:spPr>
        <a:xfrm>
          <a:off x="0" y="1602014"/>
          <a:ext cx="5087607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140DDB-45F0-5B4E-B6A7-C20682A35049}">
      <dsp:nvSpPr>
        <dsp:cNvPr id="0" name=""/>
        <dsp:cNvSpPr/>
      </dsp:nvSpPr>
      <dsp:spPr>
        <a:xfrm>
          <a:off x="0" y="1602014"/>
          <a:ext cx="5087607" cy="5340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Security misconfiguration</a:t>
          </a:r>
        </a:p>
      </dsp:txBody>
      <dsp:txXfrm>
        <a:off x="0" y="1602014"/>
        <a:ext cx="5087607" cy="534004"/>
      </dsp:txXfrm>
    </dsp:sp>
    <dsp:sp modelId="{ADE0FA09-5B18-C344-822E-A1AB25C144E8}">
      <dsp:nvSpPr>
        <dsp:cNvPr id="0" name=""/>
        <dsp:cNvSpPr/>
      </dsp:nvSpPr>
      <dsp:spPr>
        <a:xfrm>
          <a:off x="0" y="2136019"/>
          <a:ext cx="5087607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1670F6-DE76-1741-812B-F3586322EED5}">
      <dsp:nvSpPr>
        <dsp:cNvPr id="0" name=""/>
        <dsp:cNvSpPr/>
      </dsp:nvSpPr>
      <dsp:spPr>
        <a:xfrm>
          <a:off x="0" y="2136019"/>
          <a:ext cx="5087607" cy="5340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Sensitive data not encrypted</a:t>
          </a:r>
        </a:p>
      </dsp:txBody>
      <dsp:txXfrm>
        <a:off x="0" y="2136019"/>
        <a:ext cx="5087607" cy="534004"/>
      </dsp:txXfrm>
    </dsp:sp>
    <dsp:sp modelId="{FE46C92D-328F-744D-9279-7EC5B549051A}">
      <dsp:nvSpPr>
        <dsp:cNvPr id="0" name=""/>
        <dsp:cNvSpPr/>
      </dsp:nvSpPr>
      <dsp:spPr>
        <a:xfrm>
          <a:off x="0" y="2670024"/>
          <a:ext cx="5087607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EF5C42-CD24-CD4F-919C-73C8A2D14CD9}">
      <dsp:nvSpPr>
        <dsp:cNvPr id="0" name=""/>
        <dsp:cNvSpPr/>
      </dsp:nvSpPr>
      <dsp:spPr>
        <a:xfrm>
          <a:off x="0" y="2670024"/>
          <a:ext cx="5087607" cy="5340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Coding errors</a:t>
          </a:r>
        </a:p>
      </dsp:txBody>
      <dsp:txXfrm>
        <a:off x="0" y="2670024"/>
        <a:ext cx="5087607" cy="534004"/>
      </dsp:txXfrm>
    </dsp:sp>
    <dsp:sp modelId="{DE59D323-56CF-454C-AA8C-BB037FD1BD44}">
      <dsp:nvSpPr>
        <dsp:cNvPr id="0" name=""/>
        <dsp:cNvSpPr/>
      </dsp:nvSpPr>
      <dsp:spPr>
        <a:xfrm>
          <a:off x="0" y="3204029"/>
          <a:ext cx="5087607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BDE34F-FEA9-3549-9E07-6796E72EA786}">
      <dsp:nvSpPr>
        <dsp:cNvPr id="0" name=""/>
        <dsp:cNvSpPr/>
      </dsp:nvSpPr>
      <dsp:spPr>
        <a:xfrm>
          <a:off x="0" y="3204029"/>
          <a:ext cx="5087607" cy="5340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Over provisioning of permissions</a:t>
          </a:r>
        </a:p>
      </dsp:txBody>
      <dsp:txXfrm>
        <a:off x="0" y="3204029"/>
        <a:ext cx="5087607" cy="534004"/>
      </dsp:txXfrm>
    </dsp:sp>
    <dsp:sp modelId="{404CB05A-E06D-9F43-8503-D85E017A4FB4}">
      <dsp:nvSpPr>
        <dsp:cNvPr id="0" name=""/>
        <dsp:cNvSpPr/>
      </dsp:nvSpPr>
      <dsp:spPr>
        <a:xfrm>
          <a:off x="0" y="3738034"/>
          <a:ext cx="5087607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AF57E2-6013-1F41-9EB3-727F35C61DB5}">
      <dsp:nvSpPr>
        <dsp:cNvPr id="0" name=""/>
        <dsp:cNvSpPr/>
      </dsp:nvSpPr>
      <dsp:spPr>
        <a:xfrm>
          <a:off x="0" y="3738034"/>
          <a:ext cx="5087607" cy="5340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Cross-Site Scripting (XSS)</a:t>
          </a:r>
        </a:p>
      </dsp:txBody>
      <dsp:txXfrm>
        <a:off x="0" y="3738034"/>
        <a:ext cx="5087607" cy="5340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680FBE-A8DF-4758-9AC4-3A9E1039168F}" type="datetimeFigureOut">
              <a:rPr lang="en-US" smtClean="0"/>
              <a:t>2/23/2026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679768-A2FC-4D08-91F6-8DCE6C566B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2/23/2026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9801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52279-F43F-64EA-B76C-A573588D2F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F003E6-AF06-1CFF-BD4C-F807118937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308AE2-3F02-FFE8-3A4C-9F7641760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pPr/>
              <a:t>2/23/2026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EAAF73-4E07-6458-E3A4-8E5A66153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CF4429-3C85-E9F5-B1A6-D7A2F2FCB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9327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E956D-619F-BFDC-DC91-189505F62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B65BE-7362-B928-7A7F-FD6CAFFD34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F46F7-3176-2D65-8853-287028171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pPr/>
              <a:t>2/23/2026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FB7CB-E78B-41B8-3465-B8BF47504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4E47BA-69C0-1937-B769-E807A7BE5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6669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7A4B8-7292-40A5-D24A-EF408D4AC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919C66-2F88-9683-CE1B-1C9CFC97CF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CE6B90-5E59-DF59-F7B2-8A73CD002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pPr/>
              <a:t>2/23/2026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A1C838-5658-6053-6E28-B875D759D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A648F-45A1-8DBC-4350-EF88EB600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06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F2C70-F3A5-7645-4990-CCA7B003B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80A0F-FA58-5840-B66D-1205E9D2EA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6C2A86-D178-63E0-3601-DC8E8ED1F0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E2B01C-3C91-F077-1D31-83DBB1CF8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pPr/>
              <a:t>2/23/2026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BC0A69-300B-EA72-1CF0-523E2E582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E12447-9ACA-8D2C-1F4D-A68E67B9D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6957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0BAC3-C4CD-1C28-1548-89471F083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851C94-7B3B-705B-7987-7F1CA116EB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8487A9-A608-B6D3-DF51-E395FE97B9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FD9BC8-C81B-43F2-270B-3C62DD4CF3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BD9870-DF0D-FAE2-8303-9A69F2253B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0E694C-90B7-C76D-3CC7-7D27F902F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pPr/>
              <a:t>2/23/2026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596D64-8C29-EE31-3FB9-53380D647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1E5BF3-E03B-48AD-A693-1F33A4986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819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8ADCC-DBD0-9F22-ED36-DD0E326F2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F45920-3696-3457-B0C5-53CF2C44D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pPr/>
              <a:t>2/23/2026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10CE8E-DE02-0AFC-424B-A7C8E303A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F0CC3B-0C19-9FA3-6B5C-2016493FD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8879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BAB344-1B08-7E80-6178-EDFE796E7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pPr/>
              <a:t>2/23/2026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A8C25D-CF1F-51E3-304D-B42AE945C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A06584-9452-A3E5-BF14-E7C722E9A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6601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BCC1E-20E1-1FBC-6E33-2DFD9F297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E99C88-F3AE-DD1C-60E7-03C0BE7A39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583603-16C3-8883-F257-0974E7CD86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EBD151-5E74-4662-6AAF-889F33F7D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pPr/>
              <a:t>2/23/2026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E57E39-9176-A258-3C3F-AC0AA588B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388654-6A41-A59E-185B-C80C56280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7984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C746A-C945-ACDA-3514-C1D9A2322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BCC88E-0D1C-9EEC-B4AF-5940E658CD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0B318-3972-875B-0301-E03944D1CC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EE5D25-B5E9-278F-9DCF-69A4617CE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pPr/>
              <a:t>2/23/2026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72B877-7980-B8D8-EF06-CBD569830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F83D1F-477A-F28D-F8C5-505454E4D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73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A2AAC-9F37-8DC7-4432-0211384F9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3646AC-2B8A-9DC1-CFEB-B9930E9D5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34DD67-9B88-67FD-447E-FCA15255A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pPr/>
              <a:t>2/23/2026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C54B9-BDEC-844C-AB94-B97B2EF9A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CABB76-751B-F9CA-AB18-8199846DE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0518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03AD66-E821-24A7-614C-DBF0F6F30B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3B50F6-8DEB-E574-3135-1AC48DFDBE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AB22D0-E8B8-9D1C-A881-3C9A62EF3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pPr/>
              <a:t>2/23/2026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6A95B1-0A4E-AED3-91A3-848ED703B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034A0-E336-DD0D-8982-2E717DBAC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86754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4159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2/23/2026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07736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53C144-2C08-8494-5D3B-080AC57D1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A82939-5F90-A458-FECE-CF7002A723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4E7116-476F-26D4-342C-8A9050AE5F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2/23/2026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FCE966-4336-6DE2-2D69-208A1CF024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1FC074-4B32-3101-8E57-31F3F772E7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6981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63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1">
            <a:extLst>
              <a:ext uri="{FF2B5EF4-FFF2-40B4-BE49-F238E27FC236}">
                <a16:creationId xmlns:a16="http://schemas.microsoft.com/office/drawing/2014/main" id="{5A59F003-E00A-43F9-91DC-CC54E3B8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Illuminated technology network on a dark background">
            <a:extLst>
              <a:ext uri="{FF2B5EF4-FFF2-40B4-BE49-F238E27FC236}">
                <a16:creationId xmlns:a16="http://schemas.microsoft.com/office/drawing/2014/main" id="{044C9108-AEE3-6EAC-7463-177883A13BF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091" r="9091"/>
          <a:stretch/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31" name="Rectangle 23">
            <a:extLst>
              <a:ext uri="{FF2B5EF4-FFF2-40B4-BE49-F238E27FC236}">
                <a16:creationId xmlns:a16="http://schemas.microsoft.com/office/drawing/2014/main" id="{D74A4382-E3AD-430A-9A1F-DFA3E0E77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5" y="-1524511"/>
            <a:ext cx="4592270" cy="12192001"/>
          </a:xfrm>
          <a:prstGeom prst="rect">
            <a:avLst/>
          </a:prstGeom>
          <a:gradFill>
            <a:gsLst>
              <a:gs pos="35000">
                <a:schemeClr val="tx1">
                  <a:alpha val="46000"/>
                </a:schemeClr>
              </a:gs>
              <a:gs pos="21000">
                <a:schemeClr val="tx1">
                  <a:alpha val="3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553" y="3091928"/>
            <a:ext cx="9078562" cy="2387600"/>
          </a:xfr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 sz="6600">
                <a:solidFill>
                  <a:schemeClr val="bg1"/>
                </a:solidFill>
              </a:rPr>
              <a:t>Securing Cloud Computing </a:t>
            </a:r>
          </a:p>
        </p:txBody>
      </p:sp>
      <p:sp>
        <p:nvSpPr>
          <p:cNvPr id="32" name="Rectangle: Rounded Corners 25">
            <a:extLst>
              <a:ext uri="{FF2B5EF4-FFF2-40B4-BE49-F238E27FC236}">
                <a16:creationId xmlns:a16="http://schemas.microsoft.com/office/drawing/2014/main" id="{79F40191-0F44-4FD1-82CC-ACB507C1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404553" y="5624945"/>
            <a:ext cx="9078562" cy="59297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Advantages and Disadvantages of cyber security in the Cloud</a:t>
            </a: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E0C28A69-9B26-45AC-AFF7-719A7A50A0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 idx="4294967295"/>
          </p:nvPr>
        </p:nvSpPr>
        <p:spPr>
          <a:xfrm>
            <a:off x="7145654" y="991443"/>
            <a:ext cx="4646295" cy="10878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/>
              <a:t>Advantages of Cloud Computing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473"/>
          <a:stretch/>
        </p:blipFill>
        <p:spPr>
          <a:xfrm>
            <a:off x="20" y="-1"/>
            <a:ext cx="6688434" cy="6858000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383398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5655" y="2285541"/>
            <a:ext cx="457200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Content Placeholder 17"/>
          <p:cNvSpPr txBox="1">
            <a:spLocks/>
          </p:cNvSpPr>
          <p:nvPr/>
        </p:nvSpPr>
        <p:spPr>
          <a:xfrm>
            <a:off x="7145654" y="2684095"/>
            <a:ext cx="4646295" cy="34928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Aft>
                <a:spcPts val="1800"/>
              </a:spcAft>
              <a:buClr>
                <a:schemeClr val="accent1">
                  <a:lumMod val="50000"/>
                </a:schemeClr>
              </a:buClr>
              <a:buSzPct val="125000"/>
              <a:defRPr/>
            </a:pPr>
            <a:r>
              <a:rPr lang="en-US" sz="1800" dirty="0">
                <a:solidFill>
                  <a:schemeClr val="tx1"/>
                </a:solidFill>
              </a:rPr>
              <a:t>Scalable and flexibility</a:t>
            </a:r>
          </a:p>
          <a:p>
            <a:pPr>
              <a:lnSpc>
                <a:spcPct val="90000"/>
              </a:lnSpc>
              <a:spcAft>
                <a:spcPts val="1800"/>
              </a:spcAft>
              <a:buClr>
                <a:schemeClr val="accent1">
                  <a:lumMod val="50000"/>
                </a:schemeClr>
              </a:buClr>
              <a:buSzPct val="125000"/>
              <a:defRPr/>
            </a:pPr>
            <a:r>
              <a:rPr lang="en-US" sz="1800" dirty="0">
                <a:solidFill>
                  <a:schemeClr val="tx1"/>
                </a:solidFill>
              </a:rPr>
              <a:t>Faster Deployment</a:t>
            </a:r>
          </a:p>
          <a:p>
            <a:pPr>
              <a:lnSpc>
                <a:spcPct val="90000"/>
              </a:lnSpc>
              <a:spcAft>
                <a:spcPts val="1800"/>
              </a:spcAft>
              <a:buClr>
                <a:schemeClr val="accent1">
                  <a:lumMod val="50000"/>
                </a:schemeClr>
              </a:buClr>
              <a:buSzPct val="125000"/>
              <a:defRPr/>
            </a:pPr>
            <a:r>
              <a:rPr lang="en-US" sz="1800" dirty="0">
                <a:solidFill>
                  <a:schemeClr val="tx1"/>
                </a:solidFill>
              </a:rPr>
              <a:t>Reduced Cost</a:t>
            </a:r>
          </a:p>
          <a:p>
            <a:pPr>
              <a:lnSpc>
                <a:spcPct val="90000"/>
              </a:lnSpc>
              <a:spcAft>
                <a:spcPts val="1800"/>
              </a:spcAft>
              <a:buClr>
                <a:schemeClr val="accent1">
                  <a:lumMod val="50000"/>
                </a:schemeClr>
              </a:buClr>
              <a:buSzPct val="125000"/>
              <a:defRPr/>
            </a:pPr>
            <a:r>
              <a:rPr lang="en-US" sz="1800" dirty="0">
                <a:solidFill>
                  <a:schemeClr val="tx1"/>
                </a:solidFill>
              </a:rPr>
              <a:t>Reduced Latency</a:t>
            </a:r>
          </a:p>
          <a:p>
            <a:pPr>
              <a:lnSpc>
                <a:spcPct val="90000"/>
              </a:lnSpc>
              <a:spcAft>
                <a:spcPts val="1800"/>
              </a:spcAft>
              <a:buClr>
                <a:schemeClr val="accent1">
                  <a:lumMod val="50000"/>
                </a:schemeClr>
              </a:buClr>
              <a:buSzPct val="125000"/>
              <a:defRPr/>
            </a:pPr>
            <a:r>
              <a:rPr lang="en-US" sz="1800" dirty="0">
                <a:solidFill>
                  <a:schemeClr val="tx1"/>
                </a:solidFill>
              </a:rPr>
              <a:t>Low risk of failure</a:t>
            </a:r>
          </a:p>
        </p:txBody>
      </p:sp>
    </p:spTree>
    <p:extLst>
      <p:ext uri="{BB962C8B-B14F-4D97-AF65-F5344CB8AC3E}">
        <p14:creationId xmlns:p14="http://schemas.microsoft.com/office/powerpoint/2010/main" val="3457616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cloud server&#10;&#10;Description automatically generated">
            <a:extLst>
              <a:ext uri="{FF2B5EF4-FFF2-40B4-BE49-F238E27FC236}">
                <a16:creationId xmlns:a16="http://schemas.microsoft.com/office/drawing/2014/main" id="{88727240-B904-6F40-658D-8DAC5AFF65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040" y="1026046"/>
            <a:ext cx="10445920" cy="4125328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title" idx="4294967295"/>
          </p:nvPr>
        </p:nvSpPr>
        <p:spPr>
          <a:xfrm>
            <a:off x="245112" y="161960"/>
            <a:ext cx="9236866" cy="690796"/>
          </a:xfrm>
        </p:spPr>
        <p:txBody>
          <a:bodyPr>
            <a:noAutofit/>
          </a:bodyPr>
          <a:lstStyle/>
          <a:p>
            <a:r>
              <a:rPr lang="en-US" sz="4000" dirty="0">
                <a:latin typeface="+mn-lt"/>
                <a:cs typeface="Segoe UI Light" panose="020B0502040204020203" pitchFamily="34" charset="0"/>
              </a:rPr>
              <a:t>Disadvantages of Cloud Computing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11482A-97AD-A986-ED3D-864D8E7FB681}"/>
              </a:ext>
            </a:extLst>
          </p:cNvPr>
          <p:cNvSpPr/>
          <p:nvPr/>
        </p:nvSpPr>
        <p:spPr>
          <a:xfrm>
            <a:off x="0" y="5262122"/>
            <a:ext cx="12192000" cy="1595878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200150" lvl="2" indent="-285750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dirty="0"/>
              <a:t>Increased security vulnerability</a:t>
            </a:r>
          </a:p>
          <a:p>
            <a:pPr marL="1200150" lvl="2" indent="-285750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dirty="0"/>
              <a:t>Vendor lock-in</a:t>
            </a:r>
          </a:p>
          <a:p>
            <a:pPr marL="1200150" lvl="2" indent="-285750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dirty="0"/>
              <a:t>Complex end-to-end application testing</a:t>
            </a:r>
          </a:p>
          <a:p>
            <a:pPr marL="1200150" lvl="2" indent="-285750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dirty="0"/>
              <a:t>Not suitable for all tasks, such as long-term serverless computing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309E104-E5CB-51E9-FEE2-4E5C34863F26}"/>
              </a:ext>
            </a:extLst>
          </p:cNvPr>
          <p:cNvCxnSpPr>
            <a:cxnSpLocks/>
          </p:cNvCxnSpPr>
          <p:nvPr/>
        </p:nvCxnSpPr>
        <p:spPr>
          <a:xfrm>
            <a:off x="0" y="851384"/>
            <a:ext cx="8170223" cy="0"/>
          </a:xfrm>
          <a:prstGeom prst="line">
            <a:avLst/>
          </a:prstGeom>
          <a:ln w="60325" cap="rnd" cmpd="sng">
            <a:gradFill flip="none" rotWithShape="1">
              <a:gsLst>
                <a:gs pos="28000">
                  <a:schemeClr val="accent2">
                    <a:lumMod val="60000"/>
                    <a:lumOff val="40000"/>
                  </a:schemeClr>
                </a:gs>
                <a:gs pos="87000">
                  <a:schemeClr val="accent2">
                    <a:lumMod val="0"/>
                    <a:lumOff val="100000"/>
                  </a:schemeClr>
                </a:gs>
                <a:gs pos="54000">
                  <a:schemeClr val="accent2">
                    <a:lumMod val="20000"/>
                    <a:lumOff val="80000"/>
                  </a:schemeClr>
                </a:gs>
                <a:gs pos="15000">
                  <a:schemeClr val="accent2">
                    <a:lumMod val="100000"/>
                  </a:schemeClr>
                </a:gs>
              </a:gsLst>
              <a:lin ang="0" scaled="1"/>
              <a:tileRect/>
            </a:gradFill>
            <a:round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CF37F82A-8486-231F-DA15-D1CE352A7C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9400" y="3257550"/>
            <a:ext cx="4013200" cy="3429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91C0266-0393-2693-687D-8A129E45037C}"/>
              </a:ext>
            </a:extLst>
          </p:cNvPr>
          <p:cNvSpPr txBox="1"/>
          <p:nvPr/>
        </p:nvSpPr>
        <p:spPr>
          <a:xfrm>
            <a:off x="3752602" y="5020569"/>
            <a:ext cx="83290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dirty="0"/>
              <a:t>Copyright © by EC-Council. All Rights Reserved. Reproduction is Strictly Prohibited.</a:t>
            </a:r>
          </a:p>
        </p:txBody>
      </p:sp>
    </p:spTree>
    <p:extLst>
      <p:ext uri="{BB962C8B-B14F-4D97-AF65-F5344CB8AC3E}">
        <p14:creationId xmlns:p14="http://schemas.microsoft.com/office/powerpoint/2010/main" val="3469923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244434" y="159606"/>
            <a:ext cx="10515600" cy="691778"/>
          </a:xfrm>
        </p:spPr>
        <p:txBody>
          <a:bodyPr>
            <a:noAutofit/>
          </a:bodyPr>
          <a:lstStyle/>
          <a:p>
            <a:r>
              <a:rPr lang="en-US" sz="4000" dirty="0">
                <a:latin typeface="+mn-lt"/>
                <a:cs typeface="Segoe UI Light" panose="020B0502040204020203" pitchFamily="34" charset="0"/>
              </a:rPr>
              <a:t>Cloud Computing Threats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19196" t="9727" r="23057" b="9830"/>
          <a:stretch/>
        </p:blipFill>
        <p:spPr>
          <a:xfrm>
            <a:off x="5776255" y="1502289"/>
            <a:ext cx="6269038" cy="4912168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1BEE971-0B63-53DB-9255-8C469F076B7E}"/>
              </a:ext>
            </a:extLst>
          </p:cNvPr>
          <p:cNvCxnSpPr>
            <a:cxnSpLocks/>
          </p:cNvCxnSpPr>
          <p:nvPr/>
        </p:nvCxnSpPr>
        <p:spPr>
          <a:xfrm>
            <a:off x="0" y="851384"/>
            <a:ext cx="8170223" cy="0"/>
          </a:xfrm>
          <a:prstGeom prst="line">
            <a:avLst/>
          </a:prstGeom>
          <a:ln w="60325" cap="rnd" cmpd="sng">
            <a:gradFill flip="none" rotWithShape="1">
              <a:gsLst>
                <a:gs pos="28000">
                  <a:schemeClr val="accent2">
                    <a:lumMod val="60000"/>
                    <a:lumOff val="40000"/>
                  </a:schemeClr>
                </a:gs>
                <a:gs pos="87000">
                  <a:schemeClr val="accent2">
                    <a:lumMod val="0"/>
                    <a:lumOff val="100000"/>
                  </a:schemeClr>
                </a:gs>
                <a:gs pos="54000">
                  <a:schemeClr val="accent2">
                    <a:lumMod val="20000"/>
                    <a:lumOff val="80000"/>
                  </a:schemeClr>
                </a:gs>
                <a:gs pos="15000">
                  <a:schemeClr val="accent2">
                    <a:lumMod val="100000"/>
                  </a:schemeClr>
                </a:gs>
              </a:gsLst>
              <a:lin ang="0" scaled="1"/>
              <a:tileRect/>
            </a:gradFill>
            <a:round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39252E0-700D-BBD3-A38B-B4889E7C5BA4}"/>
              </a:ext>
            </a:extLst>
          </p:cNvPr>
          <p:cNvSpPr/>
          <p:nvPr/>
        </p:nvSpPr>
        <p:spPr>
          <a:xfrm>
            <a:off x="572252" y="2139222"/>
            <a:ext cx="5092278" cy="731520"/>
          </a:xfrm>
          <a:prstGeom prst="roundRect">
            <a:avLst/>
          </a:prstGeom>
          <a:solidFill>
            <a:srgbClr val="3884A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5760" rtlCol="0" anchor="ctr"/>
          <a:lstStyle/>
          <a:p>
            <a:r>
              <a:rPr lang="en-US" sz="2000" dirty="0"/>
              <a:t>Vendor lock-in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FB29987-D2CF-1ADA-BD39-872E45A9F74A}"/>
              </a:ext>
            </a:extLst>
          </p:cNvPr>
          <p:cNvSpPr/>
          <p:nvPr/>
        </p:nvSpPr>
        <p:spPr>
          <a:xfrm>
            <a:off x="572252" y="1303092"/>
            <a:ext cx="5092278" cy="731520"/>
          </a:xfrm>
          <a:prstGeom prst="roundRect">
            <a:avLst/>
          </a:prstGeom>
          <a:solidFill>
            <a:srgbClr val="3884A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5760" rtlCol="0" anchor="ctr"/>
          <a:lstStyle/>
          <a:p>
            <a:r>
              <a:rPr lang="en-US" sz="2000" dirty="0"/>
              <a:t>Accountability and Data Ownership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5F65062-CE0C-E6FA-5938-04EF694F4AFE}"/>
              </a:ext>
            </a:extLst>
          </p:cNvPr>
          <p:cNvSpPr/>
          <p:nvPr/>
        </p:nvSpPr>
        <p:spPr>
          <a:xfrm>
            <a:off x="572252" y="2975352"/>
            <a:ext cx="5092278" cy="731520"/>
          </a:xfrm>
          <a:prstGeom prst="roundRect">
            <a:avLst/>
          </a:prstGeom>
          <a:solidFill>
            <a:srgbClr val="3884A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5760" rtlCol="0" anchor="ctr"/>
          <a:lstStyle/>
          <a:p>
            <a:r>
              <a:rPr lang="en-US" sz="2000" dirty="0"/>
              <a:t>Regulatory Compliance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AE41AE9-1593-DDE8-1F5B-8B60419B423B}"/>
              </a:ext>
            </a:extLst>
          </p:cNvPr>
          <p:cNvSpPr/>
          <p:nvPr/>
        </p:nvSpPr>
        <p:spPr>
          <a:xfrm>
            <a:off x="572252" y="3811482"/>
            <a:ext cx="5092278" cy="731520"/>
          </a:xfrm>
          <a:prstGeom prst="roundRect">
            <a:avLst/>
          </a:prstGeom>
          <a:solidFill>
            <a:srgbClr val="3884A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5760" rtlCol="0" anchor="ctr"/>
          <a:lstStyle/>
          <a:p>
            <a:r>
              <a:rPr lang="en-US" sz="2000" dirty="0"/>
              <a:t>User Privacy and Secondary Usage storage of Data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F700D0E-BA64-B0DD-B4AB-1B75043CDDB0}"/>
              </a:ext>
            </a:extLst>
          </p:cNvPr>
          <p:cNvSpPr/>
          <p:nvPr/>
        </p:nvSpPr>
        <p:spPr>
          <a:xfrm>
            <a:off x="572252" y="4647612"/>
            <a:ext cx="5092278" cy="731520"/>
          </a:xfrm>
          <a:prstGeom prst="roundRect">
            <a:avLst/>
          </a:prstGeom>
          <a:solidFill>
            <a:srgbClr val="3884A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5760" rtlCol="0" anchor="ctr"/>
          <a:lstStyle/>
          <a:p>
            <a:r>
              <a:rPr lang="en-US" sz="2000" dirty="0"/>
              <a:t>Multi-Tenancy and Physical Security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8FE58F1-905D-B9D6-3B56-667D889CF215}"/>
              </a:ext>
            </a:extLst>
          </p:cNvPr>
          <p:cNvSpPr/>
          <p:nvPr/>
        </p:nvSpPr>
        <p:spPr>
          <a:xfrm>
            <a:off x="572252" y="5483744"/>
            <a:ext cx="5092278" cy="731520"/>
          </a:xfrm>
          <a:prstGeom prst="roundRect">
            <a:avLst/>
          </a:prstGeom>
          <a:solidFill>
            <a:srgbClr val="3884A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5760" rtlCol="0" anchor="ctr"/>
          <a:lstStyle/>
          <a:p>
            <a:r>
              <a:rPr lang="en-US" sz="2000" dirty="0"/>
              <a:t>User Identity Federation (Provisions for Offboarding)</a:t>
            </a:r>
          </a:p>
        </p:txBody>
      </p:sp>
    </p:spTree>
    <p:extLst>
      <p:ext uri="{BB962C8B-B14F-4D97-AF65-F5344CB8AC3E}">
        <p14:creationId xmlns:p14="http://schemas.microsoft.com/office/powerpoint/2010/main" val="1651378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85859" y="94885"/>
            <a:ext cx="10515600" cy="883193"/>
          </a:xfrm>
        </p:spPr>
        <p:txBody>
          <a:bodyPr>
            <a:noAutofit/>
          </a:bodyPr>
          <a:lstStyle/>
          <a:p>
            <a:r>
              <a:rPr lang="en-US" sz="4000" dirty="0">
                <a:latin typeface="+mn-lt"/>
                <a:cs typeface="Segoe UI Light" panose="020B0502040204020203" pitchFamily="34" charset="0"/>
              </a:rPr>
              <a:t>Cloud Computing Threats Security Weakness</a:t>
            </a:r>
          </a:p>
        </p:txBody>
      </p:sp>
      <p:pic>
        <p:nvPicPr>
          <p:cNvPr id="5" name="Picture 4" descr="A blue and green object with a shield and a blue object on a black background&#10;&#10;Description automatically generated"/>
          <p:cNvPicPr>
            <a:picLocks noChangeAspect="1"/>
          </p:cNvPicPr>
          <p:nvPr/>
        </p:nvPicPr>
        <p:blipFill rotWithShape="1">
          <a:blip r:embed="rId2"/>
          <a:srcRect l="16473" t="23956" r="49393" b="17858"/>
          <a:stretch/>
        </p:blipFill>
        <p:spPr>
          <a:xfrm>
            <a:off x="865983" y="1837578"/>
            <a:ext cx="4037611" cy="3871518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75EEEBA-CEF3-DFD7-F8AF-086CAB43CAC5}"/>
              </a:ext>
            </a:extLst>
          </p:cNvPr>
          <p:cNvCxnSpPr>
            <a:cxnSpLocks/>
          </p:cNvCxnSpPr>
          <p:nvPr/>
        </p:nvCxnSpPr>
        <p:spPr>
          <a:xfrm>
            <a:off x="0" y="954385"/>
            <a:ext cx="9654639" cy="0"/>
          </a:xfrm>
          <a:prstGeom prst="line">
            <a:avLst/>
          </a:prstGeom>
          <a:ln w="60325" cap="rnd" cmpd="sng">
            <a:gradFill flip="none" rotWithShape="1">
              <a:gsLst>
                <a:gs pos="28000">
                  <a:schemeClr val="accent2">
                    <a:lumMod val="60000"/>
                    <a:lumOff val="40000"/>
                  </a:schemeClr>
                </a:gs>
                <a:gs pos="87000">
                  <a:schemeClr val="accent2">
                    <a:lumMod val="0"/>
                    <a:lumOff val="100000"/>
                  </a:schemeClr>
                </a:gs>
                <a:gs pos="54000">
                  <a:schemeClr val="accent2">
                    <a:lumMod val="20000"/>
                    <a:lumOff val="80000"/>
                  </a:schemeClr>
                </a:gs>
                <a:gs pos="15000">
                  <a:schemeClr val="accent2">
                    <a:lumMod val="100000"/>
                  </a:schemeClr>
                </a:gs>
              </a:gsLst>
              <a:lin ang="0" scaled="1"/>
              <a:tileRect/>
            </a:gradFill>
            <a:round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40" name="Content Placeholder 17">
            <a:extLst>
              <a:ext uri="{FF2B5EF4-FFF2-40B4-BE49-F238E27FC236}">
                <a16:creationId xmlns:a16="http://schemas.microsoft.com/office/drawing/2014/main" id="{49FBC795-4587-A4F6-297E-AF760CB59B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80847953"/>
              </p:ext>
            </p:extLst>
          </p:nvPr>
        </p:nvGraphicFramePr>
        <p:xfrm>
          <a:off x="5613852" y="1734577"/>
          <a:ext cx="5087607" cy="42720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19110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220683" y="159329"/>
            <a:ext cx="10515600" cy="834282"/>
          </a:xfrm>
        </p:spPr>
        <p:txBody>
          <a:bodyPr>
            <a:noAutofit/>
          </a:bodyPr>
          <a:lstStyle/>
          <a:p>
            <a:r>
              <a:rPr lang="en-US" sz="4000" dirty="0">
                <a:latin typeface="+mn-lt"/>
                <a:cs typeface="Segoe UI Light" panose="020B0502040204020203" pitchFamily="34" charset="0"/>
              </a:rPr>
              <a:t>Cloud Computing Threat Mitigation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49739" t="16404" r="8223" b="7909"/>
          <a:stretch/>
        </p:blipFill>
        <p:spPr>
          <a:xfrm>
            <a:off x="3857486" y="1063818"/>
            <a:ext cx="4537947" cy="4595751"/>
          </a:xfrm>
          <a:prstGeom prst="ellipse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B51DD74-A20E-BBE7-2D12-6D434063D268}"/>
              </a:ext>
            </a:extLst>
          </p:cNvPr>
          <p:cNvCxnSpPr>
            <a:cxnSpLocks/>
          </p:cNvCxnSpPr>
          <p:nvPr/>
        </p:nvCxnSpPr>
        <p:spPr>
          <a:xfrm>
            <a:off x="0" y="898885"/>
            <a:ext cx="8170223" cy="0"/>
          </a:xfrm>
          <a:prstGeom prst="line">
            <a:avLst/>
          </a:prstGeom>
          <a:ln w="60325" cap="rnd" cmpd="sng">
            <a:gradFill flip="none" rotWithShape="1">
              <a:gsLst>
                <a:gs pos="28000">
                  <a:schemeClr val="accent2">
                    <a:lumMod val="60000"/>
                    <a:lumOff val="40000"/>
                  </a:schemeClr>
                </a:gs>
                <a:gs pos="87000">
                  <a:schemeClr val="accent2">
                    <a:lumMod val="0"/>
                    <a:lumOff val="100000"/>
                  </a:schemeClr>
                </a:gs>
                <a:gs pos="54000">
                  <a:schemeClr val="accent2">
                    <a:lumMod val="20000"/>
                    <a:lumOff val="80000"/>
                  </a:schemeClr>
                </a:gs>
                <a:gs pos="15000">
                  <a:schemeClr val="accent2">
                    <a:lumMod val="100000"/>
                  </a:schemeClr>
                </a:gs>
              </a:gsLst>
              <a:lin ang="0" scaled="1"/>
              <a:tileRect/>
            </a:gradFill>
            <a:round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F4E978BC-591B-FA8A-B919-FE2DF38CD5EE}"/>
              </a:ext>
            </a:extLst>
          </p:cNvPr>
          <p:cNvSpPr/>
          <p:nvPr/>
        </p:nvSpPr>
        <p:spPr>
          <a:xfrm>
            <a:off x="614341" y="1475459"/>
            <a:ext cx="3291840" cy="640080"/>
          </a:xfrm>
          <a:prstGeom prst="rect">
            <a:avLst/>
          </a:prstGeom>
          <a:solidFill>
            <a:srgbClr val="4E90D4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r>
              <a:rPr lang="en-US" dirty="0"/>
              <a:t>Encrypt all data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5BEB98-CADA-19DF-91F5-083FD9E17973}"/>
              </a:ext>
            </a:extLst>
          </p:cNvPr>
          <p:cNvSpPr/>
          <p:nvPr/>
        </p:nvSpPr>
        <p:spPr>
          <a:xfrm>
            <a:off x="614341" y="2839613"/>
            <a:ext cx="3291840" cy="640080"/>
          </a:xfrm>
          <a:prstGeom prst="rect">
            <a:avLst/>
          </a:prstGeom>
          <a:solidFill>
            <a:srgbClr val="4E90D4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r>
              <a:rPr lang="en-US" dirty="0"/>
              <a:t>Strong Key Generation and Storage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FA8B6A9-4520-382A-FD76-E1BEFBDCB3FB}"/>
              </a:ext>
            </a:extLst>
          </p:cNvPr>
          <p:cNvSpPr/>
          <p:nvPr/>
        </p:nvSpPr>
        <p:spPr>
          <a:xfrm>
            <a:off x="614341" y="4163582"/>
            <a:ext cx="3291840" cy="640080"/>
          </a:xfrm>
          <a:prstGeom prst="rect">
            <a:avLst/>
          </a:prstGeom>
          <a:solidFill>
            <a:srgbClr val="4E90D4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r>
              <a:rPr lang="en-US" dirty="0"/>
              <a:t>Data protection must be part of the design process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9A4A70-5A8D-DC32-6B2E-A2FF7C585BA7}"/>
              </a:ext>
            </a:extLst>
          </p:cNvPr>
          <p:cNvSpPr/>
          <p:nvPr/>
        </p:nvSpPr>
        <p:spPr>
          <a:xfrm>
            <a:off x="8444128" y="1475459"/>
            <a:ext cx="3291840" cy="640080"/>
          </a:xfrm>
          <a:prstGeom prst="rect">
            <a:avLst/>
          </a:prstGeom>
          <a:solidFill>
            <a:srgbClr val="4E90D4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r>
              <a:rPr lang="en-US" dirty="0"/>
              <a:t>Strong registration and validation process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62E353-6737-7D22-7F27-7D4D9C428DA8}"/>
              </a:ext>
            </a:extLst>
          </p:cNvPr>
          <p:cNvSpPr/>
          <p:nvPr/>
        </p:nvSpPr>
        <p:spPr>
          <a:xfrm>
            <a:off x="8444128" y="2839613"/>
            <a:ext cx="3291840" cy="640080"/>
          </a:xfrm>
          <a:prstGeom prst="rect">
            <a:avLst/>
          </a:prstGeom>
          <a:solidFill>
            <a:srgbClr val="4E90D4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r>
              <a:rPr lang="en-US" dirty="0"/>
              <a:t>Monitor all client traffic for malicious activities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DF9511-5DAE-FD44-A231-3CEFE9F32095}"/>
              </a:ext>
            </a:extLst>
          </p:cNvPr>
          <p:cNvSpPr/>
          <p:nvPr/>
        </p:nvSpPr>
        <p:spPr>
          <a:xfrm>
            <a:off x="8444128" y="4163582"/>
            <a:ext cx="3291840" cy="640080"/>
          </a:xfrm>
          <a:prstGeom prst="rect">
            <a:avLst/>
          </a:prstGeom>
          <a:solidFill>
            <a:srgbClr val="4E90D4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r>
              <a:rPr lang="en-US" dirty="0"/>
              <a:t>Exit plan created in design phase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C9C8E2C-5001-4AD6-E286-A1FC6DCB3879}"/>
              </a:ext>
            </a:extLst>
          </p:cNvPr>
          <p:cNvSpPr/>
          <p:nvPr/>
        </p:nvSpPr>
        <p:spPr>
          <a:xfrm>
            <a:off x="4450080" y="5729776"/>
            <a:ext cx="3291840" cy="640080"/>
          </a:xfrm>
          <a:prstGeom prst="rect">
            <a:avLst/>
          </a:prstGeom>
          <a:solidFill>
            <a:srgbClr val="4E90D4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r>
              <a:rPr lang="en-US" dirty="0"/>
              <a:t>Effective Acceptable Use Policy</a:t>
            </a:r>
          </a:p>
        </p:txBody>
      </p:sp>
    </p:spTree>
    <p:extLst>
      <p:ext uri="{BB962C8B-B14F-4D97-AF65-F5344CB8AC3E}">
        <p14:creationId xmlns:p14="http://schemas.microsoft.com/office/powerpoint/2010/main" val="2560658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70093" y="111649"/>
            <a:ext cx="10515600" cy="822406"/>
          </a:xfrm>
        </p:spPr>
        <p:txBody>
          <a:bodyPr>
            <a:noAutofit/>
          </a:bodyPr>
          <a:lstStyle/>
          <a:p>
            <a:r>
              <a:rPr lang="en-US" sz="4000" dirty="0">
                <a:latin typeface="+mn-lt"/>
                <a:cs typeface="Segoe UI Light" panose="020B0502040204020203" pitchFamily="34" charset="0"/>
              </a:rPr>
              <a:t>Cloud Computing Threat Mitigation (Cont’d)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4117" t="15675" r="42315" b="16373"/>
          <a:stretch/>
        </p:blipFill>
        <p:spPr>
          <a:xfrm>
            <a:off x="5630720" y="1594869"/>
            <a:ext cx="6371583" cy="4546384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BFA2BEA-2CBD-6415-827D-AF2B5B4745E2}"/>
              </a:ext>
            </a:extLst>
          </p:cNvPr>
          <p:cNvCxnSpPr>
            <a:cxnSpLocks/>
          </p:cNvCxnSpPr>
          <p:nvPr/>
        </p:nvCxnSpPr>
        <p:spPr>
          <a:xfrm>
            <a:off x="0" y="934055"/>
            <a:ext cx="10177153" cy="0"/>
          </a:xfrm>
          <a:prstGeom prst="line">
            <a:avLst/>
          </a:prstGeom>
          <a:ln w="60325" cap="rnd" cmpd="sng">
            <a:gradFill flip="none" rotWithShape="1">
              <a:gsLst>
                <a:gs pos="28000">
                  <a:schemeClr val="accent2">
                    <a:lumMod val="60000"/>
                    <a:lumOff val="40000"/>
                  </a:schemeClr>
                </a:gs>
                <a:gs pos="87000">
                  <a:schemeClr val="accent2">
                    <a:lumMod val="0"/>
                    <a:lumOff val="100000"/>
                  </a:schemeClr>
                </a:gs>
                <a:gs pos="54000">
                  <a:schemeClr val="accent2">
                    <a:lumMod val="20000"/>
                    <a:lumOff val="80000"/>
                  </a:schemeClr>
                </a:gs>
                <a:gs pos="15000">
                  <a:schemeClr val="accent2">
                    <a:lumMod val="100000"/>
                  </a:schemeClr>
                </a:gs>
              </a:gsLst>
              <a:lin ang="0" scaled="1"/>
              <a:tileRect/>
            </a:gradFill>
            <a:round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EDA54708-5F05-C456-7628-E7D14A42A7E6}"/>
              </a:ext>
            </a:extLst>
          </p:cNvPr>
          <p:cNvGrpSpPr/>
          <p:nvPr/>
        </p:nvGrpSpPr>
        <p:grpSpPr>
          <a:xfrm>
            <a:off x="475013" y="1612087"/>
            <a:ext cx="5367647" cy="4685484"/>
            <a:chOff x="1225078" y="1758715"/>
            <a:chExt cx="3530222" cy="4538856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11AA3598-B7C4-80D9-FAAD-9BD7427A11C8}"/>
                </a:ext>
              </a:extLst>
            </p:cNvPr>
            <p:cNvSpPr/>
            <p:nvPr/>
          </p:nvSpPr>
          <p:spPr>
            <a:xfrm>
              <a:off x="1225078" y="1758715"/>
              <a:ext cx="1681058" cy="1008634"/>
            </a:xfrm>
            <a:custGeom>
              <a:avLst/>
              <a:gdLst>
                <a:gd name="connsiteX0" fmla="*/ 0 w 1681058"/>
                <a:gd name="connsiteY0" fmla="*/ 0 h 1008634"/>
                <a:gd name="connsiteX1" fmla="*/ 1681058 w 1681058"/>
                <a:gd name="connsiteY1" fmla="*/ 0 h 1008634"/>
                <a:gd name="connsiteX2" fmla="*/ 1681058 w 1681058"/>
                <a:gd name="connsiteY2" fmla="*/ 1008634 h 1008634"/>
                <a:gd name="connsiteX3" fmla="*/ 0 w 1681058"/>
                <a:gd name="connsiteY3" fmla="*/ 1008634 h 1008634"/>
                <a:gd name="connsiteX4" fmla="*/ 0 w 1681058"/>
                <a:gd name="connsiteY4" fmla="*/ 0 h 100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81058" h="1008634">
                  <a:moveTo>
                    <a:pt x="0" y="0"/>
                  </a:moveTo>
                  <a:lnTo>
                    <a:pt x="1681058" y="0"/>
                  </a:lnTo>
                  <a:lnTo>
                    <a:pt x="1681058" y="1008634"/>
                  </a:lnTo>
                  <a:lnTo>
                    <a:pt x="0" y="100863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7150" tIns="57150" rIns="57150" bIns="57150" numCol="1" spcCol="127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kern="1200"/>
                <a:t>Enforce strict supply chain management</a:t>
              </a:r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EE47A80-ECE8-2627-55AA-3B406F1EB2F6}"/>
                </a:ext>
              </a:extLst>
            </p:cNvPr>
            <p:cNvSpPr/>
            <p:nvPr/>
          </p:nvSpPr>
          <p:spPr>
            <a:xfrm>
              <a:off x="3074242" y="1758715"/>
              <a:ext cx="1681058" cy="1008634"/>
            </a:xfrm>
            <a:custGeom>
              <a:avLst/>
              <a:gdLst>
                <a:gd name="connsiteX0" fmla="*/ 0 w 1681058"/>
                <a:gd name="connsiteY0" fmla="*/ 0 h 1008634"/>
                <a:gd name="connsiteX1" fmla="*/ 1681058 w 1681058"/>
                <a:gd name="connsiteY1" fmla="*/ 0 h 1008634"/>
                <a:gd name="connsiteX2" fmla="*/ 1681058 w 1681058"/>
                <a:gd name="connsiteY2" fmla="*/ 1008634 h 1008634"/>
                <a:gd name="connsiteX3" fmla="*/ 0 w 1681058"/>
                <a:gd name="connsiteY3" fmla="*/ 1008634 h 1008634"/>
                <a:gd name="connsiteX4" fmla="*/ 0 w 1681058"/>
                <a:gd name="connsiteY4" fmla="*/ 0 h 100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81058" h="1008634">
                  <a:moveTo>
                    <a:pt x="0" y="0"/>
                  </a:moveTo>
                  <a:lnTo>
                    <a:pt x="1681058" y="0"/>
                  </a:lnTo>
                  <a:lnTo>
                    <a:pt x="1681058" y="1008634"/>
                  </a:lnTo>
                  <a:lnTo>
                    <a:pt x="0" y="100863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7150" tIns="57150" rIns="57150" bIns="57150" numCol="1" spcCol="127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kern="1200"/>
                <a:t>Human resource requirement as part of the legal contract</a:t>
              </a:r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16DE53B8-45F6-2964-A5A0-173A515B255B}"/>
                </a:ext>
              </a:extLst>
            </p:cNvPr>
            <p:cNvSpPr/>
            <p:nvPr/>
          </p:nvSpPr>
          <p:spPr>
            <a:xfrm>
              <a:off x="1225078" y="2935456"/>
              <a:ext cx="1681058" cy="1008634"/>
            </a:xfrm>
            <a:custGeom>
              <a:avLst/>
              <a:gdLst>
                <a:gd name="connsiteX0" fmla="*/ 0 w 1681058"/>
                <a:gd name="connsiteY0" fmla="*/ 0 h 1008634"/>
                <a:gd name="connsiteX1" fmla="*/ 1681058 w 1681058"/>
                <a:gd name="connsiteY1" fmla="*/ 0 h 1008634"/>
                <a:gd name="connsiteX2" fmla="*/ 1681058 w 1681058"/>
                <a:gd name="connsiteY2" fmla="*/ 1008634 h 1008634"/>
                <a:gd name="connsiteX3" fmla="*/ 0 w 1681058"/>
                <a:gd name="connsiteY3" fmla="*/ 1008634 h 1008634"/>
                <a:gd name="connsiteX4" fmla="*/ 0 w 1681058"/>
                <a:gd name="connsiteY4" fmla="*/ 0 h 100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81058" h="1008634">
                  <a:moveTo>
                    <a:pt x="0" y="0"/>
                  </a:moveTo>
                  <a:lnTo>
                    <a:pt x="1681058" y="0"/>
                  </a:lnTo>
                  <a:lnTo>
                    <a:pt x="1681058" y="1008634"/>
                  </a:lnTo>
                  <a:lnTo>
                    <a:pt x="0" y="100863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7150" tIns="57150" rIns="57150" bIns="57150" numCol="1" spcCol="127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kern="1200"/>
                <a:t>Transparency in compliance reporting</a:t>
              </a:r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6808CFB-7357-A9CB-7110-CAC836879BA5}"/>
                </a:ext>
              </a:extLst>
            </p:cNvPr>
            <p:cNvSpPr/>
            <p:nvPr/>
          </p:nvSpPr>
          <p:spPr>
            <a:xfrm>
              <a:off x="3074242" y="2935456"/>
              <a:ext cx="1681058" cy="1008634"/>
            </a:xfrm>
            <a:custGeom>
              <a:avLst/>
              <a:gdLst>
                <a:gd name="connsiteX0" fmla="*/ 0 w 1681058"/>
                <a:gd name="connsiteY0" fmla="*/ 0 h 1008634"/>
                <a:gd name="connsiteX1" fmla="*/ 1681058 w 1681058"/>
                <a:gd name="connsiteY1" fmla="*/ 0 h 1008634"/>
                <a:gd name="connsiteX2" fmla="*/ 1681058 w 1681058"/>
                <a:gd name="connsiteY2" fmla="*/ 1008634 h 1008634"/>
                <a:gd name="connsiteX3" fmla="*/ 0 w 1681058"/>
                <a:gd name="connsiteY3" fmla="*/ 1008634 h 1008634"/>
                <a:gd name="connsiteX4" fmla="*/ 0 w 1681058"/>
                <a:gd name="connsiteY4" fmla="*/ 0 h 100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81058" h="1008634">
                  <a:moveTo>
                    <a:pt x="0" y="0"/>
                  </a:moveTo>
                  <a:lnTo>
                    <a:pt x="1681058" y="0"/>
                  </a:lnTo>
                  <a:lnTo>
                    <a:pt x="1681058" y="1008634"/>
                  </a:lnTo>
                  <a:lnTo>
                    <a:pt x="0" y="100863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7150" tIns="57150" rIns="57150" bIns="57150" numCol="1" spcCol="127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kern="1200" dirty="0"/>
                <a:t>Clearly identified security breach notification process</a:t>
              </a:r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B0D4D68A-FC5A-CC46-D777-57DBC56B3214}"/>
                </a:ext>
              </a:extLst>
            </p:cNvPr>
            <p:cNvSpPr/>
            <p:nvPr/>
          </p:nvSpPr>
          <p:spPr>
            <a:xfrm>
              <a:off x="1225078" y="4112196"/>
              <a:ext cx="1681058" cy="1008634"/>
            </a:xfrm>
            <a:custGeom>
              <a:avLst/>
              <a:gdLst>
                <a:gd name="connsiteX0" fmla="*/ 0 w 1681058"/>
                <a:gd name="connsiteY0" fmla="*/ 0 h 1008634"/>
                <a:gd name="connsiteX1" fmla="*/ 1681058 w 1681058"/>
                <a:gd name="connsiteY1" fmla="*/ 0 h 1008634"/>
                <a:gd name="connsiteX2" fmla="*/ 1681058 w 1681058"/>
                <a:gd name="connsiteY2" fmla="*/ 1008634 h 1008634"/>
                <a:gd name="connsiteX3" fmla="*/ 0 w 1681058"/>
                <a:gd name="connsiteY3" fmla="*/ 1008634 h 1008634"/>
                <a:gd name="connsiteX4" fmla="*/ 0 w 1681058"/>
                <a:gd name="connsiteY4" fmla="*/ 0 h 100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81058" h="1008634">
                  <a:moveTo>
                    <a:pt x="0" y="0"/>
                  </a:moveTo>
                  <a:lnTo>
                    <a:pt x="1681058" y="0"/>
                  </a:lnTo>
                  <a:lnTo>
                    <a:pt x="1681058" y="1008634"/>
                  </a:lnTo>
                  <a:lnTo>
                    <a:pt x="0" y="100863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7150" tIns="57150" rIns="57150" bIns="57150" numCol="1" spcCol="127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kern="1200"/>
                <a:t>Regular implementation of software updates </a:t>
              </a:r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C0AAD08B-E323-8181-AD9E-551C117D3B52}"/>
                </a:ext>
              </a:extLst>
            </p:cNvPr>
            <p:cNvSpPr/>
            <p:nvPr/>
          </p:nvSpPr>
          <p:spPr>
            <a:xfrm>
              <a:off x="3074242" y="4112196"/>
              <a:ext cx="1681058" cy="1008634"/>
            </a:xfrm>
            <a:custGeom>
              <a:avLst/>
              <a:gdLst>
                <a:gd name="connsiteX0" fmla="*/ 0 w 1681058"/>
                <a:gd name="connsiteY0" fmla="*/ 0 h 1008634"/>
                <a:gd name="connsiteX1" fmla="*/ 1681058 w 1681058"/>
                <a:gd name="connsiteY1" fmla="*/ 0 h 1008634"/>
                <a:gd name="connsiteX2" fmla="*/ 1681058 w 1681058"/>
                <a:gd name="connsiteY2" fmla="*/ 1008634 h 1008634"/>
                <a:gd name="connsiteX3" fmla="*/ 0 w 1681058"/>
                <a:gd name="connsiteY3" fmla="*/ 1008634 h 1008634"/>
                <a:gd name="connsiteX4" fmla="*/ 0 w 1681058"/>
                <a:gd name="connsiteY4" fmla="*/ 0 h 100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81058" h="1008634">
                  <a:moveTo>
                    <a:pt x="0" y="0"/>
                  </a:moveTo>
                  <a:lnTo>
                    <a:pt x="1681058" y="0"/>
                  </a:lnTo>
                  <a:lnTo>
                    <a:pt x="1681058" y="1008634"/>
                  </a:lnTo>
                  <a:lnTo>
                    <a:pt x="0" y="100863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7150" tIns="57150" rIns="57150" bIns="57150" numCol="1" spcCol="127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kern="1200"/>
                <a:t>Regular Data backups </a:t>
              </a:r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4A1C8BD-356A-354C-EE27-9C20A713327A}"/>
                </a:ext>
              </a:extLst>
            </p:cNvPr>
            <p:cNvSpPr/>
            <p:nvPr/>
          </p:nvSpPr>
          <p:spPr>
            <a:xfrm>
              <a:off x="2149660" y="5288937"/>
              <a:ext cx="1681058" cy="1008634"/>
            </a:xfrm>
            <a:custGeom>
              <a:avLst/>
              <a:gdLst>
                <a:gd name="connsiteX0" fmla="*/ 0 w 1681058"/>
                <a:gd name="connsiteY0" fmla="*/ 0 h 1008634"/>
                <a:gd name="connsiteX1" fmla="*/ 1681058 w 1681058"/>
                <a:gd name="connsiteY1" fmla="*/ 0 h 1008634"/>
                <a:gd name="connsiteX2" fmla="*/ 1681058 w 1681058"/>
                <a:gd name="connsiteY2" fmla="*/ 1008634 h 1008634"/>
                <a:gd name="connsiteX3" fmla="*/ 0 w 1681058"/>
                <a:gd name="connsiteY3" fmla="*/ 1008634 h 1008634"/>
                <a:gd name="connsiteX4" fmla="*/ 0 w 1681058"/>
                <a:gd name="connsiteY4" fmla="*/ 0 h 100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81058" h="1008634">
                  <a:moveTo>
                    <a:pt x="0" y="0"/>
                  </a:moveTo>
                  <a:lnTo>
                    <a:pt x="1681058" y="0"/>
                  </a:lnTo>
                  <a:lnTo>
                    <a:pt x="1681058" y="1008634"/>
                  </a:lnTo>
                  <a:lnTo>
                    <a:pt x="0" y="100863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7150" tIns="57150" rIns="57150" bIns="57150" numCol="1" spcCol="127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kern="1200"/>
                <a:t>Effective business continuity disaster plan in effect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50925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3806" y="171088"/>
            <a:ext cx="10515600" cy="810763"/>
          </a:xfrm>
        </p:spPr>
        <p:txBody>
          <a:bodyPr>
            <a:noAutofit/>
          </a:bodyPr>
          <a:lstStyle/>
          <a:p>
            <a:r>
              <a:rPr lang="en-US" sz="4000" dirty="0">
                <a:latin typeface="+mn-lt"/>
                <a:cs typeface="Segoe UI Light" panose="020B0502040204020203" pitchFamily="34" charset="0"/>
              </a:rPr>
              <a:t>Cloud Computing Threat Mitigation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321704" y="1439499"/>
            <a:ext cx="7541803" cy="454336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4243E3E-5105-8111-AABD-5FACCCE3F8FB}"/>
              </a:ext>
            </a:extLst>
          </p:cNvPr>
          <p:cNvCxnSpPr>
            <a:cxnSpLocks/>
          </p:cNvCxnSpPr>
          <p:nvPr/>
        </p:nvCxnSpPr>
        <p:spPr>
          <a:xfrm>
            <a:off x="0" y="875135"/>
            <a:ext cx="7861465" cy="0"/>
          </a:xfrm>
          <a:prstGeom prst="line">
            <a:avLst/>
          </a:prstGeom>
          <a:ln w="60325" cap="rnd" cmpd="sng">
            <a:gradFill flip="none" rotWithShape="1">
              <a:gsLst>
                <a:gs pos="28000">
                  <a:schemeClr val="accent2">
                    <a:lumMod val="60000"/>
                    <a:lumOff val="40000"/>
                  </a:schemeClr>
                </a:gs>
                <a:gs pos="87000">
                  <a:schemeClr val="accent2">
                    <a:lumMod val="0"/>
                    <a:lumOff val="100000"/>
                  </a:schemeClr>
                </a:gs>
                <a:gs pos="54000">
                  <a:schemeClr val="accent2">
                    <a:lumMod val="20000"/>
                    <a:lumOff val="80000"/>
                  </a:schemeClr>
                </a:gs>
                <a:gs pos="15000">
                  <a:schemeClr val="accent2">
                    <a:lumMod val="100000"/>
                  </a:schemeClr>
                </a:gs>
              </a:gsLst>
              <a:lin ang="0" scaled="1"/>
              <a:tileRect/>
            </a:gradFill>
            <a:round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65EEDD8-2650-8532-5DAF-EFDA81DF694A}"/>
              </a:ext>
            </a:extLst>
          </p:cNvPr>
          <p:cNvSpPr txBox="1"/>
          <p:nvPr/>
        </p:nvSpPr>
        <p:spPr>
          <a:xfrm>
            <a:off x="5147017" y="6519508"/>
            <a:ext cx="69568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/>
              <a:t>Copyright © by EC-Council. All Rights Reserved. Reproduction is Strictly Prohibited.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D7D8C0-4E1F-AE51-37F4-EF93989C6F6F}"/>
              </a:ext>
            </a:extLst>
          </p:cNvPr>
          <p:cNvSpPr/>
          <p:nvPr/>
        </p:nvSpPr>
        <p:spPr>
          <a:xfrm>
            <a:off x="435371" y="2609602"/>
            <a:ext cx="3495362" cy="997528"/>
          </a:xfrm>
          <a:prstGeom prst="rect">
            <a:avLst/>
          </a:prstGeom>
          <a:solidFill>
            <a:srgbClr val="3884A9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Active Network Traffic Analysis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F0016C-F24E-7670-8659-96D1DB2681EB}"/>
              </a:ext>
            </a:extLst>
          </p:cNvPr>
          <p:cNvSpPr/>
          <p:nvPr/>
        </p:nvSpPr>
        <p:spPr>
          <a:xfrm>
            <a:off x="435371" y="3889312"/>
            <a:ext cx="3495362" cy="997528"/>
          </a:xfrm>
          <a:prstGeom prst="rect">
            <a:avLst/>
          </a:prstGeom>
          <a:solidFill>
            <a:srgbClr val="3884A9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Isolation of memory, storage, and network access</a:t>
            </a:r>
          </a:p>
        </p:txBody>
      </p:sp>
    </p:spTree>
    <p:extLst>
      <p:ext uri="{BB962C8B-B14F-4D97-AF65-F5344CB8AC3E}">
        <p14:creationId xmlns:p14="http://schemas.microsoft.com/office/powerpoint/2010/main" val="419730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07144" y="219006"/>
            <a:ext cx="11577711" cy="714928"/>
          </a:xfrm>
        </p:spPr>
        <p:txBody>
          <a:bodyPr>
            <a:noAutofit/>
          </a:bodyPr>
          <a:lstStyle/>
          <a:p>
            <a:r>
              <a:rPr lang="en-US" sz="4000" dirty="0">
                <a:latin typeface="+mn-lt"/>
                <a:cs typeface="Segoe UI Light" panose="020B0502040204020203" pitchFamily="34" charset="0"/>
              </a:rPr>
              <a:t>Cloud Computing Threat Mitigation Management</a:t>
            </a:r>
          </a:p>
        </p:txBody>
      </p:sp>
      <p:sp>
        <p:nvSpPr>
          <p:cNvPr id="38" name="Content Placeholder 17"/>
          <p:cNvSpPr txBox="1">
            <a:spLocks/>
          </p:cNvSpPr>
          <p:nvPr/>
        </p:nvSpPr>
        <p:spPr>
          <a:xfrm>
            <a:off x="8153781" y="2771335"/>
            <a:ext cx="3584155" cy="22508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buClr>
                <a:schemeClr val="accent2"/>
              </a:buClr>
              <a:buFont typeface="Wingdings" pitchFamily="2" charset="2"/>
              <a:buChar char="Ø"/>
              <a:defRPr/>
            </a:pPr>
            <a:r>
              <a:rPr lang="en-US" sz="2000" dirty="0">
                <a:cs typeface="Times New Roman" panose="02020603050405020304" pitchFamily="18" charset="0"/>
              </a:rPr>
              <a:t>Select Cloud Provider from a reputable provider with long track of performance </a:t>
            </a:r>
          </a:p>
          <a:p>
            <a:pPr>
              <a:spcAft>
                <a:spcPts val="600"/>
              </a:spcAft>
              <a:buClr>
                <a:schemeClr val="accent2"/>
              </a:buClr>
              <a:buFont typeface="Wingdings" pitchFamily="2" charset="2"/>
              <a:buChar char="Ø"/>
              <a:defRPr/>
            </a:pPr>
            <a:r>
              <a:rPr lang="en-US" sz="2000" dirty="0">
                <a:cs typeface="Times New Roman" panose="02020603050405020304" pitchFamily="18" charset="0"/>
              </a:rPr>
              <a:t>Ensure Service Level Agreement meets the needs of the organization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02D9A36-8DF5-0F18-9226-17EE13B9EF49}"/>
              </a:ext>
            </a:extLst>
          </p:cNvPr>
          <p:cNvCxnSpPr>
            <a:cxnSpLocks/>
          </p:cNvCxnSpPr>
          <p:nvPr/>
        </p:nvCxnSpPr>
        <p:spPr>
          <a:xfrm>
            <a:off x="0" y="933934"/>
            <a:ext cx="11321386" cy="0"/>
          </a:xfrm>
          <a:prstGeom prst="line">
            <a:avLst/>
          </a:prstGeom>
          <a:ln w="60325" cap="rnd" cmpd="sng">
            <a:gradFill flip="none" rotWithShape="1">
              <a:gsLst>
                <a:gs pos="28000">
                  <a:schemeClr val="accent2">
                    <a:lumMod val="60000"/>
                    <a:lumOff val="40000"/>
                  </a:schemeClr>
                </a:gs>
                <a:gs pos="87000">
                  <a:schemeClr val="accent2">
                    <a:lumMod val="0"/>
                    <a:lumOff val="100000"/>
                  </a:schemeClr>
                </a:gs>
                <a:gs pos="54000">
                  <a:schemeClr val="accent2">
                    <a:lumMod val="20000"/>
                    <a:lumOff val="80000"/>
                  </a:schemeClr>
                </a:gs>
                <a:gs pos="15000">
                  <a:schemeClr val="accent2">
                    <a:lumMod val="100000"/>
                  </a:schemeClr>
                </a:gs>
              </a:gsLst>
              <a:lin ang="0" scaled="1"/>
              <a:tileRect/>
            </a:gradFill>
            <a:round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9" name="Picture 8" descr="A diagram of a cloud provider&#10;&#10;Description automatically generated">
            <a:extLst>
              <a:ext uri="{FF2B5EF4-FFF2-40B4-BE49-F238E27FC236}">
                <a16:creationId xmlns:a16="http://schemas.microsoft.com/office/drawing/2014/main" id="{3DD22804-C96E-50F8-737B-2531C2EEC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73" y="1785117"/>
            <a:ext cx="7159526" cy="387188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8D4B1FE-5948-0913-A3CC-1BE21A330253}"/>
              </a:ext>
            </a:extLst>
          </p:cNvPr>
          <p:cNvSpPr txBox="1"/>
          <p:nvPr/>
        </p:nvSpPr>
        <p:spPr>
          <a:xfrm>
            <a:off x="307144" y="6508189"/>
            <a:ext cx="69568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Copyright © by EC-Council. All Rights Reserved. Reproduction is Strictly Prohibited.</a:t>
            </a:r>
          </a:p>
        </p:txBody>
      </p:sp>
    </p:spTree>
    <p:extLst>
      <p:ext uri="{BB962C8B-B14F-4D97-AF65-F5344CB8AC3E}">
        <p14:creationId xmlns:p14="http://schemas.microsoft.com/office/powerpoint/2010/main" val="3607585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CBD060-6188-4172-B221-10C0A0CAA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CEHv13 Update – Cloud Threats &amp; Hacking Techniques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2AAA5FB-EFC8-5C2F-16DA-7226CB40800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99654" y="1690688"/>
            <a:ext cx="11000509" cy="5109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CEHv13 expands coverage of: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Container and Kubernetes exploitation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(e.g., insecure APIs, misconfigured roles)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Serverless abuse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unrestricted code execution, hidden persistence via functions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Credential theft from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cloud metadata services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(e.g., SSRF in AWS)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of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cloud-specific MITRE ATT&amp;CK mappings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(e.g., Initial Access via exposed IAM tokens)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Emphasis on abusing: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Misconfigured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 storage (e.g., AWS S3)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Federated identity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offboarding weaknesses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Overly permissive IAM roles across cloud providers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53651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909DE-5846-4E5F-A2D0-424889E21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CEHv13 Update – Cloud Defense &amp; Best Practices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615CB69-A0A8-9877-A6E4-AF2EAF71DC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093080"/>
            <a:ext cx="10453255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CEHv13 recommends: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Multi-cloud security posture management (CSPM)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track config drift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 of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least privilege IAM policies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identity federation auditing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Real-time monitoring of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API and user traffic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Framework-aligned strategies: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Encrypt all cloud-stored data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Include security controls in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CI/CD pipeline deployments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Cloud-native defense tools: AWS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GuardDuty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Azure Defender, GCP Security Command Center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49453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07773" y="100460"/>
            <a:ext cx="6877119" cy="701122"/>
          </a:xfrm>
        </p:spPr>
        <p:txBody>
          <a:bodyPr>
            <a:noAutofit/>
          </a:bodyPr>
          <a:lstStyle/>
          <a:p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Cryptography Objectives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0331" t="11554" r="24253" b="11056"/>
          <a:stretch/>
        </p:blipFill>
        <p:spPr>
          <a:xfrm>
            <a:off x="5010623" y="1180183"/>
            <a:ext cx="6013803" cy="472413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F4343DE-23DC-F15E-0285-D53352C25B79}"/>
              </a:ext>
            </a:extLst>
          </p:cNvPr>
          <p:cNvSpPr/>
          <p:nvPr/>
        </p:nvSpPr>
        <p:spPr>
          <a:xfrm>
            <a:off x="1" y="0"/>
            <a:ext cx="407772" cy="902043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09469C-6B7C-83EA-9BF3-0965E93297F6}"/>
              </a:ext>
            </a:extLst>
          </p:cNvPr>
          <p:cNvSpPr/>
          <p:nvPr/>
        </p:nvSpPr>
        <p:spPr>
          <a:xfrm>
            <a:off x="1167575" y="1878227"/>
            <a:ext cx="3311611" cy="667265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EE549E-5A28-C042-56AA-1B1CFD09D848}"/>
              </a:ext>
            </a:extLst>
          </p:cNvPr>
          <p:cNvSpPr/>
          <p:nvPr/>
        </p:nvSpPr>
        <p:spPr>
          <a:xfrm>
            <a:off x="1167575" y="2772053"/>
            <a:ext cx="3311611" cy="667265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Integrity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62C452-ECF9-A37D-D1C7-CC693F4FCD2F}"/>
              </a:ext>
            </a:extLst>
          </p:cNvPr>
          <p:cNvSpPr/>
          <p:nvPr/>
        </p:nvSpPr>
        <p:spPr>
          <a:xfrm>
            <a:off x="1167574" y="3665818"/>
            <a:ext cx="3311611" cy="667265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Authentication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064F9F-770A-660C-4DFD-1519EB9CBA2E}"/>
              </a:ext>
            </a:extLst>
          </p:cNvPr>
          <p:cNvSpPr/>
          <p:nvPr/>
        </p:nvSpPr>
        <p:spPr>
          <a:xfrm>
            <a:off x="1167574" y="4683151"/>
            <a:ext cx="3311611" cy="667265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Nonrepudiation</a:t>
            </a:r>
          </a:p>
        </p:txBody>
      </p:sp>
    </p:spTree>
    <p:extLst>
      <p:ext uri="{BB962C8B-B14F-4D97-AF65-F5344CB8AC3E}">
        <p14:creationId xmlns:p14="http://schemas.microsoft.com/office/powerpoint/2010/main" val="3798900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282A600-5739-DC01-9DDE-D121CC3D7C61}"/>
              </a:ext>
            </a:extLst>
          </p:cNvPr>
          <p:cNvSpPr/>
          <p:nvPr/>
        </p:nvSpPr>
        <p:spPr>
          <a:xfrm>
            <a:off x="613718" y="1107919"/>
            <a:ext cx="10964563" cy="2321081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0" rIns="7863840" rtlCol="0" anchor="ctr"/>
          <a:lstStyle/>
          <a:p>
            <a:pPr>
              <a:spcAft>
                <a:spcPts val="1200"/>
              </a:spcAft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Symmetric Encryption</a:t>
            </a:r>
          </a:p>
          <a:p>
            <a:pPr>
              <a:spcAft>
                <a:spcPts val="1200"/>
              </a:spcAft>
            </a:pP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Both sender and receiver must have the same encryption key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07773" y="0"/>
            <a:ext cx="6877119" cy="902042"/>
          </a:xfrm>
        </p:spPr>
        <p:txBody>
          <a:bodyPr anchor="ctr">
            <a:noAutofit/>
          </a:bodyPr>
          <a:lstStyle/>
          <a:p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Encryption Types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C55B24-68C3-E31A-A85D-CFCEC02F1135}"/>
              </a:ext>
            </a:extLst>
          </p:cNvPr>
          <p:cNvSpPr/>
          <p:nvPr/>
        </p:nvSpPr>
        <p:spPr>
          <a:xfrm>
            <a:off x="1" y="0"/>
            <a:ext cx="407772" cy="902043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diagram of a computer&#10;&#10;Description automatically generated">
            <a:extLst>
              <a:ext uri="{FF2B5EF4-FFF2-40B4-BE49-F238E27FC236}">
                <a16:creationId xmlns:a16="http://schemas.microsoft.com/office/drawing/2014/main" id="{0E2347DB-44D5-2F6B-ADB2-02572A1907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3525" y="1347000"/>
            <a:ext cx="7685907" cy="184104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F0D5580-7D25-8900-A426-A4CF38EDE4B8}"/>
              </a:ext>
            </a:extLst>
          </p:cNvPr>
          <p:cNvSpPr/>
          <p:nvPr/>
        </p:nvSpPr>
        <p:spPr>
          <a:xfrm>
            <a:off x="613718" y="3886200"/>
            <a:ext cx="10964563" cy="2321081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5760" rIns="7406640" rtlCol="0" anchor="ctr"/>
          <a:lstStyle/>
          <a:p>
            <a:pPr>
              <a:spcAft>
                <a:spcPts val="1200"/>
              </a:spcAft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Asymmetric Encryption</a:t>
            </a:r>
          </a:p>
          <a:p>
            <a:pPr>
              <a:spcAft>
                <a:spcPts val="1200"/>
              </a:spcAft>
            </a:pP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public key is available however the private key remains with the owner of the key</a:t>
            </a:r>
          </a:p>
        </p:txBody>
      </p:sp>
      <p:pic>
        <p:nvPicPr>
          <p:cNvPr id="10" name="Picture 9" descr="A close-up of a paper&#10;&#10;Description automatically generated">
            <a:extLst>
              <a:ext uri="{FF2B5EF4-FFF2-40B4-BE49-F238E27FC236}">
                <a16:creationId xmlns:a16="http://schemas.microsoft.com/office/drawing/2014/main" id="{45CAEC02-A9EB-536C-25B0-72323A093B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0396" y="4308802"/>
            <a:ext cx="7329036" cy="166569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9972DC9-82A2-2331-7CC6-D8C7735F6A69}"/>
              </a:ext>
            </a:extLst>
          </p:cNvPr>
          <p:cNvSpPr txBox="1"/>
          <p:nvPr/>
        </p:nvSpPr>
        <p:spPr>
          <a:xfrm>
            <a:off x="2963561" y="6491383"/>
            <a:ext cx="89607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/>
              <a:t>Copyright © by EC-Council. All Rights Reserved. Reproduction is Strictly Prohibited.</a:t>
            </a:r>
          </a:p>
        </p:txBody>
      </p:sp>
    </p:spTree>
    <p:extLst>
      <p:ext uri="{BB962C8B-B14F-4D97-AF65-F5344CB8AC3E}">
        <p14:creationId xmlns:p14="http://schemas.microsoft.com/office/powerpoint/2010/main" val="839292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07773" y="130981"/>
            <a:ext cx="6877119" cy="771062"/>
          </a:xfrm>
        </p:spPr>
        <p:txBody>
          <a:bodyPr anchor="ctr">
            <a:noAutofit/>
          </a:bodyPr>
          <a:lstStyle/>
          <a:p>
            <a:r>
              <a:rPr lang="en-US" sz="4000">
                <a:latin typeface="Calibri" panose="020F0502020204030204" pitchFamily="34" charset="0"/>
                <a:cs typeface="Calibri" panose="020F0502020204030204" pitchFamily="34" charset="0"/>
              </a:rPr>
              <a:t>Encryption Type Strengths</a:t>
            </a:r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C7875B-E190-9CA6-A7F9-07D1D25D26E7}"/>
              </a:ext>
            </a:extLst>
          </p:cNvPr>
          <p:cNvSpPr/>
          <p:nvPr/>
        </p:nvSpPr>
        <p:spPr>
          <a:xfrm>
            <a:off x="1" y="0"/>
            <a:ext cx="407772" cy="902043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1EBB7C26-7827-A8F9-1F96-87041B138000}"/>
              </a:ext>
            </a:extLst>
          </p:cNvPr>
          <p:cNvGraphicFramePr>
            <a:graphicFrameLocks noGrp="1"/>
          </p:cNvGraphicFramePr>
          <p:nvPr/>
        </p:nvGraphicFramePr>
        <p:xfrm>
          <a:off x="1075038" y="1479791"/>
          <a:ext cx="9700054" cy="194921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4850027">
                  <a:extLst>
                    <a:ext uri="{9D8B030D-6E8A-4147-A177-3AD203B41FA5}">
                      <a16:colId xmlns:a16="http://schemas.microsoft.com/office/drawing/2014/main" val="2302499345"/>
                    </a:ext>
                  </a:extLst>
                </a:gridCol>
                <a:gridCol w="4850027">
                  <a:extLst>
                    <a:ext uri="{9D8B030D-6E8A-4147-A177-3AD203B41FA5}">
                      <a16:colId xmlns:a16="http://schemas.microsoft.com/office/drawing/2014/main" val="3921638927"/>
                    </a:ext>
                  </a:extLst>
                </a:gridCol>
              </a:tblGrid>
              <a:tr h="486975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Symmetric Encryption</a:t>
                      </a:r>
                      <a:endParaRPr lang="en-US" sz="2400" b="1" i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Asymmetric Encryption</a:t>
                      </a:r>
                      <a:endParaRPr lang="en-US" sz="2400" b="1" i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84278924"/>
                  </a:ext>
                </a:extLst>
              </a:tr>
              <a:tr h="1462235">
                <a:tc>
                  <a:txBody>
                    <a:bodyPr/>
                    <a:lstStyle/>
                    <a:p>
                      <a:r>
                        <a:rPr lang="en-US" sz="2000" dirty="0"/>
                        <a:t>Easier to implement as the same key is used for encryption as well as decryption</a:t>
                      </a:r>
                    </a:p>
                  </a:txBody>
                  <a:tcPr marL="365760" marR="457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Convenient to use, as the distribution of keys to encrypt messages is not required</a:t>
                      </a:r>
                    </a:p>
                  </a:txBody>
                  <a:tcPr marL="365760" marR="457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54268471"/>
                  </a:ext>
                </a:extLst>
              </a:tr>
            </a:tbl>
          </a:graphicData>
        </a:graphic>
      </p:graphicFrame>
      <p:pic>
        <p:nvPicPr>
          <p:cNvPr id="7" name="Picture 6" descr="A blue key with a black background&#10;&#10;Description automatically generated">
            <a:extLst>
              <a:ext uri="{FF2B5EF4-FFF2-40B4-BE49-F238E27FC236}">
                <a16:creationId xmlns:a16="http://schemas.microsoft.com/office/drawing/2014/main" id="{BF750C66-5263-C623-A838-A2C4D5E7D4F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458" t="18631" r="60043" b="35372"/>
          <a:stretch/>
        </p:blipFill>
        <p:spPr>
          <a:xfrm>
            <a:off x="4137454" y="3586649"/>
            <a:ext cx="3917091" cy="2937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44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07773" y="0"/>
            <a:ext cx="9761838" cy="902044"/>
          </a:xfrm>
        </p:spPr>
        <p:txBody>
          <a:bodyPr anchor="ctr">
            <a:noAutofit/>
          </a:bodyPr>
          <a:lstStyle/>
          <a:p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Encryption Type Symmetric Weaknesses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34502" t="49050" r="39080" b="8485"/>
          <a:stretch/>
        </p:blipFill>
        <p:spPr>
          <a:xfrm>
            <a:off x="6903310" y="2169240"/>
            <a:ext cx="3266301" cy="295326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E250100-F2C8-C300-6395-575AB9AF13EB}"/>
              </a:ext>
            </a:extLst>
          </p:cNvPr>
          <p:cNvSpPr/>
          <p:nvPr/>
        </p:nvSpPr>
        <p:spPr>
          <a:xfrm>
            <a:off x="1" y="0"/>
            <a:ext cx="407772" cy="902043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4E6731-EBCF-E773-6970-99D1F2E7F0D3}"/>
              </a:ext>
            </a:extLst>
          </p:cNvPr>
          <p:cNvSpPr/>
          <p:nvPr/>
        </p:nvSpPr>
        <p:spPr>
          <a:xfrm>
            <a:off x="1247861" y="1734168"/>
            <a:ext cx="4040831" cy="3823411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0" tIns="365760" rIns="274320" rtlCol="0" anchor="t"/>
          <a:lstStyle/>
          <a:p>
            <a:pPr algn="ctr">
              <a:spcAft>
                <a:spcPts val="1200"/>
              </a:spcAft>
            </a:pP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Symmetric Encryption</a:t>
            </a:r>
          </a:p>
          <a:p>
            <a:pPr marL="342900" indent="-342900">
              <a:spcAft>
                <a:spcPts val="1200"/>
              </a:spcAft>
              <a:buClr>
                <a:schemeClr val="accent4"/>
              </a:buClr>
              <a:buSzPct val="110000"/>
              <a:buFont typeface="Wingdings" pitchFamily="2" charset="2"/>
              <a:buChar char="§"/>
            </a:pP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Lack of secure channel to exchange secret key</a:t>
            </a:r>
          </a:p>
          <a:p>
            <a:pPr marL="342900" indent="-342900">
              <a:spcAft>
                <a:spcPts val="1200"/>
              </a:spcAft>
              <a:buClr>
                <a:schemeClr val="accent4"/>
              </a:buClr>
              <a:buSzPct val="110000"/>
              <a:buFont typeface="Wingdings" pitchFamily="2" charset="2"/>
              <a:buChar char="§"/>
            </a:pP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Difficult to manage many keys</a:t>
            </a:r>
          </a:p>
          <a:p>
            <a:pPr marL="342900" indent="-342900">
              <a:spcAft>
                <a:spcPts val="1200"/>
              </a:spcAft>
              <a:buClr>
                <a:schemeClr val="accent4"/>
              </a:buClr>
              <a:buSzPct val="110000"/>
              <a:buFont typeface="Wingdings" pitchFamily="2" charset="2"/>
              <a:buChar char="§"/>
            </a:pP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 assurance of message origin</a:t>
            </a:r>
          </a:p>
          <a:p>
            <a:pPr marL="342900" indent="-342900">
              <a:spcAft>
                <a:spcPts val="1200"/>
              </a:spcAft>
              <a:buClr>
                <a:schemeClr val="accent4"/>
              </a:buClr>
              <a:buSzPct val="110000"/>
              <a:buFont typeface="Wingdings" pitchFamily="2" charset="2"/>
              <a:buChar char="§"/>
            </a:pP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Vulnerable to dictionary attacks</a:t>
            </a:r>
          </a:p>
        </p:txBody>
      </p:sp>
    </p:spTree>
    <p:extLst>
      <p:ext uri="{BB962C8B-B14F-4D97-AF65-F5344CB8AC3E}">
        <p14:creationId xmlns:p14="http://schemas.microsoft.com/office/powerpoint/2010/main" val="1938648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07773" y="130981"/>
            <a:ext cx="10550447" cy="640080"/>
          </a:xfrm>
        </p:spPr>
        <p:txBody>
          <a:bodyPr>
            <a:noAutofit/>
          </a:bodyPr>
          <a:lstStyle/>
          <a:p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Encryption Type Asymmetric Weaknesses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7627" t="10690" r="46099" b="13814"/>
          <a:stretch/>
        </p:blipFill>
        <p:spPr>
          <a:xfrm>
            <a:off x="1309815" y="1624913"/>
            <a:ext cx="3931665" cy="360817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9461FF3-3B05-1E93-A285-D7BED46A1F1A}"/>
              </a:ext>
            </a:extLst>
          </p:cNvPr>
          <p:cNvSpPr/>
          <p:nvPr/>
        </p:nvSpPr>
        <p:spPr>
          <a:xfrm>
            <a:off x="1" y="0"/>
            <a:ext cx="407772" cy="902043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1B2D92-8559-B4DD-8CF9-9834105A07C7}"/>
              </a:ext>
            </a:extLst>
          </p:cNvPr>
          <p:cNvSpPr/>
          <p:nvPr/>
        </p:nvSpPr>
        <p:spPr>
          <a:xfrm>
            <a:off x="6365388" y="1517294"/>
            <a:ext cx="4040831" cy="3823411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0" tIns="365760" rIns="274320" rtlCol="0" anchor="t"/>
          <a:lstStyle/>
          <a:p>
            <a:pPr algn="ctr">
              <a:spcAft>
                <a:spcPts val="1200"/>
              </a:spcAft>
            </a:pP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Asymmetric Encryption</a:t>
            </a:r>
          </a:p>
          <a:p>
            <a:pPr marL="342900" indent="-342900">
              <a:spcAft>
                <a:spcPts val="1200"/>
              </a:spcAft>
              <a:buClr>
                <a:schemeClr val="accent4"/>
              </a:buClr>
              <a:buSzPct val="110000"/>
              <a:buFont typeface="Wingdings" pitchFamily="2" charset="2"/>
              <a:buChar char="§"/>
            </a:pP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Requires high processing power</a:t>
            </a:r>
          </a:p>
          <a:p>
            <a:pPr marL="342900" indent="-342900">
              <a:spcAft>
                <a:spcPts val="1200"/>
              </a:spcAft>
              <a:buClr>
                <a:schemeClr val="accent4"/>
              </a:buClr>
              <a:buSzPct val="110000"/>
              <a:buFont typeface="Wingdings" pitchFamily="2" charset="2"/>
              <a:buChar char="§"/>
            </a:pP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Private key, if compromised, can allow anyone with the key to read messages</a:t>
            </a:r>
          </a:p>
          <a:p>
            <a:pPr marL="342900" indent="-342900">
              <a:spcAft>
                <a:spcPts val="1200"/>
              </a:spcAft>
              <a:buClr>
                <a:schemeClr val="accent4"/>
              </a:buClr>
              <a:buSzPct val="110000"/>
              <a:buFont typeface="Wingdings" pitchFamily="2" charset="2"/>
              <a:buChar char="§"/>
            </a:pP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Vulnerable to man-in-the-middle and brute-force attacks</a:t>
            </a:r>
          </a:p>
        </p:txBody>
      </p:sp>
    </p:spTree>
    <p:extLst>
      <p:ext uri="{BB962C8B-B14F-4D97-AF65-F5344CB8AC3E}">
        <p14:creationId xmlns:p14="http://schemas.microsoft.com/office/powerpoint/2010/main" val="3725226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07773" y="261963"/>
            <a:ext cx="6877119" cy="640080"/>
          </a:xfrm>
        </p:spPr>
        <p:txBody>
          <a:bodyPr>
            <a:noAutofit/>
          </a:bodyPr>
          <a:lstStyle/>
          <a:p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Encryption Algorithms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7DE5FF-B668-9D1F-CA3A-72948D54C502}"/>
              </a:ext>
            </a:extLst>
          </p:cNvPr>
          <p:cNvSpPr/>
          <p:nvPr/>
        </p:nvSpPr>
        <p:spPr>
          <a:xfrm>
            <a:off x="1" y="0"/>
            <a:ext cx="407772" cy="902043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B22A56-1846-29C8-8483-6F1D29C6EBCB}"/>
              </a:ext>
            </a:extLst>
          </p:cNvPr>
          <p:cNvSpPr/>
          <p:nvPr/>
        </p:nvSpPr>
        <p:spPr>
          <a:xfrm>
            <a:off x="2106915" y="1467911"/>
            <a:ext cx="1371600" cy="54864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CBB27A-E7EA-C578-6D34-EA6F90AA5AAA}"/>
              </a:ext>
            </a:extLst>
          </p:cNvPr>
          <p:cNvSpPr/>
          <p:nvPr/>
        </p:nvSpPr>
        <p:spPr>
          <a:xfrm>
            <a:off x="3817072" y="1486822"/>
            <a:ext cx="1371600" cy="54864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3EA312-1F79-100F-BB2C-042D1134FA70}"/>
              </a:ext>
            </a:extLst>
          </p:cNvPr>
          <p:cNvSpPr/>
          <p:nvPr/>
        </p:nvSpPr>
        <p:spPr>
          <a:xfrm>
            <a:off x="3858762" y="2571124"/>
            <a:ext cx="1371600" cy="54864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DSA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13C0E83-D746-1404-1DB8-6304BD09ABAA}"/>
              </a:ext>
            </a:extLst>
          </p:cNvPr>
          <p:cNvSpPr/>
          <p:nvPr/>
        </p:nvSpPr>
        <p:spPr>
          <a:xfrm>
            <a:off x="2106915" y="2561564"/>
            <a:ext cx="1371600" cy="54864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RC4-6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CF9FEBF-6ACF-6859-7C1B-DD7BC4695237}"/>
              </a:ext>
            </a:extLst>
          </p:cNvPr>
          <p:cNvSpPr/>
          <p:nvPr/>
        </p:nvSpPr>
        <p:spPr>
          <a:xfrm>
            <a:off x="2108304" y="4501774"/>
            <a:ext cx="1371600" cy="54864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MD5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2AC0E0-E5B8-068C-5722-F09E099519A4}"/>
              </a:ext>
            </a:extLst>
          </p:cNvPr>
          <p:cNvSpPr/>
          <p:nvPr/>
        </p:nvSpPr>
        <p:spPr>
          <a:xfrm>
            <a:off x="2936813" y="3574001"/>
            <a:ext cx="1371600" cy="54864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RSA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48983C-EC9D-1B92-72B5-5A96F0E14C82}"/>
              </a:ext>
            </a:extLst>
          </p:cNvPr>
          <p:cNvSpPr/>
          <p:nvPr/>
        </p:nvSpPr>
        <p:spPr>
          <a:xfrm>
            <a:off x="2085913" y="5429547"/>
            <a:ext cx="3073399" cy="53422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..and many more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DAB515D-A086-2F69-E91B-470809EF5EEC}"/>
              </a:ext>
            </a:extLst>
          </p:cNvPr>
          <p:cNvSpPr/>
          <p:nvPr/>
        </p:nvSpPr>
        <p:spPr>
          <a:xfrm>
            <a:off x="3858762" y="4501774"/>
            <a:ext cx="1371600" cy="54864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SHA</a:t>
            </a:r>
          </a:p>
        </p:txBody>
      </p:sp>
      <p:pic>
        <p:nvPicPr>
          <p:cNvPr id="18" name="Picture 17" descr="A computer screen shot of a network&#10;&#10;Description automatically generated">
            <a:extLst>
              <a:ext uri="{FF2B5EF4-FFF2-40B4-BE49-F238E27FC236}">
                <a16:creationId xmlns:a16="http://schemas.microsoft.com/office/drawing/2014/main" id="{A1751DF5-9344-97DB-6B75-3A1F7E2894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272" r="46918" b="11703"/>
          <a:stretch/>
        </p:blipFill>
        <p:spPr>
          <a:xfrm>
            <a:off x="5497869" y="1153955"/>
            <a:ext cx="6138556" cy="5140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980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07773" y="130981"/>
            <a:ext cx="6877119" cy="640080"/>
          </a:xfrm>
        </p:spPr>
        <p:txBody>
          <a:bodyPr>
            <a:noAutofit/>
          </a:bodyPr>
          <a:lstStyle/>
          <a:p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Encryption Algorithms DES</a:t>
            </a:r>
          </a:p>
        </p:txBody>
      </p:sp>
      <p:sp>
        <p:nvSpPr>
          <p:cNvPr id="38" name="Content Placeholder 17"/>
          <p:cNvSpPr txBox="1">
            <a:spLocks/>
          </p:cNvSpPr>
          <p:nvPr/>
        </p:nvSpPr>
        <p:spPr>
          <a:xfrm>
            <a:off x="465220" y="2033063"/>
            <a:ext cx="4839976" cy="35132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200"/>
              </a:spcAft>
              <a:buClr>
                <a:schemeClr val="accent4"/>
              </a:buClr>
              <a:buSzPct val="109000"/>
              <a:buFont typeface="Wingdings" pitchFamily="2" charset="2"/>
              <a:buChar char="§"/>
              <a:defRPr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Data Encryption Standard: The (DES) uses a secret key for both encryption and decryption </a:t>
            </a:r>
          </a:p>
          <a:p>
            <a:pPr>
              <a:spcAft>
                <a:spcPts val="1200"/>
              </a:spcAft>
              <a:buClr>
                <a:schemeClr val="accent4"/>
              </a:buClr>
              <a:buSzPct val="109000"/>
              <a:buFont typeface="Wingdings" pitchFamily="2" charset="2"/>
              <a:buChar char="§"/>
              <a:defRPr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DES uses a 64 bit key of which 9 bits are reserved for error detection</a:t>
            </a:r>
          </a:p>
          <a:p>
            <a:pPr>
              <a:spcAft>
                <a:spcPts val="1200"/>
              </a:spcAft>
              <a:buClr>
                <a:schemeClr val="accent4"/>
              </a:buClr>
              <a:buSzPct val="109000"/>
              <a:buFont typeface="Wingdings" pitchFamily="2" charset="2"/>
              <a:buChar char="§"/>
              <a:defRPr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DES provides for ~72 quadrillion possible encryption keys.</a:t>
            </a:r>
          </a:p>
          <a:p>
            <a:pPr>
              <a:spcAft>
                <a:spcPts val="1200"/>
              </a:spcAft>
              <a:buClr>
                <a:schemeClr val="accent4"/>
              </a:buClr>
              <a:buSzPct val="109000"/>
              <a:buFont typeface="Wingdings" pitchFamily="2" charset="2"/>
              <a:buChar char="§"/>
              <a:defRPr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The various versions of DES such as 3 DES in which the encryption process is completed 3 times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0D496AB-E35D-D10E-727A-011C2E2D423B}"/>
              </a:ext>
            </a:extLst>
          </p:cNvPr>
          <p:cNvSpPr/>
          <p:nvPr/>
        </p:nvSpPr>
        <p:spPr>
          <a:xfrm>
            <a:off x="1" y="0"/>
            <a:ext cx="407772" cy="902043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4E9A31-79C3-8423-F61C-99BAF767A493}"/>
              </a:ext>
            </a:extLst>
          </p:cNvPr>
          <p:cNvSpPr txBox="1"/>
          <p:nvPr/>
        </p:nvSpPr>
        <p:spPr>
          <a:xfrm>
            <a:off x="2963561" y="6491383"/>
            <a:ext cx="89607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/>
              <a:t>Copyright © by EC-Council. All Rights Reserved. Reproduction is Strictly Prohibited.</a:t>
            </a:r>
          </a:p>
        </p:txBody>
      </p:sp>
      <p:pic>
        <p:nvPicPr>
          <p:cNvPr id="6" name="Picture 5" descr="A diagram of a block diagram&#10;&#10;Description automatically generated">
            <a:extLst>
              <a:ext uri="{FF2B5EF4-FFF2-40B4-BE49-F238E27FC236}">
                <a16:creationId xmlns:a16="http://schemas.microsoft.com/office/drawing/2014/main" id="{E81ABBFA-1783-E85B-967F-14CA970FEA6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740" t="2757" r="5458" b="7256"/>
          <a:stretch/>
        </p:blipFill>
        <p:spPr>
          <a:xfrm>
            <a:off x="5518484" y="1254968"/>
            <a:ext cx="6208296" cy="5113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703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07773" y="130981"/>
            <a:ext cx="6877119" cy="640080"/>
          </a:xfrm>
        </p:spPr>
        <p:txBody>
          <a:bodyPr>
            <a:noAutofit/>
          </a:bodyPr>
          <a:lstStyle/>
          <a:p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Encryption Algorithms RC5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C3DCB4-FC2D-3962-ED88-78FD326EE946}"/>
              </a:ext>
            </a:extLst>
          </p:cNvPr>
          <p:cNvSpPr/>
          <p:nvPr/>
        </p:nvSpPr>
        <p:spPr>
          <a:xfrm>
            <a:off x="1" y="0"/>
            <a:ext cx="407772" cy="902043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diagram of a computer flowchart&#10;&#10;Description automatically generated">
            <a:extLst>
              <a:ext uri="{FF2B5EF4-FFF2-40B4-BE49-F238E27FC236}">
                <a16:creationId xmlns:a16="http://schemas.microsoft.com/office/drawing/2014/main" id="{AB0E97F4-80DF-FF1F-C4B9-50E7AF8799B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243"/>
          <a:stretch/>
        </p:blipFill>
        <p:spPr>
          <a:xfrm>
            <a:off x="6105993" y="945795"/>
            <a:ext cx="3555191" cy="53982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8E8E6CA-6A1E-2A09-5701-C1FFE8CFE733}"/>
              </a:ext>
            </a:extLst>
          </p:cNvPr>
          <p:cNvSpPr txBox="1"/>
          <p:nvPr/>
        </p:nvSpPr>
        <p:spPr>
          <a:xfrm>
            <a:off x="9150876" y="3110204"/>
            <a:ext cx="18684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RC5 Algorithm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F1B36F-CB8B-257E-9530-2755BDC68A24}"/>
              </a:ext>
            </a:extLst>
          </p:cNvPr>
          <p:cNvSpPr txBox="1"/>
          <p:nvPr/>
        </p:nvSpPr>
        <p:spPr>
          <a:xfrm>
            <a:off x="2963561" y="6491383"/>
            <a:ext cx="89607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/>
              <a:t>Copyright © by EC-Council. All Rights Reserved. Reproduction is Strictly Prohibited.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4DC7B6-E6C8-A8BE-D486-AAE7D8372BAB}"/>
              </a:ext>
            </a:extLst>
          </p:cNvPr>
          <p:cNvSpPr/>
          <p:nvPr/>
        </p:nvSpPr>
        <p:spPr>
          <a:xfrm>
            <a:off x="568194" y="1487598"/>
            <a:ext cx="5174880" cy="1421416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RC5 is a fast symmetric-key block cypher; the algorithm implements a variable block size ranging from 32 to 128 bits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1483F1E-9FD2-1807-ECF2-9A3B5AB64670}"/>
              </a:ext>
            </a:extLst>
          </p:cNvPr>
          <p:cNvSpPr/>
          <p:nvPr/>
        </p:nvSpPr>
        <p:spPr>
          <a:xfrm>
            <a:off x="536542" y="3039996"/>
            <a:ext cx="5174880" cy="2734849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>
              <a:spcAft>
                <a:spcPts val="1200"/>
              </a:spcAft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The encryption routine is based on 3 fundamental operations</a:t>
            </a:r>
          </a:p>
          <a:p>
            <a:pPr marL="914400" lvl="1" indent="-457200">
              <a:spcAft>
                <a:spcPts val="1200"/>
              </a:spcAft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Integer addition</a:t>
            </a:r>
          </a:p>
          <a:p>
            <a:pPr marL="914400" lvl="1" indent="-457200">
              <a:spcAft>
                <a:spcPts val="1200"/>
              </a:spcAft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Bitwise XOR</a:t>
            </a:r>
          </a:p>
          <a:p>
            <a:pPr marL="914400" lvl="1" indent="-457200">
              <a:spcAft>
                <a:spcPts val="1200"/>
              </a:spcAft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Variable rotation</a:t>
            </a:r>
          </a:p>
        </p:txBody>
      </p:sp>
    </p:spTree>
    <p:extLst>
      <p:ext uri="{BB962C8B-B14F-4D97-AF65-F5344CB8AC3E}">
        <p14:creationId xmlns:p14="http://schemas.microsoft.com/office/powerpoint/2010/main" val="2572585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07773" y="130981"/>
            <a:ext cx="6877119" cy="640080"/>
          </a:xfrm>
        </p:spPr>
        <p:txBody>
          <a:bodyPr>
            <a:noAutofit/>
          </a:bodyPr>
          <a:lstStyle/>
          <a:p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Encryption Algorithms Blowfish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 flipH="1">
            <a:off x="0" y="697795"/>
            <a:ext cx="10571747" cy="594660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9B1B47E-B180-4FA4-DCF5-D5132A0EC256}"/>
              </a:ext>
            </a:extLst>
          </p:cNvPr>
          <p:cNvSpPr/>
          <p:nvPr/>
        </p:nvSpPr>
        <p:spPr>
          <a:xfrm>
            <a:off x="1" y="0"/>
            <a:ext cx="407772" cy="902043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38F9050-69C5-639F-DAB8-1C03CB299BF9}"/>
              </a:ext>
            </a:extLst>
          </p:cNvPr>
          <p:cNvSpPr/>
          <p:nvPr/>
        </p:nvSpPr>
        <p:spPr>
          <a:xfrm>
            <a:off x="6096000" y="1250344"/>
            <a:ext cx="5174880" cy="110690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Blowfish uses a symmetric block algorithm and uses the same secret key to encrypt and decrypt data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21CB57-47AD-465E-399D-F4E837617F20}"/>
              </a:ext>
            </a:extLst>
          </p:cNvPr>
          <p:cNvSpPr/>
          <p:nvPr/>
        </p:nvSpPr>
        <p:spPr>
          <a:xfrm>
            <a:off x="6096000" y="2836533"/>
            <a:ext cx="5174880" cy="110690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The Blowfish block length is 64 bits and produces keys from 32 to 448 bits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D4DAE3-DA76-B6B6-8524-A9139D26C20F}"/>
              </a:ext>
            </a:extLst>
          </p:cNvPr>
          <p:cNvSpPr/>
          <p:nvPr/>
        </p:nvSpPr>
        <p:spPr>
          <a:xfrm>
            <a:off x="6096000" y="4371718"/>
            <a:ext cx="5174880" cy="1672871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>
              <a:spcAft>
                <a:spcPts val="600"/>
              </a:spcAft>
              <a:defRPr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Algorithm based on two parts</a:t>
            </a:r>
          </a:p>
          <a:p>
            <a:pPr marL="914400" lvl="1" indent="-457200">
              <a:spcAft>
                <a:spcPts val="600"/>
              </a:spcAft>
              <a:buFont typeface="+mj-lt"/>
              <a:buAutoNum type="arabicPeriod"/>
              <a:defRPr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First part handles expansion key</a:t>
            </a:r>
          </a:p>
          <a:p>
            <a:pPr marL="914400" lvl="1" indent="-457200">
              <a:spcAft>
                <a:spcPts val="600"/>
              </a:spcAft>
              <a:buFont typeface="+mj-lt"/>
              <a:buAutoNum type="arabicPeriod"/>
              <a:defRPr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Second part encrypts the data</a:t>
            </a:r>
          </a:p>
        </p:txBody>
      </p:sp>
    </p:spTree>
    <p:extLst>
      <p:ext uri="{BB962C8B-B14F-4D97-AF65-F5344CB8AC3E}">
        <p14:creationId xmlns:p14="http://schemas.microsoft.com/office/powerpoint/2010/main" val="2970805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07773" y="16805"/>
            <a:ext cx="11626384" cy="902044"/>
          </a:xfrm>
        </p:spPr>
        <p:txBody>
          <a:bodyPr anchor="ctr">
            <a:noAutofit/>
          </a:bodyPr>
          <a:lstStyle/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Encryption Algorithms Digital Signature Algorithm (DSA)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B8ED09-9E52-5371-269B-5A729A8551A3}"/>
              </a:ext>
            </a:extLst>
          </p:cNvPr>
          <p:cNvSpPr/>
          <p:nvPr/>
        </p:nvSpPr>
        <p:spPr>
          <a:xfrm>
            <a:off x="1" y="0"/>
            <a:ext cx="407772" cy="902043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white paper with black text&#10;&#10;Description automatically generated">
            <a:extLst>
              <a:ext uri="{FF2B5EF4-FFF2-40B4-BE49-F238E27FC236}">
                <a16:creationId xmlns:a16="http://schemas.microsoft.com/office/drawing/2014/main" id="{E812C26E-C727-B85F-7453-1F709477F7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321" y="4114496"/>
            <a:ext cx="9886585" cy="218560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1F69CF7-EDE8-A321-7A2F-AB8F64C457CD}"/>
              </a:ext>
            </a:extLst>
          </p:cNvPr>
          <p:cNvSpPr txBox="1"/>
          <p:nvPr/>
        </p:nvSpPr>
        <p:spPr>
          <a:xfrm>
            <a:off x="2963561" y="6491383"/>
            <a:ext cx="89607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/>
              <a:t>Copyright © by EC-Council. All Rights Reserved. Reproduction is Strictly Prohibited.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34CC05-02E6-7C54-389B-CE8E20A66839}"/>
              </a:ext>
            </a:extLst>
          </p:cNvPr>
          <p:cNvSpPr/>
          <p:nvPr/>
        </p:nvSpPr>
        <p:spPr>
          <a:xfrm>
            <a:off x="642937" y="1165478"/>
            <a:ext cx="10499355" cy="55914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Federal standard processing for digital signatures for classified and non-classified data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6207F4-4C90-74E0-7692-8CD225871F81}"/>
              </a:ext>
            </a:extLst>
          </p:cNvPr>
          <p:cNvSpPr/>
          <p:nvPr/>
        </p:nvSpPr>
        <p:spPr>
          <a:xfrm>
            <a:off x="642937" y="1919768"/>
            <a:ext cx="10499354" cy="55914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DSA creates a 320-bit digital signature with 512 – 1024-bit security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9675C1E-26A0-2A72-9D26-9BE5A40E87A4}"/>
              </a:ext>
            </a:extLst>
          </p:cNvPr>
          <p:cNvSpPr/>
          <p:nvPr/>
        </p:nvSpPr>
        <p:spPr>
          <a:xfrm>
            <a:off x="642937" y="2615111"/>
            <a:ext cx="10499354" cy="124669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>
              <a:spcAft>
                <a:spcPts val="600"/>
              </a:spcAft>
              <a:defRPr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Two parts</a:t>
            </a:r>
          </a:p>
          <a:p>
            <a:pPr marL="914400" lvl="1" indent="-457200">
              <a:spcAft>
                <a:spcPts val="600"/>
              </a:spcAft>
              <a:buFont typeface="+mj-lt"/>
              <a:buAutoNum type="arabicPeriod"/>
              <a:defRPr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First part is the signature generation process</a:t>
            </a:r>
          </a:p>
          <a:p>
            <a:pPr marL="914400" lvl="1" indent="-457200">
              <a:spcAft>
                <a:spcPts val="600"/>
              </a:spcAft>
              <a:buFont typeface="+mj-lt"/>
              <a:buAutoNum type="arabicPeriod"/>
              <a:defRPr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Second part is the signature verification process</a:t>
            </a:r>
          </a:p>
        </p:txBody>
      </p:sp>
    </p:spTree>
    <p:extLst>
      <p:ext uri="{BB962C8B-B14F-4D97-AF65-F5344CB8AC3E}">
        <p14:creationId xmlns:p14="http://schemas.microsoft.com/office/powerpoint/2010/main" val="3456561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21207" y="183729"/>
            <a:ext cx="11082964" cy="640080"/>
          </a:xfrm>
        </p:spPr>
        <p:txBody>
          <a:bodyPr>
            <a:noAutofit/>
          </a:bodyPr>
          <a:lstStyle/>
          <a:p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Encryption Algorithms Rivest Shamir Adleman (RSA)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BA78564-B648-F06C-9869-95E87AFF7D01}"/>
              </a:ext>
            </a:extLst>
          </p:cNvPr>
          <p:cNvSpPr/>
          <p:nvPr/>
        </p:nvSpPr>
        <p:spPr>
          <a:xfrm>
            <a:off x="1" y="0"/>
            <a:ext cx="407772" cy="902043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B8D3E70E-4A28-4A7B-3531-4AB21DC533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7004" y="1240971"/>
            <a:ext cx="5517168" cy="500742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E999EB6-EE7C-A283-41B1-FF6F4521C2AD}"/>
              </a:ext>
            </a:extLst>
          </p:cNvPr>
          <p:cNvSpPr txBox="1"/>
          <p:nvPr/>
        </p:nvSpPr>
        <p:spPr>
          <a:xfrm>
            <a:off x="2963561" y="6491383"/>
            <a:ext cx="89607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/>
              <a:t>Copyright © by EC-Council. All Rights Reserved. Reproduction is Strictly Prohibited.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672DDD-E0F1-AC15-F181-1A32E78F0F5D}"/>
              </a:ext>
            </a:extLst>
          </p:cNvPr>
          <p:cNvSpPr/>
          <p:nvPr/>
        </p:nvSpPr>
        <p:spPr>
          <a:xfrm>
            <a:off x="521207" y="2096011"/>
            <a:ext cx="5174880" cy="10072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marL="342900" indent="-342900">
              <a:spcAft>
                <a:spcPts val="600"/>
              </a:spcAft>
              <a:buClr>
                <a:schemeClr val="accent4"/>
              </a:buClr>
              <a:buSzPct val="114000"/>
              <a:buFont typeface="Wingdings" pitchFamily="2" charset="2"/>
              <a:buChar char="§"/>
              <a:defRPr/>
            </a:pP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Used primarily for Internet Encryption, considered a standard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C8B994D-1E47-B515-7094-399F7AE6A827}"/>
              </a:ext>
            </a:extLst>
          </p:cNvPr>
          <p:cNvSpPr/>
          <p:nvPr/>
        </p:nvSpPr>
        <p:spPr>
          <a:xfrm>
            <a:off x="540854" y="3247297"/>
            <a:ext cx="5174880" cy="10072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marL="342900" indent="-342900">
              <a:spcAft>
                <a:spcPts val="600"/>
              </a:spcAft>
              <a:buClr>
                <a:schemeClr val="accent4"/>
              </a:buClr>
              <a:buSzPct val="114000"/>
              <a:buFont typeface="Wingdings" pitchFamily="2" charset="2"/>
              <a:buChar char="§"/>
              <a:defRPr/>
            </a:pP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DSA creates a 320-bit digital signature with 512–1024-bit security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616783-C788-C7AB-8E3A-2DDD9D37EAC4}"/>
              </a:ext>
            </a:extLst>
          </p:cNvPr>
          <p:cNvSpPr/>
          <p:nvPr/>
        </p:nvSpPr>
        <p:spPr>
          <a:xfrm>
            <a:off x="540854" y="4476241"/>
            <a:ext cx="5174880" cy="10072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marL="342900" indent="-342900">
              <a:spcAft>
                <a:spcPts val="600"/>
              </a:spcAft>
              <a:buClr>
                <a:schemeClr val="accent4"/>
              </a:buClr>
              <a:buSzPct val="114000"/>
              <a:buFont typeface="Wingdings" pitchFamily="2" charset="2"/>
              <a:buChar char="§"/>
              <a:defRPr/>
            </a:pP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DSA standard process goes through six different steps to encrypt data</a:t>
            </a:r>
          </a:p>
        </p:txBody>
      </p:sp>
    </p:spTree>
    <p:extLst>
      <p:ext uri="{BB962C8B-B14F-4D97-AF65-F5344CB8AC3E}">
        <p14:creationId xmlns:p14="http://schemas.microsoft.com/office/powerpoint/2010/main" val="1295023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CBD060-6188-4172-B221-10C0A0CAA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CEHv13 Update – Emerging Cryptographic Threats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2AAA5FB-EFC8-5C2F-16DA-7226CB40800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53291" y="1858001"/>
            <a:ext cx="11000509" cy="3600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CEHv13 highlights: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Quantum computing’s impact on RSA, ECC, and traditional encryption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Attacks on blockchain-based authentication and smart contracts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 of AI to crack weak encryption patterns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Growing importance of hybrid cryptographic models (e.g., lattice-based, NIST PQC candidates)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Emphasis on: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Insecure key management in mobile/cloud environments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Risks of algorithm misuse, improper padding, or custom crypto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837521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EAF61-2675-FBB9-C8DE-8B7329B47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8B5BEE5-E38A-B0D6-6146-246A00FCB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CEHv13 Update – Secure Crypto Implementation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6C6C455-A4D4-C07A-9942-9697D5569F4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53291" y="1919558"/>
            <a:ext cx="11000509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CEHv13 recommends: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Using only vetted algorithms (AES, RSA, ECC) and avoiding custom schemes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Storing keys securely via HSMs, TPMs, or encrypted software vaults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Verifying proper use of: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SSL/TLS (with modern cipher suites)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Hashing (e.g., SHA-256+,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bcrypt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Argon2) for passwords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Aligns with: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NIST 800-175B for cryptographic key management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OWASP Cryptographic Storage guidelines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5488400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c6c77d8f-09f6-4e2b-8f47-31ad1c0144f5" xsi:nil="true"/>
    <Preview xmlns="c6c77d8f-09f6-4e2b-8f47-31ad1c0144f5" xsi:nil="true"/>
    <lcf76f155ced4ddcb4097134ff3c332f xmlns="c6c77d8f-09f6-4e2b-8f47-31ad1c0144f5">
      <Terms xmlns="http://schemas.microsoft.com/office/infopath/2007/PartnerControls"/>
    </lcf76f155ced4ddcb4097134ff3c332f>
    <TaxCatchAll xmlns="146bd9e1-3fdb-4f50-9526-c68c2343cb8e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773663AEC73F64CB9310C74F592BBA1" ma:contentTypeVersion="20" ma:contentTypeDescription="Create a new document." ma:contentTypeScope="" ma:versionID="c4ee6c6961591c1a63add96d4ce05241">
  <xsd:schema xmlns:xsd="http://www.w3.org/2001/XMLSchema" xmlns:xs="http://www.w3.org/2001/XMLSchema" xmlns:p="http://schemas.microsoft.com/office/2006/metadata/properties" xmlns:ns2="c6c77d8f-09f6-4e2b-8f47-31ad1c0144f5" xmlns:ns3="146bd9e1-3fdb-4f50-9526-c68c2343cb8e" targetNamespace="http://schemas.microsoft.com/office/2006/metadata/properties" ma:root="true" ma:fieldsID="b2274d1538facf08196bf05114238597" ns2:_="" ns3:_="">
    <xsd:import namespace="c6c77d8f-09f6-4e2b-8f47-31ad1c0144f5"/>
    <xsd:import namespace="146bd9e1-3fdb-4f50-9526-c68c2343cb8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SharedWithUsers" minOccurs="0"/>
                <xsd:element ref="ns3:SharedWithDetails" minOccurs="0"/>
                <xsd:element ref="ns2:Preview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c77d8f-09f6-4e2b-8f47-31ad1c0144f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Preview" ma:index="21" nillable="true" ma:displayName="Preview" ma:format="Thumbnail" ma:internalName="Preview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6a8cab3b-d731-4175-bae6-7d60d1a2576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6bd9e1-3fdb-4f50-9526-c68c2343cb8e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42da5034-1a9c-45fa-ab74-54df4df1541d}" ma:internalName="TaxCatchAll" ma:showField="CatchAllData" ma:web="146bd9e1-3fdb-4f50-9526-c68c2343cb8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50072C5-DDE0-4258-BA7A-4D4B80DFA632}">
  <ds:schemaRefs>
    <ds:schemaRef ds:uri="71af3243-3dd4-4a8d-8c0d-dd76da1f02a5"/>
    <ds:schemaRef ds:uri="http://schemas.openxmlformats.org/package/2006/metadata/core-properties"/>
    <ds:schemaRef ds:uri="http://schemas.microsoft.com/office/2006/documentManagement/types"/>
    <ds:schemaRef ds:uri="16c05727-aa75-4e4a-9b5f-8a80a1165891"/>
    <ds:schemaRef ds:uri="http://purl.org/dc/dcmitype/"/>
    <ds:schemaRef ds:uri="http://schemas.microsoft.com/office/2006/metadata/properties"/>
    <ds:schemaRef ds:uri="http://purl.org/dc/terms/"/>
    <ds:schemaRef ds:uri="http://schemas.microsoft.com/office/infopath/2007/PartnerControls"/>
    <ds:schemaRef ds:uri="http://www.w3.org/XML/1998/namespace"/>
    <ds:schemaRef ds:uri="http://purl.org/dc/elements/1.1/"/>
    <ds:schemaRef ds:uri="c6c77d8f-09f6-4e2b-8f47-31ad1c0144f5"/>
    <ds:schemaRef ds:uri="146bd9e1-3fdb-4f50-9526-c68c2343cb8e"/>
  </ds:schemaRefs>
</ds:datastoreItem>
</file>

<file path=customXml/itemProps2.xml><?xml version="1.0" encoding="utf-8"?>
<ds:datastoreItem xmlns:ds="http://schemas.openxmlformats.org/officeDocument/2006/customXml" ds:itemID="{FDC69BC2-DAF2-4D77-8136-2C5FC2F8E4C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6c77d8f-09f6-4e2b-8f47-31ad1c0144f5"/>
    <ds:schemaRef ds:uri="146bd9e1-3fdb-4f50-9526-c68c2343cb8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EE8C63A-4744-4DE4-BB49-0FF0B5375C60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50656f6f-463c-4054-9fc2-6f4071c6e7fc}" enabled="0" method="" siteId="{50656f6f-463c-4054-9fc2-6f4071c6e7f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1069</Words>
  <Application>Microsoft Office PowerPoint</Application>
  <PresentationFormat>Widescreen</PresentationFormat>
  <Paragraphs>162</Paragraphs>
  <Slides>24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Calibri</vt:lpstr>
      <vt:lpstr>Calibri Light</vt:lpstr>
      <vt:lpstr>Courier New</vt:lpstr>
      <vt:lpstr>Times New Roman</vt:lpstr>
      <vt:lpstr>Wingdings</vt:lpstr>
      <vt:lpstr>Office Theme</vt:lpstr>
      <vt:lpstr>Securing Cloud Computing </vt:lpstr>
      <vt:lpstr>Advantages of Cloud Computing</vt:lpstr>
      <vt:lpstr>Disadvantages of Cloud Computing</vt:lpstr>
      <vt:lpstr>Cloud Computing Threats</vt:lpstr>
      <vt:lpstr>Cloud Computing Threats Security Weakness</vt:lpstr>
      <vt:lpstr>Cloud Computing Threat Mitigation</vt:lpstr>
      <vt:lpstr>Cloud Computing Threat Mitigation (Cont’d)</vt:lpstr>
      <vt:lpstr>Cloud Computing Threat Mitigation </vt:lpstr>
      <vt:lpstr>Cloud Computing Threat Mitigation Management</vt:lpstr>
      <vt:lpstr>CEHv13 Update – Cloud Threats &amp; Hacking Techniques</vt:lpstr>
      <vt:lpstr>CEHv13 Update – Cloud Defense &amp; Best Practices</vt:lpstr>
      <vt:lpstr>Cryptography Objectives</vt:lpstr>
      <vt:lpstr>Encryption Types</vt:lpstr>
      <vt:lpstr>Encryption Type Strengths</vt:lpstr>
      <vt:lpstr>Encryption Type Symmetric Weaknesses</vt:lpstr>
      <vt:lpstr>Encryption Type Asymmetric Weaknesses</vt:lpstr>
      <vt:lpstr>Encryption Algorithms</vt:lpstr>
      <vt:lpstr>Encryption Algorithms DES</vt:lpstr>
      <vt:lpstr>Encryption Algorithms RC5</vt:lpstr>
      <vt:lpstr>Encryption Algorithms Blowfish</vt:lpstr>
      <vt:lpstr>Encryption Algorithms Digital Signature Algorithm (DSA)</vt:lpstr>
      <vt:lpstr>Encryption Algorithms Rivest Shamir Adleman (RSA)</vt:lpstr>
      <vt:lpstr>CEHv13 Update – Emerging Cryptographic Threats</vt:lpstr>
      <vt:lpstr>CEHv13 Update – Secure Crypto Implementation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Michael Wandel (Virginia Beach)</cp:lastModifiedBy>
  <cp:revision>2</cp:revision>
  <dcterms:created xsi:type="dcterms:W3CDTF">2021-08-18T16:16:21Z</dcterms:created>
  <dcterms:modified xsi:type="dcterms:W3CDTF">2026-02-23T22:36:06Z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0x0101009773663AEC73F64CB9310C74F592BBA1</vt:lpwstr>
  </property>
</Properties>
</file>