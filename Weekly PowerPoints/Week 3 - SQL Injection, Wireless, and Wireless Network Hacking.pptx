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2"/>
  </p:notesMasterIdLst>
  <p:sldIdLst>
    <p:sldId id="256" r:id="rId5"/>
    <p:sldId id="262" r:id="rId6"/>
    <p:sldId id="257" r:id="rId7"/>
    <p:sldId id="263" r:id="rId8"/>
    <p:sldId id="265" r:id="rId9"/>
    <p:sldId id="267" r:id="rId10"/>
    <p:sldId id="266" r:id="rId11"/>
    <p:sldId id="268" r:id="rId12"/>
    <p:sldId id="269" r:id="rId13"/>
    <p:sldId id="270" r:id="rId14"/>
    <p:sldId id="271" r:id="rId15"/>
    <p:sldId id="272" r:id="rId16"/>
    <p:sldId id="283" r:id="rId17"/>
    <p:sldId id="279" r:id="rId18"/>
    <p:sldId id="281" r:id="rId19"/>
    <p:sldId id="280" r:id="rId20"/>
    <p:sldId id="285" r:id="rId21"/>
    <p:sldId id="286" r:id="rId22"/>
    <p:sldId id="287" r:id="rId23"/>
    <p:sldId id="288" r:id="rId24"/>
    <p:sldId id="289" r:id="rId25"/>
    <p:sldId id="290" r:id="rId26"/>
    <p:sldId id="291" r:id="rId27"/>
    <p:sldId id="292" r:id="rId28"/>
    <p:sldId id="261" r:id="rId29"/>
    <p:sldId id="264" r:id="rId30"/>
    <p:sldId id="293" r:id="rId31"/>
    <p:sldId id="294" r:id="rId32"/>
    <p:sldId id="295" r:id="rId33"/>
    <p:sldId id="296" r:id="rId34"/>
    <p:sldId id="297" r:id="rId35"/>
    <p:sldId id="298" r:id="rId36"/>
    <p:sldId id="299" r:id="rId37"/>
    <p:sldId id="273" r:id="rId38"/>
    <p:sldId id="274" r:id="rId39"/>
    <p:sldId id="275" r:id="rId40"/>
    <p:sldId id="276"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D8DB"/>
    <a:srgbClr val="5332B8"/>
    <a:srgbClr val="3A865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9ED176-887D-497A-8EFB-730970E120B1}" v="4" dt="2025-06-23T02:06:02.6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706" autoAdjust="0"/>
    <p:restoredTop sz="94660"/>
  </p:normalViewPr>
  <p:slideViewPr>
    <p:cSldViewPr snapToGrid="0">
      <p:cViewPr varScale="1">
        <p:scale>
          <a:sx n="72" d="100"/>
          <a:sy n="72" d="100"/>
        </p:scale>
        <p:origin x="60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47"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5241BB8-46EE-4712-9721-9478CE3B7531}" type="doc">
      <dgm:prSet loTypeId="urn:microsoft.com/office/officeart/2005/8/layout/hList1" loCatId="list" qsTypeId="urn:microsoft.com/office/officeart/2005/8/quickstyle/simple5" qsCatId="simple" csTypeId="urn:microsoft.com/office/officeart/2005/8/colors/colorful5" csCatId="colorful" phldr="1"/>
      <dgm:spPr/>
      <dgm:t>
        <a:bodyPr/>
        <a:lstStyle/>
        <a:p>
          <a:endParaRPr lang="en-US"/>
        </a:p>
      </dgm:t>
    </dgm:pt>
    <dgm:pt modelId="{7D822A1F-ADB6-4C6E-AF53-993C14220225}">
      <dgm:prSet/>
      <dgm:spPr/>
      <dgm:t>
        <a:bodyPr/>
        <a:lstStyle/>
        <a:p>
          <a:r>
            <a:rPr lang="en-US" dirty="0"/>
            <a:t>In-band SQL Injection</a:t>
          </a:r>
        </a:p>
      </dgm:t>
    </dgm:pt>
    <dgm:pt modelId="{13B638CD-67D3-4209-BF04-E3D90DC7D70C}" type="parTrans" cxnId="{7DD6184D-3915-4091-902B-E7A79246CB94}">
      <dgm:prSet/>
      <dgm:spPr/>
      <dgm:t>
        <a:bodyPr/>
        <a:lstStyle/>
        <a:p>
          <a:endParaRPr lang="en-US"/>
        </a:p>
      </dgm:t>
    </dgm:pt>
    <dgm:pt modelId="{1A3A924F-9384-477C-8AFE-C1BBAF7F9404}" type="sibTrans" cxnId="{7DD6184D-3915-4091-902B-E7A79246CB94}">
      <dgm:prSet/>
      <dgm:spPr/>
      <dgm:t>
        <a:bodyPr/>
        <a:lstStyle/>
        <a:p>
          <a:endParaRPr lang="en-US"/>
        </a:p>
      </dgm:t>
    </dgm:pt>
    <dgm:pt modelId="{4F8C53F9-D3EB-4039-80AD-C9927D8BD0A2}">
      <dgm:prSet/>
      <dgm:spPr/>
      <dgm:t>
        <a:bodyPr/>
        <a:lstStyle/>
        <a:p>
          <a:r>
            <a:rPr lang="en-US" dirty="0"/>
            <a:t>Blind/Inferential SQL Injection</a:t>
          </a:r>
        </a:p>
      </dgm:t>
    </dgm:pt>
    <dgm:pt modelId="{B6D74824-EF1D-4CAE-B290-373CD1AB34FF}" type="parTrans" cxnId="{76CB3F42-4369-45F1-96E4-4939BFA68C27}">
      <dgm:prSet/>
      <dgm:spPr/>
      <dgm:t>
        <a:bodyPr/>
        <a:lstStyle/>
        <a:p>
          <a:endParaRPr lang="en-US"/>
        </a:p>
      </dgm:t>
    </dgm:pt>
    <dgm:pt modelId="{309EE82D-4CB9-4D32-99A6-4462B713FB4F}" type="sibTrans" cxnId="{76CB3F42-4369-45F1-96E4-4939BFA68C27}">
      <dgm:prSet/>
      <dgm:spPr/>
      <dgm:t>
        <a:bodyPr/>
        <a:lstStyle/>
        <a:p>
          <a:endParaRPr lang="en-US"/>
        </a:p>
      </dgm:t>
    </dgm:pt>
    <dgm:pt modelId="{D0372B47-19C5-42DB-80DE-717F4283C025}">
      <dgm:prSet custT="1"/>
      <dgm:spPr/>
      <dgm:t>
        <a:bodyPr/>
        <a:lstStyle/>
        <a:p>
          <a:pPr indent="0">
            <a:lnSpc>
              <a:spcPct val="100000"/>
            </a:lnSpc>
            <a:buNone/>
          </a:pPr>
          <a:r>
            <a:rPr lang="en-US" sz="2400" dirty="0"/>
            <a:t>Attacker manipulates an applications SQL query through user input fields.</a:t>
          </a:r>
        </a:p>
      </dgm:t>
    </dgm:pt>
    <dgm:pt modelId="{A8A59347-AB35-42CA-AA4D-E8312EDEF84C}" type="sibTrans" cxnId="{33F05D93-648E-4534-AF87-CB45FFE58341}">
      <dgm:prSet/>
      <dgm:spPr/>
      <dgm:t>
        <a:bodyPr/>
        <a:lstStyle/>
        <a:p>
          <a:endParaRPr lang="en-US"/>
        </a:p>
      </dgm:t>
    </dgm:pt>
    <dgm:pt modelId="{8620DDA0-EDCA-4F45-A202-83255FD2428D}" type="parTrans" cxnId="{33F05D93-648E-4534-AF87-CB45FFE58341}">
      <dgm:prSet/>
      <dgm:spPr/>
      <dgm:t>
        <a:bodyPr/>
        <a:lstStyle/>
        <a:p>
          <a:endParaRPr lang="en-US"/>
        </a:p>
      </dgm:t>
    </dgm:pt>
    <dgm:pt modelId="{5315635C-60A2-4F85-B117-A62B6A5D1FF2}">
      <dgm:prSet custT="1"/>
      <dgm:spPr/>
      <dgm:t>
        <a:bodyPr anchor="ctr"/>
        <a:lstStyle/>
        <a:p>
          <a:pPr indent="0">
            <a:lnSpc>
              <a:spcPct val="100000"/>
            </a:lnSpc>
            <a:buNone/>
          </a:pPr>
          <a:r>
            <a:rPr lang="en-US" sz="2400" dirty="0"/>
            <a:t>Occurs when an attacker exploits a vulnerability in an application without seeing the results.</a:t>
          </a:r>
        </a:p>
      </dgm:t>
    </dgm:pt>
    <dgm:pt modelId="{73709FD9-1168-4EFE-8BB1-B19E990DC2A6}" type="sibTrans" cxnId="{DC61F22E-7D66-4AF3-AF68-107CEFFB4178}">
      <dgm:prSet/>
      <dgm:spPr/>
      <dgm:t>
        <a:bodyPr/>
        <a:lstStyle/>
        <a:p>
          <a:endParaRPr lang="en-US"/>
        </a:p>
      </dgm:t>
    </dgm:pt>
    <dgm:pt modelId="{DEAC0CF1-22D4-4A51-BECE-22E5EEAB2331}" type="parTrans" cxnId="{DC61F22E-7D66-4AF3-AF68-107CEFFB4178}">
      <dgm:prSet/>
      <dgm:spPr/>
      <dgm:t>
        <a:bodyPr/>
        <a:lstStyle/>
        <a:p>
          <a:endParaRPr lang="en-US"/>
        </a:p>
      </dgm:t>
    </dgm:pt>
    <dgm:pt modelId="{25359D8A-72A8-432B-9CD7-1DF61BB4E7F7}" type="pres">
      <dgm:prSet presAssocID="{15241BB8-46EE-4712-9721-9478CE3B7531}" presName="Name0" presStyleCnt="0">
        <dgm:presLayoutVars>
          <dgm:dir/>
          <dgm:animLvl val="lvl"/>
          <dgm:resizeHandles val="exact"/>
        </dgm:presLayoutVars>
      </dgm:prSet>
      <dgm:spPr/>
    </dgm:pt>
    <dgm:pt modelId="{25A15E7C-3DE9-4692-8741-82AD4BAC057B}" type="pres">
      <dgm:prSet presAssocID="{7D822A1F-ADB6-4C6E-AF53-993C14220225}" presName="composite" presStyleCnt="0"/>
      <dgm:spPr/>
    </dgm:pt>
    <dgm:pt modelId="{783DA6EE-CC8D-4214-A45B-2346BD799693}" type="pres">
      <dgm:prSet presAssocID="{7D822A1F-ADB6-4C6E-AF53-993C14220225}" presName="parTx" presStyleLbl="alignNode1" presStyleIdx="0" presStyleCnt="2">
        <dgm:presLayoutVars>
          <dgm:chMax val="0"/>
          <dgm:chPref val="0"/>
          <dgm:bulletEnabled val="1"/>
        </dgm:presLayoutVars>
      </dgm:prSet>
      <dgm:spPr/>
    </dgm:pt>
    <dgm:pt modelId="{30678F6F-004C-4492-8755-C0C639EE0FAC}" type="pres">
      <dgm:prSet presAssocID="{7D822A1F-ADB6-4C6E-AF53-993C14220225}" presName="desTx" presStyleLbl="alignAccFollowNode1" presStyleIdx="0" presStyleCnt="2">
        <dgm:presLayoutVars>
          <dgm:bulletEnabled val="1"/>
        </dgm:presLayoutVars>
      </dgm:prSet>
      <dgm:spPr/>
    </dgm:pt>
    <dgm:pt modelId="{B1982656-8948-4707-81F5-2B5DA3CAF5D7}" type="pres">
      <dgm:prSet presAssocID="{1A3A924F-9384-477C-8AFE-C1BBAF7F9404}" presName="space" presStyleCnt="0"/>
      <dgm:spPr/>
    </dgm:pt>
    <dgm:pt modelId="{80B2FC1D-DF12-4FC8-944D-64BC07A0F23F}" type="pres">
      <dgm:prSet presAssocID="{4F8C53F9-D3EB-4039-80AD-C9927D8BD0A2}" presName="composite" presStyleCnt="0"/>
      <dgm:spPr/>
    </dgm:pt>
    <dgm:pt modelId="{789E0470-4B02-405C-A16C-4F595E31E6D1}" type="pres">
      <dgm:prSet presAssocID="{4F8C53F9-D3EB-4039-80AD-C9927D8BD0A2}" presName="parTx" presStyleLbl="alignNode1" presStyleIdx="1" presStyleCnt="2">
        <dgm:presLayoutVars>
          <dgm:chMax val="0"/>
          <dgm:chPref val="0"/>
          <dgm:bulletEnabled val="1"/>
        </dgm:presLayoutVars>
      </dgm:prSet>
      <dgm:spPr/>
    </dgm:pt>
    <dgm:pt modelId="{D14E4601-BAEC-44BB-8FAE-6D0483636D91}" type="pres">
      <dgm:prSet presAssocID="{4F8C53F9-D3EB-4039-80AD-C9927D8BD0A2}" presName="desTx" presStyleLbl="alignAccFollowNode1" presStyleIdx="1" presStyleCnt="2">
        <dgm:presLayoutVars>
          <dgm:bulletEnabled val="1"/>
        </dgm:presLayoutVars>
      </dgm:prSet>
      <dgm:spPr/>
    </dgm:pt>
  </dgm:ptLst>
  <dgm:cxnLst>
    <dgm:cxn modelId="{DC61F22E-7D66-4AF3-AF68-107CEFFB4178}" srcId="{4F8C53F9-D3EB-4039-80AD-C9927D8BD0A2}" destId="{5315635C-60A2-4F85-B117-A62B6A5D1FF2}" srcOrd="0" destOrd="0" parTransId="{DEAC0CF1-22D4-4A51-BECE-22E5EEAB2331}" sibTransId="{73709FD9-1168-4EFE-8BB1-B19E990DC2A6}"/>
    <dgm:cxn modelId="{BCF1CB3B-5329-46BA-B7CC-6E98F52E3E55}" type="presOf" srcId="{5315635C-60A2-4F85-B117-A62B6A5D1FF2}" destId="{D14E4601-BAEC-44BB-8FAE-6D0483636D91}" srcOrd="0" destOrd="0" presId="urn:microsoft.com/office/officeart/2005/8/layout/hList1"/>
    <dgm:cxn modelId="{C1B1275C-8617-4642-93FB-1F774188FE7A}" type="presOf" srcId="{15241BB8-46EE-4712-9721-9478CE3B7531}" destId="{25359D8A-72A8-432B-9CD7-1DF61BB4E7F7}" srcOrd="0" destOrd="0" presId="urn:microsoft.com/office/officeart/2005/8/layout/hList1"/>
    <dgm:cxn modelId="{76CB3F42-4369-45F1-96E4-4939BFA68C27}" srcId="{15241BB8-46EE-4712-9721-9478CE3B7531}" destId="{4F8C53F9-D3EB-4039-80AD-C9927D8BD0A2}" srcOrd="1" destOrd="0" parTransId="{B6D74824-EF1D-4CAE-B290-373CD1AB34FF}" sibTransId="{309EE82D-4CB9-4D32-99A6-4462B713FB4F}"/>
    <dgm:cxn modelId="{7DD6184D-3915-4091-902B-E7A79246CB94}" srcId="{15241BB8-46EE-4712-9721-9478CE3B7531}" destId="{7D822A1F-ADB6-4C6E-AF53-993C14220225}" srcOrd="0" destOrd="0" parTransId="{13B638CD-67D3-4209-BF04-E3D90DC7D70C}" sibTransId="{1A3A924F-9384-477C-8AFE-C1BBAF7F9404}"/>
    <dgm:cxn modelId="{5D657074-0B72-4619-BC5E-E2EEAB3DA77F}" type="presOf" srcId="{7D822A1F-ADB6-4C6E-AF53-993C14220225}" destId="{783DA6EE-CC8D-4214-A45B-2346BD799693}" srcOrd="0" destOrd="0" presId="urn:microsoft.com/office/officeart/2005/8/layout/hList1"/>
    <dgm:cxn modelId="{7A56338C-3A1B-4AB7-83AC-A199F5F6F1D7}" type="presOf" srcId="{4F8C53F9-D3EB-4039-80AD-C9927D8BD0A2}" destId="{789E0470-4B02-405C-A16C-4F595E31E6D1}" srcOrd="0" destOrd="0" presId="urn:microsoft.com/office/officeart/2005/8/layout/hList1"/>
    <dgm:cxn modelId="{CDEA2193-C857-4262-A020-DBE6B99D03A1}" type="presOf" srcId="{D0372B47-19C5-42DB-80DE-717F4283C025}" destId="{30678F6F-004C-4492-8755-C0C639EE0FAC}" srcOrd="0" destOrd="0" presId="urn:microsoft.com/office/officeart/2005/8/layout/hList1"/>
    <dgm:cxn modelId="{33F05D93-648E-4534-AF87-CB45FFE58341}" srcId="{7D822A1F-ADB6-4C6E-AF53-993C14220225}" destId="{D0372B47-19C5-42DB-80DE-717F4283C025}" srcOrd="0" destOrd="0" parTransId="{8620DDA0-EDCA-4F45-A202-83255FD2428D}" sibTransId="{A8A59347-AB35-42CA-AA4D-E8312EDEF84C}"/>
    <dgm:cxn modelId="{3BA91FCA-112E-4B65-97F7-D8B1BEBA3091}" type="presParOf" srcId="{25359D8A-72A8-432B-9CD7-1DF61BB4E7F7}" destId="{25A15E7C-3DE9-4692-8741-82AD4BAC057B}" srcOrd="0" destOrd="0" presId="urn:microsoft.com/office/officeart/2005/8/layout/hList1"/>
    <dgm:cxn modelId="{4621C080-23C0-4AF3-B7A7-B46E6587953B}" type="presParOf" srcId="{25A15E7C-3DE9-4692-8741-82AD4BAC057B}" destId="{783DA6EE-CC8D-4214-A45B-2346BD799693}" srcOrd="0" destOrd="0" presId="urn:microsoft.com/office/officeart/2005/8/layout/hList1"/>
    <dgm:cxn modelId="{67E8A7CD-B283-4FDF-B0D7-B8F8D37BA8A4}" type="presParOf" srcId="{25A15E7C-3DE9-4692-8741-82AD4BAC057B}" destId="{30678F6F-004C-4492-8755-C0C639EE0FAC}" srcOrd="1" destOrd="0" presId="urn:microsoft.com/office/officeart/2005/8/layout/hList1"/>
    <dgm:cxn modelId="{2BFB060C-63A5-4D38-9129-B7C4C6B247B8}" type="presParOf" srcId="{25359D8A-72A8-432B-9CD7-1DF61BB4E7F7}" destId="{B1982656-8948-4707-81F5-2B5DA3CAF5D7}" srcOrd="1" destOrd="0" presId="urn:microsoft.com/office/officeart/2005/8/layout/hList1"/>
    <dgm:cxn modelId="{679EC9FF-1E53-49E0-AA00-57E4502C1429}" type="presParOf" srcId="{25359D8A-72A8-432B-9CD7-1DF61BB4E7F7}" destId="{80B2FC1D-DF12-4FC8-944D-64BC07A0F23F}" srcOrd="2" destOrd="0" presId="urn:microsoft.com/office/officeart/2005/8/layout/hList1"/>
    <dgm:cxn modelId="{F251D26D-CB99-41DE-9131-8DE24F4269AE}" type="presParOf" srcId="{80B2FC1D-DF12-4FC8-944D-64BC07A0F23F}" destId="{789E0470-4B02-405C-A16C-4F595E31E6D1}" srcOrd="0" destOrd="0" presId="urn:microsoft.com/office/officeart/2005/8/layout/hList1"/>
    <dgm:cxn modelId="{87B2F4EA-93A8-48D2-B160-0089DE214C8A}" type="presParOf" srcId="{80B2FC1D-DF12-4FC8-944D-64BC07A0F23F}" destId="{D14E4601-BAEC-44BB-8FAE-6D0483636D91}"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685E8AB-B0EC-4353-B2F7-7CAA69977A09}" type="doc">
      <dgm:prSet loTypeId="urn:microsoft.com/office/officeart/2016/7/layout/RepeatingBendingProcessNew" loCatId="process" qsTypeId="urn:microsoft.com/office/officeart/2005/8/quickstyle/simple5" qsCatId="simple" csTypeId="urn:microsoft.com/office/officeart/2005/8/colors/accent2_2" csCatId="accent2" phldr="1"/>
      <dgm:spPr/>
      <dgm:t>
        <a:bodyPr/>
        <a:lstStyle/>
        <a:p>
          <a:endParaRPr lang="en-US"/>
        </a:p>
      </dgm:t>
    </dgm:pt>
    <dgm:pt modelId="{AC9D4623-650A-4C5C-A8ED-E2A5AE52425D}">
      <dgm:prSet/>
      <dgm:spPr/>
      <dgm:t>
        <a:bodyPr/>
        <a:lstStyle/>
        <a:p>
          <a:r>
            <a:rPr lang="en-US"/>
            <a:t>SQLMap (Open sources SQLi detection tool)</a:t>
          </a:r>
        </a:p>
      </dgm:t>
    </dgm:pt>
    <dgm:pt modelId="{19C10EE4-5CA1-4445-8F51-6DA580799BE8}" type="parTrans" cxnId="{6E5AFA6D-6925-493A-BA55-789ECBA14C6E}">
      <dgm:prSet/>
      <dgm:spPr/>
      <dgm:t>
        <a:bodyPr/>
        <a:lstStyle/>
        <a:p>
          <a:endParaRPr lang="en-US"/>
        </a:p>
      </dgm:t>
    </dgm:pt>
    <dgm:pt modelId="{5B32B97E-0987-49EE-B241-2C8177F05EBF}" type="sibTrans" cxnId="{6E5AFA6D-6925-493A-BA55-789ECBA14C6E}">
      <dgm:prSet/>
      <dgm:spPr/>
      <dgm:t>
        <a:bodyPr/>
        <a:lstStyle/>
        <a:p>
          <a:endParaRPr lang="en-US"/>
        </a:p>
      </dgm:t>
    </dgm:pt>
    <dgm:pt modelId="{7FB75CE6-0678-405C-B44A-DE699939D6A5}">
      <dgm:prSet/>
      <dgm:spPr/>
      <dgm:t>
        <a:bodyPr/>
        <a:lstStyle/>
        <a:p>
          <a:r>
            <a:rPr lang="en-US" dirty="0"/>
            <a:t>Burp Suite (Automated and manual combined)</a:t>
          </a:r>
        </a:p>
      </dgm:t>
    </dgm:pt>
    <dgm:pt modelId="{78732D9C-A713-488D-B185-D405321AD2E0}" type="parTrans" cxnId="{1EDAABA6-7C6E-4672-A937-8EB7E88494C4}">
      <dgm:prSet/>
      <dgm:spPr/>
      <dgm:t>
        <a:bodyPr/>
        <a:lstStyle/>
        <a:p>
          <a:endParaRPr lang="en-US"/>
        </a:p>
      </dgm:t>
    </dgm:pt>
    <dgm:pt modelId="{20C7A1BA-7349-4FDC-AEA1-5F07506F58F4}" type="sibTrans" cxnId="{1EDAABA6-7C6E-4672-A937-8EB7E88494C4}">
      <dgm:prSet/>
      <dgm:spPr/>
      <dgm:t>
        <a:bodyPr/>
        <a:lstStyle/>
        <a:p>
          <a:endParaRPr lang="en-US"/>
        </a:p>
      </dgm:t>
    </dgm:pt>
    <dgm:pt modelId="{74A27126-373A-419D-A311-882201FAF3AD}">
      <dgm:prSet/>
      <dgm:spPr/>
      <dgm:t>
        <a:bodyPr/>
        <a:lstStyle/>
        <a:p>
          <a:r>
            <a:rPr lang="en-US"/>
            <a:t>Havij (GUI ease of use 95% success rate of attack)</a:t>
          </a:r>
        </a:p>
      </dgm:t>
    </dgm:pt>
    <dgm:pt modelId="{B2D3577A-AB3F-4BA1-9B6D-0DF5537DA606}" type="parTrans" cxnId="{C6D04FAF-6A39-4FFD-9135-422073D1B8E0}">
      <dgm:prSet/>
      <dgm:spPr/>
      <dgm:t>
        <a:bodyPr/>
        <a:lstStyle/>
        <a:p>
          <a:endParaRPr lang="en-US"/>
        </a:p>
      </dgm:t>
    </dgm:pt>
    <dgm:pt modelId="{9B6F7A0D-6CC4-4CB6-A6CB-771537EE6BE5}" type="sibTrans" cxnId="{C6D04FAF-6A39-4FFD-9135-422073D1B8E0}">
      <dgm:prSet/>
      <dgm:spPr/>
      <dgm:t>
        <a:bodyPr/>
        <a:lstStyle/>
        <a:p>
          <a:endParaRPr lang="en-US"/>
        </a:p>
      </dgm:t>
    </dgm:pt>
    <dgm:pt modelId="{F2821153-758E-401D-A4AB-AC5BF8302C2F}">
      <dgm:prSet/>
      <dgm:spPr/>
      <dgm:t>
        <a:bodyPr/>
        <a:lstStyle/>
        <a:p>
          <a:r>
            <a:rPr lang="en-US" dirty="0"/>
            <a:t>Imperva (Advanced Reporting and automation)</a:t>
          </a:r>
        </a:p>
      </dgm:t>
    </dgm:pt>
    <dgm:pt modelId="{EDB4D594-A86F-48D0-858E-261C0618285C}" type="parTrans" cxnId="{4387895D-5566-4753-B70C-E74E246A9B44}">
      <dgm:prSet/>
      <dgm:spPr/>
      <dgm:t>
        <a:bodyPr/>
        <a:lstStyle/>
        <a:p>
          <a:endParaRPr lang="en-US"/>
        </a:p>
      </dgm:t>
    </dgm:pt>
    <dgm:pt modelId="{E3D491D0-335D-40D3-8464-DF014D3D9178}" type="sibTrans" cxnId="{4387895D-5566-4753-B70C-E74E246A9B44}">
      <dgm:prSet/>
      <dgm:spPr/>
      <dgm:t>
        <a:bodyPr/>
        <a:lstStyle/>
        <a:p>
          <a:endParaRPr lang="en-US"/>
        </a:p>
      </dgm:t>
    </dgm:pt>
    <dgm:pt modelId="{C12FA37E-7825-42DF-80F2-293498A89F16}">
      <dgm:prSet/>
      <dgm:spPr/>
      <dgm:t>
        <a:bodyPr/>
        <a:lstStyle/>
        <a:p>
          <a:r>
            <a:rPr lang="en-US"/>
            <a:t>SQLi Injection (Java based tool)</a:t>
          </a:r>
        </a:p>
      </dgm:t>
    </dgm:pt>
    <dgm:pt modelId="{77070827-68E4-41A2-821C-8F99E9E202B2}" type="parTrans" cxnId="{0E683CC0-3BB8-418D-BF41-27001EAFDBBF}">
      <dgm:prSet/>
      <dgm:spPr/>
      <dgm:t>
        <a:bodyPr/>
        <a:lstStyle/>
        <a:p>
          <a:endParaRPr lang="en-US"/>
        </a:p>
      </dgm:t>
    </dgm:pt>
    <dgm:pt modelId="{A1AEAA8F-0728-4D2B-B788-C96B226C6D89}" type="sibTrans" cxnId="{0E683CC0-3BB8-418D-BF41-27001EAFDBBF}">
      <dgm:prSet/>
      <dgm:spPr/>
      <dgm:t>
        <a:bodyPr/>
        <a:lstStyle/>
        <a:p>
          <a:endParaRPr lang="en-US"/>
        </a:p>
      </dgm:t>
    </dgm:pt>
    <dgm:pt modelId="{5DC1687A-FAA3-4433-8729-8723A1976F7D}">
      <dgm:prSet/>
      <dgm:spPr/>
      <dgm:t>
        <a:bodyPr/>
        <a:lstStyle/>
        <a:p>
          <a:r>
            <a:rPr lang="en-US"/>
            <a:t>SQLi Tools Mobile Devices</a:t>
          </a:r>
        </a:p>
      </dgm:t>
    </dgm:pt>
    <dgm:pt modelId="{616C498C-BAAF-4F69-B7BE-A6B19C1B8248}" type="parTrans" cxnId="{BED71E16-AF98-410E-A3AE-E9A019961D2A}">
      <dgm:prSet/>
      <dgm:spPr/>
      <dgm:t>
        <a:bodyPr/>
        <a:lstStyle/>
        <a:p>
          <a:endParaRPr lang="en-US"/>
        </a:p>
      </dgm:t>
    </dgm:pt>
    <dgm:pt modelId="{8E684A29-5859-4861-81E0-80F9C46EF824}" type="sibTrans" cxnId="{BED71E16-AF98-410E-A3AE-E9A019961D2A}">
      <dgm:prSet/>
      <dgm:spPr/>
      <dgm:t>
        <a:bodyPr/>
        <a:lstStyle/>
        <a:p>
          <a:endParaRPr lang="en-US"/>
        </a:p>
      </dgm:t>
    </dgm:pt>
    <dgm:pt modelId="{E0D2B226-4D70-4011-8A02-97763E4D68E5}">
      <dgm:prSet/>
      <dgm:spPr/>
      <dgm:t>
        <a:bodyPr/>
        <a:lstStyle/>
        <a:p>
          <a:r>
            <a:rPr lang="en-US"/>
            <a:t>SQLi</a:t>
          </a:r>
        </a:p>
      </dgm:t>
    </dgm:pt>
    <dgm:pt modelId="{F0460F1E-A7BE-4D4F-A94D-0E041F6814D8}" type="parTrans" cxnId="{1FC6149F-D062-46C2-AEDD-BF9CFA10592D}">
      <dgm:prSet/>
      <dgm:spPr/>
      <dgm:t>
        <a:bodyPr/>
        <a:lstStyle/>
        <a:p>
          <a:endParaRPr lang="en-US"/>
        </a:p>
      </dgm:t>
    </dgm:pt>
    <dgm:pt modelId="{EA778D01-AA57-4DB7-8737-421F8269F877}" type="sibTrans" cxnId="{1FC6149F-D062-46C2-AEDD-BF9CFA10592D}">
      <dgm:prSet/>
      <dgm:spPr/>
      <dgm:t>
        <a:bodyPr/>
        <a:lstStyle/>
        <a:p>
          <a:endParaRPr lang="en-US"/>
        </a:p>
      </dgm:t>
    </dgm:pt>
    <dgm:pt modelId="{D206BA80-6AD2-4E14-BE56-D23CC5F9BDBF}" type="pres">
      <dgm:prSet presAssocID="{6685E8AB-B0EC-4353-B2F7-7CAA69977A09}" presName="Name0" presStyleCnt="0">
        <dgm:presLayoutVars>
          <dgm:dir/>
          <dgm:resizeHandles val="exact"/>
        </dgm:presLayoutVars>
      </dgm:prSet>
      <dgm:spPr/>
    </dgm:pt>
    <dgm:pt modelId="{B97F0CAA-57D8-4322-8090-1A569CDC8FD7}" type="pres">
      <dgm:prSet presAssocID="{AC9D4623-650A-4C5C-A8ED-E2A5AE52425D}" presName="node" presStyleLbl="node1" presStyleIdx="0" presStyleCnt="6">
        <dgm:presLayoutVars>
          <dgm:bulletEnabled val="1"/>
        </dgm:presLayoutVars>
      </dgm:prSet>
      <dgm:spPr/>
    </dgm:pt>
    <dgm:pt modelId="{A215DFA3-154F-427F-BF23-079F456CF0B2}" type="pres">
      <dgm:prSet presAssocID="{5B32B97E-0987-49EE-B241-2C8177F05EBF}" presName="sibTrans" presStyleLbl="sibTrans1D1" presStyleIdx="0" presStyleCnt="5"/>
      <dgm:spPr/>
    </dgm:pt>
    <dgm:pt modelId="{5309F038-0B48-43D3-A2E2-0A97C7862E05}" type="pres">
      <dgm:prSet presAssocID="{5B32B97E-0987-49EE-B241-2C8177F05EBF}" presName="connectorText" presStyleLbl="sibTrans1D1" presStyleIdx="0" presStyleCnt="5"/>
      <dgm:spPr/>
    </dgm:pt>
    <dgm:pt modelId="{4CA8967E-D440-4FB5-91B3-D0DC78696C5F}" type="pres">
      <dgm:prSet presAssocID="{7FB75CE6-0678-405C-B44A-DE699939D6A5}" presName="node" presStyleLbl="node1" presStyleIdx="1" presStyleCnt="6">
        <dgm:presLayoutVars>
          <dgm:bulletEnabled val="1"/>
        </dgm:presLayoutVars>
      </dgm:prSet>
      <dgm:spPr/>
    </dgm:pt>
    <dgm:pt modelId="{BF427947-3415-42A6-B675-A40B220DAAC1}" type="pres">
      <dgm:prSet presAssocID="{20C7A1BA-7349-4FDC-AEA1-5F07506F58F4}" presName="sibTrans" presStyleLbl="sibTrans1D1" presStyleIdx="1" presStyleCnt="5"/>
      <dgm:spPr/>
    </dgm:pt>
    <dgm:pt modelId="{DD6C66AE-301E-4863-8803-C58C2FE69198}" type="pres">
      <dgm:prSet presAssocID="{20C7A1BA-7349-4FDC-AEA1-5F07506F58F4}" presName="connectorText" presStyleLbl="sibTrans1D1" presStyleIdx="1" presStyleCnt="5"/>
      <dgm:spPr/>
    </dgm:pt>
    <dgm:pt modelId="{8EC63B4E-C826-40C9-BA7E-4CB8CAB9CE43}" type="pres">
      <dgm:prSet presAssocID="{74A27126-373A-419D-A311-882201FAF3AD}" presName="node" presStyleLbl="node1" presStyleIdx="2" presStyleCnt="6">
        <dgm:presLayoutVars>
          <dgm:bulletEnabled val="1"/>
        </dgm:presLayoutVars>
      </dgm:prSet>
      <dgm:spPr/>
    </dgm:pt>
    <dgm:pt modelId="{6B8C72B9-9388-4F90-8CC4-8E1F0666E122}" type="pres">
      <dgm:prSet presAssocID="{9B6F7A0D-6CC4-4CB6-A6CB-771537EE6BE5}" presName="sibTrans" presStyleLbl="sibTrans1D1" presStyleIdx="2" presStyleCnt="5"/>
      <dgm:spPr/>
    </dgm:pt>
    <dgm:pt modelId="{9B900BDA-5960-496E-8083-F12FA6732ECB}" type="pres">
      <dgm:prSet presAssocID="{9B6F7A0D-6CC4-4CB6-A6CB-771537EE6BE5}" presName="connectorText" presStyleLbl="sibTrans1D1" presStyleIdx="2" presStyleCnt="5"/>
      <dgm:spPr/>
    </dgm:pt>
    <dgm:pt modelId="{C6901582-3D0E-4235-BEF7-D71AFC5B2977}" type="pres">
      <dgm:prSet presAssocID="{F2821153-758E-401D-A4AB-AC5BF8302C2F}" presName="node" presStyleLbl="node1" presStyleIdx="3" presStyleCnt="6">
        <dgm:presLayoutVars>
          <dgm:bulletEnabled val="1"/>
        </dgm:presLayoutVars>
      </dgm:prSet>
      <dgm:spPr/>
    </dgm:pt>
    <dgm:pt modelId="{B352F6EC-6BCF-4E80-8753-215BFC2CC649}" type="pres">
      <dgm:prSet presAssocID="{E3D491D0-335D-40D3-8464-DF014D3D9178}" presName="sibTrans" presStyleLbl="sibTrans1D1" presStyleIdx="3" presStyleCnt="5"/>
      <dgm:spPr/>
    </dgm:pt>
    <dgm:pt modelId="{D43407D5-6CB7-4B1C-B8D1-9AB5FAEC5762}" type="pres">
      <dgm:prSet presAssocID="{E3D491D0-335D-40D3-8464-DF014D3D9178}" presName="connectorText" presStyleLbl="sibTrans1D1" presStyleIdx="3" presStyleCnt="5"/>
      <dgm:spPr/>
    </dgm:pt>
    <dgm:pt modelId="{890AF5CC-D192-4E24-A285-78C2C2FE4585}" type="pres">
      <dgm:prSet presAssocID="{C12FA37E-7825-42DF-80F2-293498A89F16}" presName="node" presStyleLbl="node1" presStyleIdx="4" presStyleCnt="6">
        <dgm:presLayoutVars>
          <dgm:bulletEnabled val="1"/>
        </dgm:presLayoutVars>
      </dgm:prSet>
      <dgm:spPr/>
    </dgm:pt>
    <dgm:pt modelId="{912E5431-02D1-4400-B22E-FABE1FAE72DD}" type="pres">
      <dgm:prSet presAssocID="{A1AEAA8F-0728-4D2B-B788-C96B226C6D89}" presName="sibTrans" presStyleLbl="sibTrans1D1" presStyleIdx="4" presStyleCnt="5"/>
      <dgm:spPr/>
    </dgm:pt>
    <dgm:pt modelId="{6894B1C8-9F1F-43D7-A80B-59358B4F9297}" type="pres">
      <dgm:prSet presAssocID="{A1AEAA8F-0728-4D2B-B788-C96B226C6D89}" presName="connectorText" presStyleLbl="sibTrans1D1" presStyleIdx="4" presStyleCnt="5"/>
      <dgm:spPr/>
    </dgm:pt>
    <dgm:pt modelId="{4CD502D9-AA72-40FA-860A-563B1870078B}" type="pres">
      <dgm:prSet presAssocID="{5DC1687A-FAA3-4433-8729-8723A1976F7D}" presName="node" presStyleLbl="node1" presStyleIdx="5" presStyleCnt="6">
        <dgm:presLayoutVars>
          <dgm:bulletEnabled val="1"/>
        </dgm:presLayoutVars>
      </dgm:prSet>
      <dgm:spPr/>
    </dgm:pt>
  </dgm:ptLst>
  <dgm:cxnLst>
    <dgm:cxn modelId="{D3DEBB0E-F60E-4A91-9CB2-561183892FC5}" type="presOf" srcId="{E3D491D0-335D-40D3-8464-DF014D3D9178}" destId="{B352F6EC-6BCF-4E80-8753-215BFC2CC649}" srcOrd="0" destOrd="0" presId="urn:microsoft.com/office/officeart/2016/7/layout/RepeatingBendingProcessNew"/>
    <dgm:cxn modelId="{BED71E16-AF98-410E-A3AE-E9A019961D2A}" srcId="{6685E8AB-B0EC-4353-B2F7-7CAA69977A09}" destId="{5DC1687A-FAA3-4433-8729-8723A1976F7D}" srcOrd="5" destOrd="0" parTransId="{616C498C-BAAF-4F69-B7BE-A6B19C1B8248}" sibTransId="{8E684A29-5859-4861-81E0-80F9C46EF824}"/>
    <dgm:cxn modelId="{A6EE1F1D-019B-418D-983A-3BD335632C4E}" type="presOf" srcId="{7FB75CE6-0678-405C-B44A-DE699939D6A5}" destId="{4CA8967E-D440-4FB5-91B3-D0DC78696C5F}" srcOrd="0" destOrd="0" presId="urn:microsoft.com/office/officeart/2016/7/layout/RepeatingBendingProcessNew"/>
    <dgm:cxn modelId="{11D95D32-5749-4D05-A820-B8E31AC0DFAD}" type="presOf" srcId="{6685E8AB-B0EC-4353-B2F7-7CAA69977A09}" destId="{D206BA80-6AD2-4E14-BE56-D23CC5F9BDBF}" srcOrd="0" destOrd="0" presId="urn:microsoft.com/office/officeart/2016/7/layout/RepeatingBendingProcessNew"/>
    <dgm:cxn modelId="{05209736-B674-449B-8FE8-DA79A6D3A4B3}" type="presOf" srcId="{C12FA37E-7825-42DF-80F2-293498A89F16}" destId="{890AF5CC-D192-4E24-A285-78C2C2FE4585}" srcOrd="0" destOrd="0" presId="urn:microsoft.com/office/officeart/2016/7/layout/RepeatingBendingProcessNew"/>
    <dgm:cxn modelId="{2321893C-12CE-4C70-8F64-F12CD1EC55A1}" type="presOf" srcId="{9B6F7A0D-6CC4-4CB6-A6CB-771537EE6BE5}" destId="{6B8C72B9-9388-4F90-8CC4-8E1F0666E122}" srcOrd="0" destOrd="0" presId="urn:microsoft.com/office/officeart/2016/7/layout/RepeatingBendingProcessNew"/>
    <dgm:cxn modelId="{0D30BF3F-193E-4723-B009-A320312B529C}" type="presOf" srcId="{5B32B97E-0987-49EE-B241-2C8177F05EBF}" destId="{A215DFA3-154F-427F-BF23-079F456CF0B2}" srcOrd="0" destOrd="0" presId="urn:microsoft.com/office/officeart/2016/7/layout/RepeatingBendingProcessNew"/>
    <dgm:cxn modelId="{4387895D-5566-4753-B70C-E74E246A9B44}" srcId="{6685E8AB-B0EC-4353-B2F7-7CAA69977A09}" destId="{F2821153-758E-401D-A4AB-AC5BF8302C2F}" srcOrd="3" destOrd="0" parTransId="{EDB4D594-A86F-48D0-858E-261C0618285C}" sibTransId="{E3D491D0-335D-40D3-8464-DF014D3D9178}"/>
    <dgm:cxn modelId="{4B7ECD67-B2D2-494E-A9DA-15AD196305D0}" type="presOf" srcId="{E3D491D0-335D-40D3-8464-DF014D3D9178}" destId="{D43407D5-6CB7-4B1C-B8D1-9AB5FAEC5762}" srcOrd="1" destOrd="0" presId="urn:microsoft.com/office/officeart/2016/7/layout/RepeatingBendingProcessNew"/>
    <dgm:cxn modelId="{6E5AFA6D-6925-493A-BA55-789ECBA14C6E}" srcId="{6685E8AB-B0EC-4353-B2F7-7CAA69977A09}" destId="{AC9D4623-650A-4C5C-A8ED-E2A5AE52425D}" srcOrd="0" destOrd="0" parTransId="{19C10EE4-5CA1-4445-8F51-6DA580799BE8}" sibTransId="{5B32B97E-0987-49EE-B241-2C8177F05EBF}"/>
    <dgm:cxn modelId="{4BEFA74E-0277-42DB-809B-4A796E544A25}" type="presOf" srcId="{AC9D4623-650A-4C5C-A8ED-E2A5AE52425D}" destId="{B97F0CAA-57D8-4322-8090-1A569CDC8FD7}" srcOrd="0" destOrd="0" presId="urn:microsoft.com/office/officeart/2016/7/layout/RepeatingBendingProcessNew"/>
    <dgm:cxn modelId="{30935170-FF1E-45C1-9F28-3B2189A1185E}" type="presOf" srcId="{A1AEAA8F-0728-4D2B-B788-C96B226C6D89}" destId="{912E5431-02D1-4400-B22E-FABE1FAE72DD}" srcOrd="0" destOrd="0" presId="urn:microsoft.com/office/officeart/2016/7/layout/RepeatingBendingProcessNew"/>
    <dgm:cxn modelId="{0994BD56-4F73-4F10-A9CD-118447C61FDB}" type="presOf" srcId="{5DC1687A-FAA3-4433-8729-8723A1976F7D}" destId="{4CD502D9-AA72-40FA-860A-563B1870078B}" srcOrd="0" destOrd="0" presId="urn:microsoft.com/office/officeart/2016/7/layout/RepeatingBendingProcessNew"/>
    <dgm:cxn modelId="{E6176E7E-45D6-4079-A273-0D9866F62666}" type="presOf" srcId="{9B6F7A0D-6CC4-4CB6-A6CB-771537EE6BE5}" destId="{9B900BDA-5960-496E-8083-F12FA6732ECB}" srcOrd="1" destOrd="0" presId="urn:microsoft.com/office/officeart/2016/7/layout/RepeatingBendingProcessNew"/>
    <dgm:cxn modelId="{1742D587-9F19-4DCF-BE62-BF899513A4CF}" type="presOf" srcId="{20C7A1BA-7349-4FDC-AEA1-5F07506F58F4}" destId="{BF427947-3415-42A6-B675-A40B220DAAC1}" srcOrd="0" destOrd="0" presId="urn:microsoft.com/office/officeart/2016/7/layout/RepeatingBendingProcessNew"/>
    <dgm:cxn modelId="{66C03596-B58C-4267-9326-42389E1F38A1}" type="presOf" srcId="{F2821153-758E-401D-A4AB-AC5BF8302C2F}" destId="{C6901582-3D0E-4235-BEF7-D71AFC5B2977}" srcOrd="0" destOrd="0" presId="urn:microsoft.com/office/officeart/2016/7/layout/RepeatingBendingProcessNew"/>
    <dgm:cxn modelId="{BEBB7697-333F-4E56-AB06-FEF839157A11}" type="presOf" srcId="{A1AEAA8F-0728-4D2B-B788-C96B226C6D89}" destId="{6894B1C8-9F1F-43D7-A80B-59358B4F9297}" srcOrd="1" destOrd="0" presId="urn:microsoft.com/office/officeart/2016/7/layout/RepeatingBendingProcessNew"/>
    <dgm:cxn modelId="{1FC6149F-D062-46C2-AEDD-BF9CFA10592D}" srcId="{5DC1687A-FAA3-4433-8729-8723A1976F7D}" destId="{E0D2B226-4D70-4011-8A02-97763E4D68E5}" srcOrd="0" destOrd="0" parTransId="{F0460F1E-A7BE-4D4F-A94D-0E041F6814D8}" sibTransId="{EA778D01-AA57-4DB7-8737-421F8269F877}"/>
    <dgm:cxn modelId="{1EDAABA6-7C6E-4672-A937-8EB7E88494C4}" srcId="{6685E8AB-B0EC-4353-B2F7-7CAA69977A09}" destId="{7FB75CE6-0678-405C-B44A-DE699939D6A5}" srcOrd="1" destOrd="0" parTransId="{78732D9C-A713-488D-B185-D405321AD2E0}" sibTransId="{20C7A1BA-7349-4FDC-AEA1-5F07506F58F4}"/>
    <dgm:cxn modelId="{EC813FAB-5A90-46B2-97B4-5A93CE126430}" type="presOf" srcId="{20C7A1BA-7349-4FDC-AEA1-5F07506F58F4}" destId="{DD6C66AE-301E-4863-8803-C58C2FE69198}" srcOrd="1" destOrd="0" presId="urn:microsoft.com/office/officeart/2016/7/layout/RepeatingBendingProcessNew"/>
    <dgm:cxn modelId="{C6D04FAF-6A39-4FFD-9135-422073D1B8E0}" srcId="{6685E8AB-B0EC-4353-B2F7-7CAA69977A09}" destId="{74A27126-373A-419D-A311-882201FAF3AD}" srcOrd="2" destOrd="0" parTransId="{B2D3577A-AB3F-4BA1-9B6D-0DF5537DA606}" sibTransId="{9B6F7A0D-6CC4-4CB6-A6CB-771537EE6BE5}"/>
    <dgm:cxn modelId="{845A11B5-BB1E-4F9F-852F-52638F9170C1}" type="presOf" srcId="{5B32B97E-0987-49EE-B241-2C8177F05EBF}" destId="{5309F038-0B48-43D3-A2E2-0A97C7862E05}" srcOrd="1" destOrd="0" presId="urn:microsoft.com/office/officeart/2016/7/layout/RepeatingBendingProcessNew"/>
    <dgm:cxn modelId="{0E683CC0-3BB8-418D-BF41-27001EAFDBBF}" srcId="{6685E8AB-B0EC-4353-B2F7-7CAA69977A09}" destId="{C12FA37E-7825-42DF-80F2-293498A89F16}" srcOrd="4" destOrd="0" parTransId="{77070827-68E4-41A2-821C-8F99E9E202B2}" sibTransId="{A1AEAA8F-0728-4D2B-B788-C96B226C6D89}"/>
    <dgm:cxn modelId="{F40251C3-D920-46E2-A69E-96DF0DA8195E}" type="presOf" srcId="{E0D2B226-4D70-4011-8A02-97763E4D68E5}" destId="{4CD502D9-AA72-40FA-860A-563B1870078B}" srcOrd="0" destOrd="1" presId="urn:microsoft.com/office/officeart/2016/7/layout/RepeatingBendingProcessNew"/>
    <dgm:cxn modelId="{33817ACE-E3DD-4454-9735-ACA271E62411}" type="presOf" srcId="{74A27126-373A-419D-A311-882201FAF3AD}" destId="{8EC63B4E-C826-40C9-BA7E-4CB8CAB9CE43}" srcOrd="0" destOrd="0" presId="urn:microsoft.com/office/officeart/2016/7/layout/RepeatingBendingProcessNew"/>
    <dgm:cxn modelId="{8818C8E2-1279-41E0-860A-3285F895864A}" type="presParOf" srcId="{D206BA80-6AD2-4E14-BE56-D23CC5F9BDBF}" destId="{B97F0CAA-57D8-4322-8090-1A569CDC8FD7}" srcOrd="0" destOrd="0" presId="urn:microsoft.com/office/officeart/2016/7/layout/RepeatingBendingProcessNew"/>
    <dgm:cxn modelId="{FD6CDD4C-21FA-49A6-8C58-11C2EAE8E03A}" type="presParOf" srcId="{D206BA80-6AD2-4E14-BE56-D23CC5F9BDBF}" destId="{A215DFA3-154F-427F-BF23-079F456CF0B2}" srcOrd="1" destOrd="0" presId="urn:microsoft.com/office/officeart/2016/7/layout/RepeatingBendingProcessNew"/>
    <dgm:cxn modelId="{065F0D0F-2C1D-4954-855C-068CD43CC838}" type="presParOf" srcId="{A215DFA3-154F-427F-BF23-079F456CF0B2}" destId="{5309F038-0B48-43D3-A2E2-0A97C7862E05}" srcOrd="0" destOrd="0" presId="urn:microsoft.com/office/officeart/2016/7/layout/RepeatingBendingProcessNew"/>
    <dgm:cxn modelId="{0B1D1EAB-AE7F-4557-A800-613252C0ED86}" type="presParOf" srcId="{D206BA80-6AD2-4E14-BE56-D23CC5F9BDBF}" destId="{4CA8967E-D440-4FB5-91B3-D0DC78696C5F}" srcOrd="2" destOrd="0" presId="urn:microsoft.com/office/officeart/2016/7/layout/RepeatingBendingProcessNew"/>
    <dgm:cxn modelId="{886B01A2-3E85-4B71-9468-2BF86394DD06}" type="presParOf" srcId="{D206BA80-6AD2-4E14-BE56-D23CC5F9BDBF}" destId="{BF427947-3415-42A6-B675-A40B220DAAC1}" srcOrd="3" destOrd="0" presId="urn:microsoft.com/office/officeart/2016/7/layout/RepeatingBendingProcessNew"/>
    <dgm:cxn modelId="{145DFA3B-2828-49A9-AE02-4ADFDA17B39F}" type="presParOf" srcId="{BF427947-3415-42A6-B675-A40B220DAAC1}" destId="{DD6C66AE-301E-4863-8803-C58C2FE69198}" srcOrd="0" destOrd="0" presId="urn:microsoft.com/office/officeart/2016/7/layout/RepeatingBendingProcessNew"/>
    <dgm:cxn modelId="{3DA1D7F1-8A08-4E9F-9700-C6712F2553E7}" type="presParOf" srcId="{D206BA80-6AD2-4E14-BE56-D23CC5F9BDBF}" destId="{8EC63B4E-C826-40C9-BA7E-4CB8CAB9CE43}" srcOrd="4" destOrd="0" presId="urn:microsoft.com/office/officeart/2016/7/layout/RepeatingBendingProcessNew"/>
    <dgm:cxn modelId="{29E73343-3FE9-4EAE-84BA-F512E08E909D}" type="presParOf" srcId="{D206BA80-6AD2-4E14-BE56-D23CC5F9BDBF}" destId="{6B8C72B9-9388-4F90-8CC4-8E1F0666E122}" srcOrd="5" destOrd="0" presId="urn:microsoft.com/office/officeart/2016/7/layout/RepeatingBendingProcessNew"/>
    <dgm:cxn modelId="{63AB347E-CD66-400B-AD65-51D551526167}" type="presParOf" srcId="{6B8C72B9-9388-4F90-8CC4-8E1F0666E122}" destId="{9B900BDA-5960-496E-8083-F12FA6732ECB}" srcOrd="0" destOrd="0" presId="urn:microsoft.com/office/officeart/2016/7/layout/RepeatingBendingProcessNew"/>
    <dgm:cxn modelId="{E2DF2239-18C6-4D95-87EA-9B648435063C}" type="presParOf" srcId="{D206BA80-6AD2-4E14-BE56-D23CC5F9BDBF}" destId="{C6901582-3D0E-4235-BEF7-D71AFC5B2977}" srcOrd="6" destOrd="0" presId="urn:microsoft.com/office/officeart/2016/7/layout/RepeatingBendingProcessNew"/>
    <dgm:cxn modelId="{F88EF6B7-5E58-4CAF-8EDA-CB5268F30A6A}" type="presParOf" srcId="{D206BA80-6AD2-4E14-BE56-D23CC5F9BDBF}" destId="{B352F6EC-6BCF-4E80-8753-215BFC2CC649}" srcOrd="7" destOrd="0" presId="urn:microsoft.com/office/officeart/2016/7/layout/RepeatingBendingProcessNew"/>
    <dgm:cxn modelId="{4314F12C-81B4-4668-B061-E89398D631BA}" type="presParOf" srcId="{B352F6EC-6BCF-4E80-8753-215BFC2CC649}" destId="{D43407D5-6CB7-4B1C-B8D1-9AB5FAEC5762}" srcOrd="0" destOrd="0" presId="urn:microsoft.com/office/officeart/2016/7/layout/RepeatingBendingProcessNew"/>
    <dgm:cxn modelId="{AA2A299A-3452-4CB0-87AD-9960256F5B14}" type="presParOf" srcId="{D206BA80-6AD2-4E14-BE56-D23CC5F9BDBF}" destId="{890AF5CC-D192-4E24-A285-78C2C2FE4585}" srcOrd="8" destOrd="0" presId="urn:microsoft.com/office/officeart/2016/7/layout/RepeatingBendingProcessNew"/>
    <dgm:cxn modelId="{F209BBB7-007B-40B0-938F-1E4D2E42F5D5}" type="presParOf" srcId="{D206BA80-6AD2-4E14-BE56-D23CC5F9BDBF}" destId="{912E5431-02D1-4400-B22E-FABE1FAE72DD}" srcOrd="9" destOrd="0" presId="urn:microsoft.com/office/officeart/2016/7/layout/RepeatingBendingProcessNew"/>
    <dgm:cxn modelId="{BEFFEA94-1ADF-4079-B677-9D653E2F3132}" type="presParOf" srcId="{912E5431-02D1-4400-B22E-FABE1FAE72DD}" destId="{6894B1C8-9F1F-43D7-A80B-59358B4F9297}" srcOrd="0" destOrd="0" presId="urn:microsoft.com/office/officeart/2016/7/layout/RepeatingBendingProcessNew"/>
    <dgm:cxn modelId="{B31C4627-A8E6-440E-BF54-E0B41F788F24}" type="presParOf" srcId="{D206BA80-6AD2-4E14-BE56-D23CC5F9BDBF}" destId="{4CD502D9-AA72-40FA-860A-563B1870078B}"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4A4861F-891C-4B8E-A1BF-335F0416A090}" type="doc">
      <dgm:prSet loTypeId="urn:microsoft.com/office/officeart/2005/8/layout/default" loCatId="list" qsTypeId="urn:microsoft.com/office/officeart/2005/8/quickstyle/simple2" qsCatId="simple" csTypeId="urn:microsoft.com/office/officeart/2005/8/colors/colorful1" csCatId="colorful" phldr="1"/>
      <dgm:spPr/>
      <dgm:t>
        <a:bodyPr/>
        <a:lstStyle/>
        <a:p>
          <a:endParaRPr lang="en-US"/>
        </a:p>
      </dgm:t>
    </dgm:pt>
    <dgm:pt modelId="{5BA098E4-4FF3-4A16-BEE7-04CEB721A758}">
      <dgm:prSet custT="1"/>
      <dgm:spPr/>
      <dgm:t>
        <a:bodyPr/>
        <a:lstStyle/>
        <a:p>
          <a:r>
            <a:rPr lang="en-US" sz="2000" b="1"/>
            <a:t>OWASP ZAP (https://www.owasp.org)</a:t>
          </a:r>
        </a:p>
      </dgm:t>
    </dgm:pt>
    <dgm:pt modelId="{3B3F4397-BD1E-4591-8560-802FBBD2816D}" type="parTrans" cxnId="{A63FDD91-49E1-47D1-B1FC-E2D26383057A}">
      <dgm:prSet/>
      <dgm:spPr/>
      <dgm:t>
        <a:bodyPr/>
        <a:lstStyle/>
        <a:p>
          <a:endParaRPr lang="en-US"/>
        </a:p>
      </dgm:t>
    </dgm:pt>
    <dgm:pt modelId="{39CE914B-D27A-4E65-9774-24C738D618EF}" type="sibTrans" cxnId="{A63FDD91-49E1-47D1-B1FC-E2D26383057A}">
      <dgm:prSet/>
      <dgm:spPr/>
      <dgm:t>
        <a:bodyPr/>
        <a:lstStyle/>
        <a:p>
          <a:endParaRPr lang="en-US"/>
        </a:p>
      </dgm:t>
    </dgm:pt>
    <dgm:pt modelId="{1108A7F1-239A-435F-BBE3-C1184946E696}">
      <dgm:prSet custT="1"/>
      <dgm:spPr/>
      <dgm:t>
        <a:bodyPr/>
        <a:lstStyle/>
        <a:p>
          <a:r>
            <a:rPr lang="en-US" sz="2000" b="1"/>
            <a:t>Damn Small SQLi Scanner(DSSS) (https://github.com) </a:t>
          </a:r>
        </a:p>
      </dgm:t>
    </dgm:pt>
    <dgm:pt modelId="{673AAB67-E95A-4DAC-B59F-0D5C534B85E6}" type="parTrans" cxnId="{6FCF7633-B4D7-4DA1-9A78-BA61593EF061}">
      <dgm:prSet/>
      <dgm:spPr/>
      <dgm:t>
        <a:bodyPr/>
        <a:lstStyle/>
        <a:p>
          <a:endParaRPr lang="en-US"/>
        </a:p>
      </dgm:t>
    </dgm:pt>
    <dgm:pt modelId="{21EB11B4-C6F6-4AF2-B482-DE1A10639D13}" type="sibTrans" cxnId="{6FCF7633-B4D7-4DA1-9A78-BA61593EF061}">
      <dgm:prSet/>
      <dgm:spPr/>
      <dgm:t>
        <a:bodyPr/>
        <a:lstStyle/>
        <a:p>
          <a:endParaRPr lang="en-US"/>
        </a:p>
      </dgm:t>
    </dgm:pt>
    <dgm:pt modelId="{530FF06F-8670-4A27-88FB-A490D6B73560}">
      <dgm:prSet custT="1"/>
      <dgm:spPr/>
      <dgm:t>
        <a:bodyPr/>
        <a:lstStyle/>
        <a:p>
          <a:r>
            <a:rPr lang="en-US" sz="2000" b="1"/>
            <a:t>Snort (https://snort.org)</a:t>
          </a:r>
        </a:p>
      </dgm:t>
    </dgm:pt>
    <dgm:pt modelId="{727EAB2F-A1A0-4958-BC45-FD4A72B850AA}" type="parTrans" cxnId="{8AD5BEB8-6EC1-4006-B545-420445A2B7C2}">
      <dgm:prSet/>
      <dgm:spPr/>
      <dgm:t>
        <a:bodyPr/>
        <a:lstStyle/>
        <a:p>
          <a:endParaRPr lang="en-US"/>
        </a:p>
      </dgm:t>
    </dgm:pt>
    <dgm:pt modelId="{0D57BC7D-61E2-4158-A804-B798E8B0FA86}" type="sibTrans" cxnId="{8AD5BEB8-6EC1-4006-B545-420445A2B7C2}">
      <dgm:prSet/>
      <dgm:spPr/>
      <dgm:t>
        <a:bodyPr/>
        <a:lstStyle/>
        <a:p>
          <a:endParaRPr lang="en-US"/>
        </a:p>
      </dgm:t>
    </dgm:pt>
    <dgm:pt modelId="{A7DEFDB0-3D97-499E-9610-2AC139ABADF1}">
      <dgm:prSet custT="1"/>
      <dgm:spPr/>
      <dgm:t>
        <a:bodyPr/>
        <a:lstStyle/>
        <a:p>
          <a:r>
            <a:rPr lang="en-US" sz="2000" b="1"/>
            <a:t>Burp Suite (https://www.portswigger.net)</a:t>
          </a:r>
        </a:p>
      </dgm:t>
    </dgm:pt>
    <dgm:pt modelId="{F033B182-F4C7-465D-A732-1CF21FE601AD}" type="parTrans" cxnId="{C944B6C1-26C6-4644-81C7-CDE1384A4E2B}">
      <dgm:prSet/>
      <dgm:spPr/>
      <dgm:t>
        <a:bodyPr/>
        <a:lstStyle/>
        <a:p>
          <a:endParaRPr lang="en-US"/>
        </a:p>
      </dgm:t>
    </dgm:pt>
    <dgm:pt modelId="{65325B4A-51AE-459A-85EC-9C9BDE25F575}" type="sibTrans" cxnId="{C944B6C1-26C6-4644-81C7-CDE1384A4E2B}">
      <dgm:prSet/>
      <dgm:spPr/>
      <dgm:t>
        <a:bodyPr/>
        <a:lstStyle/>
        <a:p>
          <a:endParaRPr lang="en-US"/>
        </a:p>
      </dgm:t>
    </dgm:pt>
    <dgm:pt modelId="{0D6D7C58-2148-43E4-9E7B-B473FA3A8AC8}">
      <dgm:prSet custT="1"/>
      <dgm:spPr/>
      <dgm:t>
        <a:bodyPr/>
        <a:lstStyle/>
        <a:p>
          <a:r>
            <a:rPr lang="en-US" sz="2000" b="1" dirty="0"/>
            <a:t>SolarWinds® Log &amp; Event Manager (https://</a:t>
          </a:r>
          <a:r>
            <a:rPr lang="en-US" sz="2000" b="1" dirty="0" err="1"/>
            <a:t>www.solarwinds.com</a:t>
          </a:r>
          <a:r>
            <a:rPr lang="en-US" sz="2000" b="1" dirty="0"/>
            <a:t>)</a:t>
          </a:r>
        </a:p>
      </dgm:t>
    </dgm:pt>
    <dgm:pt modelId="{32B1A4D6-9A0C-4460-B0DE-6A111A00A2CD}" type="parTrans" cxnId="{CD923BCE-713C-4B82-9AC2-5C7CAC4367BD}">
      <dgm:prSet/>
      <dgm:spPr/>
      <dgm:t>
        <a:bodyPr/>
        <a:lstStyle/>
        <a:p>
          <a:endParaRPr lang="en-US"/>
        </a:p>
      </dgm:t>
    </dgm:pt>
    <dgm:pt modelId="{E5A5C8F2-31C4-42E7-AA66-6EF8AB0F5A1D}" type="sibTrans" cxnId="{CD923BCE-713C-4B82-9AC2-5C7CAC4367BD}">
      <dgm:prSet/>
      <dgm:spPr/>
      <dgm:t>
        <a:bodyPr/>
        <a:lstStyle/>
        <a:p>
          <a:endParaRPr lang="en-US"/>
        </a:p>
      </dgm:t>
    </dgm:pt>
    <dgm:pt modelId="{14612972-39EF-48FE-A05B-49B580679B25}">
      <dgm:prSet custT="1"/>
      <dgm:spPr/>
      <dgm:t>
        <a:bodyPr/>
        <a:lstStyle/>
        <a:p>
          <a:r>
            <a:rPr lang="en-US" sz="2000" b="1" dirty="0"/>
            <a:t>AlienVault USM (https://</a:t>
          </a:r>
          <a:r>
            <a:rPr lang="en-US" sz="2000" b="1" dirty="0" err="1"/>
            <a:t>www.alienvault.com</a:t>
          </a:r>
          <a:r>
            <a:rPr lang="en-US" sz="2000" b="1" dirty="0"/>
            <a:t>) </a:t>
          </a:r>
        </a:p>
      </dgm:t>
    </dgm:pt>
    <dgm:pt modelId="{49BF8A99-4E3A-4CCA-A0CB-7FF0F96530B4}" type="parTrans" cxnId="{B0B0428C-F40D-47E8-83DF-5DB639DFF861}">
      <dgm:prSet/>
      <dgm:spPr/>
      <dgm:t>
        <a:bodyPr/>
        <a:lstStyle/>
        <a:p>
          <a:endParaRPr lang="en-US"/>
        </a:p>
      </dgm:t>
    </dgm:pt>
    <dgm:pt modelId="{4DA7671D-731B-4DFA-8B82-879990870757}" type="sibTrans" cxnId="{B0B0428C-F40D-47E8-83DF-5DB639DFF861}">
      <dgm:prSet/>
      <dgm:spPr/>
      <dgm:t>
        <a:bodyPr/>
        <a:lstStyle/>
        <a:p>
          <a:endParaRPr lang="en-US"/>
        </a:p>
      </dgm:t>
    </dgm:pt>
    <dgm:pt modelId="{4BB99EF7-B414-444A-A5B0-3894990EDFE9}" type="pres">
      <dgm:prSet presAssocID="{84A4861F-891C-4B8E-A1BF-335F0416A090}" presName="diagram" presStyleCnt="0">
        <dgm:presLayoutVars>
          <dgm:dir/>
          <dgm:resizeHandles val="exact"/>
        </dgm:presLayoutVars>
      </dgm:prSet>
      <dgm:spPr/>
    </dgm:pt>
    <dgm:pt modelId="{6D4A4403-A0DF-4B41-8F5E-E0330DBB5B55}" type="pres">
      <dgm:prSet presAssocID="{5BA098E4-4FF3-4A16-BEE7-04CEB721A758}" presName="node" presStyleLbl="node1" presStyleIdx="0" presStyleCnt="6">
        <dgm:presLayoutVars>
          <dgm:bulletEnabled val="1"/>
        </dgm:presLayoutVars>
      </dgm:prSet>
      <dgm:spPr/>
    </dgm:pt>
    <dgm:pt modelId="{F898B45D-75A6-402D-B128-9F6BAE52295A}" type="pres">
      <dgm:prSet presAssocID="{39CE914B-D27A-4E65-9774-24C738D618EF}" presName="sibTrans" presStyleCnt="0"/>
      <dgm:spPr/>
    </dgm:pt>
    <dgm:pt modelId="{F26041FB-47D0-4E66-AC7A-002EFCB169DD}" type="pres">
      <dgm:prSet presAssocID="{1108A7F1-239A-435F-BBE3-C1184946E696}" presName="node" presStyleLbl="node1" presStyleIdx="1" presStyleCnt="6">
        <dgm:presLayoutVars>
          <dgm:bulletEnabled val="1"/>
        </dgm:presLayoutVars>
      </dgm:prSet>
      <dgm:spPr/>
    </dgm:pt>
    <dgm:pt modelId="{1552B191-AADF-42FE-A255-8884B4EF3B86}" type="pres">
      <dgm:prSet presAssocID="{21EB11B4-C6F6-4AF2-B482-DE1A10639D13}" presName="sibTrans" presStyleCnt="0"/>
      <dgm:spPr/>
    </dgm:pt>
    <dgm:pt modelId="{B4B6F15D-CE2D-417E-A1BA-E319A6F07814}" type="pres">
      <dgm:prSet presAssocID="{530FF06F-8670-4A27-88FB-A490D6B73560}" presName="node" presStyleLbl="node1" presStyleIdx="2" presStyleCnt="6">
        <dgm:presLayoutVars>
          <dgm:bulletEnabled val="1"/>
        </dgm:presLayoutVars>
      </dgm:prSet>
      <dgm:spPr/>
    </dgm:pt>
    <dgm:pt modelId="{76B88E06-A9FD-43DE-97BB-16AAB4342E95}" type="pres">
      <dgm:prSet presAssocID="{0D57BC7D-61E2-4158-A804-B798E8B0FA86}" presName="sibTrans" presStyleCnt="0"/>
      <dgm:spPr/>
    </dgm:pt>
    <dgm:pt modelId="{BB6D5494-A00E-4B69-951D-5077B462C475}" type="pres">
      <dgm:prSet presAssocID="{A7DEFDB0-3D97-499E-9610-2AC139ABADF1}" presName="node" presStyleLbl="node1" presStyleIdx="3" presStyleCnt="6">
        <dgm:presLayoutVars>
          <dgm:bulletEnabled val="1"/>
        </dgm:presLayoutVars>
      </dgm:prSet>
      <dgm:spPr/>
    </dgm:pt>
    <dgm:pt modelId="{0B54A0AD-9C2C-4671-87F0-6698710E27A6}" type="pres">
      <dgm:prSet presAssocID="{65325B4A-51AE-459A-85EC-9C9BDE25F575}" presName="sibTrans" presStyleCnt="0"/>
      <dgm:spPr/>
    </dgm:pt>
    <dgm:pt modelId="{B711595C-B0E8-4728-B1CA-80C31582049F}" type="pres">
      <dgm:prSet presAssocID="{0D6D7C58-2148-43E4-9E7B-B473FA3A8AC8}" presName="node" presStyleLbl="node1" presStyleIdx="4" presStyleCnt="6">
        <dgm:presLayoutVars>
          <dgm:bulletEnabled val="1"/>
        </dgm:presLayoutVars>
      </dgm:prSet>
      <dgm:spPr/>
    </dgm:pt>
    <dgm:pt modelId="{523FBE5C-E7E9-41CB-97E6-22ED54366734}" type="pres">
      <dgm:prSet presAssocID="{E5A5C8F2-31C4-42E7-AA66-6EF8AB0F5A1D}" presName="sibTrans" presStyleCnt="0"/>
      <dgm:spPr/>
    </dgm:pt>
    <dgm:pt modelId="{66DA979C-135A-43EF-A65B-45EFBBA9A196}" type="pres">
      <dgm:prSet presAssocID="{14612972-39EF-48FE-A05B-49B580679B25}" presName="node" presStyleLbl="node1" presStyleIdx="5" presStyleCnt="6">
        <dgm:presLayoutVars>
          <dgm:bulletEnabled val="1"/>
        </dgm:presLayoutVars>
      </dgm:prSet>
      <dgm:spPr/>
    </dgm:pt>
  </dgm:ptLst>
  <dgm:cxnLst>
    <dgm:cxn modelId="{6FCF7633-B4D7-4DA1-9A78-BA61593EF061}" srcId="{84A4861F-891C-4B8E-A1BF-335F0416A090}" destId="{1108A7F1-239A-435F-BBE3-C1184946E696}" srcOrd="1" destOrd="0" parTransId="{673AAB67-E95A-4DAC-B59F-0D5C534B85E6}" sibTransId="{21EB11B4-C6F6-4AF2-B482-DE1A10639D13}"/>
    <dgm:cxn modelId="{24E4DE6A-BC4B-42C2-9EAF-307E0AE6046F}" type="presOf" srcId="{5BA098E4-4FF3-4A16-BEE7-04CEB721A758}" destId="{6D4A4403-A0DF-4B41-8F5E-E0330DBB5B55}" srcOrd="0" destOrd="0" presId="urn:microsoft.com/office/officeart/2005/8/layout/default"/>
    <dgm:cxn modelId="{22845E6C-D10D-482F-A3EE-E8332C5DA72D}" type="presOf" srcId="{14612972-39EF-48FE-A05B-49B580679B25}" destId="{66DA979C-135A-43EF-A65B-45EFBBA9A196}" srcOrd="0" destOrd="0" presId="urn:microsoft.com/office/officeart/2005/8/layout/default"/>
    <dgm:cxn modelId="{D049B36F-267A-483B-8280-F42C1DB2C32F}" type="presOf" srcId="{84A4861F-891C-4B8E-A1BF-335F0416A090}" destId="{4BB99EF7-B414-444A-A5B0-3894990EDFE9}" srcOrd="0" destOrd="0" presId="urn:microsoft.com/office/officeart/2005/8/layout/default"/>
    <dgm:cxn modelId="{5F84CD7E-2538-4408-A404-68A4127585E5}" type="presOf" srcId="{530FF06F-8670-4A27-88FB-A490D6B73560}" destId="{B4B6F15D-CE2D-417E-A1BA-E319A6F07814}" srcOrd="0" destOrd="0" presId="urn:microsoft.com/office/officeart/2005/8/layout/default"/>
    <dgm:cxn modelId="{E7E0A183-EC35-4880-A440-59770AEF9D9E}" type="presOf" srcId="{0D6D7C58-2148-43E4-9E7B-B473FA3A8AC8}" destId="{B711595C-B0E8-4728-B1CA-80C31582049F}" srcOrd="0" destOrd="0" presId="urn:microsoft.com/office/officeart/2005/8/layout/default"/>
    <dgm:cxn modelId="{B0B0428C-F40D-47E8-83DF-5DB639DFF861}" srcId="{84A4861F-891C-4B8E-A1BF-335F0416A090}" destId="{14612972-39EF-48FE-A05B-49B580679B25}" srcOrd="5" destOrd="0" parTransId="{49BF8A99-4E3A-4CCA-A0CB-7FF0F96530B4}" sibTransId="{4DA7671D-731B-4DFA-8B82-879990870757}"/>
    <dgm:cxn modelId="{A63FDD91-49E1-47D1-B1FC-E2D26383057A}" srcId="{84A4861F-891C-4B8E-A1BF-335F0416A090}" destId="{5BA098E4-4FF3-4A16-BEE7-04CEB721A758}" srcOrd="0" destOrd="0" parTransId="{3B3F4397-BD1E-4591-8560-802FBBD2816D}" sibTransId="{39CE914B-D27A-4E65-9774-24C738D618EF}"/>
    <dgm:cxn modelId="{A1039595-F866-473E-8517-E13E934F2237}" type="presOf" srcId="{A7DEFDB0-3D97-499E-9610-2AC139ABADF1}" destId="{BB6D5494-A00E-4B69-951D-5077B462C475}" srcOrd="0" destOrd="0" presId="urn:microsoft.com/office/officeart/2005/8/layout/default"/>
    <dgm:cxn modelId="{1BCF32B4-A819-4A7D-9387-D9EA35AD6FBC}" type="presOf" srcId="{1108A7F1-239A-435F-BBE3-C1184946E696}" destId="{F26041FB-47D0-4E66-AC7A-002EFCB169DD}" srcOrd="0" destOrd="0" presId="urn:microsoft.com/office/officeart/2005/8/layout/default"/>
    <dgm:cxn modelId="{8AD5BEB8-6EC1-4006-B545-420445A2B7C2}" srcId="{84A4861F-891C-4B8E-A1BF-335F0416A090}" destId="{530FF06F-8670-4A27-88FB-A490D6B73560}" srcOrd="2" destOrd="0" parTransId="{727EAB2F-A1A0-4958-BC45-FD4A72B850AA}" sibTransId="{0D57BC7D-61E2-4158-A804-B798E8B0FA86}"/>
    <dgm:cxn modelId="{C944B6C1-26C6-4644-81C7-CDE1384A4E2B}" srcId="{84A4861F-891C-4B8E-A1BF-335F0416A090}" destId="{A7DEFDB0-3D97-499E-9610-2AC139ABADF1}" srcOrd="3" destOrd="0" parTransId="{F033B182-F4C7-465D-A732-1CF21FE601AD}" sibTransId="{65325B4A-51AE-459A-85EC-9C9BDE25F575}"/>
    <dgm:cxn modelId="{CD923BCE-713C-4B82-9AC2-5C7CAC4367BD}" srcId="{84A4861F-891C-4B8E-A1BF-335F0416A090}" destId="{0D6D7C58-2148-43E4-9E7B-B473FA3A8AC8}" srcOrd="4" destOrd="0" parTransId="{32B1A4D6-9A0C-4460-B0DE-6A111A00A2CD}" sibTransId="{E5A5C8F2-31C4-42E7-AA66-6EF8AB0F5A1D}"/>
    <dgm:cxn modelId="{F251A84B-2E5E-4A31-88EF-A0A9A9F59644}" type="presParOf" srcId="{4BB99EF7-B414-444A-A5B0-3894990EDFE9}" destId="{6D4A4403-A0DF-4B41-8F5E-E0330DBB5B55}" srcOrd="0" destOrd="0" presId="urn:microsoft.com/office/officeart/2005/8/layout/default"/>
    <dgm:cxn modelId="{0FCA07BA-0F1E-453F-B3EA-C5C2BE35ED0F}" type="presParOf" srcId="{4BB99EF7-B414-444A-A5B0-3894990EDFE9}" destId="{F898B45D-75A6-402D-B128-9F6BAE52295A}" srcOrd="1" destOrd="0" presId="urn:microsoft.com/office/officeart/2005/8/layout/default"/>
    <dgm:cxn modelId="{F8B3FE29-9136-4AD8-9169-B6D77C0E594C}" type="presParOf" srcId="{4BB99EF7-B414-444A-A5B0-3894990EDFE9}" destId="{F26041FB-47D0-4E66-AC7A-002EFCB169DD}" srcOrd="2" destOrd="0" presId="urn:microsoft.com/office/officeart/2005/8/layout/default"/>
    <dgm:cxn modelId="{20E6E1FF-4302-4191-84C6-012BBA048629}" type="presParOf" srcId="{4BB99EF7-B414-444A-A5B0-3894990EDFE9}" destId="{1552B191-AADF-42FE-A255-8884B4EF3B86}" srcOrd="3" destOrd="0" presId="urn:microsoft.com/office/officeart/2005/8/layout/default"/>
    <dgm:cxn modelId="{8FEFC24F-0216-41F3-85AD-B587C58279E5}" type="presParOf" srcId="{4BB99EF7-B414-444A-A5B0-3894990EDFE9}" destId="{B4B6F15D-CE2D-417E-A1BA-E319A6F07814}" srcOrd="4" destOrd="0" presId="urn:microsoft.com/office/officeart/2005/8/layout/default"/>
    <dgm:cxn modelId="{55425DFD-A330-4F7D-908D-7BC992A570AF}" type="presParOf" srcId="{4BB99EF7-B414-444A-A5B0-3894990EDFE9}" destId="{76B88E06-A9FD-43DE-97BB-16AAB4342E95}" srcOrd="5" destOrd="0" presId="urn:microsoft.com/office/officeart/2005/8/layout/default"/>
    <dgm:cxn modelId="{01A2DCCA-34B3-4FE5-A42F-D1D76BB33D1C}" type="presParOf" srcId="{4BB99EF7-B414-444A-A5B0-3894990EDFE9}" destId="{BB6D5494-A00E-4B69-951D-5077B462C475}" srcOrd="6" destOrd="0" presId="urn:microsoft.com/office/officeart/2005/8/layout/default"/>
    <dgm:cxn modelId="{17707115-33E9-4ACB-ACC5-870C3AAA5559}" type="presParOf" srcId="{4BB99EF7-B414-444A-A5B0-3894990EDFE9}" destId="{0B54A0AD-9C2C-4671-87F0-6698710E27A6}" srcOrd="7" destOrd="0" presId="urn:microsoft.com/office/officeart/2005/8/layout/default"/>
    <dgm:cxn modelId="{D82EC252-64F7-4C29-99FE-1699447302E5}" type="presParOf" srcId="{4BB99EF7-B414-444A-A5B0-3894990EDFE9}" destId="{B711595C-B0E8-4728-B1CA-80C31582049F}" srcOrd="8" destOrd="0" presId="urn:microsoft.com/office/officeart/2005/8/layout/default"/>
    <dgm:cxn modelId="{CFBD7802-A5D9-4F2A-B6C6-8FB90AB83104}" type="presParOf" srcId="{4BB99EF7-B414-444A-A5B0-3894990EDFE9}" destId="{523FBE5C-E7E9-41CB-97E6-22ED54366734}" srcOrd="9" destOrd="0" presId="urn:microsoft.com/office/officeart/2005/8/layout/default"/>
    <dgm:cxn modelId="{14D076F6-FA17-415A-A806-64AA4D1A8EC1}" type="presParOf" srcId="{4BB99EF7-B414-444A-A5B0-3894990EDFE9}" destId="{66DA979C-135A-43EF-A65B-45EFBBA9A196}"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3DA6EE-CC8D-4214-A45B-2346BD799693}">
      <dsp:nvSpPr>
        <dsp:cNvPr id="0" name=""/>
        <dsp:cNvSpPr/>
      </dsp:nvSpPr>
      <dsp:spPr>
        <a:xfrm>
          <a:off x="29" y="665732"/>
          <a:ext cx="2803614" cy="1013148"/>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6350" cap="flat" cmpd="sng" algn="ctr">
          <a:solidFill>
            <a:schemeClr val="accent5">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US" sz="2800" kern="1200" dirty="0"/>
            <a:t>In-band SQL Injection</a:t>
          </a:r>
        </a:p>
      </dsp:txBody>
      <dsp:txXfrm>
        <a:off x="29" y="665732"/>
        <a:ext cx="2803614" cy="1013148"/>
      </dsp:txXfrm>
    </dsp:sp>
    <dsp:sp modelId="{30678F6F-004C-4492-8755-C0C639EE0FAC}">
      <dsp:nvSpPr>
        <dsp:cNvPr id="0" name=""/>
        <dsp:cNvSpPr/>
      </dsp:nvSpPr>
      <dsp:spPr>
        <a:xfrm>
          <a:off x="29" y="1678881"/>
          <a:ext cx="2803614" cy="2601230"/>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8016" tIns="128016" rIns="170688" bIns="192024" numCol="1" spcCol="1270" anchor="t" anchorCtr="0">
          <a:noAutofit/>
        </a:bodyPr>
        <a:lstStyle/>
        <a:p>
          <a:pPr marL="228600" lvl="1" indent="0" algn="l" defTabSz="1066800">
            <a:lnSpc>
              <a:spcPct val="100000"/>
            </a:lnSpc>
            <a:spcBef>
              <a:spcPct val="0"/>
            </a:spcBef>
            <a:spcAft>
              <a:spcPct val="15000"/>
            </a:spcAft>
            <a:buNone/>
          </a:pPr>
          <a:r>
            <a:rPr lang="en-US" sz="2400" kern="1200" dirty="0"/>
            <a:t>Attacker manipulates an applications SQL query through user input fields.</a:t>
          </a:r>
        </a:p>
      </dsp:txBody>
      <dsp:txXfrm>
        <a:off x="29" y="1678881"/>
        <a:ext cx="2803614" cy="2601230"/>
      </dsp:txXfrm>
    </dsp:sp>
    <dsp:sp modelId="{789E0470-4B02-405C-A16C-4F595E31E6D1}">
      <dsp:nvSpPr>
        <dsp:cNvPr id="0" name=""/>
        <dsp:cNvSpPr/>
      </dsp:nvSpPr>
      <dsp:spPr>
        <a:xfrm>
          <a:off x="3196150" y="665732"/>
          <a:ext cx="2803614" cy="1013148"/>
        </a:xfrm>
        <a:prstGeom prst="rect">
          <a:avLst/>
        </a:prstGeom>
        <a:gradFill rotWithShape="0">
          <a:gsLst>
            <a:gs pos="0">
              <a:schemeClr val="accent5">
                <a:hueOff val="-7353344"/>
                <a:satOff val="-10228"/>
                <a:lumOff val="-3922"/>
                <a:alphaOff val="0"/>
                <a:satMod val="103000"/>
                <a:lumMod val="102000"/>
                <a:tint val="94000"/>
              </a:schemeClr>
            </a:gs>
            <a:gs pos="50000">
              <a:schemeClr val="accent5">
                <a:hueOff val="-7353344"/>
                <a:satOff val="-10228"/>
                <a:lumOff val="-3922"/>
                <a:alphaOff val="0"/>
                <a:satMod val="110000"/>
                <a:lumMod val="100000"/>
                <a:shade val="100000"/>
              </a:schemeClr>
            </a:gs>
            <a:gs pos="100000">
              <a:schemeClr val="accent5">
                <a:hueOff val="-7353344"/>
                <a:satOff val="-10228"/>
                <a:lumOff val="-3922"/>
                <a:alphaOff val="0"/>
                <a:lumMod val="99000"/>
                <a:satMod val="120000"/>
                <a:shade val="78000"/>
              </a:schemeClr>
            </a:gs>
          </a:gsLst>
          <a:lin ang="5400000" scaled="0"/>
        </a:gradFill>
        <a:ln w="6350" cap="flat" cmpd="sng" algn="ctr">
          <a:solidFill>
            <a:schemeClr val="accent5">
              <a:hueOff val="-7353344"/>
              <a:satOff val="-10228"/>
              <a:lumOff val="-3922"/>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199136" tIns="113792" rIns="199136" bIns="113792" numCol="1" spcCol="1270" anchor="ctr" anchorCtr="0">
          <a:noAutofit/>
        </a:bodyPr>
        <a:lstStyle/>
        <a:p>
          <a:pPr marL="0" lvl="0" indent="0" algn="ctr" defTabSz="1244600">
            <a:lnSpc>
              <a:spcPct val="90000"/>
            </a:lnSpc>
            <a:spcBef>
              <a:spcPct val="0"/>
            </a:spcBef>
            <a:spcAft>
              <a:spcPct val="35000"/>
            </a:spcAft>
            <a:buNone/>
          </a:pPr>
          <a:r>
            <a:rPr lang="en-US" sz="2800" kern="1200" dirty="0"/>
            <a:t>Blind/Inferential SQL Injection</a:t>
          </a:r>
        </a:p>
      </dsp:txBody>
      <dsp:txXfrm>
        <a:off x="3196150" y="665732"/>
        <a:ext cx="2803614" cy="1013148"/>
      </dsp:txXfrm>
    </dsp:sp>
    <dsp:sp modelId="{D14E4601-BAEC-44BB-8FAE-6D0483636D91}">
      <dsp:nvSpPr>
        <dsp:cNvPr id="0" name=""/>
        <dsp:cNvSpPr/>
      </dsp:nvSpPr>
      <dsp:spPr>
        <a:xfrm>
          <a:off x="3196150" y="1678881"/>
          <a:ext cx="2803614" cy="2601230"/>
        </a:xfrm>
        <a:prstGeom prst="rect">
          <a:avLst/>
        </a:prstGeom>
        <a:solidFill>
          <a:schemeClr val="accent5">
            <a:tint val="40000"/>
            <a:alpha val="90000"/>
            <a:hueOff val="-7391755"/>
            <a:satOff val="-12816"/>
            <a:lumOff val="-1289"/>
            <a:alphaOff val="0"/>
          </a:schemeClr>
        </a:solidFill>
        <a:ln w="6350" cap="flat" cmpd="sng" algn="ctr">
          <a:solidFill>
            <a:schemeClr val="accent5">
              <a:tint val="40000"/>
              <a:alpha val="90000"/>
              <a:hueOff val="-7391755"/>
              <a:satOff val="-12816"/>
              <a:lumOff val="-1289"/>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8016" tIns="128016" rIns="170688" bIns="192024" numCol="1" spcCol="1270" anchor="ctr" anchorCtr="0">
          <a:noAutofit/>
        </a:bodyPr>
        <a:lstStyle/>
        <a:p>
          <a:pPr marL="228600" lvl="1" indent="0" algn="l" defTabSz="1066800">
            <a:lnSpc>
              <a:spcPct val="100000"/>
            </a:lnSpc>
            <a:spcBef>
              <a:spcPct val="0"/>
            </a:spcBef>
            <a:spcAft>
              <a:spcPct val="15000"/>
            </a:spcAft>
            <a:buNone/>
          </a:pPr>
          <a:r>
            <a:rPr lang="en-US" sz="2400" kern="1200" dirty="0"/>
            <a:t>Occurs when an attacker exploits a vulnerability in an application without seeing the results.</a:t>
          </a:r>
        </a:p>
      </dsp:txBody>
      <dsp:txXfrm>
        <a:off x="3196150" y="1678881"/>
        <a:ext cx="2803614" cy="26012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15DFA3-154F-427F-BF23-079F456CF0B2}">
      <dsp:nvSpPr>
        <dsp:cNvPr id="0" name=""/>
        <dsp:cNvSpPr/>
      </dsp:nvSpPr>
      <dsp:spPr>
        <a:xfrm>
          <a:off x="2342612" y="1076920"/>
          <a:ext cx="507186" cy="91440"/>
        </a:xfrm>
        <a:custGeom>
          <a:avLst/>
          <a:gdLst/>
          <a:ahLst/>
          <a:cxnLst/>
          <a:rect l="0" t="0" r="0" b="0"/>
          <a:pathLst>
            <a:path>
              <a:moveTo>
                <a:pt x="0" y="45720"/>
              </a:moveTo>
              <a:lnTo>
                <a:pt x="507186"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82761" y="1119951"/>
        <a:ext cx="26889" cy="5377"/>
      </dsp:txXfrm>
    </dsp:sp>
    <dsp:sp modelId="{B97F0CAA-57D8-4322-8090-1A569CDC8FD7}">
      <dsp:nvSpPr>
        <dsp:cNvPr id="0" name=""/>
        <dsp:cNvSpPr/>
      </dsp:nvSpPr>
      <dsp:spPr>
        <a:xfrm>
          <a:off x="6211" y="421180"/>
          <a:ext cx="2338201" cy="1402920"/>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574" tIns="120265" rIns="114574" bIns="120265" numCol="1" spcCol="1270" anchor="ctr" anchorCtr="0">
          <a:noAutofit/>
        </a:bodyPr>
        <a:lstStyle/>
        <a:p>
          <a:pPr marL="0" lvl="0" indent="0" algn="ctr" defTabSz="933450">
            <a:lnSpc>
              <a:spcPct val="90000"/>
            </a:lnSpc>
            <a:spcBef>
              <a:spcPct val="0"/>
            </a:spcBef>
            <a:spcAft>
              <a:spcPct val="35000"/>
            </a:spcAft>
            <a:buNone/>
          </a:pPr>
          <a:r>
            <a:rPr lang="en-US" sz="2100" kern="1200"/>
            <a:t>SQLMap (Open sources SQLi detection tool)</a:t>
          </a:r>
        </a:p>
      </dsp:txBody>
      <dsp:txXfrm>
        <a:off x="6211" y="421180"/>
        <a:ext cx="2338201" cy="1402920"/>
      </dsp:txXfrm>
    </dsp:sp>
    <dsp:sp modelId="{BF427947-3415-42A6-B675-A40B220DAAC1}">
      <dsp:nvSpPr>
        <dsp:cNvPr id="0" name=""/>
        <dsp:cNvSpPr/>
      </dsp:nvSpPr>
      <dsp:spPr>
        <a:xfrm>
          <a:off x="5218600" y="1076920"/>
          <a:ext cx="507186" cy="91440"/>
        </a:xfrm>
        <a:custGeom>
          <a:avLst/>
          <a:gdLst/>
          <a:ahLst/>
          <a:cxnLst/>
          <a:rect l="0" t="0" r="0" b="0"/>
          <a:pathLst>
            <a:path>
              <a:moveTo>
                <a:pt x="0" y="45720"/>
              </a:moveTo>
              <a:lnTo>
                <a:pt x="507186"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58749" y="1119951"/>
        <a:ext cx="26889" cy="5377"/>
      </dsp:txXfrm>
    </dsp:sp>
    <dsp:sp modelId="{4CA8967E-D440-4FB5-91B3-D0DC78696C5F}">
      <dsp:nvSpPr>
        <dsp:cNvPr id="0" name=""/>
        <dsp:cNvSpPr/>
      </dsp:nvSpPr>
      <dsp:spPr>
        <a:xfrm>
          <a:off x="2882199" y="421180"/>
          <a:ext cx="2338201" cy="1402920"/>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574" tIns="120265" rIns="114574" bIns="120265" numCol="1" spcCol="1270" anchor="ctr" anchorCtr="0">
          <a:noAutofit/>
        </a:bodyPr>
        <a:lstStyle/>
        <a:p>
          <a:pPr marL="0" lvl="0" indent="0" algn="ctr" defTabSz="933450">
            <a:lnSpc>
              <a:spcPct val="90000"/>
            </a:lnSpc>
            <a:spcBef>
              <a:spcPct val="0"/>
            </a:spcBef>
            <a:spcAft>
              <a:spcPct val="35000"/>
            </a:spcAft>
            <a:buNone/>
          </a:pPr>
          <a:r>
            <a:rPr lang="en-US" sz="2100" kern="1200" dirty="0"/>
            <a:t>Burp Suite (Automated and manual combined)</a:t>
          </a:r>
        </a:p>
      </dsp:txBody>
      <dsp:txXfrm>
        <a:off x="2882199" y="421180"/>
        <a:ext cx="2338201" cy="1402920"/>
      </dsp:txXfrm>
    </dsp:sp>
    <dsp:sp modelId="{6B8C72B9-9388-4F90-8CC4-8E1F0666E122}">
      <dsp:nvSpPr>
        <dsp:cNvPr id="0" name=""/>
        <dsp:cNvSpPr/>
      </dsp:nvSpPr>
      <dsp:spPr>
        <a:xfrm>
          <a:off x="1175312" y="1822301"/>
          <a:ext cx="5751975" cy="507186"/>
        </a:xfrm>
        <a:custGeom>
          <a:avLst/>
          <a:gdLst/>
          <a:ahLst/>
          <a:cxnLst/>
          <a:rect l="0" t="0" r="0" b="0"/>
          <a:pathLst>
            <a:path>
              <a:moveTo>
                <a:pt x="5751975" y="0"/>
              </a:moveTo>
              <a:lnTo>
                <a:pt x="5751975" y="270693"/>
              </a:lnTo>
              <a:lnTo>
                <a:pt x="0" y="270693"/>
              </a:lnTo>
              <a:lnTo>
                <a:pt x="0" y="507186"/>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06873" y="2073205"/>
        <a:ext cx="288853" cy="5377"/>
      </dsp:txXfrm>
    </dsp:sp>
    <dsp:sp modelId="{8EC63B4E-C826-40C9-BA7E-4CB8CAB9CE43}">
      <dsp:nvSpPr>
        <dsp:cNvPr id="0" name=""/>
        <dsp:cNvSpPr/>
      </dsp:nvSpPr>
      <dsp:spPr>
        <a:xfrm>
          <a:off x="5758187" y="421180"/>
          <a:ext cx="2338201" cy="1402920"/>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574" tIns="120265" rIns="114574" bIns="120265" numCol="1" spcCol="1270" anchor="ctr" anchorCtr="0">
          <a:noAutofit/>
        </a:bodyPr>
        <a:lstStyle/>
        <a:p>
          <a:pPr marL="0" lvl="0" indent="0" algn="ctr" defTabSz="933450">
            <a:lnSpc>
              <a:spcPct val="90000"/>
            </a:lnSpc>
            <a:spcBef>
              <a:spcPct val="0"/>
            </a:spcBef>
            <a:spcAft>
              <a:spcPct val="35000"/>
            </a:spcAft>
            <a:buNone/>
          </a:pPr>
          <a:r>
            <a:rPr lang="en-US" sz="2100" kern="1200"/>
            <a:t>Havij (GUI ease of use 95% success rate of attack)</a:t>
          </a:r>
        </a:p>
      </dsp:txBody>
      <dsp:txXfrm>
        <a:off x="5758187" y="421180"/>
        <a:ext cx="2338201" cy="1402920"/>
      </dsp:txXfrm>
    </dsp:sp>
    <dsp:sp modelId="{B352F6EC-6BCF-4E80-8753-215BFC2CC649}">
      <dsp:nvSpPr>
        <dsp:cNvPr id="0" name=""/>
        <dsp:cNvSpPr/>
      </dsp:nvSpPr>
      <dsp:spPr>
        <a:xfrm>
          <a:off x="2342612" y="3017628"/>
          <a:ext cx="507186" cy="91440"/>
        </a:xfrm>
        <a:custGeom>
          <a:avLst/>
          <a:gdLst/>
          <a:ahLst/>
          <a:cxnLst/>
          <a:rect l="0" t="0" r="0" b="0"/>
          <a:pathLst>
            <a:path>
              <a:moveTo>
                <a:pt x="0" y="45720"/>
              </a:moveTo>
              <a:lnTo>
                <a:pt x="507186"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582761" y="3060659"/>
        <a:ext cx="26889" cy="5377"/>
      </dsp:txXfrm>
    </dsp:sp>
    <dsp:sp modelId="{C6901582-3D0E-4235-BEF7-D71AFC5B2977}">
      <dsp:nvSpPr>
        <dsp:cNvPr id="0" name=""/>
        <dsp:cNvSpPr/>
      </dsp:nvSpPr>
      <dsp:spPr>
        <a:xfrm>
          <a:off x="6211" y="2361887"/>
          <a:ext cx="2338201" cy="1402920"/>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574" tIns="120265" rIns="114574" bIns="120265" numCol="1" spcCol="1270" anchor="ctr" anchorCtr="0">
          <a:noAutofit/>
        </a:bodyPr>
        <a:lstStyle/>
        <a:p>
          <a:pPr marL="0" lvl="0" indent="0" algn="ctr" defTabSz="933450">
            <a:lnSpc>
              <a:spcPct val="90000"/>
            </a:lnSpc>
            <a:spcBef>
              <a:spcPct val="0"/>
            </a:spcBef>
            <a:spcAft>
              <a:spcPct val="35000"/>
            </a:spcAft>
            <a:buNone/>
          </a:pPr>
          <a:r>
            <a:rPr lang="en-US" sz="2100" kern="1200" dirty="0"/>
            <a:t>Imperva (Advanced Reporting and automation)</a:t>
          </a:r>
        </a:p>
      </dsp:txBody>
      <dsp:txXfrm>
        <a:off x="6211" y="2361887"/>
        <a:ext cx="2338201" cy="1402920"/>
      </dsp:txXfrm>
    </dsp:sp>
    <dsp:sp modelId="{912E5431-02D1-4400-B22E-FABE1FAE72DD}">
      <dsp:nvSpPr>
        <dsp:cNvPr id="0" name=""/>
        <dsp:cNvSpPr/>
      </dsp:nvSpPr>
      <dsp:spPr>
        <a:xfrm>
          <a:off x="5218600" y="3017628"/>
          <a:ext cx="507186" cy="91440"/>
        </a:xfrm>
        <a:custGeom>
          <a:avLst/>
          <a:gdLst/>
          <a:ahLst/>
          <a:cxnLst/>
          <a:rect l="0" t="0" r="0" b="0"/>
          <a:pathLst>
            <a:path>
              <a:moveTo>
                <a:pt x="0" y="45720"/>
              </a:moveTo>
              <a:lnTo>
                <a:pt x="507186"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58749" y="3060659"/>
        <a:ext cx="26889" cy="5377"/>
      </dsp:txXfrm>
    </dsp:sp>
    <dsp:sp modelId="{890AF5CC-D192-4E24-A285-78C2C2FE4585}">
      <dsp:nvSpPr>
        <dsp:cNvPr id="0" name=""/>
        <dsp:cNvSpPr/>
      </dsp:nvSpPr>
      <dsp:spPr>
        <a:xfrm>
          <a:off x="2882199" y="2361887"/>
          <a:ext cx="2338201" cy="1402920"/>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574" tIns="120265" rIns="114574" bIns="120265" numCol="1" spcCol="1270" anchor="ctr" anchorCtr="0">
          <a:noAutofit/>
        </a:bodyPr>
        <a:lstStyle/>
        <a:p>
          <a:pPr marL="0" lvl="0" indent="0" algn="ctr" defTabSz="933450">
            <a:lnSpc>
              <a:spcPct val="90000"/>
            </a:lnSpc>
            <a:spcBef>
              <a:spcPct val="0"/>
            </a:spcBef>
            <a:spcAft>
              <a:spcPct val="35000"/>
            </a:spcAft>
            <a:buNone/>
          </a:pPr>
          <a:r>
            <a:rPr lang="en-US" sz="2100" kern="1200"/>
            <a:t>SQLi Injection (Java based tool)</a:t>
          </a:r>
        </a:p>
      </dsp:txBody>
      <dsp:txXfrm>
        <a:off x="2882199" y="2361887"/>
        <a:ext cx="2338201" cy="1402920"/>
      </dsp:txXfrm>
    </dsp:sp>
    <dsp:sp modelId="{4CD502D9-AA72-40FA-860A-563B1870078B}">
      <dsp:nvSpPr>
        <dsp:cNvPr id="0" name=""/>
        <dsp:cNvSpPr/>
      </dsp:nvSpPr>
      <dsp:spPr>
        <a:xfrm>
          <a:off x="5758187" y="2361887"/>
          <a:ext cx="2338201" cy="1402920"/>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14574" tIns="120265" rIns="114574" bIns="120265" numCol="1" spcCol="1270" anchor="t" anchorCtr="0">
          <a:noAutofit/>
        </a:bodyPr>
        <a:lstStyle/>
        <a:p>
          <a:pPr marL="0" lvl="0" indent="0" algn="l" defTabSz="933450">
            <a:lnSpc>
              <a:spcPct val="90000"/>
            </a:lnSpc>
            <a:spcBef>
              <a:spcPct val="0"/>
            </a:spcBef>
            <a:spcAft>
              <a:spcPct val="35000"/>
            </a:spcAft>
            <a:buNone/>
          </a:pPr>
          <a:r>
            <a:rPr lang="en-US" sz="2100" kern="1200"/>
            <a:t>SQLi Tools Mobile Devices</a:t>
          </a:r>
        </a:p>
        <a:p>
          <a:pPr marL="171450" lvl="1" indent="-171450" algn="l" defTabSz="711200">
            <a:lnSpc>
              <a:spcPct val="90000"/>
            </a:lnSpc>
            <a:spcBef>
              <a:spcPct val="0"/>
            </a:spcBef>
            <a:spcAft>
              <a:spcPct val="15000"/>
            </a:spcAft>
            <a:buChar char="•"/>
          </a:pPr>
          <a:r>
            <a:rPr lang="en-US" sz="1600" kern="1200"/>
            <a:t>SQLi</a:t>
          </a:r>
        </a:p>
      </dsp:txBody>
      <dsp:txXfrm>
        <a:off x="5758187" y="2361887"/>
        <a:ext cx="2338201" cy="14029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4A4403-A0DF-4B41-8F5E-E0330DBB5B55}">
      <dsp:nvSpPr>
        <dsp:cNvPr id="0" name=""/>
        <dsp:cNvSpPr/>
      </dsp:nvSpPr>
      <dsp:spPr>
        <a:xfrm>
          <a:off x="0" y="46236"/>
          <a:ext cx="3488531" cy="2093118"/>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a:t>OWASP ZAP (https://www.owasp.org)</a:t>
          </a:r>
        </a:p>
      </dsp:txBody>
      <dsp:txXfrm>
        <a:off x="0" y="46236"/>
        <a:ext cx="3488531" cy="2093118"/>
      </dsp:txXfrm>
    </dsp:sp>
    <dsp:sp modelId="{F26041FB-47D0-4E66-AC7A-002EFCB169DD}">
      <dsp:nvSpPr>
        <dsp:cNvPr id="0" name=""/>
        <dsp:cNvSpPr/>
      </dsp:nvSpPr>
      <dsp:spPr>
        <a:xfrm>
          <a:off x="3837384" y="46236"/>
          <a:ext cx="3488531" cy="2093118"/>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a:t>Damn Small SQLi Scanner(DSSS) (https://github.com) </a:t>
          </a:r>
        </a:p>
      </dsp:txBody>
      <dsp:txXfrm>
        <a:off x="3837384" y="46236"/>
        <a:ext cx="3488531" cy="2093118"/>
      </dsp:txXfrm>
    </dsp:sp>
    <dsp:sp modelId="{B4B6F15D-CE2D-417E-A1BA-E319A6F07814}">
      <dsp:nvSpPr>
        <dsp:cNvPr id="0" name=""/>
        <dsp:cNvSpPr/>
      </dsp:nvSpPr>
      <dsp:spPr>
        <a:xfrm>
          <a:off x="7674768" y="46236"/>
          <a:ext cx="3488531" cy="2093118"/>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a:t>Snort (https://snort.org)</a:t>
          </a:r>
        </a:p>
      </dsp:txBody>
      <dsp:txXfrm>
        <a:off x="7674768" y="46236"/>
        <a:ext cx="3488531" cy="2093118"/>
      </dsp:txXfrm>
    </dsp:sp>
    <dsp:sp modelId="{BB6D5494-A00E-4B69-951D-5077B462C475}">
      <dsp:nvSpPr>
        <dsp:cNvPr id="0" name=""/>
        <dsp:cNvSpPr/>
      </dsp:nvSpPr>
      <dsp:spPr>
        <a:xfrm>
          <a:off x="0" y="2488208"/>
          <a:ext cx="3488531" cy="2093118"/>
        </a:xfrm>
        <a:prstGeom prst="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a:t>Burp Suite (https://www.portswigger.net)</a:t>
          </a:r>
        </a:p>
      </dsp:txBody>
      <dsp:txXfrm>
        <a:off x="0" y="2488208"/>
        <a:ext cx="3488531" cy="2093118"/>
      </dsp:txXfrm>
    </dsp:sp>
    <dsp:sp modelId="{B711595C-B0E8-4728-B1CA-80C31582049F}">
      <dsp:nvSpPr>
        <dsp:cNvPr id="0" name=""/>
        <dsp:cNvSpPr/>
      </dsp:nvSpPr>
      <dsp:spPr>
        <a:xfrm>
          <a:off x="3837384" y="2488208"/>
          <a:ext cx="3488531" cy="2093118"/>
        </a:xfrm>
        <a:prstGeom prst="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SolarWinds® Log &amp; Event Manager (https://</a:t>
          </a:r>
          <a:r>
            <a:rPr lang="en-US" sz="2000" b="1" kern="1200" dirty="0" err="1"/>
            <a:t>www.solarwinds.com</a:t>
          </a:r>
          <a:r>
            <a:rPr lang="en-US" sz="2000" b="1" kern="1200" dirty="0"/>
            <a:t>)</a:t>
          </a:r>
        </a:p>
      </dsp:txBody>
      <dsp:txXfrm>
        <a:off x="3837384" y="2488208"/>
        <a:ext cx="3488531" cy="2093118"/>
      </dsp:txXfrm>
    </dsp:sp>
    <dsp:sp modelId="{66DA979C-135A-43EF-A65B-45EFBBA9A196}">
      <dsp:nvSpPr>
        <dsp:cNvPr id="0" name=""/>
        <dsp:cNvSpPr/>
      </dsp:nvSpPr>
      <dsp:spPr>
        <a:xfrm>
          <a:off x="7674768" y="2488208"/>
          <a:ext cx="3488531" cy="2093118"/>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AlienVault USM (https://</a:t>
          </a:r>
          <a:r>
            <a:rPr lang="en-US" sz="2000" b="1" kern="1200" dirty="0" err="1"/>
            <a:t>www.alienvault.com</a:t>
          </a:r>
          <a:r>
            <a:rPr lang="en-US" sz="2000" b="1" kern="1200" dirty="0"/>
            <a:t>) </a:t>
          </a:r>
        </a:p>
      </dsp:txBody>
      <dsp:txXfrm>
        <a:off x="7674768" y="2488208"/>
        <a:ext cx="3488531" cy="2093118"/>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F79F03-158F-4E64-8B13-DE3F0596C995}" type="datetimeFigureOut">
              <a:rPr lang="en-US" smtClean="0"/>
              <a:t>1/15/2026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904D94-3AF6-4400-B13C-7D7CD3B13F89}" type="slidenum">
              <a:rPr lang="en-US" smtClean="0"/>
              <a:t>‹#›</a:t>
            </a:fld>
            <a:endParaRPr lang="en-US"/>
          </a:p>
        </p:txBody>
      </p:sp>
    </p:spTree>
    <p:extLst>
      <p:ext uri="{BB962C8B-B14F-4D97-AF65-F5344CB8AC3E}">
        <p14:creationId xmlns:p14="http://schemas.microsoft.com/office/powerpoint/2010/main" val="3335239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11</a:t>
            </a:fld>
            <a:endParaRPr lang="en-US" dirty="0"/>
          </a:p>
        </p:txBody>
      </p:sp>
    </p:spTree>
    <p:extLst>
      <p:ext uri="{BB962C8B-B14F-4D97-AF65-F5344CB8AC3E}">
        <p14:creationId xmlns:p14="http://schemas.microsoft.com/office/powerpoint/2010/main" val="1011769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 wireless network is an unbounded data communication system that uses radio-frequency technology to communicate with devices and obtain data. This network frees the user from complicated and multiple wired connections using electromagnetic (EM) waves to interconnect two individual points without establishing any physical connection.</a:t>
            </a:r>
          </a:p>
        </p:txBody>
      </p:sp>
      <p:sp>
        <p:nvSpPr>
          <p:cNvPr id="4" name="Slide Number Placeholder 3"/>
          <p:cNvSpPr>
            <a:spLocks noGrp="1"/>
          </p:cNvSpPr>
          <p:nvPr>
            <p:ph type="sldNum" sz="quarter" idx="5"/>
          </p:nvPr>
        </p:nvSpPr>
        <p:spPr/>
        <p:txBody>
          <a:bodyPr/>
          <a:lstStyle/>
          <a:p>
            <a:fld id="{51BAA6C4-6B6A-4AEF-92E0-4FCE1AA43F96}" type="slidenum">
              <a:rPr lang="en-US" smtClean="0"/>
              <a:t>23</a:t>
            </a:fld>
            <a:endParaRPr lang="en-US"/>
          </a:p>
        </p:txBody>
      </p:sp>
    </p:spTree>
    <p:extLst>
      <p:ext uri="{BB962C8B-B14F-4D97-AF65-F5344CB8AC3E}">
        <p14:creationId xmlns:p14="http://schemas.microsoft.com/office/powerpoint/2010/main" val="1163126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BAA6C4-6B6A-4AEF-92E0-4FCE1AA43F96}" type="slidenum">
              <a:rPr lang="en-US" smtClean="0"/>
              <a:t>26</a:t>
            </a:fld>
            <a:endParaRPr lang="en-US"/>
          </a:p>
        </p:txBody>
      </p:sp>
    </p:spTree>
    <p:extLst>
      <p:ext uri="{BB962C8B-B14F-4D97-AF65-F5344CB8AC3E}">
        <p14:creationId xmlns:p14="http://schemas.microsoft.com/office/powerpoint/2010/main" val="28798425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BAA6C4-6B6A-4AEF-92E0-4FCE1AA43F96}" type="slidenum">
              <a:rPr lang="en-US" smtClean="0"/>
              <a:t>35</a:t>
            </a:fld>
            <a:endParaRPr lang="en-US"/>
          </a:p>
        </p:txBody>
      </p:sp>
    </p:spTree>
    <p:extLst>
      <p:ext uri="{BB962C8B-B14F-4D97-AF65-F5344CB8AC3E}">
        <p14:creationId xmlns:p14="http://schemas.microsoft.com/office/powerpoint/2010/main" val="20875567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B01E408-9ECA-4E33-A9A0-3E824B8B21B9}"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987E7E-2F50-495C-98D0-48A5AF555872}" type="slidenum">
              <a:rPr lang="en-US" smtClean="0"/>
              <a:t>‹#›</a:t>
            </a:fld>
            <a:endParaRPr lang="en-US"/>
          </a:p>
        </p:txBody>
      </p:sp>
    </p:spTree>
    <p:extLst>
      <p:ext uri="{BB962C8B-B14F-4D97-AF65-F5344CB8AC3E}">
        <p14:creationId xmlns:p14="http://schemas.microsoft.com/office/powerpoint/2010/main" val="3129413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01E408-9ECA-4E33-A9A0-3E824B8B21B9}"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987E7E-2F50-495C-98D0-48A5AF555872}" type="slidenum">
              <a:rPr lang="en-US" smtClean="0"/>
              <a:t>‹#›</a:t>
            </a:fld>
            <a:endParaRPr lang="en-US"/>
          </a:p>
        </p:txBody>
      </p:sp>
    </p:spTree>
    <p:extLst>
      <p:ext uri="{BB962C8B-B14F-4D97-AF65-F5344CB8AC3E}">
        <p14:creationId xmlns:p14="http://schemas.microsoft.com/office/powerpoint/2010/main" val="817921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B01E408-9ECA-4E33-A9A0-3E824B8B21B9}"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987E7E-2F50-495C-98D0-48A5AF555872}" type="slidenum">
              <a:rPr lang="en-US" smtClean="0"/>
              <a:t>‹#›</a:t>
            </a:fld>
            <a:endParaRPr lang="en-US"/>
          </a:p>
        </p:txBody>
      </p:sp>
    </p:spTree>
    <p:extLst>
      <p:ext uri="{BB962C8B-B14F-4D97-AF65-F5344CB8AC3E}">
        <p14:creationId xmlns:p14="http://schemas.microsoft.com/office/powerpoint/2010/main" val="13706673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B01E408-9ECA-4E33-A9A0-3E824B8B21B9}"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987E7E-2F50-495C-98D0-48A5AF555872}" type="slidenum">
              <a:rPr lang="en-US" smtClean="0"/>
              <a:t>‹#›</a:t>
            </a:fld>
            <a:endParaRPr lang="en-US"/>
          </a:p>
        </p:txBody>
      </p:sp>
    </p:spTree>
    <p:extLst>
      <p:ext uri="{BB962C8B-B14F-4D97-AF65-F5344CB8AC3E}">
        <p14:creationId xmlns:p14="http://schemas.microsoft.com/office/powerpoint/2010/main" val="1525935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B01E408-9ECA-4E33-A9A0-3E824B8B21B9}" type="datetimeFigureOut">
              <a:rPr lang="en-US" smtClean="0"/>
              <a:t>1/15/2026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1987E7E-2F50-495C-98D0-48A5AF555872}" type="slidenum">
              <a:rPr lang="en-US" smtClean="0"/>
              <a:t>‹#›</a:t>
            </a:fld>
            <a:endParaRPr lang="en-US"/>
          </a:p>
        </p:txBody>
      </p:sp>
    </p:spTree>
    <p:extLst>
      <p:ext uri="{BB962C8B-B14F-4D97-AF65-F5344CB8AC3E}">
        <p14:creationId xmlns:p14="http://schemas.microsoft.com/office/powerpoint/2010/main" val="30937687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B01E408-9ECA-4E33-A9A0-3E824B8B21B9}" type="datetimeFigureOut">
              <a:rPr lang="en-US" smtClean="0"/>
              <a:t>1/15/2026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1987E7E-2F50-495C-98D0-48A5AF555872}" type="slidenum">
              <a:rPr lang="en-US" smtClean="0"/>
              <a:t>‹#›</a:t>
            </a:fld>
            <a:endParaRPr lang="en-US"/>
          </a:p>
        </p:txBody>
      </p:sp>
    </p:spTree>
    <p:extLst>
      <p:ext uri="{BB962C8B-B14F-4D97-AF65-F5344CB8AC3E}">
        <p14:creationId xmlns:p14="http://schemas.microsoft.com/office/powerpoint/2010/main" val="1252052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01E408-9ECA-4E33-A9A0-3E824B8B21B9}" type="datetimeFigureOut">
              <a:rPr lang="en-US" smtClean="0"/>
              <a:t>1/15/2026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1987E7E-2F50-495C-98D0-48A5AF555872}" type="slidenum">
              <a:rPr lang="en-US" smtClean="0"/>
              <a:t>‹#›</a:t>
            </a:fld>
            <a:endParaRPr lang="en-US"/>
          </a:p>
        </p:txBody>
      </p:sp>
    </p:spTree>
    <p:extLst>
      <p:ext uri="{BB962C8B-B14F-4D97-AF65-F5344CB8AC3E}">
        <p14:creationId xmlns:p14="http://schemas.microsoft.com/office/powerpoint/2010/main" val="39389211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B01E408-9ECA-4E33-A9A0-3E824B8B21B9}"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987E7E-2F50-495C-98D0-48A5AF555872}" type="slidenum">
              <a:rPr lang="en-US" smtClean="0"/>
              <a:t>‹#›</a:t>
            </a:fld>
            <a:endParaRPr lang="en-US"/>
          </a:p>
        </p:txBody>
      </p:sp>
    </p:spTree>
    <p:extLst>
      <p:ext uri="{BB962C8B-B14F-4D97-AF65-F5344CB8AC3E}">
        <p14:creationId xmlns:p14="http://schemas.microsoft.com/office/powerpoint/2010/main" val="3301116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B01E408-9ECA-4E33-A9A0-3E824B8B21B9}" type="datetimeFigureOut">
              <a:rPr lang="en-US" smtClean="0"/>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1987E7E-2F50-495C-98D0-48A5AF555872}" type="slidenum">
              <a:rPr lang="en-US" smtClean="0"/>
              <a:t>‹#›</a:t>
            </a:fld>
            <a:endParaRPr lang="en-US"/>
          </a:p>
        </p:txBody>
      </p:sp>
    </p:spTree>
    <p:extLst>
      <p:ext uri="{BB962C8B-B14F-4D97-AF65-F5344CB8AC3E}">
        <p14:creationId xmlns:p14="http://schemas.microsoft.com/office/powerpoint/2010/main" val="2845080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01E408-9ECA-4E33-A9A0-3E824B8B21B9}"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987E7E-2F50-495C-98D0-48A5AF555872}" type="slidenum">
              <a:rPr lang="en-US" smtClean="0"/>
              <a:t>‹#›</a:t>
            </a:fld>
            <a:endParaRPr lang="en-US"/>
          </a:p>
        </p:txBody>
      </p:sp>
    </p:spTree>
    <p:extLst>
      <p:ext uri="{BB962C8B-B14F-4D97-AF65-F5344CB8AC3E}">
        <p14:creationId xmlns:p14="http://schemas.microsoft.com/office/powerpoint/2010/main" val="2364065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B01E408-9ECA-4E33-A9A0-3E824B8B21B9}" type="datetimeFigureOut">
              <a:rPr lang="en-US" smtClean="0"/>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1987E7E-2F50-495C-98D0-48A5AF555872}" type="slidenum">
              <a:rPr lang="en-US" smtClean="0"/>
              <a:t>‹#›</a:t>
            </a:fld>
            <a:endParaRPr lang="en-US"/>
          </a:p>
        </p:txBody>
      </p:sp>
    </p:spTree>
    <p:extLst>
      <p:ext uri="{BB962C8B-B14F-4D97-AF65-F5344CB8AC3E}">
        <p14:creationId xmlns:p14="http://schemas.microsoft.com/office/powerpoint/2010/main" val="5860304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6271246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itle 3"/>
          <p:cNvSpPr>
            <a:spLocks noGrp="1"/>
          </p:cNvSpPr>
          <p:nvPr>
            <p:ph type="title"/>
          </p:nvPr>
        </p:nvSpPr>
        <p:spPr>
          <a:xfrm>
            <a:off x="521207" y="448056"/>
            <a:ext cx="6877119" cy="640080"/>
          </a:xfrm>
        </p:spPr>
        <p:txBody>
          <a:bodyPr anchor="b" anchorCtr="0">
            <a:normAutofit/>
          </a:bodyPr>
          <a:lstStyle>
            <a:lvl1pPr>
              <a:defRPr sz="28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539496" y="1435608"/>
            <a:ext cx="4416552" cy="3977640"/>
          </a:xfrm>
        </p:spPr>
        <p:txBody>
          <a:bodyPr vert="horz" lIns="91440" tIns="45720" rIns="91440" bIns="45720" rtlCol="0">
            <a:normAutofit/>
          </a:bodyPr>
          <a:lstStyle>
            <a:lvl1pPr>
              <a:defRPr lang="en-US" sz="1200" smtClean="0">
                <a:solidFill>
                  <a:schemeClr val="tx1">
                    <a:lumMod val="75000"/>
                    <a:lumOff val="25000"/>
                  </a:schemeClr>
                </a:solidFill>
              </a:defRPr>
            </a:lvl1pPr>
            <a:lvl2pPr>
              <a:defRPr lang="en-US" sz="1200" smtClean="0">
                <a:solidFill>
                  <a:schemeClr val="tx1">
                    <a:lumMod val="75000"/>
                    <a:lumOff val="25000"/>
                  </a:schemeClr>
                </a:solidFill>
              </a:defRPr>
            </a:lvl2pPr>
            <a:lvl3pPr>
              <a:defRPr lang="en-US" sz="1200" smtClean="0">
                <a:solidFill>
                  <a:schemeClr val="tx1">
                    <a:lumMod val="75000"/>
                    <a:lumOff val="25000"/>
                  </a:schemeClr>
                </a:solidFill>
              </a:defRPr>
            </a:lvl3pPr>
            <a:lvl4pPr>
              <a:defRPr lang="en-US" sz="1200" smtClean="0">
                <a:solidFill>
                  <a:schemeClr val="tx1">
                    <a:lumMod val="75000"/>
                    <a:lumOff val="25000"/>
                  </a:schemeClr>
                </a:solidFill>
              </a:defRPr>
            </a:lvl4pPr>
            <a:lvl5pPr>
              <a:defRPr lang="en-US" sz="1200">
                <a:solidFill>
                  <a:schemeClr val="tx1">
                    <a:lumMod val="75000"/>
                    <a:lumOff val="25000"/>
                  </a:schemeClr>
                </a:solidFill>
              </a:defRPr>
            </a:lvl5pPr>
          </a:lstStyle>
          <a:p>
            <a:pPr marL="0" lvl="0" indent="0">
              <a:lnSpc>
                <a:spcPct val="150000"/>
              </a:lnSpc>
              <a:spcBef>
                <a:spcPts val="1000"/>
              </a:spcBef>
              <a:spcAft>
                <a:spcPts val="1200"/>
              </a:spcAft>
              <a:buNone/>
            </a:pPr>
            <a:r>
              <a:rPr lang="en-US"/>
              <a:t>Edit Master text styles</a:t>
            </a:r>
          </a:p>
          <a:p>
            <a:pPr marL="0" lvl="1" indent="0">
              <a:lnSpc>
                <a:spcPct val="150000"/>
              </a:lnSpc>
              <a:spcBef>
                <a:spcPts val="1000"/>
              </a:spcBef>
              <a:spcAft>
                <a:spcPts val="1200"/>
              </a:spcAft>
              <a:buNone/>
            </a:pPr>
            <a:r>
              <a:rPr lang="en-US"/>
              <a:t>Second level</a:t>
            </a:r>
          </a:p>
          <a:p>
            <a:pPr marL="0" lvl="2" indent="0">
              <a:lnSpc>
                <a:spcPct val="150000"/>
              </a:lnSpc>
              <a:spcBef>
                <a:spcPts val="1000"/>
              </a:spcBef>
              <a:spcAft>
                <a:spcPts val="1200"/>
              </a:spcAft>
              <a:buNone/>
            </a:pPr>
            <a:r>
              <a:rPr lang="en-US"/>
              <a:t>Third level</a:t>
            </a:r>
          </a:p>
          <a:p>
            <a:pPr marL="0" lvl="3" indent="0">
              <a:lnSpc>
                <a:spcPct val="150000"/>
              </a:lnSpc>
              <a:spcBef>
                <a:spcPts val="1000"/>
              </a:spcBef>
              <a:spcAft>
                <a:spcPts val="1200"/>
              </a:spcAft>
              <a:buNone/>
            </a:pPr>
            <a:r>
              <a:rPr lang="en-US"/>
              <a:t>Fourth level</a:t>
            </a:r>
          </a:p>
          <a:p>
            <a:pPr marL="0" lvl="4" indent="0">
              <a:lnSpc>
                <a:spcPct val="150000"/>
              </a:lnSpc>
              <a:spcBef>
                <a:spcPts val="1000"/>
              </a:spcBef>
              <a:spcAft>
                <a:spcPts val="1200"/>
              </a:spcAft>
              <a:buNone/>
            </a:pPr>
            <a:r>
              <a:rPr lang="en-US"/>
              <a:t>Fifth level</a:t>
            </a:r>
            <a:endParaRPr lang="en-US" dirty="0"/>
          </a:p>
        </p:txBody>
      </p:sp>
      <p:sp>
        <p:nvSpPr>
          <p:cNvPr id="6" name="Date Placeholder 3"/>
          <p:cNvSpPr>
            <a:spLocks noGrp="1"/>
          </p:cNvSpPr>
          <p:nvPr>
            <p:ph type="dt" sz="half" idx="2"/>
          </p:nvPr>
        </p:nvSpPr>
        <p:spPr>
          <a:xfrm>
            <a:off x="539496" y="6203952"/>
            <a:ext cx="3276600" cy="365125"/>
          </a:xfrm>
          <a:prstGeom prst="rect">
            <a:avLst/>
          </a:prstGeom>
        </p:spPr>
        <p:txBody>
          <a:bodyPr vert="horz" lIns="91440" tIns="45720" rIns="91440" bIns="45720" rtlCol="0" anchor="ctr"/>
          <a:lstStyle>
            <a:lvl1pPr algn="l">
              <a:defRPr sz="1200" baseline="0">
                <a:solidFill>
                  <a:schemeClr val="tx1">
                    <a:lumMod val="65000"/>
                    <a:lumOff val="35000"/>
                  </a:schemeClr>
                </a:solidFill>
              </a:defRPr>
            </a:lvl1pPr>
          </a:lstStyle>
          <a:p>
            <a:fld id="{8BEEBAAA-29B5-4AF5-BC5F-7E580C29002D}" type="datetimeFigureOut">
              <a:rPr lang="en-US" smtClean="0"/>
              <a:pPr/>
              <a:t>1/15/2026</a:t>
            </a:fld>
            <a:endParaRPr lang="en-US" dirty="0"/>
          </a:p>
        </p:txBody>
      </p:sp>
      <p:sp>
        <p:nvSpPr>
          <p:cNvPr id="7" name="Footer Placeholder 4"/>
          <p:cNvSpPr>
            <a:spLocks noGrp="1"/>
          </p:cNvSpPr>
          <p:nvPr>
            <p:ph type="ftr" sz="quarter" idx="3"/>
          </p:nvPr>
        </p:nvSpPr>
        <p:spPr>
          <a:xfrm>
            <a:off x="4648200" y="6203952"/>
            <a:ext cx="2895600" cy="365125"/>
          </a:xfrm>
          <a:prstGeom prst="rect">
            <a:avLst/>
          </a:prstGeom>
        </p:spPr>
        <p:txBody>
          <a:bodyPr vert="horz" lIns="91440" tIns="45720" rIns="91440" bIns="45720" rtlCol="0" anchor="ctr"/>
          <a:lstStyle>
            <a:lvl1pPr algn="ctr">
              <a:defRPr sz="1200" baseline="0">
                <a:solidFill>
                  <a:schemeClr val="tx1">
                    <a:lumMod val="65000"/>
                    <a:lumOff val="35000"/>
                  </a:schemeClr>
                </a:solidFill>
              </a:defRPr>
            </a:lvl1pPr>
          </a:lstStyle>
          <a:p>
            <a:endParaRPr lang="en-US" dirty="0"/>
          </a:p>
        </p:txBody>
      </p:sp>
      <p:sp>
        <p:nvSpPr>
          <p:cNvPr id="8" name="Slide Number Placeholder 5"/>
          <p:cNvSpPr>
            <a:spLocks noGrp="1"/>
          </p:cNvSpPr>
          <p:nvPr>
            <p:ph type="sldNum" sz="quarter" idx="4"/>
          </p:nvPr>
        </p:nvSpPr>
        <p:spPr>
          <a:xfrm>
            <a:off x="8371926" y="6203952"/>
            <a:ext cx="3276600" cy="365125"/>
          </a:xfrm>
          <a:prstGeom prst="rect">
            <a:avLst/>
          </a:prstGeom>
        </p:spPr>
        <p:txBody>
          <a:bodyPr vert="horz" lIns="91440" tIns="45720" rIns="91440" bIns="45720" rtlCol="0" anchor="ctr"/>
          <a:lstStyle>
            <a:lvl1pPr algn="r">
              <a:defRPr sz="1200" baseline="0">
                <a:solidFill>
                  <a:schemeClr val="tx1">
                    <a:lumMod val="65000"/>
                    <a:lumOff val="35000"/>
                  </a:schemeClr>
                </a:solidFill>
              </a:defRPr>
            </a:lvl1pPr>
          </a:lstStyle>
          <a:p>
            <a:fld id="{9860EDB8-5305-433F-BE41-D7A86D811DB3}" type="slidenum">
              <a:rPr lang="en-US" smtClean="0"/>
              <a:pPr/>
              <a:t>‹#›</a:t>
            </a:fld>
            <a:endParaRPr lang="en-US" dirty="0"/>
          </a:p>
        </p:txBody>
      </p:sp>
    </p:spTree>
    <p:extLst>
      <p:ext uri="{BB962C8B-B14F-4D97-AF65-F5344CB8AC3E}">
        <p14:creationId xmlns:p14="http://schemas.microsoft.com/office/powerpoint/2010/main" val="1727825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alphaModFix amt="70000"/>
            <a:lum/>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01E408-9ECA-4E33-A9A0-3E824B8B21B9}" type="datetimeFigureOut">
              <a:rPr lang="en-US" smtClean="0"/>
              <a:t>1/15/2026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1987E7E-2F50-495C-98D0-48A5AF555872}" type="slidenum">
              <a:rPr lang="en-US" smtClean="0"/>
              <a:t>‹#›</a:t>
            </a:fld>
            <a:endParaRPr lang="en-US"/>
          </a:p>
        </p:txBody>
      </p:sp>
    </p:spTree>
    <p:extLst>
      <p:ext uri="{BB962C8B-B14F-4D97-AF65-F5344CB8AC3E}">
        <p14:creationId xmlns:p14="http://schemas.microsoft.com/office/powerpoint/2010/main" val="86856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png"/><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5.png"/><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6.jpeg"/><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7.jp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8">
            <a:extLst>
              <a:ext uri="{FF2B5EF4-FFF2-40B4-BE49-F238E27FC236}">
                <a16:creationId xmlns:a16="http://schemas.microsoft.com/office/drawing/2014/main" id="{3A930249-8242-4E2B-AF17-C018264883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5BDD999-C5E1-4B3E-A710-7686738191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0000"/>
              </a:solidFill>
            </a:endParaRPr>
          </a:p>
        </p:txBody>
      </p:sp>
      <p:pic>
        <p:nvPicPr>
          <p:cNvPr id="13" name="Picture 4" descr="Pipette dripping solution into test tube">
            <a:extLst>
              <a:ext uri="{FF2B5EF4-FFF2-40B4-BE49-F238E27FC236}">
                <a16:creationId xmlns:a16="http://schemas.microsoft.com/office/drawing/2014/main" id="{1DF8EAC7-9846-B258-EDBB-3902F8F7932D}"/>
              </a:ext>
            </a:extLst>
          </p:cNvPr>
          <p:cNvPicPr>
            <a:picLocks noChangeAspect="1"/>
          </p:cNvPicPr>
          <p:nvPr/>
        </p:nvPicPr>
        <p:blipFill rotWithShape="1">
          <a:blip r:embed="rId2">
            <a:alphaModFix amt="60000"/>
          </a:blip>
          <a:srcRect t="15730"/>
          <a:stretch/>
        </p:blipFill>
        <p:spPr>
          <a:xfrm>
            <a:off x="-1" y="10"/>
            <a:ext cx="12192001" cy="6857990"/>
          </a:xfrm>
          <a:prstGeom prst="rect">
            <a:avLst/>
          </a:prstGeom>
        </p:spPr>
      </p:pic>
      <p:sp>
        <p:nvSpPr>
          <p:cNvPr id="2" name="Title 1"/>
          <p:cNvSpPr>
            <a:spLocks noGrp="1"/>
          </p:cNvSpPr>
          <p:nvPr>
            <p:ph type="ctrTitle"/>
          </p:nvPr>
        </p:nvSpPr>
        <p:spPr>
          <a:xfrm>
            <a:off x="1198181" y="1122363"/>
            <a:ext cx="9795637" cy="2220775"/>
          </a:xfrm>
        </p:spPr>
        <p:txBody>
          <a:bodyPr>
            <a:normAutofit/>
          </a:bodyPr>
          <a:lstStyle/>
          <a:p>
            <a:r>
              <a:rPr lang="en-US" sz="5200">
                <a:solidFill>
                  <a:srgbClr val="FFFFFF"/>
                </a:solidFill>
                <a:latin typeface="Consolas" panose="020B0609020204030204" pitchFamily="49" charset="0"/>
              </a:rPr>
              <a:t>SQL Injection</a:t>
            </a:r>
          </a:p>
        </p:txBody>
      </p:sp>
      <p:sp>
        <p:nvSpPr>
          <p:cNvPr id="3" name="Subtitle 2"/>
          <p:cNvSpPr>
            <a:spLocks noGrp="1"/>
          </p:cNvSpPr>
          <p:nvPr>
            <p:ph type="subTitle" idx="1"/>
          </p:nvPr>
        </p:nvSpPr>
        <p:spPr>
          <a:xfrm>
            <a:off x="1198181" y="3514853"/>
            <a:ext cx="9795637" cy="2057043"/>
          </a:xfrm>
        </p:spPr>
        <p:txBody>
          <a:bodyPr>
            <a:normAutofit/>
          </a:bodyPr>
          <a:lstStyle/>
          <a:p>
            <a:r>
              <a:rPr lang="en-US" dirty="0">
                <a:solidFill>
                  <a:srgbClr val="FFFFFF"/>
                </a:solidFill>
                <a:latin typeface="Consolas" panose="020B0609020204030204" pitchFamily="49" charset="0"/>
              </a:rPr>
              <a:t>Volume 3, Module 5, v12, with v13 additions at the end</a:t>
            </a:r>
          </a:p>
        </p:txBody>
      </p:sp>
    </p:spTree>
    <p:extLst>
      <p:ext uri="{BB962C8B-B14F-4D97-AF65-F5344CB8AC3E}">
        <p14:creationId xmlns:p14="http://schemas.microsoft.com/office/powerpoint/2010/main" val="368997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9">
            <a:extLst>
              <a:ext uri="{FF2B5EF4-FFF2-40B4-BE49-F238E27FC236}">
                <a16:creationId xmlns:a16="http://schemas.microsoft.com/office/drawing/2014/main" id="{79BB35BC-D5C2-4C8B-A22A-A71E619191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513788" y="365125"/>
            <a:ext cx="4840010" cy="1807305"/>
          </a:xfrm>
        </p:spPr>
        <p:txBody>
          <a:bodyPr vert="horz" lIns="91440" tIns="45720" rIns="91440" bIns="45720" rtlCol="0" anchor="ctr">
            <a:normAutofit/>
          </a:bodyPr>
          <a:lstStyle/>
          <a:p>
            <a:r>
              <a:rPr lang="en-US"/>
              <a:t>SQL Injection Concepts</a:t>
            </a:r>
          </a:p>
        </p:txBody>
      </p:sp>
      <p:pic>
        <p:nvPicPr>
          <p:cNvPr id="5" name="Picture 4" descr="A hand holding a lock&#10;&#10;Description automatically generated">
            <a:extLst>
              <a:ext uri="{FF2B5EF4-FFF2-40B4-BE49-F238E27FC236}">
                <a16:creationId xmlns:a16="http://schemas.microsoft.com/office/drawing/2014/main" id="{7D072127-33DE-40BB-2E7C-12A9DDF925AD}"/>
              </a:ext>
            </a:extLst>
          </p:cNvPr>
          <p:cNvPicPr>
            <a:picLocks noChangeAspect="1"/>
          </p:cNvPicPr>
          <p:nvPr/>
        </p:nvPicPr>
        <p:blipFill rotWithShape="1">
          <a:blip r:embed="rId2">
            <a:extLst>
              <a:ext uri="{28A0092B-C50C-407E-A947-70E740481C1C}">
                <a14:useLocalDpi xmlns:a14="http://schemas.microsoft.com/office/drawing/2010/main" val="0"/>
              </a:ext>
            </a:extLst>
          </a:blip>
          <a:srcRect l="35999" r="6252" b="1"/>
          <a:stretch/>
        </p:blipFill>
        <p:spPr>
          <a:xfrm>
            <a:off x="20" y="10"/>
            <a:ext cx="611654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4" name="Content Placeholder 3"/>
          <p:cNvSpPr>
            <a:spLocks noGrp="1"/>
          </p:cNvSpPr>
          <p:nvPr>
            <p:ph sz="half" idx="1"/>
          </p:nvPr>
        </p:nvSpPr>
        <p:spPr>
          <a:xfrm>
            <a:off x="6513788" y="2172430"/>
            <a:ext cx="4840010" cy="4004533"/>
          </a:xfrm>
        </p:spPr>
        <p:txBody>
          <a:bodyPr vert="horz" lIns="91440" tIns="45720" rIns="91440" bIns="45720" rtlCol="0">
            <a:normAutofit fontScale="92500" lnSpcReduction="20000"/>
          </a:bodyPr>
          <a:lstStyle/>
          <a:p>
            <a:pPr>
              <a:lnSpc>
                <a:spcPct val="100000"/>
              </a:lnSpc>
              <a:spcBef>
                <a:spcPts val="600"/>
              </a:spcBef>
              <a:spcAft>
                <a:spcPts val="600"/>
              </a:spcAft>
            </a:pPr>
            <a:r>
              <a:rPr lang="en-US" sz="1800" b="1" dirty="0"/>
              <a:t>SQL</a:t>
            </a:r>
            <a:r>
              <a:rPr lang="en-US" sz="1800" dirty="0"/>
              <a:t>: Structured Query Language</a:t>
            </a:r>
          </a:p>
          <a:p>
            <a:pPr lvl="1">
              <a:lnSpc>
                <a:spcPct val="100000"/>
              </a:lnSpc>
              <a:spcBef>
                <a:spcPts val="600"/>
              </a:spcBef>
              <a:spcAft>
                <a:spcPts val="600"/>
              </a:spcAft>
            </a:pPr>
            <a:r>
              <a:rPr lang="en-US" sz="1900" dirty="0"/>
              <a:t>Used to interact with DB</a:t>
            </a:r>
            <a:endParaRPr lang="en-US" sz="1400" dirty="0"/>
          </a:p>
          <a:p>
            <a:pPr>
              <a:lnSpc>
                <a:spcPct val="100000"/>
              </a:lnSpc>
              <a:spcBef>
                <a:spcPts val="600"/>
              </a:spcBef>
              <a:spcAft>
                <a:spcPts val="600"/>
              </a:spcAft>
            </a:pPr>
            <a:r>
              <a:rPr lang="en-US" sz="1800" b="1" dirty="0"/>
              <a:t>SQL Injection</a:t>
            </a:r>
            <a:r>
              <a:rPr lang="en-US" sz="1800" dirty="0"/>
              <a:t>: malicious SQL statements to manipulate the DB</a:t>
            </a:r>
          </a:p>
          <a:p>
            <a:pPr>
              <a:lnSpc>
                <a:spcPct val="100000"/>
              </a:lnSpc>
              <a:spcBef>
                <a:spcPts val="600"/>
              </a:spcBef>
              <a:spcAft>
                <a:spcPts val="600"/>
              </a:spcAft>
            </a:pPr>
            <a:r>
              <a:rPr lang="en-US" sz="1800" b="1" dirty="0"/>
              <a:t>SQL Injection Consequences</a:t>
            </a:r>
            <a:r>
              <a:rPr lang="en-US" sz="1800" dirty="0"/>
              <a:t>:</a:t>
            </a:r>
          </a:p>
          <a:p>
            <a:pPr lvl="1">
              <a:lnSpc>
                <a:spcPct val="100000"/>
              </a:lnSpc>
              <a:spcBef>
                <a:spcPts val="600"/>
              </a:spcBef>
              <a:spcAft>
                <a:spcPts val="600"/>
              </a:spcAft>
            </a:pPr>
            <a:r>
              <a:rPr lang="en-US" sz="1800" dirty="0"/>
              <a:t>Authentication Bypass</a:t>
            </a:r>
          </a:p>
          <a:p>
            <a:pPr lvl="1">
              <a:lnSpc>
                <a:spcPct val="100000"/>
              </a:lnSpc>
              <a:spcBef>
                <a:spcPts val="600"/>
              </a:spcBef>
              <a:spcAft>
                <a:spcPts val="600"/>
              </a:spcAft>
            </a:pPr>
            <a:r>
              <a:rPr lang="en-US" sz="1800" dirty="0"/>
              <a:t>Authorization Bypass</a:t>
            </a:r>
          </a:p>
          <a:p>
            <a:pPr lvl="1">
              <a:lnSpc>
                <a:spcPct val="100000"/>
              </a:lnSpc>
              <a:spcBef>
                <a:spcPts val="600"/>
              </a:spcBef>
              <a:spcAft>
                <a:spcPts val="600"/>
              </a:spcAft>
            </a:pPr>
            <a:r>
              <a:rPr lang="en-US" sz="1800" dirty="0"/>
              <a:t>Information Disclosure</a:t>
            </a:r>
          </a:p>
          <a:p>
            <a:pPr lvl="1">
              <a:lnSpc>
                <a:spcPct val="100000"/>
              </a:lnSpc>
              <a:spcBef>
                <a:spcPts val="600"/>
              </a:spcBef>
              <a:spcAft>
                <a:spcPts val="600"/>
              </a:spcAft>
            </a:pPr>
            <a:r>
              <a:rPr lang="en-US" sz="1800" dirty="0"/>
              <a:t>Compromised Data Integrity</a:t>
            </a:r>
          </a:p>
          <a:p>
            <a:pPr lvl="1">
              <a:lnSpc>
                <a:spcPct val="100000"/>
              </a:lnSpc>
              <a:spcBef>
                <a:spcPts val="600"/>
              </a:spcBef>
              <a:spcAft>
                <a:spcPts val="600"/>
              </a:spcAft>
            </a:pPr>
            <a:r>
              <a:rPr lang="en-US" sz="1800" dirty="0"/>
              <a:t>Compromised Data Availability</a:t>
            </a:r>
          </a:p>
          <a:p>
            <a:pPr lvl="1">
              <a:lnSpc>
                <a:spcPct val="100000"/>
              </a:lnSpc>
              <a:spcBef>
                <a:spcPts val="600"/>
              </a:spcBef>
              <a:spcAft>
                <a:spcPts val="600"/>
              </a:spcAft>
            </a:pPr>
            <a:r>
              <a:rPr lang="en-US" sz="1800" dirty="0"/>
              <a:t>Remote Code Execution</a:t>
            </a:r>
          </a:p>
        </p:txBody>
      </p:sp>
    </p:spTree>
    <p:extLst>
      <p:ext uri="{BB962C8B-B14F-4D97-AF65-F5344CB8AC3E}">
        <p14:creationId xmlns:p14="http://schemas.microsoft.com/office/powerpoint/2010/main" val="3454392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18">
            <a:extLst>
              <a:ext uri="{FF2B5EF4-FFF2-40B4-BE49-F238E27FC236}">
                <a16:creationId xmlns:a16="http://schemas.microsoft.com/office/drawing/2014/main" id="{7AADB56C-BA56-4D1E-A42A-A07A47444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77BE8E5-61E7-829A-E8F6-A7F0FBB10046}"/>
              </a:ext>
            </a:extLst>
          </p:cNvPr>
          <p:cNvSpPr/>
          <p:nvPr/>
        </p:nvSpPr>
        <p:spPr>
          <a:xfrm>
            <a:off x="636997" y="1325365"/>
            <a:ext cx="10633753" cy="5091403"/>
          </a:xfrm>
          <a:prstGeom prst="rect">
            <a:avLst/>
          </a:prstGeom>
          <a:solidFill>
            <a:schemeClr val="bg1"/>
          </a:solidFill>
          <a:ln w="28575">
            <a:solidFill>
              <a:srgbClr val="3A865C"/>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6997" y="243464"/>
            <a:ext cx="10515600" cy="1341634"/>
          </a:xfrm>
        </p:spPr>
        <p:txBody>
          <a:bodyPr vert="horz" lIns="91440" tIns="45720" rIns="91440" bIns="45720" rtlCol="0" anchor="ctr">
            <a:normAutofit/>
          </a:bodyPr>
          <a:lstStyle/>
          <a:p>
            <a:r>
              <a:rPr lang="en-US" sz="4000" dirty="0"/>
              <a:t>SQL Injection Types</a:t>
            </a:r>
          </a:p>
        </p:txBody>
      </p:sp>
      <p:pic>
        <p:nvPicPr>
          <p:cNvPr id="7" name="Picture 6">
            <a:extLst>
              <a:ext uri="{FF2B5EF4-FFF2-40B4-BE49-F238E27FC236}">
                <a16:creationId xmlns:a16="http://schemas.microsoft.com/office/drawing/2014/main" id="{8AFDC8EA-0216-049E-29D8-FFA6B7F0895C}"/>
              </a:ext>
            </a:extLst>
          </p:cNvPr>
          <p:cNvPicPr>
            <a:picLocks noChangeAspect="1"/>
          </p:cNvPicPr>
          <p:nvPr/>
        </p:nvPicPr>
        <p:blipFill rotWithShape="1">
          <a:blip r:embed="rId2">
            <a:extLst>
              <a:ext uri="{28A0092B-C50C-407E-A947-70E740481C1C}">
                <a14:useLocalDpi xmlns:a14="http://schemas.microsoft.com/office/drawing/2010/main" val="0"/>
              </a:ext>
            </a:extLst>
          </a:blip>
          <a:srcRect l="11153" r="49082" b="1"/>
          <a:stretch/>
        </p:blipFill>
        <p:spPr>
          <a:xfrm>
            <a:off x="6902951" y="1365426"/>
            <a:ext cx="3946075" cy="5011280"/>
          </a:xfrm>
          <a:prstGeom prst="rect">
            <a:avLst/>
          </a:prstGeom>
        </p:spPr>
      </p:pic>
      <p:graphicFrame>
        <p:nvGraphicFramePr>
          <p:cNvPr id="14" name="Content Placeholder 3">
            <a:extLst>
              <a:ext uri="{FF2B5EF4-FFF2-40B4-BE49-F238E27FC236}">
                <a16:creationId xmlns:a16="http://schemas.microsoft.com/office/drawing/2014/main" id="{3569A2CF-8309-3E95-8AEF-8E91C6B6EFA9}"/>
              </a:ext>
            </a:extLst>
          </p:cNvPr>
          <p:cNvGraphicFramePr>
            <a:graphicFrameLocks noGrp="1"/>
          </p:cNvGraphicFramePr>
          <p:nvPr>
            <p:ph sz="half" idx="1"/>
            <p:extLst>
              <p:ext uri="{D42A27DB-BD31-4B8C-83A1-F6EECF244321}">
                <p14:modId xmlns:p14="http://schemas.microsoft.com/office/powerpoint/2010/main" val="1817477271"/>
              </p:ext>
            </p:extLst>
          </p:nvPr>
        </p:nvGraphicFramePr>
        <p:xfrm>
          <a:off x="770077" y="1585098"/>
          <a:ext cx="5999794" cy="494584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32558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96CF2A2B-0745-440C-9224-C5C6A0A42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 name="Rectangle 60">
            <a:extLst>
              <a:ext uri="{FF2B5EF4-FFF2-40B4-BE49-F238E27FC236}">
                <a16:creationId xmlns:a16="http://schemas.microsoft.com/office/drawing/2014/main" id="{75BE6D6B-84C9-4D2B-97EB-773B7369EF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857D2F26-AA96-6F0D-4F6A-CDFAA455D637}"/>
              </a:ext>
            </a:extLst>
          </p:cNvPr>
          <p:cNvPicPr>
            <a:picLocks noChangeAspect="1"/>
          </p:cNvPicPr>
          <p:nvPr/>
        </p:nvPicPr>
        <p:blipFill rotWithShape="1">
          <a:blip r:embed="rId2">
            <a:alphaModFix amt="85000"/>
            <a:extLst>
              <a:ext uri="{28A0092B-C50C-407E-A947-70E740481C1C}">
                <a14:useLocalDpi xmlns:a14="http://schemas.microsoft.com/office/drawing/2010/main" val="0"/>
              </a:ext>
            </a:extLst>
          </a:blip>
          <a:srcRect r="9334" b="1"/>
          <a:stretch/>
        </p:blipFill>
        <p:spPr>
          <a:xfrm>
            <a:off x="-1" y="10"/>
            <a:ext cx="12192001" cy="6857990"/>
          </a:xfrm>
          <a:prstGeom prst="rect">
            <a:avLst/>
          </a:prstGeom>
        </p:spPr>
      </p:pic>
      <p:sp>
        <p:nvSpPr>
          <p:cNvPr id="2" name="Title 1"/>
          <p:cNvSpPr>
            <a:spLocks noGrp="1"/>
          </p:cNvSpPr>
          <p:nvPr>
            <p:ph type="title"/>
          </p:nvPr>
        </p:nvSpPr>
        <p:spPr>
          <a:xfrm>
            <a:off x="596901" y="3848100"/>
            <a:ext cx="2755900" cy="1003296"/>
          </a:xfrm>
          <a:solidFill>
            <a:schemeClr val="bg1">
              <a:lumMod val="95000"/>
            </a:schemeClr>
          </a:solidFill>
          <a:ln>
            <a:solidFill>
              <a:schemeClr val="accent2"/>
            </a:solidFill>
          </a:ln>
          <a:effectLst>
            <a:outerShdw blurRad="63500" sx="102000" sy="102000" algn="ctr" rotWithShape="0">
              <a:prstClr val="black">
                <a:alpha val="40000"/>
              </a:prstClr>
            </a:outerShdw>
          </a:effectLst>
        </p:spPr>
        <p:txBody>
          <a:bodyPr vert="horz" lIns="91440" tIns="45720" rIns="91440" bIns="45720" rtlCol="0" anchor="ctr">
            <a:noAutofit/>
          </a:bodyPr>
          <a:lstStyle/>
          <a:p>
            <a:r>
              <a:rPr lang="en-US" sz="4800" b="1" dirty="0">
                <a:solidFill>
                  <a:srgbClr val="5332B8"/>
                </a:solidFill>
                <a:latin typeface="+mn-lt"/>
              </a:rPr>
              <a:t>SQLi Tools</a:t>
            </a:r>
          </a:p>
        </p:txBody>
      </p:sp>
      <p:graphicFrame>
        <p:nvGraphicFramePr>
          <p:cNvPr id="15" name="Content Placeholder 3">
            <a:extLst>
              <a:ext uri="{FF2B5EF4-FFF2-40B4-BE49-F238E27FC236}">
                <a16:creationId xmlns:a16="http://schemas.microsoft.com/office/drawing/2014/main" id="{F0F3CA60-C9A0-63BB-0D12-B2B3DF44F010}"/>
              </a:ext>
            </a:extLst>
          </p:cNvPr>
          <p:cNvGraphicFramePr>
            <a:graphicFrameLocks noGrp="1"/>
          </p:cNvGraphicFramePr>
          <p:nvPr>
            <p:ph sz="half" idx="1"/>
            <p:extLst>
              <p:ext uri="{D42A27DB-BD31-4B8C-83A1-F6EECF244321}">
                <p14:modId xmlns:p14="http://schemas.microsoft.com/office/powerpoint/2010/main" val="2668271020"/>
              </p:ext>
            </p:extLst>
          </p:nvPr>
        </p:nvGraphicFramePr>
        <p:xfrm>
          <a:off x="3670300" y="2476500"/>
          <a:ext cx="8102600" cy="418598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70431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5375D73B-BD28-524C-62A4-4E9139AD62A8}"/>
              </a:ext>
            </a:extLst>
          </p:cNvPr>
          <p:cNvPicPr>
            <a:picLocks noChangeAspect="1"/>
          </p:cNvPicPr>
          <p:nvPr/>
        </p:nvPicPr>
        <p:blipFill rotWithShape="1">
          <a:blip r:embed="rId2">
            <a:alphaModFix amt="35000"/>
          </a:blip>
          <a:srcRect t="11409" b="4321"/>
          <a:stretch/>
        </p:blipFill>
        <p:spPr>
          <a:xfrm>
            <a:off x="20" y="10"/>
            <a:ext cx="12191980" cy="6857990"/>
          </a:xfrm>
          <a:prstGeom prst="rect">
            <a:avLst/>
          </a:prstGeom>
        </p:spPr>
      </p:pic>
      <p:sp>
        <p:nvSpPr>
          <p:cNvPr id="2" name="Title 1"/>
          <p:cNvSpPr>
            <a:spLocks noGrp="1"/>
          </p:cNvSpPr>
          <p:nvPr>
            <p:ph type="title"/>
          </p:nvPr>
        </p:nvSpPr>
        <p:spPr>
          <a:xfrm>
            <a:off x="838200" y="365125"/>
            <a:ext cx="10515600" cy="1325563"/>
          </a:xfrm>
        </p:spPr>
        <p:txBody>
          <a:bodyPr vert="horz" lIns="91440" tIns="45720" rIns="91440" bIns="45720" rtlCol="0" anchor="ctr">
            <a:normAutofit/>
          </a:bodyPr>
          <a:lstStyle/>
          <a:p>
            <a:r>
              <a:rPr lang="en-US" b="1" dirty="0">
                <a:solidFill>
                  <a:srgbClr val="FFFFFF"/>
                </a:solidFill>
                <a:latin typeface="+mn-lt"/>
              </a:rPr>
              <a:t>SQLi Detection Tools</a:t>
            </a:r>
          </a:p>
        </p:txBody>
      </p:sp>
      <p:graphicFrame>
        <p:nvGraphicFramePr>
          <p:cNvPr id="19" name="Content Placeholder 3">
            <a:extLst>
              <a:ext uri="{FF2B5EF4-FFF2-40B4-BE49-F238E27FC236}">
                <a16:creationId xmlns:a16="http://schemas.microsoft.com/office/drawing/2014/main" id="{97A84A3D-8905-706C-6607-F8E9B51BE9BE}"/>
              </a:ext>
            </a:extLst>
          </p:cNvPr>
          <p:cNvGraphicFramePr>
            <a:graphicFrameLocks noGrp="1"/>
          </p:cNvGraphicFramePr>
          <p:nvPr>
            <p:ph sz="half" idx="1"/>
            <p:extLst>
              <p:ext uri="{D42A27DB-BD31-4B8C-83A1-F6EECF244321}">
                <p14:modId xmlns:p14="http://schemas.microsoft.com/office/powerpoint/2010/main" val="2283791987"/>
              </p:ext>
            </p:extLst>
          </p:nvPr>
        </p:nvGraphicFramePr>
        <p:xfrm>
          <a:off x="685800" y="1549400"/>
          <a:ext cx="11163300" cy="46275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54328781"/>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2">
            <a:extLst>
              <a:ext uri="{FF2B5EF4-FFF2-40B4-BE49-F238E27FC236}">
                <a16:creationId xmlns:a16="http://schemas.microsoft.com/office/drawing/2014/main" id="{5D13CC36-B950-4F02-9BAF-9A7EB26739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Shape 44">
            <a:extLst>
              <a:ext uri="{FF2B5EF4-FFF2-40B4-BE49-F238E27FC236}">
                <a16:creationId xmlns:a16="http://schemas.microsoft.com/office/drawing/2014/main" id="{4F2E2428-58BA-458D-AA54-05502E63F3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748215" cy="6857999"/>
          </a:xfrm>
          <a:custGeom>
            <a:avLst/>
            <a:gdLst>
              <a:gd name="connsiteX0" fmla="*/ 0 w 9024730"/>
              <a:gd name="connsiteY0" fmla="*/ 0 h 6857999"/>
              <a:gd name="connsiteX1" fmla="*/ 9024730 w 9024730"/>
              <a:gd name="connsiteY1" fmla="*/ 0 h 6857999"/>
              <a:gd name="connsiteX2" fmla="*/ 9024730 w 9024730"/>
              <a:gd name="connsiteY2" fmla="*/ 2 h 6857999"/>
              <a:gd name="connsiteX3" fmla="*/ 8447016 w 9024730"/>
              <a:gd name="connsiteY3" fmla="*/ 2 h 6857999"/>
              <a:gd name="connsiteX4" fmla="*/ 8441214 w 9024730"/>
              <a:gd name="connsiteY4" fmla="*/ 14562 h 6857999"/>
              <a:gd name="connsiteX5" fmla="*/ 8445389 w 9024730"/>
              <a:gd name="connsiteY5" fmla="*/ 59077 h 6857999"/>
              <a:gd name="connsiteX6" fmla="*/ 8437086 w 9024730"/>
              <a:gd name="connsiteY6" fmla="*/ 107668 h 6857999"/>
              <a:gd name="connsiteX7" fmla="*/ 8458599 w 9024730"/>
              <a:gd name="connsiteY7" fmla="*/ 246136 h 6857999"/>
              <a:gd name="connsiteX8" fmla="*/ 8433237 w 9024730"/>
              <a:gd name="connsiteY8" fmla="*/ 372908 h 6857999"/>
              <a:gd name="connsiteX9" fmla="*/ 8430194 w 9024730"/>
              <a:gd name="connsiteY9" fmla="*/ 450607 h 6857999"/>
              <a:gd name="connsiteX10" fmla="*/ 8443315 w 9024730"/>
              <a:gd name="connsiteY10" fmla="*/ 812800 h 6857999"/>
              <a:gd name="connsiteX11" fmla="*/ 8453042 w 9024730"/>
              <a:gd name="connsiteY11" fmla="*/ 912727 h 6857999"/>
              <a:gd name="connsiteX12" fmla="*/ 8451649 w 9024730"/>
              <a:gd name="connsiteY12" fmla="*/ 989950 h 6857999"/>
              <a:gd name="connsiteX13" fmla="*/ 8455592 w 9024730"/>
              <a:gd name="connsiteY13" fmla="*/ 1141745 h 6857999"/>
              <a:gd name="connsiteX14" fmla="*/ 8470203 w 9024730"/>
              <a:gd name="connsiteY14" fmla="*/ 1265454 h 6857999"/>
              <a:gd name="connsiteX15" fmla="*/ 8499638 w 9024730"/>
              <a:gd name="connsiteY15" fmla="*/ 1385480 h 6857999"/>
              <a:gd name="connsiteX16" fmla="*/ 8518660 w 9024730"/>
              <a:gd name="connsiteY16" fmla="*/ 1458060 h 6857999"/>
              <a:gd name="connsiteX17" fmla="*/ 8539125 w 9024730"/>
              <a:gd name="connsiteY17" fmla="*/ 1513175 h 6857999"/>
              <a:gd name="connsiteX18" fmla="*/ 8570281 w 9024730"/>
              <a:gd name="connsiteY18" fmla="*/ 1570809 h 6857999"/>
              <a:gd name="connsiteX19" fmla="*/ 8605212 w 9024730"/>
              <a:gd name="connsiteY19" fmla="*/ 1638391 h 6857999"/>
              <a:gd name="connsiteX20" fmla="*/ 8626457 w 9024730"/>
              <a:gd name="connsiteY20" fmla="*/ 1742490 h 6857999"/>
              <a:gd name="connsiteX21" fmla="*/ 8654861 w 9024730"/>
              <a:gd name="connsiteY21" fmla="*/ 1818229 h 6857999"/>
              <a:gd name="connsiteX22" fmla="*/ 8648005 w 9024730"/>
              <a:gd name="connsiteY22" fmla="*/ 1862723 h 6857999"/>
              <a:gd name="connsiteX23" fmla="*/ 8654469 w 9024730"/>
              <a:gd name="connsiteY23" fmla="*/ 1917476 h 6857999"/>
              <a:gd name="connsiteX24" fmla="*/ 8649702 w 9024730"/>
              <a:gd name="connsiteY24" fmla="*/ 1972204 h 6857999"/>
              <a:gd name="connsiteX25" fmla="*/ 8656357 w 9024730"/>
              <a:gd name="connsiteY25" fmla="*/ 2054291 h 6857999"/>
              <a:gd name="connsiteX26" fmla="*/ 8648660 w 9024730"/>
              <a:gd name="connsiteY26" fmla="*/ 2227417 h 6857999"/>
              <a:gd name="connsiteX27" fmla="*/ 8607609 w 9024730"/>
              <a:gd name="connsiteY27" fmla="*/ 2510933 h 6857999"/>
              <a:gd name="connsiteX28" fmla="*/ 8608432 w 9024730"/>
              <a:gd name="connsiteY28" fmla="*/ 2741866 h 6857999"/>
              <a:gd name="connsiteX29" fmla="*/ 8619112 w 9024730"/>
              <a:gd name="connsiteY29" fmla="*/ 2864935 h 6857999"/>
              <a:gd name="connsiteX30" fmla="*/ 8627742 w 9024730"/>
              <a:gd name="connsiteY30" fmla="*/ 2950807 h 6857999"/>
              <a:gd name="connsiteX31" fmla="*/ 8611822 w 9024730"/>
              <a:gd name="connsiteY31" fmla="*/ 2978246 h 6857999"/>
              <a:gd name="connsiteX32" fmla="*/ 8608239 w 9024730"/>
              <a:gd name="connsiteY32" fmla="*/ 2995916 h 6857999"/>
              <a:gd name="connsiteX33" fmla="*/ 8598647 w 9024730"/>
              <a:gd name="connsiteY33" fmla="*/ 2998648 h 6857999"/>
              <a:gd name="connsiteX34" fmla="*/ 8587108 w 9024730"/>
              <a:gd name="connsiteY34" fmla="*/ 3023630 h 6857999"/>
              <a:gd name="connsiteX35" fmla="*/ 8577885 w 9024730"/>
              <a:gd name="connsiteY35" fmla="*/ 3096975 h 6857999"/>
              <a:gd name="connsiteX36" fmla="*/ 8557492 w 9024730"/>
              <a:gd name="connsiteY36" fmla="*/ 3216657 h 6857999"/>
              <a:gd name="connsiteX37" fmla="*/ 8560894 w 9024730"/>
              <a:gd name="connsiteY37" fmla="*/ 3310980 h 6857999"/>
              <a:gd name="connsiteX38" fmla="*/ 8547852 w 9024730"/>
              <a:gd name="connsiteY38" fmla="*/ 3344725 h 6857999"/>
              <a:gd name="connsiteX39" fmla="*/ 8535427 w 9024730"/>
              <a:gd name="connsiteY39" fmla="*/ 3393250 h 6857999"/>
              <a:gd name="connsiteX40" fmla="*/ 8520092 w 9024730"/>
              <a:gd name="connsiteY40" fmla="*/ 3514536 h 6857999"/>
              <a:gd name="connsiteX41" fmla="*/ 8497231 w 9024730"/>
              <a:gd name="connsiteY41" fmla="*/ 3686149 h 6857999"/>
              <a:gd name="connsiteX42" fmla="*/ 8489799 w 9024730"/>
              <a:gd name="connsiteY42" fmla="*/ 3692208 h 6857999"/>
              <a:gd name="connsiteX43" fmla="*/ 8475804 w 9024730"/>
              <a:gd name="connsiteY43" fmla="*/ 3776022 h 6857999"/>
              <a:gd name="connsiteX44" fmla="*/ 8471279 w 9024730"/>
              <a:gd name="connsiteY44" fmla="*/ 3977138 h 6857999"/>
              <a:gd name="connsiteX45" fmla="*/ 8408913 w 9024730"/>
              <a:gd name="connsiteY45" fmla="*/ 4222149 h 6857999"/>
              <a:gd name="connsiteX46" fmla="*/ 8402112 w 9024730"/>
              <a:gd name="connsiteY46" fmla="*/ 4364683 h 6857999"/>
              <a:gd name="connsiteX47" fmla="*/ 8393355 w 9024730"/>
              <a:gd name="connsiteY47" fmla="*/ 4462471 h 6857999"/>
              <a:gd name="connsiteX48" fmla="*/ 8376166 w 9024730"/>
              <a:gd name="connsiteY48" fmla="*/ 4574052 h 6857999"/>
              <a:gd name="connsiteX49" fmla="*/ 8341678 w 9024730"/>
              <a:gd name="connsiteY49" fmla="*/ 4667756 h 6857999"/>
              <a:gd name="connsiteX50" fmla="*/ 8273661 w 9024730"/>
              <a:gd name="connsiteY50" fmla="*/ 4799019 h 6857999"/>
              <a:gd name="connsiteX51" fmla="*/ 8256132 w 9024730"/>
              <a:gd name="connsiteY51" fmla="*/ 4849614 h 6857999"/>
              <a:gd name="connsiteX52" fmla="*/ 8226804 w 9024730"/>
              <a:gd name="connsiteY52" fmla="*/ 4919971 h 6857999"/>
              <a:gd name="connsiteX53" fmla="*/ 8171825 w 9024730"/>
              <a:gd name="connsiteY53" fmla="*/ 5010766 h 6857999"/>
              <a:gd name="connsiteX54" fmla="*/ 8143172 w 9024730"/>
              <a:gd name="connsiteY54" fmla="*/ 5088190 h 6857999"/>
              <a:gd name="connsiteX55" fmla="*/ 8126363 w 9024730"/>
              <a:gd name="connsiteY55" fmla="*/ 5143922 h 6857999"/>
              <a:gd name="connsiteX56" fmla="*/ 8103782 w 9024730"/>
              <a:gd name="connsiteY56" fmla="*/ 5284346 h 6857999"/>
              <a:gd name="connsiteX57" fmla="*/ 8084361 w 9024730"/>
              <a:gd name="connsiteY57" fmla="*/ 5390948 h 6857999"/>
              <a:gd name="connsiteX58" fmla="*/ 8062552 w 9024730"/>
              <a:gd name="connsiteY58" fmla="*/ 5470854 h 6857999"/>
              <a:gd name="connsiteX59" fmla="*/ 8057342 w 9024730"/>
              <a:gd name="connsiteY59" fmla="*/ 5529643 h 6857999"/>
              <a:gd name="connsiteX60" fmla="*/ 8044923 w 9024730"/>
              <a:gd name="connsiteY60" fmla="*/ 5597292 h 6857999"/>
              <a:gd name="connsiteX61" fmla="*/ 8035233 w 9024730"/>
              <a:gd name="connsiteY61" fmla="*/ 5608899 h 6857999"/>
              <a:gd name="connsiteX62" fmla="*/ 8018178 w 9024730"/>
              <a:gd name="connsiteY62" fmla="*/ 5684911 h 6857999"/>
              <a:gd name="connsiteX63" fmla="*/ 8018018 w 9024730"/>
              <a:gd name="connsiteY63" fmla="*/ 5755776 h 6857999"/>
              <a:gd name="connsiteX64" fmla="*/ 8008640 w 9024730"/>
              <a:gd name="connsiteY64" fmla="*/ 5889599 h 6857999"/>
              <a:gd name="connsiteX65" fmla="*/ 8013542 w 9024730"/>
              <a:gd name="connsiteY65" fmla="*/ 5989744 h 6857999"/>
              <a:gd name="connsiteX66" fmla="*/ 7980757 w 9024730"/>
              <a:gd name="connsiteY66" fmla="*/ 6084926 h 6857999"/>
              <a:gd name="connsiteX67" fmla="*/ 7975907 w 9024730"/>
              <a:gd name="connsiteY67" fmla="*/ 6346549 h 6857999"/>
              <a:gd name="connsiteX68" fmla="*/ 7974221 w 9024730"/>
              <a:gd name="connsiteY68" fmla="*/ 6527527 h 6857999"/>
              <a:gd name="connsiteX69" fmla="*/ 7979135 w 9024730"/>
              <a:gd name="connsiteY69" fmla="*/ 6627129 h 6857999"/>
              <a:gd name="connsiteX70" fmla="*/ 7979404 w 9024730"/>
              <a:gd name="connsiteY70" fmla="*/ 6694819 h 6857999"/>
              <a:gd name="connsiteX71" fmla="*/ 8009526 w 9024730"/>
              <a:gd name="connsiteY71" fmla="*/ 6765445 h 6857999"/>
              <a:gd name="connsiteX72" fmla="*/ 8018211 w 9024730"/>
              <a:gd name="connsiteY72" fmla="*/ 6844697 h 6857999"/>
              <a:gd name="connsiteX73" fmla="*/ 8019608 w 9024730"/>
              <a:gd name="connsiteY73" fmla="*/ 6857999 h 6857999"/>
              <a:gd name="connsiteX74" fmla="*/ 0 w 9024730"/>
              <a:gd name="connsiteY74"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9024730" h="6857999">
                <a:moveTo>
                  <a:pt x="0" y="0"/>
                </a:moveTo>
                <a:lnTo>
                  <a:pt x="9024730" y="0"/>
                </a:lnTo>
                <a:lnTo>
                  <a:pt x="9024730" y="2"/>
                </a:lnTo>
                <a:lnTo>
                  <a:pt x="8447016" y="2"/>
                </a:lnTo>
                <a:lnTo>
                  <a:pt x="8441214" y="14562"/>
                </a:lnTo>
                <a:lnTo>
                  <a:pt x="8445389" y="59077"/>
                </a:lnTo>
                <a:cubicBezTo>
                  <a:pt x="8445971" y="76949"/>
                  <a:pt x="8436504" y="89796"/>
                  <a:pt x="8437086" y="107668"/>
                </a:cubicBezTo>
                <a:cubicBezTo>
                  <a:pt x="8417947" y="138162"/>
                  <a:pt x="8459241" y="201929"/>
                  <a:pt x="8458599" y="246136"/>
                </a:cubicBezTo>
                <a:cubicBezTo>
                  <a:pt x="8457958" y="290343"/>
                  <a:pt x="8471649" y="364179"/>
                  <a:pt x="8433237" y="372908"/>
                </a:cubicBezTo>
                <a:cubicBezTo>
                  <a:pt x="8426916" y="431308"/>
                  <a:pt x="8438389" y="357606"/>
                  <a:pt x="8430194" y="450607"/>
                </a:cubicBezTo>
                <a:cubicBezTo>
                  <a:pt x="8466727" y="551950"/>
                  <a:pt x="8430182" y="787036"/>
                  <a:pt x="8443315" y="812800"/>
                </a:cubicBezTo>
                <a:cubicBezTo>
                  <a:pt x="8478999" y="860799"/>
                  <a:pt x="8435788" y="854953"/>
                  <a:pt x="8453042" y="912727"/>
                </a:cubicBezTo>
                <a:cubicBezTo>
                  <a:pt x="8462900" y="945986"/>
                  <a:pt x="8451223" y="951781"/>
                  <a:pt x="8451649" y="989950"/>
                </a:cubicBezTo>
                <a:cubicBezTo>
                  <a:pt x="8452074" y="1028120"/>
                  <a:pt x="8452500" y="1095828"/>
                  <a:pt x="8455592" y="1141745"/>
                </a:cubicBezTo>
                <a:cubicBezTo>
                  <a:pt x="8458684" y="1187662"/>
                  <a:pt x="8470047" y="1234783"/>
                  <a:pt x="8470203" y="1265454"/>
                </a:cubicBezTo>
                <a:cubicBezTo>
                  <a:pt x="8458947" y="1304052"/>
                  <a:pt x="8496012" y="1370755"/>
                  <a:pt x="8499638" y="1385480"/>
                </a:cubicBezTo>
                <a:cubicBezTo>
                  <a:pt x="8514485" y="1422714"/>
                  <a:pt x="8525070" y="1428103"/>
                  <a:pt x="8518660" y="1458060"/>
                </a:cubicBezTo>
                <a:cubicBezTo>
                  <a:pt x="8518783" y="1468057"/>
                  <a:pt x="8539003" y="1503177"/>
                  <a:pt x="8539125" y="1513175"/>
                </a:cubicBezTo>
                <a:lnTo>
                  <a:pt x="8570281" y="1570809"/>
                </a:lnTo>
                <a:cubicBezTo>
                  <a:pt x="8597636" y="1617136"/>
                  <a:pt x="8594573" y="1601443"/>
                  <a:pt x="8605212" y="1638391"/>
                </a:cubicBezTo>
                <a:cubicBezTo>
                  <a:pt x="8629645" y="1719640"/>
                  <a:pt x="8613884" y="1715203"/>
                  <a:pt x="8626457" y="1742490"/>
                </a:cubicBezTo>
                <a:lnTo>
                  <a:pt x="8654861" y="1818229"/>
                </a:lnTo>
                <a:cubicBezTo>
                  <a:pt x="8657202" y="1824059"/>
                  <a:pt x="8651899" y="1851211"/>
                  <a:pt x="8648005" y="1862723"/>
                </a:cubicBezTo>
                <a:lnTo>
                  <a:pt x="8654469" y="1917476"/>
                </a:lnTo>
                <a:lnTo>
                  <a:pt x="8649702" y="1972204"/>
                </a:lnTo>
                <a:cubicBezTo>
                  <a:pt x="8652251" y="1979569"/>
                  <a:pt x="8651461" y="2048203"/>
                  <a:pt x="8656357" y="2054291"/>
                </a:cubicBezTo>
                <a:cubicBezTo>
                  <a:pt x="8672645" y="2141657"/>
                  <a:pt x="8632397" y="2189849"/>
                  <a:pt x="8648660" y="2227417"/>
                </a:cubicBezTo>
                <a:cubicBezTo>
                  <a:pt x="8639941" y="2317591"/>
                  <a:pt x="8613796" y="2407644"/>
                  <a:pt x="8607609" y="2510933"/>
                </a:cubicBezTo>
                <a:cubicBezTo>
                  <a:pt x="8633490" y="2597916"/>
                  <a:pt x="8602674" y="2649734"/>
                  <a:pt x="8608432" y="2741866"/>
                </a:cubicBezTo>
                <a:cubicBezTo>
                  <a:pt x="8630300" y="2779815"/>
                  <a:pt x="8631929" y="2817058"/>
                  <a:pt x="8619112" y="2864935"/>
                </a:cubicBezTo>
                <a:cubicBezTo>
                  <a:pt x="8655820" y="2860552"/>
                  <a:pt x="8588374" y="2937673"/>
                  <a:pt x="8627742" y="2950807"/>
                </a:cubicBezTo>
                <a:lnTo>
                  <a:pt x="8611822" y="2978246"/>
                </a:lnTo>
                <a:lnTo>
                  <a:pt x="8608239" y="2995916"/>
                </a:lnTo>
                <a:lnTo>
                  <a:pt x="8598647" y="2998648"/>
                </a:lnTo>
                <a:lnTo>
                  <a:pt x="8587108" y="3023630"/>
                </a:lnTo>
                <a:cubicBezTo>
                  <a:pt x="8584111" y="3033333"/>
                  <a:pt x="8577413" y="3084375"/>
                  <a:pt x="8577885" y="3096975"/>
                </a:cubicBezTo>
                <a:cubicBezTo>
                  <a:pt x="8594321" y="3142205"/>
                  <a:pt x="8535131" y="3160433"/>
                  <a:pt x="8557492" y="3216657"/>
                </a:cubicBezTo>
                <a:cubicBezTo>
                  <a:pt x="8562518" y="3237178"/>
                  <a:pt x="8573573" y="3299737"/>
                  <a:pt x="8560894" y="3310980"/>
                </a:cubicBezTo>
                <a:cubicBezTo>
                  <a:pt x="8557601" y="3323902"/>
                  <a:pt x="8561083" y="3339340"/>
                  <a:pt x="8547852" y="3344725"/>
                </a:cubicBezTo>
                <a:cubicBezTo>
                  <a:pt x="8531788" y="3353908"/>
                  <a:pt x="8553430" y="3400659"/>
                  <a:pt x="8535427" y="3393250"/>
                </a:cubicBezTo>
                <a:cubicBezTo>
                  <a:pt x="8550195" y="3426421"/>
                  <a:pt x="8529553" y="3487753"/>
                  <a:pt x="8520092" y="3514536"/>
                </a:cubicBezTo>
                <a:cubicBezTo>
                  <a:pt x="8513726" y="3563353"/>
                  <a:pt x="8500070" y="3650327"/>
                  <a:pt x="8497231" y="3686149"/>
                </a:cubicBezTo>
                <a:cubicBezTo>
                  <a:pt x="8494574" y="3687657"/>
                  <a:pt x="8493370" y="3677229"/>
                  <a:pt x="8489799" y="3692208"/>
                </a:cubicBezTo>
                <a:cubicBezTo>
                  <a:pt x="8486228" y="3707187"/>
                  <a:pt x="8465938" y="3757479"/>
                  <a:pt x="8475804" y="3776022"/>
                </a:cubicBezTo>
                <a:cubicBezTo>
                  <a:pt x="8441061" y="3875691"/>
                  <a:pt x="8487451" y="3939839"/>
                  <a:pt x="8471279" y="3977138"/>
                </a:cubicBezTo>
                <a:cubicBezTo>
                  <a:pt x="8465599" y="4067300"/>
                  <a:pt x="8419685" y="4164564"/>
                  <a:pt x="8408913" y="4222149"/>
                </a:cubicBezTo>
                <a:cubicBezTo>
                  <a:pt x="8403583" y="4287917"/>
                  <a:pt x="8398240" y="4339232"/>
                  <a:pt x="8402112" y="4364683"/>
                </a:cubicBezTo>
                <a:lnTo>
                  <a:pt x="8393355" y="4462471"/>
                </a:lnTo>
                <a:cubicBezTo>
                  <a:pt x="8396004" y="4503329"/>
                  <a:pt x="8376320" y="4548111"/>
                  <a:pt x="8376166" y="4574052"/>
                </a:cubicBezTo>
                <a:cubicBezTo>
                  <a:pt x="8369380" y="4670665"/>
                  <a:pt x="8352302" y="4649921"/>
                  <a:pt x="8341678" y="4667756"/>
                </a:cubicBezTo>
                <a:cubicBezTo>
                  <a:pt x="8320864" y="4705850"/>
                  <a:pt x="8290794" y="4758928"/>
                  <a:pt x="8273661" y="4799019"/>
                </a:cubicBezTo>
                <a:cubicBezTo>
                  <a:pt x="8254323" y="4834076"/>
                  <a:pt x="8262378" y="4811645"/>
                  <a:pt x="8256132" y="4849614"/>
                </a:cubicBezTo>
                <a:cubicBezTo>
                  <a:pt x="8239320" y="4853334"/>
                  <a:pt x="8207060" y="4883089"/>
                  <a:pt x="8226804" y="4919971"/>
                </a:cubicBezTo>
                <a:lnTo>
                  <a:pt x="8171825" y="5010766"/>
                </a:lnTo>
                <a:cubicBezTo>
                  <a:pt x="8150097" y="4983259"/>
                  <a:pt x="8165842" y="5107656"/>
                  <a:pt x="8143172" y="5088190"/>
                </a:cubicBezTo>
                <a:cubicBezTo>
                  <a:pt x="8128060" y="5102008"/>
                  <a:pt x="8138350" y="5118851"/>
                  <a:pt x="8126363" y="5143922"/>
                </a:cubicBezTo>
                <a:cubicBezTo>
                  <a:pt x="8116335" y="5192745"/>
                  <a:pt x="8111851" y="5226225"/>
                  <a:pt x="8103782" y="5284346"/>
                </a:cubicBezTo>
                <a:cubicBezTo>
                  <a:pt x="8101016" y="5338386"/>
                  <a:pt x="8095811" y="5337325"/>
                  <a:pt x="8084361" y="5390948"/>
                </a:cubicBezTo>
                <a:cubicBezTo>
                  <a:pt x="8082912" y="5429655"/>
                  <a:pt x="8063705" y="5449508"/>
                  <a:pt x="8062552" y="5470854"/>
                </a:cubicBezTo>
                <a:cubicBezTo>
                  <a:pt x="8086776" y="5526328"/>
                  <a:pt x="8037513" y="5496377"/>
                  <a:pt x="8057342" y="5529643"/>
                </a:cubicBezTo>
                <a:cubicBezTo>
                  <a:pt x="8050653" y="5550879"/>
                  <a:pt x="8055939" y="5587444"/>
                  <a:pt x="8044923" y="5597292"/>
                </a:cubicBezTo>
                <a:lnTo>
                  <a:pt x="8035233" y="5608899"/>
                </a:lnTo>
                <a:cubicBezTo>
                  <a:pt x="8030775" y="5623501"/>
                  <a:pt x="8021047" y="5660431"/>
                  <a:pt x="8018178" y="5684911"/>
                </a:cubicBezTo>
                <a:cubicBezTo>
                  <a:pt x="8005590" y="5692608"/>
                  <a:pt x="8011744" y="5734344"/>
                  <a:pt x="8018018" y="5755776"/>
                </a:cubicBezTo>
                <a:cubicBezTo>
                  <a:pt x="8019409" y="5792777"/>
                  <a:pt x="7989082" y="5848613"/>
                  <a:pt x="8008640" y="5889599"/>
                </a:cubicBezTo>
                <a:cubicBezTo>
                  <a:pt x="8011480" y="5932097"/>
                  <a:pt x="8009486" y="5940901"/>
                  <a:pt x="8013542" y="5989744"/>
                </a:cubicBezTo>
                <a:cubicBezTo>
                  <a:pt x="8022089" y="6020787"/>
                  <a:pt x="7982918" y="6024963"/>
                  <a:pt x="7980757" y="6084926"/>
                </a:cubicBezTo>
                <a:cubicBezTo>
                  <a:pt x="7974117" y="6134231"/>
                  <a:pt x="7999371" y="6240432"/>
                  <a:pt x="7975907" y="6346549"/>
                </a:cubicBezTo>
                <a:cubicBezTo>
                  <a:pt x="7987225" y="6409741"/>
                  <a:pt x="7980509" y="6468689"/>
                  <a:pt x="7974221" y="6527527"/>
                </a:cubicBezTo>
                <a:cubicBezTo>
                  <a:pt x="7955361" y="6585667"/>
                  <a:pt x="7987786" y="6579284"/>
                  <a:pt x="7979135" y="6627129"/>
                </a:cubicBezTo>
                <a:cubicBezTo>
                  <a:pt x="7983057" y="6635153"/>
                  <a:pt x="7984986" y="6697665"/>
                  <a:pt x="7979404" y="6694819"/>
                </a:cubicBezTo>
                <a:cubicBezTo>
                  <a:pt x="7981755" y="6716947"/>
                  <a:pt x="8003903" y="6732844"/>
                  <a:pt x="8009526" y="6765445"/>
                </a:cubicBezTo>
                <a:cubicBezTo>
                  <a:pt x="8011113" y="6776325"/>
                  <a:pt x="8014662" y="6810511"/>
                  <a:pt x="8018211" y="6844697"/>
                </a:cubicBezTo>
                <a:lnTo>
                  <a:pt x="8019608" y="6857999"/>
                </a:lnTo>
                <a:lnTo>
                  <a:pt x="0" y="685799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311534" y="86814"/>
            <a:ext cx="6881026" cy="1322887"/>
          </a:xfrm>
        </p:spPr>
        <p:txBody>
          <a:bodyPr vert="horz" lIns="91440" tIns="45720" rIns="91440" bIns="45720" rtlCol="0" anchor="ctr">
            <a:normAutofit/>
          </a:bodyPr>
          <a:lstStyle/>
          <a:p>
            <a:r>
              <a:rPr lang="en-US" kern="1200" dirty="0">
                <a:solidFill>
                  <a:schemeClr val="tx1"/>
                </a:solidFill>
                <a:latin typeface="+mn-lt"/>
                <a:ea typeface="+mj-ea"/>
                <a:cs typeface="+mj-cs"/>
              </a:rPr>
              <a:t>Evading SQLi Detection</a:t>
            </a:r>
          </a:p>
        </p:txBody>
      </p:sp>
      <p:sp>
        <p:nvSpPr>
          <p:cNvPr id="4" name="Content Placeholder 3"/>
          <p:cNvSpPr>
            <a:spLocks noGrp="1"/>
          </p:cNvSpPr>
          <p:nvPr>
            <p:ph sz="half" idx="1"/>
          </p:nvPr>
        </p:nvSpPr>
        <p:spPr>
          <a:xfrm>
            <a:off x="489046" y="1193800"/>
            <a:ext cx="7334154" cy="5257800"/>
          </a:xfrm>
        </p:spPr>
        <p:txBody>
          <a:bodyPr vert="horz" lIns="91440" tIns="45720" rIns="91440" bIns="45720" rtlCol="0">
            <a:normAutofit lnSpcReduction="10000"/>
          </a:bodyPr>
          <a:lstStyle/>
          <a:p>
            <a:pPr marL="0" indent="0">
              <a:lnSpc>
                <a:spcPct val="120000"/>
              </a:lnSpc>
              <a:spcAft>
                <a:spcPts val="1200"/>
              </a:spcAft>
              <a:buNone/>
            </a:pPr>
            <a:r>
              <a:rPr lang="en-US" sz="1900" b="1" dirty="0">
                <a:latin typeface="Calibri" panose="020F0502020204030204" pitchFamily="34" charset="0"/>
                <a:cs typeface="Calibri" panose="020F0502020204030204" pitchFamily="34" charset="0"/>
              </a:rPr>
              <a:t>Signature Evasion Techniques</a:t>
            </a:r>
          </a:p>
          <a:p>
            <a:pPr lvl="1">
              <a:lnSpc>
                <a:spcPct val="120000"/>
              </a:lnSpc>
              <a:spcBef>
                <a:spcPts val="400"/>
              </a:spcBef>
              <a:buClr>
                <a:srgbClr val="00B050"/>
              </a:buClr>
            </a:pPr>
            <a:r>
              <a:rPr lang="en-US" sz="1800" dirty="0"/>
              <a:t>In-line Comment</a:t>
            </a:r>
          </a:p>
          <a:p>
            <a:pPr lvl="1">
              <a:lnSpc>
                <a:spcPct val="120000"/>
              </a:lnSpc>
              <a:spcBef>
                <a:spcPts val="400"/>
              </a:spcBef>
              <a:buClr>
                <a:srgbClr val="00B050"/>
              </a:buClr>
            </a:pPr>
            <a:r>
              <a:rPr lang="en-US" sz="1800" dirty="0"/>
              <a:t>Char Encoding</a:t>
            </a:r>
          </a:p>
          <a:p>
            <a:pPr lvl="1">
              <a:lnSpc>
                <a:spcPct val="120000"/>
              </a:lnSpc>
              <a:spcBef>
                <a:spcPts val="400"/>
              </a:spcBef>
              <a:buClr>
                <a:srgbClr val="00B050"/>
              </a:buClr>
            </a:pPr>
            <a:r>
              <a:rPr lang="en-US" sz="1800" dirty="0"/>
              <a:t>String Concatenation</a:t>
            </a:r>
          </a:p>
          <a:p>
            <a:pPr lvl="1">
              <a:lnSpc>
                <a:spcPct val="120000"/>
              </a:lnSpc>
              <a:spcBef>
                <a:spcPts val="400"/>
              </a:spcBef>
              <a:buClr>
                <a:srgbClr val="00B050"/>
              </a:buClr>
            </a:pPr>
            <a:r>
              <a:rPr lang="en-US" sz="1800" dirty="0"/>
              <a:t>Obfuscated Code</a:t>
            </a:r>
          </a:p>
          <a:p>
            <a:pPr lvl="1">
              <a:lnSpc>
                <a:spcPct val="120000"/>
              </a:lnSpc>
              <a:spcBef>
                <a:spcPts val="400"/>
              </a:spcBef>
              <a:buClr>
                <a:srgbClr val="00B050"/>
              </a:buClr>
            </a:pPr>
            <a:r>
              <a:rPr lang="en-US" sz="1800" dirty="0"/>
              <a:t>Manipulating White Spaces</a:t>
            </a:r>
          </a:p>
          <a:p>
            <a:pPr lvl="1">
              <a:lnSpc>
                <a:spcPct val="120000"/>
              </a:lnSpc>
              <a:spcBef>
                <a:spcPts val="400"/>
              </a:spcBef>
              <a:buClr>
                <a:srgbClr val="00B050"/>
              </a:buClr>
            </a:pPr>
            <a:r>
              <a:rPr lang="en-US" sz="1800" dirty="0"/>
              <a:t>Hex Encoding</a:t>
            </a:r>
          </a:p>
          <a:p>
            <a:pPr lvl="1">
              <a:lnSpc>
                <a:spcPct val="120000"/>
              </a:lnSpc>
              <a:spcBef>
                <a:spcPts val="400"/>
              </a:spcBef>
              <a:buClr>
                <a:srgbClr val="00B050"/>
              </a:buClr>
            </a:pPr>
            <a:r>
              <a:rPr lang="en-US" sz="1800" dirty="0"/>
              <a:t>Sophisticated Matches</a:t>
            </a:r>
          </a:p>
          <a:p>
            <a:pPr lvl="1">
              <a:lnSpc>
                <a:spcPct val="120000"/>
              </a:lnSpc>
              <a:spcBef>
                <a:spcPts val="400"/>
              </a:spcBef>
              <a:buClr>
                <a:srgbClr val="00B050"/>
              </a:buClr>
            </a:pPr>
            <a:r>
              <a:rPr lang="en-US" sz="1800" dirty="0"/>
              <a:t>URL Encoding</a:t>
            </a:r>
          </a:p>
          <a:p>
            <a:pPr lvl="1">
              <a:lnSpc>
                <a:spcPct val="120000"/>
              </a:lnSpc>
              <a:spcBef>
                <a:spcPts val="400"/>
              </a:spcBef>
              <a:buClr>
                <a:srgbClr val="00B050"/>
              </a:buClr>
            </a:pPr>
            <a:r>
              <a:rPr lang="en-US" sz="1800" dirty="0"/>
              <a:t>Null Byte</a:t>
            </a:r>
          </a:p>
          <a:p>
            <a:pPr lvl="1">
              <a:lnSpc>
                <a:spcPct val="120000"/>
              </a:lnSpc>
              <a:spcBef>
                <a:spcPts val="400"/>
              </a:spcBef>
              <a:buClr>
                <a:srgbClr val="00B050"/>
              </a:buClr>
            </a:pPr>
            <a:r>
              <a:rPr lang="en-US" sz="1800" dirty="0"/>
              <a:t>Case Variation</a:t>
            </a:r>
          </a:p>
          <a:p>
            <a:pPr lvl="1">
              <a:lnSpc>
                <a:spcPct val="120000"/>
              </a:lnSpc>
              <a:spcBef>
                <a:spcPts val="400"/>
              </a:spcBef>
              <a:buClr>
                <a:srgbClr val="00B050"/>
              </a:buClr>
            </a:pPr>
            <a:r>
              <a:rPr lang="en-US" sz="1800" dirty="0"/>
              <a:t>Declare Variables</a:t>
            </a:r>
          </a:p>
          <a:p>
            <a:pPr lvl="1">
              <a:lnSpc>
                <a:spcPct val="120000"/>
              </a:lnSpc>
              <a:spcBef>
                <a:spcPts val="400"/>
              </a:spcBef>
              <a:buClr>
                <a:srgbClr val="00B050"/>
              </a:buClr>
            </a:pPr>
            <a:r>
              <a:rPr lang="en-US" sz="1800" dirty="0"/>
              <a:t>IP Fragmentation</a:t>
            </a:r>
          </a:p>
          <a:p>
            <a:pPr lvl="1">
              <a:lnSpc>
                <a:spcPct val="120000"/>
              </a:lnSpc>
              <a:spcBef>
                <a:spcPts val="400"/>
              </a:spcBef>
              <a:buClr>
                <a:srgbClr val="00B050"/>
              </a:buClr>
            </a:pPr>
            <a:r>
              <a:rPr lang="en-US" sz="1800" dirty="0"/>
              <a:t>Variation</a:t>
            </a:r>
          </a:p>
        </p:txBody>
      </p:sp>
      <p:pic>
        <p:nvPicPr>
          <p:cNvPr id="8" name="Picture 5">
            <a:extLst>
              <a:ext uri="{FF2B5EF4-FFF2-40B4-BE49-F238E27FC236}">
                <a16:creationId xmlns:a16="http://schemas.microsoft.com/office/drawing/2014/main" id="{EB80E265-B6E8-DFA7-5FBC-360B9082FF58}"/>
              </a:ext>
            </a:extLst>
          </p:cNvPr>
          <p:cNvPicPr>
            <a:picLocks noChangeAspect="1"/>
          </p:cNvPicPr>
          <p:nvPr/>
        </p:nvPicPr>
        <p:blipFill rotWithShape="1">
          <a:blip r:embed="rId2">
            <a:extLst>
              <a:ext uri="{28A0092B-C50C-407E-A947-70E740481C1C}">
                <a14:useLocalDpi xmlns:a14="http://schemas.microsoft.com/office/drawing/2010/main" val="0"/>
              </a:ext>
            </a:extLst>
          </a:blip>
          <a:srcRect l="21174" r="2" b="2"/>
          <a:stretch/>
        </p:blipFill>
        <p:spPr>
          <a:xfrm>
            <a:off x="8504786" y="2191034"/>
            <a:ext cx="3687214" cy="2292066"/>
          </a:xfrm>
          <a:prstGeom prst="rect">
            <a:avLst/>
          </a:prstGeom>
        </p:spPr>
      </p:pic>
    </p:spTree>
    <p:extLst>
      <p:ext uri="{BB962C8B-B14F-4D97-AF65-F5344CB8AC3E}">
        <p14:creationId xmlns:p14="http://schemas.microsoft.com/office/powerpoint/2010/main" val="951005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16">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89560" y="856180"/>
            <a:ext cx="4560584" cy="1128068"/>
          </a:xfrm>
        </p:spPr>
        <p:txBody>
          <a:bodyPr vert="horz" lIns="91440" tIns="45720" rIns="91440" bIns="45720" rtlCol="0" anchor="ctr">
            <a:normAutofit/>
          </a:bodyPr>
          <a:lstStyle/>
          <a:p>
            <a:r>
              <a:rPr lang="en-US" sz="4000" dirty="0"/>
              <a:t>Countermeasures</a:t>
            </a:r>
          </a:p>
        </p:txBody>
      </p:sp>
      <p:grpSp>
        <p:nvGrpSpPr>
          <p:cNvPr id="24" name="Group 18">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0" name="Rectangle 19">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Rectangle 22">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p:cNvSpPr>
            <a:spLocks noGrp="1"/>
          </p:cNvSpPr>
          <p:nvPr>
            <p:ph sz="half" idx="1"/>
          </p:nvPr>
        </p:nvSpPr>
        <p:spPr>
          <a:xfrm>
            <a:off x="590719" y="2279187"/>
            <a:ext cx="4946481" cy="4030903"/>
          </a:xfrm>
        </p:spPr>
        <p:txBody>
          <a:bodyPr vert="horz" lIns="91440" tIns="45720" rIns="91440" bIns="45720" rtlCol="0" anchor="ctr">
            <a:noAutofit/>
          </a:bodyPr>
          <a:lstStyle/>
          <a:p>
            <a:pPr marL="0" indent="0">
              <a:buNone/>
            </a:pPr>
            <a:r>
              <a:rPr lang="en-US" sz="1800" b="1" dirty="0"/>
              <a:t>Common Web Applications Vulnerabilities</a:t>
            </a:r>
          </a:p>
          <a:p>
            <a:r>
              <a:rPr lang="en-US" sz="1800" dirty="0"/>
              <a:t>The database server runs OS commands</a:t>
            </a:r>
          </a:p>
          <a:p>
            <a:r>
              <a:rPr lang="en-US" sz="1800" dirty="0"/>
              <a:t>Using a privileged account to connect to the database</a:t>
            </a:r>
          </a:p>
          <a:p>
            <a:r>
              <a:rPr lang="en-US" sz="1800" dirty="0"/>
              <a:t>Error message revealing important information</a:t>
            </a:r>
          </a:p>
          <a:p>
            <a:pPr marL="0" indent="0">
              <a:buNone/>
            </a:pPr>
            <a:r>
              <a:rPr lang="en-US" sz="1800" b="1" dirty="0"/>
              <a:t>Defense mechanisms</a:t>
            </a:r>
          </a:p>
          <a:p>
            <a:r>
              <a:rPr lang="en-US" sz="1800" dirty="0"/>
              <a:t>Minimizing Privileges</a:t>
            </a:r>
          </a:p>
          <a:p>
            <a:r>
              <a:rPr lang="en-US" sz="1800" dirty="0"/>
              <a:t>Firewalling the SQL Server</a:t>
            </a:r>
          </a:p>
          <a:p>
            <a:r>
              <a:rPr lang="en-US" sz="1800" dirty="0"/>
              <a:t>Use Type-Safe SQL Parameters</a:t>
            </a:r>
          </a:p>
          <a:p>
            <a:r>
              <a:rPr lang="en-US" sz="1800" dirty="0"/>
              <a:t>In the Application: Input Validation, Output Encoding, Enforce Least Privilege</a:t>
            </a:r>
          </a:p>
        </p:txBody>
      </p:sp>
      <p:sp>
        <p:nvSpPr>
          <p:cNvPr id="25" name="Rectangle 24">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Illuminated server room panel">
            <a:extLst>
              <a:ext uri="{FF2B5EF4-FFF2-40B4-BE49-F238E27FC236}">
                <a16:creationId xmlns:a16="http://schemas.microsoft.com/office/drawing/2014/main" id="{54A1226B-7B27-26A5-98B8-CF773BC8BCBF}"/>
              </a:ext>
            </a:extLst>
          </p:cNvPr>
          <p:cNvPicPr>
            <a:picLocks noChangeAspect="1"/>
          </p:cNvPicPr>
          <p:nvPr/>
        </p:nvPicPr>
        <p:blipFill rotWithShape="1">
          <a:blip r:embed="rId2"/>
          <a:srcRect l="11903" r="19240" b="1"/>
          <a:stretch/>
        </p:blipFill>
        <p:spPr>
          <a:xfrm>
            <a:off x="5977788" y="799352"/>
            <a:ext cx="5425410" cy="5259296"/>
          </a:xfrm>
          <a:prstGeom prst="rect">
            <a:avLst/>
          </a:prstGeom>
        </p:spPr>
      </p:pic>
    </p:spTree>
    <p:extLst>
      <p:ext uri="{BB962C8B-B14F-4D97-AF65-F5344CB8AC3E}">
        <p14:creationId xmlns:p14="http://schemas.microsoft.com/office/powerpoint/2010/main" val="205242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5">
            <a:extLst>
              <a:ext uri="{FF2B5EF4-FFF2-40B4-BE49-F238E27FC236}">
                <a16:creationId xmlns:a16="http://schemas.microsoft.com/office/drawing/2014/main" id="{EB80E265-B6E8-DFA7-5FBC-360B9082FF58}"/>
              </a:ext>
            </a:extLst>
          </p:cNvPr>
          <p:cNvPicPr>
            <a:picLocks noChangeAspect="1"/>
          </p:cNvPicPr>
          <p:nvPr/>
        </p:nvPicPr>
        <p:blipFill rotWithShape="1">
          <a:blip r:embed="rId2">
            <a:extLst>
              <a:ext uri="{28A0092B-C50C-407E-A947-70E740481C1C}">
                <a14:useLocalDpi xmlns:a14="http://schemas.microsoft.com/office/drawing/2010/main" val="0"/>
              </a:ext>
            </a:extLst>
          </a:blip>
          <a:srcRect r="2727" b="-1"/>
          <a:stretch/>
        </p:blipFill>
        <p:spPr>
          <a:xfrm>
            <a:off x="3522468" y="10"/>
            <a:ext cx="8669532" cy="6857990"/>
          </a:xfrm>
          <a:prstGeom prst="rect">
            <a:avLst/>
          </a:prstGeom>
        </p:spPr>
      </p:pic>
      <p:sp>
        <p:nvSpPr>
          <p:cNvPr id="55" name="Rectangle 54">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371094" y="1161288"/>
            <a:ext cx="3438144" cy="1124712"/>
          </a:xfrm>
        </p:spPr>
        <p:txBody>
          <a:bodyPr vert="horz" lIns="91440" tIns="45720" rIns="91440" bIns="45720" rtlCol="0" anchor="b">
            <a:normAutofit/>
          </a:bodyPr>
          <a:lstStyle/>
          <a:p>
            <a:r>
              <a:rPr lang="en-US" sz="2800">
                <a:solidFill>
                  <a:schemeClr val="bg1"/>
                </a:solidFill>
                <a:latin typeface="+mn-lt"/>
              </a:rPr>
              <a:t>Review</a:t>
            </a:r>
          </a:p>
        </p:txBody>
      </p:sp>
      <p:sp>
        <p:nvSpPr>
          <p:cNvPr id="57" name="Rectangle 56">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9" name="Rectangle 58">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Content Placeholder 3"/>
          <p:cNvSpPr>
            <a:spLocks noGrp="1"/>
          </p:cNvSpPr>
          <p:nvPr>
            <p:ph sz="half" idx="1"/>
          </p:nvPr>
        </p:nvSpPr>
        <p:spPr>
          <a:xfrm>
            <a:off x="371094" y="2778252"/>
            <a:ext cx="4035806" cy="3147060"/>
          </a:xfrm>
        </p:spPr>
        <p:txBody>
          <a:bodyPr vert="horz" lIns="91440" tIns="45720" rIns="91440" bIns="45720" rtlCol="0" anchor="t">
            <a:normAutofit fontScale="92500" lnSpcReduction="10000"/>
          </a:bodyPr>
          <a:lstStyle/>
          <a:p>
            <a:pPr>
              <a:lnSpc>
                <a:spcPct val="110000"/>
              </a:lnSpc>
              <a:spcBef>
                <a:spcPts val="400"/>
              </a:spcBef>
              <a:spcAft>
                <a:spcPts val="600"/>
              </a:spcAft>
            </a:pPr>
            <a:r>
              <a:rPr lang="en-US" sz="2100" dirty="0">
                <a:solidFill>
                  <a:schemeClr val="bg1"/>
                </a:solidFill>
              </a:rPr>
              <a:t>SQLi attack methods a few reviewed</a:t>
            </a:r>
          </a:p>
          <a:p>
            <a:pPr>
              <a:lnSpc>
                <a:spcPct val="110000"/>
              </a:lnSpc>
              <a:spcBef>
                <a:spcPts val="400"/>
              </a:spcBef>
              <a:spcAft>
                <a:spcPts val="600"/>
              </a:spcAft>
            </a:pPr>
            <a:r>
              <a:rPr lang="en-US" sz="2100" dirty="0">
                <a:solidFill>
                  <a:schemeClr val="bg1"/>
                </a:solidFill>
              </a:rPr>
              <a:t>In band SQLi attack</a:t>
            </a:r>
          </a:p>
          <a:p>
            <a:pPr>
              <a:lnSpc>
                <a:spcPct val="110000"/>
              </a:lnSpc>
              <a:spcBef>
                <a:spcPts val="400"/>
              </a:spcBef>
              <a:spcAft>
                <a:spcPts val="600"/>
              </a:spcAft>
            </a:pPr>
            <a:r>
              <a:rPr lang="en-US" sz="2100" dirty="0">
                <a:solidFill>
                  <a:schemeClr val="bg1"/>
                </a:solidFill>
              </a:rPr>
              <a:t>Out of band SQLi attack</a:t>
            </a:r>
          </a:p>
          <a:p>
            <a:pPr>
              <a:lnSpc>
                <a:spcPct val="110000"/>
              </a:lnSpc>
              <a:spcBef>
                <a:spcPts val="400"/>
              </a:spcBef>
              <a:spcAft>
                <a:spcPts val="600"/>
              </a:spcAft>
            </a:pPr>
            <a:r>
              <a:rPr lang="en-US" sz="2100" dirty="0">
                <a:solidFill>
                  <a:schemeClr val="bg1"/>
                </a:solidFill>
              </a:rPr>
              <a:t>SQL attack tool types </a:t>
            </a:r>
            <a:r>
              <a:rPr lang="en-US" sz="2100" dirty="0" err="1">
                <a:solidFill>
                  <a:schemeClr val="bg1"/>
                </a:solidFill>
              </a:rPr>
              <a:t>Havij</a:t>
            </a:r>
            <a:r>
              <a:rPr lang="en-US" sz="2100" dirty="0">
                <a:solidFill>
                  <a:schemeClr val="bg1"/>
                </a:solidFill>
              </a:rPr>
              <a:t> 95% success rate</a:t>
            </a:r>
          </a:p>
          <a:p>
            <a:pPr>
              <a:lnSpc>
                <a:spcPct val="110000"/>
              </a:lnSpc>
              <a:spcBef>
                <a:spcPts val="400"/>
              </a:spcBef>
              <a:spcAft>
                <a:spcPts val="600"/>
              </a:spcAft>
            </a:pPr>
            <a:r>
              <a:rPr lang="en-US" sz="2100" dirty="0">
                <a:solidFill>
                  <a:schemeClr val="bg1"/>
                </a:solidFill>
              </a:rPr>
              <a:t>SQLi detection tools, such as </a:t>
            </a:r>
            <a:r>
              <a:rPr lang="en-US" sz="2100" dirty="0" err="1">
                <a:solidFill>
                  <a:schemeClr val="bg1"/>
                </a:solidFill>
              </a:rPr>
              <a:t>Solarwinds</a:t>
            </a:r>
            <a:endParaRPr lang="en-US" sz="2100" dirty="0">
              <a:solidFill>
                <a:schemeClr val="bg1"/>
              </a:solidFill>
            </a:endParaRPr>
          </a:p>
          <a:p>
            <a:pPr>
              <a:lnSpc>
                <a:spcPct val="110000"/>
              </a:lnSpc>
              <a:spcBef>
                <a:spcPts val="400"/>
              </a:spcBef>
              <a:spcAft>
                <a:spcPts val="600"/>
              </a:spcAft>
            </a:pPr>
            <a:r>
              <a:rPr lang="en-US" sz="2100" dirty="0">
                <a:solidFill>
                  <a:schemeClr val="bg1"/>
                </a:solidFill>
              </a:rPr>
              <a:t>SQL prevention, sanitize input </a:t>
            </a:r>
          </a:p>
          <a:p>
            <a:pPr marL="0" indent="0">
              <a:lnSpc>
                <a:spcPct val="110000"/>
              </a:lnSpc>
              <a:spcBef>
                <a:spcPts val="400"/>
              </a:spcBef>
              <a:spcAft>
                <a:spcPts val="600"/>
              </a:spcAft>
              <a:buNone/>
            </a:pPr>
            <a:endParaRPr lang="en-US" sz="2100" dirty="0">
              <a:solidFill>
                <a:schemeClr val="bg1"/>
              </a:solidFill>
            </a:endParaRPr>
          </a:p>
        </p:txBody>
      </p:sp>
    </p:spTree>
    <p:extLst>
      <p:ext uri="{BB962C8B-B14F-4D97-AF65-F5344CB8AC3E}">
        <p14:creationId xmlns:p14="http://schemas.microsoft.com/office/powerpoint/2010/main" val="3984889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85F17-6087-3426-FCB6-A8FFEA923D6D}"/>
              </a:ext>
            </a:extLst>
          </p:cNvPr>
          <p:cNvSpPr>
            <a:spLocks noGrp="1"/>
          </p:cNvSpPr>
          <p:nvPr>
            <p:ph type="title"/>
          </p:nvPr>
        </p:nvSpPr>
        <p:spPr/>
        <p:txBody>
          <a:bodyPr/>
          <a:lstStyle/>
          <a:p>
            <a:r>
              <a:rPr lang="en-US" dirty="0"/>
              <a:t>CEHv13 Update – Modern SQL Injection Threats</a:t>
            </a:r>
          </a:p>
        </p:txBody>
      </p:sp>
      <p:sp>
        <p:nvSpPr>
          <p:cNvPr id="4" name="Rectangle 1">
            <a:extLst>
              <a:ext uri="{FF2B5EF4-FFF2-40B4-BE49-F238E27FC236}">
                <a16:creationId xmlns:a16="http://schemas.microsoft.com/office/drawing/2014/main" id="{F4D1EAE0-3D26-1488-8F62-E628C5AF19EA}"/>
              </a:ext>
            </a:extLst>
          </p:cNvPr>
          <p:cNvSpPr>
            <a:spLocks noGrp="1" noChangeArrowheads="1"/>
          </p:cNvSpPr>
          <p:nvPr>
            <p:ph idx="1"/>
          </p:nvPr>
        </p:nvSpPr>
        <p:spPr bwMode="auto">
          <a:xfrm>
            <a:off x="838201" y="1816080"/>
            <a:ext cx="10911840"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CEHv13 introduces new contexts for SQL injection:</a:t>
            </a:r>
          </a:p>
          <a:p>
            <a:pPr marL="457200" lvl="1" indent="0" eaLnBrk="0" fontAlgn="base" hangingPunct="0">
              <a:lnSpc>
                <a:spcPct val="100000"/>
              </a:lnSpc>
              <a:spcBef>
                <a:spcPct val="0"/>
              </a:spcBef>
              <a:spcAft>
                <a:spcPct val="0"/>
              </a:spcAft>
              <a:buFontTx/>
              <a:buChar char="•"/>
            </a:pPr>
            <a:r>
              <a:rPr kumimoji="0" lang="en-US" altLang="en-US" b="1" i="0" u="none" strike="noStrike" cap="none" normalizeH="0" baseline="0" dirty="0">
                <a:ln>
                  <a:noFill/>
                </a:ln>
                <a:solidFill>
                  <a:schemeClr val="tx1"/>
                </a:solidFill>
                <a:effectLst/>
              </a:rPr>
              <a:t>API-based SQLi</a:t>
            </a:r>
            <a:r>
              <a:rPr kumimoji="0" lang="en-US" altLang="en-US" b="0" i="0" u="none" strike="noStrike" cap="none" normalizeH="0" baseline="0" dirty="0">
                <a:ln>
                  <a:noFill/>
                </a:ln>
                <a:solidFill>
                  <a:schemeClr val="tx1"/>
                </a:solidFill>
                <a:effectLst/>
              </a:rPr>
              <a:t> in REST/</a:t>
            </a:r>
            <a:r>
              <a:rPr kumimoji="0" lang="en-US" altLang="en-US" b="0" i="0" u="none" strike="noStrike" cap="none" normalizeH="0" baseline="0" dirty="0" err="1">
                <a:ln>
                  <a:noFill/>
                </a:ln>
                <a:solidFill>
                  <a:schemeClr val="tx1"/>
                </a:solidFill>
                <a:effectLst/>
              </a:rPr>
              <a:t>GraphQL</a:t>
            </a:r>
            <a:r>
              <a:rPr kumimoji="0" lang="en-US" altLang="en-US" b="0" i="0" u="none" strike="noStrike" cap="none" normalizeH="0" baseline="0" dirty="0">
                <a:ln>
                  <a:noFill/>
                </a:ln>
                <a:solidFill>
                  <a:schemeClr val="tx1"/>
                </a:solidFill>
                <a:effectLst/>
              </a:rPr>
              <a:t> interfaces where input is less validated</a:t>
            </a:r>
          </a:p>
          <a:p>
            <a:pPr marL="457200" lvl="1" indent="0" eaLnBrk="0" fontAlgn="base" hangingPunct="0">
              <a:lnSpc>
                <a:spcPct val="100000"/>
              </a:lnSpc>
              <a:spcBef>
                <a:spcPct val="0"/>
              </a:spcBef>
              <a:spcAft>
                <a:spcPct val="0"/>
              </a:spcAft>
              <a:buFontTx/>
              <a:buChar char="•"/>
            </a:pPr>
            <a:r>
              <a:rPr kumimoji="0" lang="en-US" altLang="en-US" b="1" i="0" u="none" strike="noStrike" cap="none" normalizeH="0" baseline="0" dirty="0">
                <a:ln>
                  <a:noFill/>
                </a:ln>
                <a:solidFill>
                  <a:schemeClr val="tx1"/>
                </a:solidFill>
                <a:effectLst/>
              </a:rPr>
              <a:t>NoSQL injection</a:t>
            </a:r>
            <a:r>
              <a:rPr kumimoji="0" lang="en-US" altLang="en-US" b="0" i="0" u="none" strike="noStrike" cap="none" normalizeH="0" baseline="0" dirty="0">
                <a:ln>
                  <a:noFill/>
                </a:ln>
                <a:solidFill>
                  <a:schemeClr val="tx1"/>
                </a:solidFill>
                <a:effectLst/>
              </a:rPr>
              <a:t> and hybrid database attacks (e.g., MongoDB injection)</a:t>
            </a: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Injection in </a:t>
            </a:r>
            <a:r>
              <a:rPr kumimoji="0" lang="en-US" altLang="en-US" b="1" i="0" u="none" strike="noStrike" cap="none" normalizeH="0" baseline="0" dirty="0">
                <a:ln>
                  <a:noFill/>
                </a:ln>
                <a:solidFill>
                  <a:schemeClr val="tx1"/>
                </a:solidFill>
                <a:effectLst/>
              </a:rPr>
              <a:t>mobile backends</a:t>
            </a:r>
            <a:r>
              <a:rPr kumimoji="0" lang="en-US" altLang="en-US" b="0" i="0" u="none" strike="noStrike" cap="none" normalizeH="0" baseline="0" dirty="0">
                <a:ln>
                  <a:noFill/>
                </a:ln>
                <a:solidFill>
                  <a:schemeClr val="tx1"/>
                </a:solidFill>
                <a:effectLst/>
              </a:rPr>
              <a:t> and </a:t>
            </a:r>
            <a:r>
              <a:rPr kumimoji="0" lang="en-US" altLang="en-US" b="1" i="0" u="none" strike="noStrike" cap="none" normalizeH="0" baseline="0" dirty="0">
                <a:ln>
                  <a:noFill/>
                </a:ln>
                <a:solidFill>
                  <a:schemeClr val="tx1"/>
                </a:solidFill>
                <a:effectLst/>
              </a:rPr>
              <a:t>cloud-hosted DB services</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Increased focus on:</a:t>
            </a:r>
          </a:p>
          <a:p>
            <a:pPr marL="457200" lvl="1" indent="0" eaLnBrk="0" fontAlgn="base" hangingPunct="0">
              <a:lnSpc>
                <a:spcPct val="100000"/>
              </a:lnSpc>
              <a:spcBef>
                <a:spcPct val="0"/>
              </a:spcBef>
              <a:spcAft>
                <a:spcPct val="0"/>
              </a:spcAft>
              <a:buFontTx/>
              <a:buChar char="•"/>
            </a:pPr>
            <a:r>
              <a:rPr kumimoji="0" lang="en-US" altLang="en-US" b="1" i="0" u="none" strike="noStrike" cap="none" normalizeH="0" baseline="0" dirty="0">
                <a:ln>
                  <a:noFill/>
                </a:ln>
                <a:solidFill>
                  <a:schemeClr val="tx1"/>
                </a:solidFill>
                <a:effectLst/>
              </a:rPr>
              <a:t>Automated payload generation using AI-driven </a:t>
            </a:r>
            <a:r>
              <a:rPr kumimoji="0" lang="en-US" altLang="en-US" b="1" i="0" u="none" strike="noStrike" cap="none" normalizeH="0" baseline="0" dirty="0" err="1">
                <a:ln>
                  <a:noFill/>
                </a:ln>
                <a:solidFill>
                  <a:schemeClr val="tx1"/>
                </a:solidFill>
                <a:effectLst/>
              </a:rPr>
              <a:t>fuzzers</a:t>
            </a:r>
            <a:endParaRPr kumimoji="0" lang="en-US" altLang="en-US" b="0" i="0" u="none" strike="noStrike" cap="none" normalizeH="0" baseline="0" dirty="0">
              <a:ln>
                <a:noFill/>
              </a:ln>
              <a:solidFill>
                <a:schemeClr val="tx1"/>
              </a:solidFill>
              <a:effectLst/>
            </a:endParaRP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Attack chains combining SQLi with </a:t>
            </a:r>
            <a:r>
              <a:rPr kumimoji="0" lang="en-US" altLang="en-US" b="1" i="0" u="none" strike="noStrike" cap="none" normalizeH="0" baseline="0" dirty="0">
                <a:ln>
                  <a:noFill/>
                </a:ln>
                <a:solidFill>
                  <a:schemeClr val="tx1"/>
                </a:solidFill>
                <a:effectLst/>
              </a:rPr>
              <a:t>privilege escalation or lateral movement</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Tool enhancements:</a:t>
            </a: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Updated features in </a:t>
            </a:r>
            <a:r>
              <a:rPr kumimoji="0" lang="en-US" altLang="en-US" b="1" i="0" u="none" strike="noStrike" cap="none" normalizeH="0" baseline="0" dirty="0" err="1">
                <a:ln>
                  <a:noFill/>
                </a:ln>
                <a:solidFill>
                  <a:schemeClr val="tx1"/>
                </a:solidFill>
                <a:effectLst/>
              </a:rPr>
              <a:t>sqlmap</a:t>
            </a:r>
            <a:r>
              <a:rPr kumimoji="0" lang="en-US" altLang="en-US" b="0" i="0" u="none" strike="noStrike" cap="none" normalizeH="0" baseline="0" dirty="0">
                <a:ln>
                  <a:noFill/>
                </a:ln>
                <a:solidFill>
                  <a:schemeClr val="tx1"/>
                </a:solidFill>
                <a:effectLst/>
              </a:rPr>
              <a:t>, </a:t>
            </a:r>
            <a:r>
              <a:rPr kumimoji="0" lang="en-US" altLang="en-US" b="1" i="0" u="none" strike="noStrike" cap="none" normalizeH="0" baseline="0" dirty="0" err="1">
                <a:ln>
                  <a:noFill/>
                </a:ln>
                <a:solidFill>
                  <a:schemeClr val="tx1"/>
                </a:solidFill>
                <a:effectLst/>
              </a:rPr>
              <a:t>Havij</a:t>
            </a:r>
            <a:r>
              <a:rPr kumimoji="0" lang="en-US" altLang="en-US" b="0" i="0" u="none" strike="noStrike" cap="none" normalizeH="0" baseline="0" dirty="0">
                <a:ln>
                  <a:noFill/>
                </a:ln>
                <a:solidFill>
                  <a:schemeClr val="tx1"/>
                </a:solidFill>
                <a:effectLst/>
              </a:rPr>
              <a:t>, and Burp Suite extensions with logic-based inference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31831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5E495FA-AC67-DD3A-ED8E-BDBA73E228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1A136C-9377-B68C-92E1-2DE80BBE5558}"/>
              </a:ext>
            </a:extLst>
          </p:cNvPr>
          <p:cNvSpPr>
            <a:spLocks noGrp="1"/>
          </p:cNvSpPr>
          <p:nvPr>
            <p:ph type="title"/>
          </p:nvPr>
        </p:nvSpPr>
        <p:spPr/>
        <p:txBody>
          <a:bodyPr/>
          <a:lstStyle/>
          <a:p>
            <a:r>
              <a:rPr lang="en-US" dirty="0"/>
              <a:t>CEHv13 Update – SQL Injection Defense Strategy</a:t>
            </a:r>
          </a:p>
        </p:txBody>
      </p:sp>
      <p:sp>
        <p:nvSpPr>
          <p:cNvPr id="4" name="Rectangle 1">
            <a:extLst>
              <a:ext uri="{FF2B5EF4-FFF2-40B4-BE49-F238E27FC236}">
                <a16:creationId xmlns:a16="http://schemas.microsoft.com/office/drawing/2014/main" id="{5B39EE07-BD77-0F02-EC8E-6E61700ED55D}"/>
              </a:ext>
            </a:extLst>
          </p:cNvPr>
          <p:cNvSpPr>
            <a:spLocks noGrp="1" noChangeArrowheads="1"/>
          </p:cNvSpPr>
          <p:nvPr>
            <p:ph idx="1"/>
          </p:nvPr>
        </p:nvSpPr>
        <p:spPr bwMode="auto">
          <a:xfrm>
            <a:off x="838201" y="2093079"/>
            <a:ext cx="10934700"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Enhanced security practices now include:</a:t>
            </a:r>
          </a:p>
          <a:p>
            <a:pPr marL="457200" lvl="1" indent="0" eaLnBrk="0" fontAlgn="base" hangingPunct="0">
              <a:lnSpc>
                <a:spcPct val="100000"/>
              </a:lnSpc>
              <a:spcBef>
                <a:spcPct val="0"/>
              </a:spcBef>
              <a:spcAft>
                <a:spcPct val="0"/>
              </a:spcAft>
              <a:buFontTx/>
              <a:buChar char="•"/>
            </a:pPr>
            <a:r>
              <a:rPr kumimoji="0" lang="en-US" altLang="en-US" b="1" i="0" u="none" strike="noStrike" cap="none" normalizeH="0" baseline="0" dirty="0">
                <a:ln>
                  <a:noFill/>
                </a:ln>
                <a:solidFill>
                  <a:schemeClr val="tx1"/>
                </a:solidFill>
                <a:effectLst/>
              </a:rPr>
              <a:t>Parameterized queries and stored procedures by default</a:t>
            </a:r>
            <a:endParaRPr kumimoji="0" lang="en-US" altLang="en-US" b="0" i="0" u="none" strike="noStrike" cap="none" normalizeH="0" baseline="0" dirty="0">
              <a:ln>
                <a:noFill/>
              </a:ln>
              <a:solidFill>
                <a:schemeClr val="tx1"/>
              </a:solidFill>
              <a:effectLst/>
            </a:endParaRPr>
          </a:p>
          <a:p>
            <a:pPr marL="457200" lvl="1" indent="0" eaLnBrk="0" fontAlgn="base" hangingPunct="0">
              <a:lnSpc>
                <a:spcPct val="100000"/>
              </a:lnSpc>
              <a:spcBef>
                <a:spcPct val="0"/>
              </a:spcBef>
              <a:spcAft>
                <a:spcPct val="0"/>
              </a:spcAft>
              <a:buFontTx/>
              <a:buChar char="•"/>
            </a:pPr>
            <a:r>
              <a:rPr kumimoji="0" lang="en-US" altLang="en-US" b="1" i="0" u="none" strike="noStrike" cap="none" normalizeH="0" baseline="0" dirty="0">
                <a:ln>
                  <a:noFill/>
                </a:ln>
                <a:solidFill>
                  <a:schemeClr val="tx1"/>
                </a:solidFill>
                <a:effectLst/>
              </a:rPr>
              <a:t>Context-aware input validation</a:t>
            </a:r>
            <a:r>
              <a:rPr kumimoji="0" lang="en-US" altLang="en-US" b="0" i="0" u="none" strike="noStrike" cap="none" normalizeH="0" baseline="0" dirty="0">
                <a:ln>
                  <a:noFill/>
                </a:ln>
                <a:solidFill>
                  <a:schemeClr val="tx1"/>
                </a:solidFill>
                <a:effectLst/>
              </a:rPr>
              <a:t> across APIs and serverless functions</a:t>
            </a: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Detection via </a:t>
            </a:r>
            <a:r>
              <a:rPr kumimoji="0" lang="en-US" altLang="en-US" b="1" i="0" u="none" strike="noStrike" cap="none" normalizeH="0" baseline="0" dirty="0">
                <a:ln>
                  <a:noFill/>
                </a:ln>
                <a:solidFill>
                  <a:schemeClr val="tx1"/>
                </a:solidFill>
                <a:effectLst/>
              </a:rPr>
              <a:t>behavioral anomalies</a:t>
            </a:r>
            <a:r>
              <a:rPr kumimoji="0" lang="en-US" altLang="en-US" b="0" i="0" u="none" strike="noStrike" cap="none" normalizeH="0" baseline="0" dirty="0">
                <a:ln>
                  <a:noFill/>
                </a:ln>
                <a:solidFill>
                  <a:schemeClr val="tx1"/>
                </a:solidFill>
                <a:effectLst/>
              </a:rPr>
              <a:t> in DB queries (e.g., frequency, volume, response timing)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CEHv13 emphasizes:</a:t>
            </a: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Scanning with </a:t>
            </a:r>
            <a:r>
              <a:rPr kumimoji="0" lang="en-US" altLang="en-US" b="1" i="0" u="none" strike="noStrike" cap="none" normalizeH="0" baseline="0" dirty="0">
                <a:ln>
                  <a:noFill/>
                </a:ln>
                <a:solidFill>
                  <a:schemeClr val="tx1"/>
                </a:solidFill>
                <a:effectLst/>
              </a:rPr>
              <a:t>updated DAST tools</a:t>
            </a:r>
            <a:r>
              <a:rPr kumimoji="0" lang="en-US" altLang="en-US" b="0" i="0" u="none" strike="noStrike" cap="none" normalizeH="0" baseline="0" dirty="0">
                <a:ln>
                  <a:noFill/>
                </a:ln>
                <a:solidFill>
                  <a:schemeClr val="tx1"/>
                </a:solidFill>
                <a:effectLst/>
              </a:rPr>
              <a:t> integrated in CI/CD pipelines</a:t>
            </a: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Aligning to </a:t>
            </a:r>
            <a:r>
              <a:rPr kumimoji="0" lang="en-US" altLang="en-US" b="1" i="0" u="none" strike="noStrike" cap="none" normalizeH="0" baseline="0" dirty="0">
                <a:ln>
                  <a:noFill/>
                </a:ln>
                <a:solidFill>
                  <a:schemeClr val="tx1"/>
                </a:solidFill>
                <a:effectLst/>
              </a:rPr>
              <a:t>OWASP API Security Top 10</a:t>
            </a:r>
            <a:r>
              <a:rPr kumimoji="0" lang="en-US" altLang="en-US" b="0" i="0" u="none" strike="noStrike" cap="none" normalizeH="0" baseline="0" dirty="0">
                <a:ln>
                  <a:noFill/>
                </a:ln>
                <a:solidFill>
                  <a:schemeClr val="tx1"/>
                </a:solidFill>
                <a:effectLst/>
              </a:rPr>
              <a:t> and </a:t>
            </a:r>
            <a:r>
              <a:rPr kumimoji="0" lang="en-US" altLang="en-US" b="1" i="0" u="none" strike="noStrike" cap="none" normalizeH="0" baseline="0" dirty="0">
                <a:ln>
                  <a:noFill/>
                </a:ln>
                <a:solidFill>
                  <a:schemeClr val="tx1"/>
                </a:solidFill>
                <a:effectLst/>
              </a:rPr>
              <a:t>SSDF controls</a:t>
            </a:r>
            <a:endParaRPr kumimoji="0" lang="en-US" altLang="en-US" b="0" i="0" u="none" strike="noStrike" cap="none" normalizeH="0" baseline="0" dirty="0">
              <a:ln>
                <a:noFill/>
              </a:ln>
              <a:solidFill>
                <a:schemeClr val="tx1"/>
              </a:solidFill>
              <a:effectLst/>
            </a:endParaRP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Use of </a:t>
            </a:r>
            <a:r>
              <a:rPr kumimoji="0" lang="en-US" altLang="en-US" b="1" i="0" u="none" strike="noStrike" cap="none" normalizeH="0" baseline="0" dirty="0">
                <a:ln>
                  <a:noFill/>
                </a:ln>
                <a:solidFill>
                  <a:schemeClr val="tx1"/>
                </a:solidFill>
                <a:effectLst/>
              </a:rPr>
              <a:t>real-time database activity monitoring (DAM)</a:t>
            </a:r>
            <a:r>
              <a:rPr kumimoji="0" lang="en-US" altLang="en-US" b="0" i="0" u="none" strike="noStrike" cap="none" normalizeH="0" baseline="0" dirty="0">
                <a:ln>
                  <a:noFill/>
                </a:ln>
                <a:solidFill>
                  <a:schemeClr val="tx1"/>
                </a:solidFill>
                <a:effectLst/>
              </a:rPr>
              <a:t> for threat response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88540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ity skyline with colorful circles&#10;&#10;Description automatically generated with medium confidence">
            <a:extLst>
              <a:ext uri="{FF2B5EF4-FFF2-40B4-BE49-F238E27FC236}">
                <a16:creationId xmlns:a16="http://schemas.microsoft.com/office/drawing/2014/main" id="{6E83C8D5-41C8-F183-F463-AABDB6187ABD}"/>
              </a:ext>
            </a:extLst>
          </p:cNvPr>
          <p:cNvPicPr>
            <a:picLocks noChangeAspect="1"/>
          </p:cNvPicPr>
          <p:nvPr/>
        </p:nvPicPr>
        <p:blipFill>
          <a:blip r:embed="rId3">
            <a:alphaModFix/>
            <a:extLst>
              <a:ext uri="{BEBA8EAE-BF5A-486C-A8C5-ECC9F3942E4B}">
                <a14:imgProps xmlns:a14="http://schemas.microsoft.com/office/drawing/2010/main">
                  <a14:imgLayer r:embed="rId4">
                    <a14:imgEffect>
                      <a14:colorTemperature colorTemp="7200"/>
                    </a14:imgEffect>
                    <a14:imgEffect>
                      <a14:saturation sat="200000"/>
                    </a14:imgEffect>
                  </a14:imgLayer>
                </a14:imgProps>
              </a:ex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Rectangle 5">
            <a:extLst>
              <a:ext uri="{FF2B5EF4-FFF2-40B4-BE49-F238E27FC236}">
                <a16:creationId xmlns:a16="http://schemas.microsoft.com/office/drawing/2014/main" id="{E00F078E-A678-B9AE-64C9-7762DD9AF833}"/>
              </a:ext>
            </a:extLst>
          </p:cNvPr>
          <p:cNvSpPr/>
          <p:nvPr/>
        </p:nvSpPr>
        <p:spPr>
          <a:xfrm>
            <a:off x="0" y="3702570"/>
            <a:ext cx="12192000" cy="1903751"/>
          </a:xfrm>
          <a:prstGeom prst="rect">
            <a:avLst/>
          </a:prstGeom>
          <a:solidFill>
            <a:srgbClr val="13282F">
              <a:alpha val="75261"/>
            </a:srgbClr>
          </a:solidFill>
          <a:ln>
            <a:solidFill>
              <a:srgbClr val="13282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15849" y="3965165"/>
            <a:ext cx="10515600" cy="1345367"/>
          </a:xfrm>
          <a:noFill/>
        </p:spPr>
        <p:txBody>
          <a:bodyPr anchor="t" anchorCtr="0">
            <a:normAutofit/>
          </a:bodyPr>
          <a:lstStyle/>
          <a:p>
            <a:r>
              <a:rPr lang="en-US" sz="4800" dirty="0">
                <a:solidFill>
                  <a:schemeClr val="bg1"/>
                </a:solidFill>
                <a:latin typeface="Aptos" panose="020B0004020202020204" pitchFamily="34" charset="0"/>
              </a:rPr>
              <a:t>Wireless Hacking </a:t>
            </a:r>
          </a:p>
        </p:txBody>
      </p:sp>
      <p:sp>
        <p:nvSpPr>
          <p:cNvPr id="3" name="Subtitle 2"/>
          <p:cNvSpPr>
            <a:spLocks noGrp="1"/>
          </p:cNvSpPr>
          <p:nvPr>
            <p:ph type="subTitle" idx="4294967295"/>
          </p:nvPr>
        </p:nvSpPr>
        <p:spPr>
          <a:xfrm>
            <a:off x="825640" y="4678802"/>
            <a:ext cx="9582736" cy="637617"/>
          </a:xfrm>
          <a:noFill/>
        </p:spPr>
        <p:txBody>
          <a:bodyPr>
            <a:normAutofit/>
          </a:bodyPr>
          <a:lstStyle/>
          <a:p>
            <a:pPr marL="0" indent="0">
              <a:buNone/>
            </a:pPr>
            <a:r>
              <a:rPr lang="en-US" sz="2400" dirty="0">
                <a:solidFill>
                  <a:schemeClr val="bg1"/>
                </a:solidFill>
                <a:latin typeface="Aptos Display" panose="020B0004020202020204" pitchFamily="34" charset="0"/>
              </a:rPr>
              <a:t>Hacking intercept WPA2 Personal Password Intercept and Crack</a:t>
            </a:r>
          </a:p>
          <a:p>
            <a:pPr marL="0" indent="0">
              <a:buNone/>
            </a:pPr>
            <a:endParaRPr lang="en-US" sz="2400" dirty="0">
              <a:solidFill>
                <a:schemeClr val="bg1"/>
              </a:solidFill>
              <a:latin typeface="Aptos Display" panose="020B0004020202020204" pitchFamily="34" charset="0"/>
            </a:endParaRPr>
          </a:p>
        </p:txBody>
      </p:sp>
      <p:sp>
        <p:nvSpPr>
          <p:cNvPr id="4" name="Subtitle 2">
            <a:extLst>
              <a:ext uri="{FF2B5EF4-FFF2-40B4-BE49-F238E27FC236}">
                <a16:creationId xmlns:a16="http://schemas.microsoft.com/office/drawing/2014/main" id="{E546A042-B18C-C3DE-0610-788594E41069}"/>
              </a:ext>
            </a:extLst>
          </p:cNvPr>
          <p:cNvSpPr txBox="1">
            <a:spLocks/>
          </p:cNvSpPr>
          <p:nvPr/>
        </p:nvSpPr>
        <p:spPr>
          <a:xfrm>
            <a:off x="825640" y="5231299"/>
            <a:ext cx="9582736" cy="637617"/>
          </a:xfrm>
          <a:prstGeom prst="rect">
            <a:avLst/>
          </a:prstGeom>
          <a:noFill/>
        </p:spPr>
        <p:txBody>
          <a:bodyPr vert="horz" lIns="91440" tIns="45720" rIns="91440" bIns="45720" rtlCol="0">
            <a:normAutofit fontScale="77500" lnSpcReduction="20000"/>
          </a:bodyPr>
          <a:lstStyle>
            <a:lvl1pPr marL="0" indent="0" algn="l" defTabSz="914400" rtl="0" eaLnBrk="1" latinLnBrk="0" hangingPunct="1">
              <a:lnSpc>
                <a:spcPct val="150000"/>
              </a:lnSpc>
              <a:spcBef>
                <a:spcPts val="1000"/>
              </a:spcBef>
              <a:spcAft>
                <a:spcPts val="1200"/>
              </a:spcAft>
              <a:buFontTx/>
              <a:buNone/>
              <a:defRPr lang="en-US" sz="1200" kern="1200" dirty="0">
                <a:solidFill>
                  <a:schemeClr val="tx1"/>
                </a:solidFill>
                <a:latin typeface="+mn-lt"/>
                <a:ea typeface="+mn-ea"/>
                <a:cs typeface="+mn-cs"/>
              </a:defRPr>
            </a:lvl1pPr>
            <a:lvl2pPr marL="228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2pPr>
            <a:lvl3pPr marL="685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a:solidFill>
                  <a:schemeClr val="tx1"/>
                </a:solidFill>
                <a:latin typeface="+mn-lt"/>
                <a:ea typeface="+mn-ea"/>
                <a:cs typeface="+mn-cs"/>
              </a:defRPr>
            </a:lvl3pPr>
            <a:lvl4pPr marL="11430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4pPr>
            <a:lvl5pPr marL="16002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5pPr>
            <a:lvl6pPr marL="20574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6pPr>
            <a:lvl7pPr marL="25146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7pPr>
            <a:lvl8pPr marL="2971800" indent="-228600" algn="l" defTabSz="914400" rtl="0" eaLnBrk="1" latinLnBrk="0" hangingPunct="1">
              <a:lnSpc>
                <a:spcPct val="150000"/>
              </a:lnSpc>
              <a:spcBef>
                <a:spcPts val="1000"/>
              </a:spcBef>
              <a:spcAft>
                <a:spcPts val="1200"/>
              </a:spcAft>
              <a:buFont typeface="Arial" panose="020B0604020202020204" pitchFamily="34" charset="0"/>
              <a:buChar char="•"/>
              <a:defRPr lang="en-US" sz="1200" kern="1200" dirty="0" smtClean="0">
                <a:solidFill>
                  <a:schemeClr val="tx1"/>
                </a:solidFill>
                <a:latin typeface="+mn-lt"/>
                <a:ea typeface="+mn-ea"/>
                <a:cs typeface="+mn-cs"/>
              </a:defRPr>
            </a:lvl8pPr>
            <a:lvl9pPr marL="3429000" indent="-228600" algn="l" defTabSz="914400" rtl="0" eaLnBrk="1" latinLnBrk="0" hangingPunct="1">
              <a:lnSpc>
                <a:spcPct val="90000"/>
              </a:lnSpc>
              <a:spcBef>
                <a:spcPct val="30000"/>
              </a:spcBef>
              <a:buFont typeface="Arial" panose="020B0604020202020204" pitchFamily="34" charset="0"/>
              <a:buNone/>
              <a:defRPr sz="1200" kern="1200">
                <a:solidFill>
                  <a:schemeClr val="tx1"/>
                </a:solidFill>
                <a:latin typeface="+mn-lt"/>
                <a:ea typeface="+mn-ea"/>
                <a:cs typeface="+mn-cs"/>
              </a:defRPr>
            </a:lvl9pPr>
          </a:lstStyle>
          <a:p>
            <a:r>
              <a:rPr lang="en-US" sz="2400" dirty="0">
                <a:solidFill>
                  <a:schemeClr val="bg1"/>
                </a:solidFill>
                <a:latin typeface="Aptos Display" panose="020B0004020202020204" pitchFamily="34" charset="0"/>
              </a:rPr>
              <a:t>Volume 4, Module 1, v12, with v13 additions at the end</a:t>
            </a:r>
          </a:p>
          <a:p>
            <a:endParaRPr lang="en-US" sz="2400" dirty="0">
              <a:solidFill>
                <a:schemeClr val="bg1"/>
              </a:solidFill>
              <a:latin typeface="Aptos Display" panose="020B0004020202020204" pitchFamily="34" charset="0"/>
            </a:endParaRPr>
          </a:p>
        </p:txBody>
      </p:sp>
    </p:spTree>
    <p:extLst>
      <p:ext uri="{BB962C8B-B14F-4D97-AF65-F5344CB8AC3E}">
        <p14:creationId xmlns:p14="http://schemas.microsoft.com/office/powerpoint/2010/main" val="24718077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285749" y="113763"/>
            <a:ext cx="8126159" cy="798785"/>
          </a:xfrm>
        </p:spPr>
        <p:txBody>
          <a:bodyPr anchor="ctr">
            <a:noAutofit/>
          </a:bodyPr>
          <a:lstStyle/>
          <a:p>
            <a:r>
              <a:rPr lang="en-US" sz="3600" dirty="0">
                <a:latin typeface="Aptos" panose="020B0004020202020204" pitchFamily="34" charset="0"/>
                <a:cs typeface="Segoe UI Light" panose="020B0502040204020203" pitchFamily="34" charset="0"/>
              </a:rPr>
              <a:t>First: Obtain Password Dictionary File</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87425" y="1276963"/>
            <a:ext cx="7567675" cy="5195269"/>
          </a:xfrm>
          <a:prstGeom prst="rect">
            <a:avLst/>
          </a:prstGeom>
          <a:effectLst>
            <a:outerShdw blurRad="63500" sx="102000" sy="102000" algn="ctr" rotWithShape="0">
              <a:prstClr val="black">
                <a:alpha val="40000"/>
              </a:prstClr>
            </a:outerShdw>
          </a:effectLst>
        </p:spPr>
      </p:pic>
      <p:cxnSp>
        <p:nvCxnSpPr>
          <p:cNvPr id="3" name="Straight Connector 2">
            <a:extLst>
              <a:ext uri="{FF2B5EF4-FFF2-40B4-BE49-F238E27FC236}">
                <a16:creationId xmlns:a16="http://schemas.microsoft.com/office/drawing/2014/main" id="{136048A5-3E78-A382-3F8D-B89A48585F36}"/>
              </a:ext>
            </a:extLst>
          </p:cNvPr>
          <p:cNvCxnSpPr/>
          <p:nvPr/>
        </p:nvCxnSpPr>
        <p:spPr>
          <a:xfrm>
            <a:off x="0" y="855396"/>
            <a:ext cx="8358188" cy="0"/>
          </a:xfrm>
          <a:prstGeom prst="line">
            <a:avLst/>
          </a:prstGeom>
          <a:ln w="69850" cap="rnd" cmpd="sng">
            <a:prstDash val="solid"/>
            <a:round/>
          </a:ln>
          <a:effectLst>
            <a:outerShdw blurRad="50800" dist="38100" dir="5400000" algn="t" rotWithShape="0">
              <a:prstClr val="black">
                <a:alpha val="40000"/>
              </a:prstClr>
            </a:outerShdw>
          </a:effectLst>
        </p:spPr>
        <p:style>
          <a:lnRef idx="3">
            <a:schemeClr val="accent2"/>
          </a:lnRef>
          <a:fillRef idx="0">
            <a:schemeClr val="accent2"/>
          </a:fillRef>
          <a:effectRef idx="2">
            <a:schemeClr val="accent2"/>
          </a:effectRef>
          <a:fontRef idx="minor">
            <a:schemeClr val="tx1"/>
          </a:fontRef>
        </p:style>
      </p:cxnSp>
      <p:sp>
        <p:nvSpPr>
          <p:cNvPr id="6" name="Rectangle 5">
            <a:extLst>
              <a:ext uri="{FF2B5EF4-FFF2-40B4-BE49-F238E27FC236}">
                <a16:creationId xmlns:a16="http://schemas.microsoft.com/office/drawing/2014/main" id="{516C864C-D5A5-CCBF-8EFF-E6814A08BAA1}"/>
              </a:ext>
            </a:extLst>
          </p:cNvPr>
          <p:cNvSpPr/>
          <p:nvPr/>
        </p:nvSpPr>
        <p:spPr>
          <a:xfrm>
            <a:off x="285749" y="1885948"/>
            <a:ext cx="3775048" cy="1700784"/>
          </a:xfrm>
          <a:prstGeom prst="rect">
            <a:avLst/>
          </a:prstGeom>
          <a:solidFill>
            <a:schemeClr val="bg1"/>
          </a:solidFill>
          <a:ln>
            <a:solidFill>
              <a:schemeClr val="bg1">
                <a:lumMod val="9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274320" rIns="182880" rtlCol="0" anchor="ctr"/>
          <a:lstStyle/>
          <a:p>
            <a:pPr marL="0" lvl="0" indent="0">
              <a:spcAft>
                <a:spcPts val="600"/>
              </a:spcAft>
              <a:buNone/>
              <a:defRPr/>
            </a:pPr>
            <a:r>
              <a:rPr lang="en-US" sz="1600" dirty="0">
                <a:solidFill>
                  <a:schemeClr val="tx1"/>
                </a:solidFill>
                <a:latin typeface="Aptos" panose="020B0004020202020204" pitchFamily="34" charset="0"/>
                <a:cs typeface="Segoe UI" panose="020B0502040204020203" pitchFamily="34" charset="0"/>
              </a:rPr>
              <a:t>Go to any browser and type in </a:t>
            </a:r>
            <a:r>
              <a:rPr lang="en-US" sz="1600" dirty="0" err="1">
                <a:solidFill>
                  <a:schemeClr val="tx1"/>
                </a:solidFill>
                <a:latin typeface="Aptos" panose="020B0004020202020204" pitchFamily="34" charset="0"/>
                <a:cs typeface="Segoe UI" panose="020B0502040204020203" pitchFamily="34" charset="0"/>
              </a:rPr>
              <a:t>Rockyou.txt</a:t>
            </a:r>
            <a:r>
              <a:rPr lang="en-US" sz="1600" dirty="0">
                <a:solidFill>
                  <a:schemeClr val="tx1"/>
                </a:solidFill>
                <a:latin typeface="Aptos" panose="020B0004020202020204" pitchFamily="34" charset="0"/>
                <a:cs typeface="Segoe UI" panose="020B0502040204020203" pitchFamily="34" charset="0"/>
              </a:rPr>
              <a:t> this is a text file with a tremendous amount of plain text passwords that will be used by </a:t>
            </a:r>
            <a:r>
              <a:rPr lang="en-US" sz="1600" dirty="0" err="1">
                <a:solidFill>
                  <a:schemeClr val="tx1"/>
                </a:solidFill>
                <a:latin typeface="Aptos" panose="020B0004020202020204" pitchFamily="34" charset="0"/>
                <a:cs typeface="Segoe UI" panose="020B0502040204020203" pitchFamily="34" charset="0"/>
              </a:rPr>
              <a:t>aircrack</a:t>
            </a:r>
            <a:r>
              <a:rPr lang="en-US" sz="1600" dirty="0">
                <a:solidFill>
                  <a:schemeClr val="tx1"/>
                </a:solidFill>
                <a:latin typeface="Aptos" panose="020B0004020202020204" pitchFamily="34" charset="0"/>
                <a:cs typeface="Segoe UI" panose="020B0502040204020203" pitchFamily="34" charset="0"/>
              </a:rPr>
              <a:t>-ng </a:t>
            </a:r>
          </a:p>
        </p:txBody>
      </p:sp>
      <p:sp>
        <p:nvSpPr>
          <p:cNvPr id="7" name="Rectangle 6">
            <a:extLst>
              <a:ext uri="{FF2B5EF4-FFF2-40B4-BE49-F238E27FC236}">
                <a16:creationId xmlns:a16="http://schemas.microsoft.com/office/drawing/2014/main" id="{D9A0D7AB-871C-58ED-8693-1327B2AABE3E}"/>
              </a:ext>
            </a:extLst>
          </p:cNvPr>
          <p:cNvSpPr/>
          <p:nvPr/>
        </p:nvSpPr>
        <p:spPr>
          <a:xfrm>
            <a:off x="285749" y="4000501"/>
            <a:ext cx="3777888" cy="1697145"/>
          </a:xfrm>
          <a:prstGeom prst="rect">
            <a:avLst/>
          </a:prstGeom>
          <a:solidFill>
            <a:schemeClr val="bg1"/>
          </a:solidFill>
          <a:ln>
            <a:solidFill>
              <a:schemeClr val="bg1">
                <a:lumMod val="95000"/>
              </a:schemeClr>
            </a:solidFill>
          </a:ln>
          <a:effectLst>
            <a:outerShdw blurRad="63500" sx="102000" sy="102000" algn="c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274320" rIns="182880" rtlCol="0" anchor="ctr"/>
          <a:lstStyle/>
          <a:p>
            <a:pPr marL="0" lvl="0" indent="0">
              <a:spcAft>
                <a:spcPts val="600"/>
              </a:spcAft>
              <a:buNone/>
              <a:defRPr/>
            </a:pPr>
            <a:r>
              <a:rPr lang="en-US" sz="1600" dirty="0">
                <a:solidFill>
                  <a:schemeClr val="tx1"/>
                </a:solidFill>
                <a:latin typeface="Aptos" panose="020B0004020202020204" pitchFamily="34" charset="0"/>
                <a:cs typeface="Segoe UI" panose="020B0502040204020203" pitchFamily="34" charset="0"/>
              </a:rPr>
              <a:t>Once we have downloaded the file, we need to make sure that it is copied and placed in the Home directory of Kali Linux.</a:t>
            </a:r>
          </a:p>
        </p:txBody>
      </p:sp>
    </p:spTree>
    <p:extLst>
      <p:ext uri="{BB962C8B-B14F-4D97-AF65-F5344CB8AC3E}">
        <p14:creationId xmlns:p14="http://schemas.microsoft.com/office/powerpoint/2010/main" val="3457616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888" y="24435"/>
            <a:ext cx="7069713" cy="830961"/>
          </a:xfrm>
        </p:spPr>
        <p:txBody>
          <a:bodyPr>
            <a:normAutofit/>
          </a:bodyPr>
          <a:lstStyle/>
          <a:p>
            <a:r>
              <a:rPr lang="en-US" sz="4000" dirty="0">
                <a:solidFill>
                  <a:schemeClr val="tx1"/>
                </a:solidFill>
                <a:latin typeface="Aptos" panose="020B0004020202020204" pitchFamily="34" charset="0"/>
              </a:rPr>
              <a:t>Copy to Home of Kali Linux</a:t>
            </a:r>
          </a:p>
        </p:txBody>
      </p:sp>
      <p:pic>
        <p:nvPicPr>
          <p:cNvPr id="4" name="Content Placeholder 3"/>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228600" y="1346004"/>
            <a:ext cx="5427760" cy="3358521"/>
          </a:xfrm>
          <a:effectLst>
            <a:outerShdw blurRad="63500" sx="102000" sy="102000" algn="ctr" rotWithShape="0">
              <a:prstClr val="black">
                <a:alpha val="40000"/>
              </a:prstClr>
            </a:outerShdw>
          </a:effec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40528" y="3214694"/>
            <a:ext cx="6222872" cy="3253515"/>
          </a:xfrm>
          <a:prstGeom prst="rect">
            <a:avLst/>
          </a:prstGeom>
          <a:effectLst>
            <a:outerShdw blurRad="63500" sx="102000" sy="102000" algn="ctr" rotWithShape="0">
              <a:prstClr val="black">
                <a:alpha val="40000"/>
              </a:prstClr>
            </a:outerShdw>
          </a:effectLst>
        </p:spPr>
      </p:pic>
      <p:cxnSp>
        <p:nvCxnSpPr>
          <p:cNvPr id="3" name="Straight Connector 2">
            <a:extLst>
              <a:ext uri="{FF2B5EF4-FFF2-40B4-BE49-F238E27FC236}">
                <a16:creationId xmlns:a16="http://schemas.microsoft.com/office/drawing/2014/main" id="{4B2D6FBA-E04A-2FC2-BA19-17F4AAAB0A2B}"/>
              </a:ext>
            </a:extLst>
          </p:cNvPr>
          <p:cNvCxnSpPr/>
          <p:nvPr/>
        </p:nvCxnSpPr>
        <p:spPr>
          <a:xfrm>
            <a:off x="0" y="855396"/>
            <a:ext cx="8358188" cy="0"/>
          </a:xfrm>
          <a:prstGeom prst="line">
            <a:avLst/>
          </a:prstGeom>
          <a:ln w="69850" cap="rnd" cmpd="sng">
            <a:prstDash val="solid"/>
            <a:round/>
          </a:ln>
          <a:effectLst>
            <a:outerShdw blurRad="50800" dist="38100" dir="5400000" algn="t" rotWithShape="0">
              <a:prstClr val="black">
                <a:alpha val="40000"/>
              </a:prstClr>
            </a:outerShdw>
          </a:effectLst>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1663592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Content Placeholder 17"/>
          <p:cNvSpPr txBox="1">
            <a:spLocks/>
          </p:cNvSpPr>
          <p:nvPr/>
        </p:nvSpPr>
        <p:spPr>
          <a:xfrm>
            <a:off x="282718" y="2709621"/>
            <a:ext cx="5852160" cy="1188720"/>
          </a:xfrm>
          <a:prstGeom prst="rect">
            <a:avLst/>
          </a:prstGeom>
          <a:solidFill>
            <a:schemeClr val="bg1"/>
          </a:solidFill>
          <a:ln>
            <a:solidFill>
              <a:schemeClr val="bg1">
                <a:lumMod val="95000"/>
              </a:schemeClr>
            </a:solidFill>
          </a:ln>
          <a:effectLst>
            <a:outerShdw blurRad="63500" sx="102000" sy="102000" algn="ctr" rotWithShape="0">
              <a:prstClr val="black">
                <a:alpha val="40000"/>
              </a:prstClr>
            </a:outerShdw>
          </a:effectLst>
        </p:spPr>
        <p:txBody>
          <a:bodyPr vert="horz" lIns="731520" tIns="91440" rIns="182880" bIns="91440" rtlCol="0" anchor="ctr">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en-US" sz="1600" dirty="0">
                <a:solidFill>
                  <a:schemeClr val="tx1"/>
                </a:solidFill>
                <a:latin typeface="Aptos" panose="020B0004020202020204" pitchFamily="34" charset="0"/>
                <a:cs typeface="Segoe UI" panose="020B0502040204020203" pitchFamily="34" charset="0"/>
              </a:rPr>
              <a:t>Type </a:t>
            </a:r>
            <a:r>
              <a:rPr lang="en-US" sz="1600" dirty="0" err="1">
                <a:solidFill>
                  <a:schemeClr val="tx1"/>
                </a:solidFill>
                <a:latin typeface="Aptos" panose="020B0004020202020204" pitchFamily="34" charset="0"/>
                <a:cs typeface="Segoe UI" panose="020B0502040204020203" pitchFamily="34" charset="0"/>
              </a:rPr>
              <a:t>ifconfig</a:t>
            </a:r>
            <a:r>
              <a:rPr lang="en-US" sz="1600" dirty="0">
                <a:solidFill>
                  <a:schemeClr val="tx1"/>
                </a:solidFill>
                <a:latin typeface="Aptos" panose="020B0004020202020204" pitchFamily="34" charset="0"/>
                <a:cs typeface="Segoe UI" panose="020B0502040204020203" pitchFamily="34" charset="0"/>
              </a:rPr>
              <a:t> wlan0 down </a:t>
            </a:r>
            <a:br>
              <a:rPr lang="en-US" sz="1600" dirty="0">
                <a:solidFill>
                  <a:schemeClr val="tx1"/>
                </a:solidFill>
                <a:latin typeface="Aptos" panose="020B0004020202020204" pitchFamily="34" charset="0"/>
                <a:cs typeface="Segoe UI" panose="020B0502040204020203" pitchFamily="34" charset="0"/>
              </a:rPr>
            </a:br>
            <a:br>
              <a:rPr lang="en-US" sz="1600" dirty="0">
                <a:solidFill>
                  <a:schemeClr val="tx1"/>
                </a:solidFill>
                <a:latin typeface="Aptos" panose="020B0004020202020204" pitchFamily="34" charset="0"/>
                <a:cs typeface="Segoe UI"/>
              </a:rPr>
            </a:br>
            <a:r>
              <a:rPr lang="en-US" sz="1600" dirty="0">
                <a:solidFill>
                  <a:schemeClr val="tx1"/>
                </a:solidFill>
                <a:latin typeface="Aptos" panose="020B0004020202020204" pitchFamily="34" charset="0"/>
                <a:cs typeface="Segoe UI Semibold" panose="020B0702040204020203" pitchFamily="34" charset="0"/>
              </a:rPr>
              <a:t>Hint: </a:t>
            </a:r>
            <a:r>
              <a:rPr lang="en-US" sz="1600" dirty="0">
                <a:solidFill>
                  <a:schemeClr val="tx1"/>
                </a:solidFill>
                <a:latin typeface="Aptos" panose="020B0004020202020204" pitchFamily="34" charset="0"/>
                <a:cs typeface="Segoe UI" panose="020B0502040204020203" pitchFamily="34" charset="0"/>
              </a:rPr>
              <a:t>This command disables the Wireless Radio so we can change the configuration to monitor mode.</a:t>
            </a:r>
          </a:p>
        </p:txBody>
      </p:sp>
      <p:sp>
        <p:nvSpPr>
          <p:cNvPr id="40" name="Content Placeholder 17"/>
          <p:cNvSpPr txBox="1">
            <a:spLocks/>
          </p:cNvSpPr>
          <p:nvPr/>
        </p:nvSpPr>
        <p:spPr>
          <a:xfrm>
            <a:off x="263279" y="5408244"/>
            <a:ext cx="5852160" cy="1188720"/>
          </a:xfrm>
          <a:prstGeom prst="rect">
            <a:avLst/>
          </a:prstGeom>
          <a:solidFill>
            <a:schemeClr val="bg1"/>
          </a:solidFill>
          <a:ln>
            <a:solidFill>
              <a:schemeClr val="bg1">
                <a:lumMod val="95000"/>
              </a:schemeClr>
            </a:solidFill>
          </a:ln>
          <a:effectLst>
            <a:outerShdw blurRad="63500" sx="102000" sy="102000" algn="ctr" rotWithShape="0">
              <a:prstClr val="black">
                <a:alpha val="40000"/>
              </a:prstClr>
            </a:outerShdw>
          </a:effectLst>
        </p:spPr>
        <p:txBody>
          <a:bodyPr vert="horz" lIns="731520" tIns="91440" rIns="182880" bIns="91440" rtlCol="0" anchor="ctr">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2000"/>
              </a:spcAft>
              <a:buNone/>
              <a:defRPr/>
            </a:pPr>
            <a:r>
              <a:rPr lang="en-US" sz="1600" dirty="0">
                <a:solidFill>
                  <a:schemeClr val="tx1"/>
                </a:solidFill>
                <a:latin typeface="Aptos" panose="020B0004020202020204" pitchFamily="34" charset="0"/>
                <a:cs typeface="Segoe UI" panose="020B0502040204020203" pitchFamily="34" charset="0"/>
              </a:rPr>
              <a:t>Type </a:t>
            </a:r>
            <a:r>
              <a:rPr lang="en-US" sz="1600" dirty="0" err="1">
                <a:solidFill>
                  <a:schemeClr val="tx1"/>
                </a:solidFill>
                <a:latin typeface="Aptos" panose="020B0004020202020204" pitchFamily="34" charset="0"/>
                <a:cs typeface="Segoe UI" panose="020B0502040204020203" pitchFamily="34" charset="0"/>
              </a:rPr>
              <a:t>ifconfig</a:t>
            </a:r>
            <a:r>
              <a:rPr lang="en-US" sz="1600" dirty="0">
                <a:solidFill>
                  <a:schemeClr val="tx1"/>
                </a:solidFill>
                <a:latin typeface="Aptos" panose="020B0004020202020204" pitchFamily="34" charset="0"/>
                <a:cs typeface="Segoe UI" panose="020B0502040204020203" pitchFamily="34" charset="0"/>
              </a:rPr>
              <a:t> wlan0 up</a:t>
            </a:r>
          </a:p>
        </p:txBody>
      </p:sp>
      <p:sp>
        <p:nvSpPr>
          <p:cNvPr id="21" name="Content Placeholder 17"/>
          <p:cNvSpPr txBox="1">
            <a:spLocks/>
          </p:cNvSpPr>
          <p:nvPr/>
        </p:nvSpPr>
        <p:spPr>
          <a:xfrm>
            <a:off x="282718" y="1253572"/>
            <a:ext cx="5852160" cy="1188720"/>
          </a:xfrm>
          <a:prstGeom prst="rect">
            <a:avLst/>
          </a:prstGeom>
          <a:solidFill>
            <a:schemeClr val="bg1"/>
          </a:solidFill>
          <a:ln>
            <a:solidFill>
              <a:schemeClr val="bg1">
                <a:lumMod val="95000"/>
              </a:schemeClr>
            </a:solidFill>
          </a:ln>
          <a:effectLst>
            <a:outerShdw blurRad="63500" sx="102000" sy="102000" algn="ctr" rotWithShape="0">
              <a:prstClr val="black">
                <a:alpha val="40000"/>
              </a:prstClr>
            </a:outerShdw>
          </a:effectLst>
        </p:spPr>
        <p:txBody>
          <a:bodyPr vert="horz" lIns="731520" tIns="91440" rIns="182880" bIns="91440" rtlCol="0" anchor="ctr">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sz="1600" dirty="0">
                <a:solidFill>
                  <a:schemeClr val="tx1"/>
                </a:solidFill>
                <a:latin typeface="Aptos" panose="020B0004020202020204" pitchFamily="34" charset="0"/>
                <a:cs typeface="Segoe UI" panose="020B0502040204020203" pitchFamily="34" charset="0"/>
              </a:rPr>
              <a:t>Start a new terminal session and type </a:t>
            </a:r>
            <a:r>
              <a:rPr lang="en-US" sz="1600" dirty="0" err="1">
                <a:solidFill>
                  <a:schemeClr val="tx1"/>
                </a:solidFill>
                <a:latin typeface="Aptos" panose="020B0004020202020204" pitchFamily="34" charset="0"/>
                <a:cs typeface="Segoe UI" panose="020B0502040204020203" pitchFamily="34" charset="0"/>
              </a:rPr>
              <a:t>ifconfig</a:t>
            </a:r>
            <a:r>
              <a:rPr lang="en-US" sz="1600" dirty="0">
                <a:solidFill>
                  <a:schemeClr val="tx1"/>
                </a:solidFill>
                <a:latin typeface="Aptos" panose="020B0004020202020204" pitchFamily="34" charset="0"/>
                <a:cs typeface="Segoe UI" panose="020B0502040204020203" pitchFamily="34" charset="0"/>
              </a:rPr>
              <a:t> verify that the WLAN0 is connected this would assume you know how to connect an external device in VMWARE</a:t>
            </a:r>
            <a:endParaRPr lang="en-US" sz="1600" dirty="0">
              <a:solidFill>
                <a:schemeClr val="tx1"/>
              </a:solidFill>
              <a:latin typeface="Aptos" panose="020B0004020202020204" pitchFamily="34" charset="0"/>
              <a:cs typeface="Segoe UI"/>
            </a:endParaRPr>
          </a:p>
        </p:txBody>
      </p:sp>
      <p:sp>
        <p:nvSpPr>
          <p:cNvPr id="4" name="Title 3"/>
          <p:cNvSpPr>
            <a:spLocks noGrp="1"/>
          </p:cNvSpPr>
          <p:nvPr>
            <p:ph type="title"/>
          </p:nvPr>
        </p:nvSpPr>
        <p:spPr>
          <a:xfrm>
            <a:off x="263279" y="186401"/>
            <a:ext cx="6877119" cy="640080"/>
          </a:xfrm>
        </p:spPr>
        <p:txBody>
          <a:bodyPr>
            <a:normAutofit/>
          </a:bodyPr>
          <a:lstStyle/>
          <a:p>
            <a:r>
              <a:rPr lang="en-US" sz="3600" dirty="0">
                <a:solidFill>
                  <a:schemeClr val="tx1"/>
                </a:solidFill>
                <a:latin typeface="Aptos" panose="020B0004020202020204" pitchFamily="34" charset="0"/>
                <a:cs typeface="Segoe UI Light" panose="020B0502040204020203" pitchFamily="34" charset="0"/>
              </a:rPr>
              <a:t>Configure for Monitor Mode </a:t>
            </a:r>
          </a:p>
        </p:txBody>
      </p:sp>
      <p:sp>
        <p:nvSpPr>
          <p:cNvPr id="19" name="Oval 18" descr="Small circle"/>
          <p:cNvSpPr/>
          <p:nvPr/>
        </p:nvSpPr>
        <p:spPr bwMode="blackWhite">
          <a:xfrm>
            <a:off x="405087" y="1638187"/>
            <a:ext cx="409838" cy="409838"/>
          </a:xfrm>
          <a:prstGeom prst="ellipse">
            <a:avLst/>
          </a:prstGeom>
          <a:solidFill>
            <a:srgbClr val="D24726"/>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Aptos SemiBold" panose="020B0004020202020204" pitchFamily="34" charset="0"/>
              </a:rPr>
              <a:t>1</a:t>
            </a:r>
          </a:p>
        </p:txBody>
      </p:sp>
      <p:sp>
        <p:nvSpPr>
          <p:cNvPr id="34" name="Oval 33" descr="Small circle"/>
          <p:cNvSpPr/>
          <p:nvPr/>
        </p:nvSpPr>
        <p:spPr bwMode="blackWhite">
          <a:xfrm>
            <a:off x="405087" y="5797685"/>
            <a:ext cx="409838" cy="409838"/>
          </a:xfrm>
          <a:prstGeom prst="ellipse">
            <a:avLst/>
          </a:prstGeom>
          <a:solidFill>
            <a:srgbClr val="D24726"/>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Aptos SemiBold" panose="020B0004020202020204" pitchFamily="34" charset="0"/>
              </a:rPr>
              <a:t>4</a:t>
            </a:r>
          </a:p>
        </p:txBody>
      </p:sp>
      <p:pic>
        <p:nvPicPr>
          <p:cNvPr id="29" name="Picture 2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11637" y="1253572"/>
            <a:ext cx="5743578" cy="2982888"/>
          </a:xfrm>
          <a:prstGeom prst="rect">
            <a:avLst/>
          </a:prstGeom>
        </p:spPr>
      </p:pic>
      <p:sp>
        <p:nvSpPr>
          <p:cNvPr id="24" name="Oval 23" descr="Small circle"/>
          <p:cNvSpPr/>
          <p:nvPr/>
        </p:nvSpPr>
        <p:spPr bwMode="blackWhite">
          <a:xfrm>
            <a:off x="405087" y="3099062"/>
            <a:ext cx="409838" cy="409838"/>
          </a:xfrm>
          <a:prstGeom prst="ellipse">
            <a:avLst/>
          </a:prstGeom>
          <a:solidFill>
            <a:srgbClr val="D24726"/>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Aptos SemiBold" panose="020B0004020202020204" pitchFamily="34" charset="0"/>
              </a:rPr>
              <a:t>2</a:t>
            </a:r>
          </a:p>
        </p:txBody>
      </p:sp>
      <p:sp>
        <p:nvSpPr>
          <p:cNvPr id="32" name="Content Placeholder 17"/>
          <p:cNvSpPr txBox="1">
            <a:spLocks/>
          </p:cNvSpPr>
          <p:nvPr/>
        </p:nvSpPr>
        <p:spPr>
          <a:xfrm>
            <a:off x="263279" y="4134529"/>
            <a:ext cx="5852160" cy="1188720"/>
          </a:xfrm>
          <a:prstGeom prst="rect">
            <a:avLst/>
          </a:prstGeom>
          <a:solidFill>
            <a:schemeClr val="bg1"/>
          </a:solidFill>
          <a:ln>
            <a:solidFill>
              <a:schemeClr val="bg1">
                <a:lumMod val="95000"/>
              </a:schemeClr>
            </a:solidFill>
          </a:ln>
          <a:effectLst>
            <a:outerShdw blurRad="63500" sx="102000" sy="102000" algn="ctr" rotWithShape="0">
              <a:prstClr val="black">
                <a:alpha val="40000"/>
              </a:prstClr>
            </a:outerShdw>
          </a:effectLst>
        </p:spPr>
        <p:txBody>
          <a:bodyPr vert="horz" lIns="731520" tIns="91440" rIns="182880" bIns="91440" rtlCol="0" anchor="ctr">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spcAft>
                <a:spcPts val="600"/>
              </a:spcAft>
              <a:buNone/>
              <a:defRPr/>
            </a:pPr>
            <a:r>
              <a:rPr lang="en-US" sz="1600" dirty="0" err="1">
                <a:solidFill>
                  <a:schemeClr val="tx1"/>
                </a:solidFill>
                <a:latin typeface="Aptos" panose="020B0004020202020204" pitchFamily="34" charset="0"/>
                <a:cs typeface="Segoe UI" panose="020B0502040204020203" pitchFamily="34" charset="0"/>
              </a:rPr>
              <a:t>Iwconfig</a:t>
            </a:r>
            <a:r>
              <a:rPr lang="en-US" sz="1600" dirty="0">
                <a:solidFill>
                  <a:schemeClr val="tx1"/>
                </a:solidFill>
                <a:latin typeface="Aptos" panose="020B0004020202020204" pitchFamily="34" charset="0"/>
                <a:cs typeface="Segoe UI" panose="020B0502040204020203" pitchFamily="34" charset="0"/>
              </a:rPr>
              <a:t> wlan0 mode monitor</a:t>
            </a:r>
          </a:p>
          <a:p>
            <a:pPr marL="0" lvl="0" indent="0">
              <a:spcAft>
                <a:spcPts val="600"/>
              </a:spcAft>
              <a:buNone/>
              <a:defRPr/>
            </a:pPr>
            <a:r>
              <a:rPr lang="en-US" sz="1600" dirty="0">
                <a:solidFill>
                  <a:schemeClr val="tx1"/>
                </a:solidFill>
                <a:latin typeface="Aptos" panose="020B0004020202020204" pitchFamily="34" charset="0"/>
                <a:cs typeface="Segoe UI" panose="020B0502040204020203" pitchFamily="34" charset="0"/>
              </a:rPr>
              <a:t>Hint: This changes the Wireless radio to monitor traffic</a:t>
            </a:r>
            <a:endParaRPr lang="en-US" sz="1600" dirty="0">
              <a:solidFill>
                <a:schemeClr val="tx1"/>
              </a:solidFill>
              <a:latin typeface="Aptos" panose="020B0004020202020204" pitchFamily="34" charset="0"/>
              <a:cs typeface="Segoe UI"/>
            </a:endParaRPr>
          </a:p>
        </p:txBody>
      </p:sp>
      <p:pic>
        <p:nvPicPr>
          <p:cNvPr id="23" name="Picture 2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1637" y="4303909"/>
            <a:ext cx="5743578" cy="2350558"/>
          </a:xfrm>
          <a:prstGeom prst="rect">
            <a:avLst/>
          </a:prstGeom>
        </p:spPr>
      </p:pic>
      <p:sp>
        <p:nvSpPr>
          <p:cNvPr id="38" name="Oval 37" descr="Small circle"/>
          <p:cNvSpPr/>
          <p:nvPr/>
        </p:nvSpPr>
        <p:spPr bwMode="blackWhite">
          <a:xfrm>
            <a:off x="405087" y="4523970"/>
            <a:ext cx="409838" cy="409838"/>
          </a:xfrm>
          <a:prstGeom prst="ellipse">
            <a:avLst/>
          </a:prstGeom>
          <a:solidFill>
            <a:srgbClr val="D24726"/>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Aptos SemiBold" panose="020B0004020202020204" pitchFamily="34" charset="0"/>
              </a:rPr>
              <a:t>3</a:t>
            </a:r>
          </a:p>
        </p:txBody>
      </p:sp>
      <p:cxnSp>
        <p:nvCxnSpPr>
          <p:cNvPr id="2" name="Straight Connector 1">
            <a:extLst>
              <a:ext uri="{FF2B5EF4-FFF2-40B4-BE49-F238E27FC236}">
                <a16:creationId xmlns:a16="http://schemas.microsoft.com/office/drawing/2014/main" id="{38691D0D-6DD9-8446-1D71-CBDC1FCD5F48}"/>
              </a:ext>
            </a:extLst>
          </p:cNvPr>
          <p:cNvCxnSpPr/>
          <p:nvPr/>
        </p:nvCxnSpPr>
        <p:spPr>
          <a:xfrm>
            <a:off x="0" y="855396"/>
            <a:ext cx="8358188" cy="0"/>
          </a:xfrm>
          <a:prstGeom prst="line">
            <a:avLst/>
          </a:prstGeom>
          <a:ln w="69850" cap="rnd" cmpd="sng">
            <a:prstDash val="solid"/>
            <a:round/>
          </a:ln>
          <a:effectLst>
            <a:outerShdw blurRad="50800" dist="38100" dir="5400000" algn="t" rotWithShape="0">
              <a:prstClr val="black">
                <a:alpha val="40000"/>
              </a:prstClr>
            </a:outerShdw>
          </a:effectLst>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107001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20925" y="0"/>
            <a:ext cx="9994650" cy="847552"/>
          </a:xfrm>
        </p:spPr>
        <p:txBody>
          <a:bodyPr>
            <a:noAutofit/>
          </a:bodyPr>
          <a:lstStyle/>
          <a:p>
            <a:r>
              <a:rPr lang="en-US" sz="3600" dirty="0">
                <a:latin typeface="Aptos" panose="020B0004020202020204" pitchFamily="34" charset="0"/>
                <a:cs typeface="Segoe UI Light" panose="020B0502040204020203" pitchFamily="34" charset="0"/>
              </a:rPr>
              <a:t>Let’s Monitor all Traffic Client and Access Point</a:t>
            </a:r>
          </a:p>
        </p:txBody>
      </p:sp>
      <p:sp>
        <p:nvSpPr>
          <p:cNvPr id="5" name="Content Placeholder 4"/>
          <p:cNvSpPr>
            <a:spLocks noGrp="1"/>
          </p:cNvSpPr>
          <p:nvPr>
            <p:ph sz="half" idx="4294967295"/>
          </p:nvPr>
        </p:nvSpPr>
        <p:spPr>
          <a:xfrm>
            <a:off x="320926" y="1702948"/>
            <a:ext cx="3836738" cy="1710363"/>
          </a:xfrm>
          <a:solidFill>
            <a:schemeClr val="bg1"/>
          </a:solidFill>
          <a:ln>
            <a:solidFill>
              <a:schemeClr val="bg1">
                <a:lumMod val="95000"/>
              </a:schemeClr>
            </a:solidFill>
          </a:ln>
          <a:effectLst>
            <a:outerShdw blurRad="63500" sx="102000" sy="102000" algn="ctr" rotWithShape="0">
              <a:prstClr val="black">
                <a:alpha val="40000"/>
              </a:prstClr>
            </a:outerShdw>
          </a:effectLst>
        </p:spPr>
        <p:txBody>
          <a:bodyPr vert="horz" lIns="91440" tIns="45720" rIns="91440" bIns="45720" rtlCol="0">
            <a:normAutofit/>
          </a:bodyPr>
          <a:lstStyle/>
          <a:p>
            <a:pPr marL="0" indent="0">
              <a:lnSpc>
                <a:spcPts val="1800"/>
              </a:lnSpc>
              <a:spcBef>
                <a:spcPts val="1000"/>
              </a:spcBef>
              <a:spcAft>
                <a:spcPts val="600"/>
              </a:spcAft>
              <a:buNone/>
            </a:pPr>
            <a:r>
              <a:rPr lang="en-US" sz="1800" dirty="0">
                <a:latin typeface="Aptos" panose="020B0004020202020204" pitchFamily="34" charset="0"/>
                <a:cs typeface="Segoe UI" panose="020B0502040204020203" pitchFamily="34" charset="0"/>
              </a:rPr>
              <a:t>Type: </a:t>
            </a:r>
            <a:r>
              <a:rPr lang="en-US" sz="1800" dirty="0" err="1">
                <a:solidFill>
                  <a:srgbClr val="FF0000"/>
                </a:solidFill>
                <a:latin typeface="Aptos" panose="020B0004020202020204" pitchFamily="34" charset="0"/>
                <a:cs typeface="Segoe UI" panose="020B0502040204020203" pitchFamily="34" charset="0"/>
              </a:rPr>
              <a:t>airodump</a:t>
            </a:r>
            <a:r>
              <a:rPr lang="en-US" sz="1800" dirty="0">
                <a:solidFill>
                  <a:srgbClr val="FF0000"/>
                </a:solidFill>
                <a:latin typeface="Aptos" panose="020B0004020202020204" pitchFamily="34" charset="0"/>
                <a:cs typeface="Segoe UI" panose="020B0502040204020203" pitchFamily="34" charset="0"/>
              </a:rPr>
              <a:t>-ng –</a:t>
            </a:r>
            <a:r>
              <a:rPr lang="en-US" sz="1800" dirty="0" err="1">
                <a:solidFill>
                  <a:srgbClr val="FF0000"/>
                </a:solidFill>
                <a:latin typeface="Aptos" panose="020B0004020202020204" pitchFamily="34" charset="0"/>
                <a:cs typeface="Segoe UI" panose="020B0502040204020203" pitchFamily="34" charset="0"/>
              </a:rPr>
              <a:t>ivs</a:t>
            </a:r>
            <a:r>
              <a:rPr lang="en-US" sz="1800" dirty="0">
                <a:solidFill>
                  <a:srgbClr val="FF0000"/>
                </a:solidFill>
                <a:latin typeface="Aptos" panose="020B0004020202020204" pitchFamily="34" charset="0"/>
                <a:cs typeface="Segoe UI" panose="020B0502040204020203" pitchFamily="34" charset="0"/>
              </a:rPr>
              <a:t> –write </a:t>
            </a:r>
            <a:r>
              <a:rPr lang="en-US" sz="1800" dirty="0" err="1">
                <a:solidFill>
                  <a:srgbClr val="FF0000"/>
                </a:solidFill>
                <a:latin typeface="Aptos" panose="020B0004020202020204" pitchFamily="34" charset="0"/>
                <a:cs typeface="Segoe UI" panose="020B0502040204020203" pitchFamily="34" charset="0"/>
              </a:rPr>
              <a:t>capturefile</a:t>
            </a:r>
            <a:r>
              <a:rPr lang="en-US" sz="1800" dirty="0">
                <a:solidFill>
                  <a:srgbClr val="FF0000"/>
                </a:solidFill>
                <a:latin typeface="Aptos" panose="020B0004020202020204" pitchFamily="34" charset="0"/>
                <a:cs typeface="Segoe UI" panose="020B0502040204020203" pitchFamily="34" charset="0"/>
              </a:rPr>
              <a:t> wlan0 </a:t>
            </a:r>
          </a:p>
          <a:p>
            <a:pPr marL="0" indent="0">
              <a:lnSpc>
                <a:spcPts val="1800"/>
              </a:lnSpc>
              <a:spcBef>
                <a:spcPts val="1000"/>
              </a:spcBef>
              <a:spcAft>
                <a:spcPts val="600"/>
              </a:spcAft>
              <a:buNone/>
            </a:pPr>
            <a:endParaRPr lang="en-US" sz="1800" b="1" dirty="0">
              <a:solidFill>
                <a:srgbClr val="FF0000"/>
              </a:solidFill>
              <a:latin typeface="Aptos" panose="020B0004020202020204" pitchFamily="34" charset="0"/>
              <a:cs typeface="Segoe UI" panose="020B0502040204020203" pitchFamily="34" charset="0"/>
            </a:endParaRPr>
          </a:p>
          <a:p>
            <a:pPr marL="0" indent="0">
              <a:lnSpc>
                <a:spcPts val="1800"/>
              </a:lnSpc>
              <a:spcBef>
                <a:spcPts val="1000"/>
              </a:spcBef>
              <a:spcAft>
                <a:spcPts val="600"/>
              </a:spcAft>
              <a:buNone/>
            </a:pPr>
            <a:r>
              <a:rPr lang="en-US" sz="1800" b="1" dirty="0">
                <a:solidFill>
                  <a:srgbClr val="FF9B45"/>
                </a:solidFill>
                <a:latin typeface="Aptos" panose="020B0004020202020204" pitchFamily="34" charset="0"/>
                <a:cs typeface="Segoe UI" panose="020B0502040204020203" pitchFamily="34" charset="0"/>
              </a:rPr>
              <a:t>Hint: </a:t>
            </a:r>
            <a:r>
              <a:rPr lang="en-US" sz="1800" dirty="0">
                <a:solidFill>
                  <a:srgbClr val="FF9B45"/>
                </a:solidFill>
                <a:latin typeface="Aptos" panose="020B0004020202020204" pitchFamily="34" charset="0"/>
                <a:cs typeface="Segoe UI" panose="020B0502040204020203" pitchFamily="34" charset="0"/>
              </a:rPr>
              <a:t>Case sensitive; be careful here.</a:t>
            </a:r>
          </a:p>
        </p:txBody>
      </p:sp>
      <p:pic>
        <p:nvPicPr>
          <p:cNvPr id="4" name="Content Placeholder 3"/>
          <p:cNvPicPr>
            <a:picLocks noGrp="1" noChangeAspect="1"/>
          </p:cNvPicPr>
          <p:nvPr>
            <p:ph sz="quarter" idx="10"/>
          </p:nvPr>
        </p:nvPicPr>
        <p:blipFill>
          <a:blip r:embed="rId2">
            <a:extLst>
              <a:ext uri="{28A0092B-C50C-407E-A947-70E740481C1C}">
                <a14:useLocalDpi xmlns:a14="http://schemas.microsoft.com/office/drawing/2010/main" val="0"/>
              </a:ext>
            </a:extLst>
          </a:blip>
          <a:stretch>
            <a:fillRect/>
          </a:stretch>
        </p:blipFill>
        <p:spPr>
          <a:xfrm>
            <a:off x="5101166" y="1274648"/>
            <a:ext cx="6556410" cy="2030367"/>
          </a:xfr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1167" y="3429000"/>
            <a:ext cx="6556410" cy="3100381"/>
          </a:xfrm>
          <a:prstGeom prst="rect">
            <a:avLst/>
          </a:prstGeom>
        </p:spPr>
      </p:pic>
      <p:cxnSp>
        <p:nvCxnSpPr>
          <p:cNvPr id="2" name="Straight Connector 1">
            <a:extLst>
              <a:ext uri="{FF2B5EF4-FFF2-40B4-BE49-F238E27FC236}">
                <a16:creationId xmlns:a16="http://schemas.microsoft.com/office/drawing/2014/main" id="{A39221BB-6F11-BA93-3872-4250F431B4CA}"/>
              </a:ext>
            </a:extLst>
          </p:cNvPr>
          <p:cNvCxnSpPr>
            <a:cxnSpLocks/>
          </p:cNvCxnSpPr>
          <p:nvPr/>
        </p:nvCxnSpPr>
        <p:spPr>
          <a:xfrm flipV="1">
            <a:off x="0" y="847552"/>
            <a:ext cx="9929813" cy="7844"/>
          </a:xfrm>
          <a:prstGeom prst="line">
            <a:avLst/>
          </a:prstGeom>
          <a:ln w="69850" cap="rnd" cmpd="sng">
            <a:prstDash val="solid"/>
            <a:round/>
          </a:ln>
          <a:effectLst>
            <a:outerShdw blurRad="50800" dist="38100" dir="5400000" algn="t" rotWithShape="0">
              <a:prstClr val="black">
                <a:alpha val="40000"/>
              </a:prstClr>
            </a:outerShdw>
          </a:effectLst>
        </p:spPr>
        <p:style>
          <a:lnRef idx="3">
            <a:schemeClr val="accent2"/>
          </a:lnRef>
          <a:fillRef idx="0">
            <a:schemeClr val="accent2"/>
          </a:fillRef>
          <a:effectRef idx="2">
            <a:schemeClr val="accent2"/>
          </a:effectRef>
          <a:fontRef idx="minor">
            <a:schemeClr val="tx1"/>
          </a:fontRef>
        </p:style>
      </p:cxnSp>
      <p:cxnSp>
        <p:nvCxnSpPr>
          <p:cNvPr id="9" name="Straight Arrow Connector 8">
            <a:extLst>
              <a:ext uri="{FF2B5EF4-FFF2-40B4-BE49-F238E27FC236}">
                <a16:creationId xmlns:a16="http://schemas.microsoft.com/office/drawing/2014/main" id="{FDBAA25D-0F78-4BF8-E550-8E76D3F73AA2}"/>
              </a:ext>
            </a:extLst>
          </p:cNvPr>
          <p:cNvCxnSpPr>
            <a:cxnSpLocks/>
          </p:cNvCxnSpPr>
          <p:nvPr/>
        </p:nvCxnSpPr>
        <p:spPr>
          <a:xfrm>
            <a:off x="3657601" y="2471738"/>
            <a:ext cx="1000125" cy="0"/>
          </a:xfrm>
          <a:prstGeom prst="straightConnector1">
            <a:avLst/>
          </a:prstGeom>
          <a:ln w="60325">
            <a:solidFill>
              <a:srgbClr val="0070C0"/>
            </a:solidFill>
            <a:headEnd type="none"/>
            <a:tailEnd type="arrow"/>
          </a:ln>
        </p:spPr>
        <p:style>
          <a:lnRef idx="1">
            <a:schemeClr val="accent2"/>
          </a:lnRef>
          <a:fillRef idx="0">
            <a:schemeClr val="accent2"/>
          </a:fillRef>
          <a:effectRef idx="0">
            <a:schemeClr val="accent2"/>
          </a:effectRef>
          <a:fontRef idx="minor">
            <a:schemeClr val="tx1"/>
          </a:fontRef>
        </p:style>
      </p:cxnSp>
      <p:sp>
        <p:nvSpPr>
          <p:cNvPr id="12" name="TextBox 11">
            <a:extLst>
              <a:ext uri="{FF2B5EF4-FFF2-40B4-BE49-F238E27FC236}">
                <a16:creationId xmlns:a16="http://schemas.microsoft.com/office/drawing/2014/main" id="{74849059-9F61-1320-41F8-812797205C6C}"/>
              </a:ext>
            </a:extLst>
          </p:cNvPr>
          <p:cNvSpPr txBox="1"/>
          <p:nvPr/>
        </p:nvSpPr>
        <p:spPr>
          <a:xfrm>
            <a:off x="320926" y="4111158"/>
            <a:ext cx="3836738" cy="1663084"/>
          </a:xfrm>
          <a:prstGeom prst="rect">
            <a:avLst/>
          </a:prstGeom>
          <a:solidFill>
            <a:schemeClr val="bg1"/>
          </a:solidFill>
          <a:ln>
            <a:solidFill>
              <a:schemeClr val="bg1">
                <a:lumMod val="95000"/>
              </a:schemeClr>
            </a:solidFill>
          </a:ln>
          <a:effectLst>
            <a:outerShdw blurRad="63500" sx="102000" sy="102000" algn="ctr" rotWithShape="0">
              <a:prstClr val="black">
                <a:alpha val="40000"/>
              </a:prstClr>
            </a:outerShdw>
          </a:effectLst>
        </p:spPr>
        <p:txBody>
          <a:bodyPr wrap="square">
            <a:spAutoFit/>
          </a:bodyPr>
          <a:lstStyle/>
          <a:p>
            <a:pPr marL="0" indent="0">
              <a:lnSpc>
                <a:spcPts val="1800"/>
              </a:lnSpc>
              <a:spcBef>
                <a:spcPts val="1000"/>
              </a:spcBef>
              <a:spcAft>
                <a:spcPts val="600"/>
              </a:spcAft>
              <a:buNone/>
            </a:pPr>
            <a:r>
              <a:rPr lang="en-US" sz="1800" dirty="0">
                <a:latin typeface="Aptos" panose="020B0004020202020204" pitchFamily="34" charset="0"/>
                <a:cs typeface="Segoe UI" panose="020B0502040204020203" pitchFamily="34" charset="0"/>
              </a:rPr>
              <a:t>Then: </a:t>
            </a:r>
            <a:r>
              <a:rPr lang="en-US" sz="1800" dirty="0">
                <a:solidFill>
                  <a:schemeClr val="accent2"/>
                </a:solidFill>
                <a:latin typeface="Aptos" panose="020B0004020202020204" pitchFamily="34" charset="0"/>
                <a:cs typeface="Segoe UI" panose="020B0502040204020203" pitchFamily="34" charset="0"/>
              </a:rPr>
              <a:t>Hit Enter </a:t>
            </a:r>
            <a:r>
              <a:rPr lang="en-US" sz="1800" dirty="0">
                <a:latin typeface="Aptos" panose="020B0004020202020204" pitchFamily="34" charset="0"/>
                <a:cs typeface="Segoe UI" panose="020B0502040204020203" pitchFamily="34" charset="0"/>
              </a:rPr>
              <a:t>and watch the wireless traffic accumulate on the screen. </a:t>
            </a:r>
          </a:p>
          <a:p>
            <a:pPr marL="0" indent="0">
              <a:lnSpc>
                <a:spcPts val="1800"/>
              </a:lnSpc>
              <a:spcBef>
                <a:spcPts val="1000"/>
              </a:spcBef>
              <a:spcAft>
                <a:spcPts val="600"/>
              </a:spcAft>
              <a:buNone/>
            </a:pPr>
            <a:endParaRPr lang="en-US" dirty="0">
              <a:latin typeface="Aptos" panose="020B0004020202020204" pitchFamily="34" charset="0"/>
              <a:cs typeface="Segoe UI" panose="020B0502040204020203" pitchFamily="34" charset="0"/>
            </a:endParaRPr>
          </a:p>
          <a:p>
            <a:pPr marL="0" indent="0">
              <a:lnSpc>
                <a:spcPts val="1800"/>
              </a:lnSpc>
              <a:spcBef>
                <a:spcPts val="1000"/>
              </a:spcBef>
              <a:spcAft>
                <a:spcPts val="600"/>
              </a:spcAft>
              <a:buNone/>
            </a:pPr>
            <a:r>
              <a:rPr lang="en-US" sz="1800" dirty="0">
                <a:latin typeface="Aptos" panose="020B0004020202020204" pitchFamily="34" charset="0"/>
                <a:cs typeface="Segoe UI" panose="020B0502040204020203" pitchFamily="34" charset="0"/>
              </a:rPr>
              <a:t>Now, target a specific AP and Client.</a:t>
            </a:r>
          </a:p>
        </p:txBody>
      </p:sp>
      <p:cxnSp>
        <p:nvCxnSpPr>
          <p:cNvPr id="13" name="Straight Arrow Connector 12">
            <a:extLst>
              <a:ext uri="{FF2B5EF4-FFF2-40B4-BE49-F238E27FC236}">
                <a16:creationId xmlns:a16="http://schemas.microsoft.com/office/drawing/2014/main" id="{17A4484A-A472-47D4-4035-F3A57B2E6046}"/>
              </a:ext>
            </a:extLst>
          </p:cNvPr>
          <p:cNvCxnSpPr>
            <a:cxnSpLocks/>
          </p:cNvCxnSpPr>
          <p:nvPr/>
        </p:nvCxnSpPr>
        <p:spPr>
          <a:xfrm>
            <a:off x="3895726" y="4867275"/>
            <a:ext cx="1000125" cy="0"/>
          </a:xfrm>
          <a:prstGeom prst="straightConnector1">
            <a:avLst/>
          </a:prstGeom>
          <a:ln w="60325">
            <a:solidFill>
              <a:srgbClr val="0070C0"/>
            </a:solidFill>
            <a:headEnd type="none"/>
            <a:tailEnd type="arrow"/>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9580368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20040" y="192024"/>
            <a:ext cx="8764023" cy="640080"/>
          </a:xfrm>
        </p:spPr>
        <p:txBody>
          <a:bodyPr>
            <a:noAutofit/>
          </a:bodyPr>
          <a:lstStyle/>
          <a:p>
            <a:r>
              <a:rPr lang="en-US" sz="3600" dirty="0">
                <a:solidFill>
                  <a:schemeClr val="tx1"/>
                </a:solidFill>
                <a:latin typeface="Aptos" panose="020B0004020202020204" pitchFamily="34" charset="0"/>
              </a:rPr>
              <a:t>Targeting Wireless Station and Client</a:t>
            </a:r>
            <a:endParaRPr lang="en-US" sz="3600" dirty="0">
              <a:solidFill>
                <a:schemeClr val="tx1"/>
              </a:solidFill>
              <a:latin typeface="Aptos" panose="020B0004020202020204" pitchFamily="34" charset="0"/>
              <a:cs typeface="Segoe UI Light" panose="020B0502040204020203" pitchFamily="34" charset="0"/>
            </a:endParaRPr>
          </a:p>
        </p:txBody>
      </p:sp>
      <p:sp>
        <p:nvSpPr>
          <p:cNvPr id="30" name="Content Placeholder 17"/>
          <p:cNvSpPr txBox="1">
            <a:spLocks/>
          </p:cNvSpPr>
          <p:nvPr/>
        </p:nvSpPr>
        <p:spPr>
          <a:xfrm>
            <a:off x="184796" y="928339"/>
            <a:ext cx="5110161" cy="471149"/>
          </a:xfrm>
          <a:prstGeom prst="rect">
            <a:avLst/>
          </a:prstGeom>
        </p:spPr>
        <p:txBody>
          <a:bodyPr vert="horz" lIns="91440" tIns="45720" rIns="91440" bIns="45720" rtlCol="0">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sz="1800" b="1" dirty="0">
                <a:latin typeface="Aptos Display" panose="020B0004020202020204" pitchFamily="34" charset="0"/>
              </a:rPr>
              <a:t>Try it yourself</a:t>
            </a: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5947" y="1265651"/>
            <a:ext cx="7211607" cy="1932997"/>
          </a:xfrm>
          <a:prstGeom prst="rect">
            <a:avLst/>
          </a:prstGeom>
          <a:effectLst>
            <a:outerShdw blurRad="63500" sx="102000" sy="102000" algn="ctr" rotWithShape="0">
              <a:prstClr val="black">
                <a:alpha val="40000"/>
              </a:prstClr>
            </a:outerShdw>
          </a:effectLst>
        </p:spPr>
      </p:pic>
      <p:sp>
        <p:nvSpPr>
          <p:cNvPr id="17" name="Content Placeholder 17"/>
          <p:cNvSpPr txBox="1">
            <a:spLocks/>
          </p:cNvSpPr>
          <p:nvPr/>
        </p:nvSpPr>
        <p:spPr>
          <a:xfrm>
            <a:off x="4620521" y="5929661"/>
            <a:ext cx="7251439" cy="736315"/>
          </a:xfrm>
          <a:prstGeom prst="rect">
            <a:avLst/>
          </a:prstGeom>
        </p:spPr>
        <p:txBody>
          <a:bodyPr vert="horz" lIns="91440" tIns="45720" rIns="91440" bIns="45720" rtlCol="0" anchor="ctr">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000"/>
              </a:spcAft>
              <a:buNone/>
            </a:pPr>
            <a:r>
              <a:rPr lang="en-US" sz="1800" dirty="0">
                <a:solidFill>
                  <a:schemeClr val="accent2"/>
                </a:solidFill>
                <a:latin typeface="Aptos" panose="020B0004020202020204" pitchFamily="34" charset="0"/>
                <a:cs typeface="Segoe UI Semibold" panose="020B0702040204020203" pitchFamily="34" charset="0"/>
              </a:rPr>
              <a:t>Hint: </a:t>
            </a:r>
            <a:r>
              <a:rPr lang="en-US" sz="1800" dirty="0">
                <a:solidFill>
                  <a:schemeClr val="tx1"/>
                </a:solidFill>
                <a:latin typeface="Aptos" panose="020B0004020202020204" pitchFamily="34" charset="0"/>
                <a:cs typeface="Segoe UI Semibold" panose="020B0702040204020203" pitchFamily="34" charset="0"/>
              </a:rPr>
              <a:t>You have to target my channel and SSID due to the timing limitations as this handshake occurs very fast</a:t>
            </a:r>
            <a:r>
              <a:rPr lang="en-US" sz="1800" dirty="0">
                <a:solidFill>
                  <a:schemeClr val="tx1"/>
                </a:solidFill>
                <a:latin typeface="Aptos" panose="020B0004020202020204" pitchFamily="34" charset="0"/>
              </a:rPr>
              <a:t>.</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20522" y="3546516"/>
            <a:ext cx="7211607" cy="2293709"/>
          </a:xfrm>
          <a:prstGeom prst="rect">
            <a:avLst/>
          </a:prstGeom>
          <a:effectLst>
            <a:outerShdw blurRad="63500" sx="102000" sy="102000" algn="ctr" rotWithShape="0">
              <a:prstClr val="black">
                <a:alpha val="40000"/>
              </a:prstClr>
            </a:outerShdw>
          </a:effectLst>
        </p:spPr>
      </p:pic>
      <p:cxnSp>
        <p:nvCxnSpPr>
          <p:cNvPr id="5" name="Straight Connector 4">
            <a:extLst>
              <a:ext uri="{FF2B5EF4-FFF2-40B4-BE49-F238E27FC236}">
                <a16:creationId xmlns:a16="http://schemas.microsoft.com/office/drawing/2014/main" id="{62D14752-C333-FFF0-3E88-186F064DE1AA}"/>
              </a:ext>
            </a:extLst>
          </p:cNvPr>
          <p:cNvCxnSpPr>
            <a:cxnSpLocks/>
          </p:cNvCxnSpPr>
          <p:nvPr/>
        </p:nvCxnSpPr>
        <p:spPr>
          <a:xfrm>
            <a:off x="0" y="855396"/>
            <a:ext cx="8401050" cy="0"/>
          </a:xfrm>
          <a:prstGeom prst="line">
            <a:avLst/>
          </a:prstGeom>
          <a:ln w="69850" cap="rnd" cmpd="sng">
            <a:prstDash val="solid"/>
            <a:round/>
          </a:ln>
          <a:effectLst>
            <a:outerShdw blurRad="50800" dist="38100" dir="5400000" algn="t" rotWithShape="0">
              <a:prstClr val="black">
                <a:alpha val="40000"/>
              </a:prstClr>
            </a:outerShdw>
          </a:effectLst>
        </p:spPr>
        <p:style>
          <a:lnRef idx="3">
            <a:schemeClr val="accent2"/>
          </a:lnRef>
          <a:fillRef idx="0">
            <a:schemeClr val="accent2"/>
          </a:fillRef>
          <a:effectRef idx="2">
            <a:schemeClr val="accent2"/>
          </a:effectRef>
          <a:fontRef idx="minor">
            <a:schemeClr val="tx1"/>
          </a:fontRef>
        </p:style>
      </p:cxnSp>
      <p:sp>
        <p:nvSpPr>
          <p:cNvPr id="7" name="Content Placeholder 17">
            <a:extLst>
              <a:ext uri="{FF2B5EF4-FFF2-40B4-BE49-F238E27FC236}">
                <a16:creationId xmlns:a16="http://schemas.microsoft.com/office/drawing/2014/main" id="{2DCA71BF-8C2C-461E-94DA-C7F8EBF9D338}"/>
              </a:ext>
            </a:extLst>
          </p:cNvPr>
          <p:cNvSpPr txBox="1">
            <a:spLocks/>
          </p:cNvSpPr>
          <p:nvPr/>
        </p:nvSpPr>
        <p:spPr>
          <a:xfrm>
            <a:off x="293972" y="2599433"/>
            <a:ext cx="4120362" cy="2027856"/>
          </a:xfrm>
          <a:prstGeom prst="rect">
            <a:avLst/>
          </a:prstGeom>
          <a:solidFill>
            <a:schemeClr val="bg1"/>
          </a:solidFill>
          <a:ln>
            <a:solidFill>
              <a:schemeClr val="accent2"/>
            </a:solidFill>
          </a:ln>
          <a:effectLst/>
        </p:spPr>
        <p:txBody>
          <a:bodyPr vert="horz" lIns="731520" tIns="91440" rIns="274320" bIns="91440" rtlCol="0" anchor="ctr">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800"/>
              </a:spcAft>
              <a:buNone/>
            </a:pPr>
            <a:r>
              <a:rPr lang="en-US" sz="1600" dirty="0">
                <a:solidFill>
                  <a:prstClr val="black">
                    <a:lumMod val="75000"/>
                    <a:lumOff val="25000"/>
                  </a:prstClr>
                </a:solidFill>
                <a:latin typeface="Aptos" panose="020B0004020202020204" pitchFamily="34" charset="0"/>
                <a:cs typeface="Segoe UI" panose="020B0502040204020203" pitchFamily="34" charset="0"/>
              </a:rPr>
              <a:t>Type: </a:t>
            </a:r>
            <a:r>
              <a:rPr lang="en-US" sz="1600" dirty="0" err="1">
                <a:solidFill>
                  <a:prstClr val="black">
                    <a:lumMod val="75000"/>
                    <a:lumOff val="25000"/>
                  </a:prstClr>
                </a:solidFill>
                <a:latin typeface="Aptos" panose="020B0004020202020204" pitchFamily="34" charset="0"/>
                <a:cs typeface="Segoe UI" panose="020B0502040204020203" pitchFamily="34" charset="0"/>
              </a:rPr>
              <a:t>sudo</a:t>
            </a:r>
            <a:r>
              <a:rPr lang="en-US" sz="1600" dirty="0">
                <a:solidFill>
                  <a:prstClr val="black">
                    <a:lumMod val="75000"/>
                    <a:lumOff val="25000"/>
                  </a:prstClr>
                </a:solidFill>
                <a:latin typeface="Aptos" panose="020B0004020202020204" pitchFamily="34" charset="0"/>
                <a:cs typeface="Segoe UI" panose="020B0502040204020203" pitchFamily="34" charset="0"/>
              </a:rPr>
              <a:t> </a:t>
            </a:r>
            <a:r>
              <a:rPr lang="en-US" sz="1600" dirty="0" err="1">
                <a:solidFill>
                  <a:prstClr val="black">
                    <a:lumMod val="75000"/>
                    <a:lumOff val="25000"/>
                  </a:prstClr>
                </a:solidFill>
                <a:latin typeface="Aptos" panose="020B0004020202020204" pitchFamily="34" charset="0"/>
                <a:cs typeface="Segoe UI" panose="020B0502040204020203" pitchFamily="34" charset="0"/>
              </a:rPr>
              <a:t>airodump</a:t>
            </a:r>
            <a:r>
              <a:rPr lang="en-US" sz="1600" dirty="0">
                <a:solidFill>
                  <a:prstClr val="black">
                    <a:lumMod val="75000"/>
                    <a:lumOff val="25000"/>
                  </a:prstClr>
                </a:solidFill>
                <a:latin typeface="Aptos" panose="020B0004020202020204" pitchFamily="34" charset="0"/>
                <a:cs typeface="Segoe UI" panose="020B0502040204020203" pitchFamily="34" charset="0"/>
              </a:rPr>
              <a:t>-ng –c 6 –</a:t>
            </a:r>
            <a:r>
              <a:rPr lang="en-US" sz="1600" dirty="0" err="1">
                <a:solidFill>
                  <a:prstClr val="black">
                    <a:lumMod val="75000"/>
                    <a:lumOff val="25000"/>
                  </a:prstClr>
                </a:solidFill>
                <a:latin typeface="Aptos" panose="020B0004020202020204" pitchFamily="34" charset="0"/>
                <a:cs typeface="Segoe UI" panose="020B0502040204020203" pitchFamily="34" charset="0"/>
              </a:rPr>
              <a:t>bssid</a:t>
            </a:r>
            <a:r>
              <a:rPr lang="en-US" sz="1600" dirty="0">
                <a:solidFill>
                  <a:prstClr val="black">
                    <a:lumMod val="75000"/>
                    <a:lumOff val="25000"/>
                  </a:prstClr>
                </a:solidFill>
                <a:latin typeface="Aptos" panose="020B0004020202020204" pitchFamily="34" charset="0"/>
                <a:cs typeface="Segoe UI" panose="020B0502040204020203" pitchFamily="34" charset="0"/>
              </a:rPr>
              <a:t> 00:12:17:D9:15:DE –w </a:t>
            </a:r>
            <a:r>
              <a:rPr lang="en-US" sz="1600" dirty="0" err="1">
                <a:solidFill>
                  <a:prstClr val="black">
                    <a:lumMod val="75000"/>
                    <a:lumOff val="25000"/>
                  </a:prstClr>
                </a:solidFill>
                <a:latin typeface="Aptos" panose="020B0004020202020204" pitchFamily="34" charset="0"/>
                <a:cs typeface="Segoe UI" panose="020B0502040204020203" pitchFamily="34" charset="0"/>
              </a:rPr>
              <a:t>WPAcrack</a:t>
            </a:r>
            <a:r>
              <a:rPr lang="en-US" sz="1600" dirty="0">
                <a:solidFill>
                  <a:prstClr val="black">
                    <a:lumMod val="75000"/>
                    <a:lumOff val="25000"/>
                  </a:prstClr>
                </a:solidFill>
                <a:latin typeface="Aptos" panose="020B0004020202020204" pitchFamily="34" charset="0"/>
                <a:cs typeface="Segoe UI" panose="020B0502040204020203" pitchFamily="34" charset="0"/>
              </a:rPr>
              <a:t> wlan0 –ignore-negative-one </a:t>
            </a:r>
          </a:p>
          <a:p>
            <a:pPr marL="0" indent="0">
              <a:lnSpc>
                <a:spcPct val="100000"/>
              </a:lnSpc>
              <a:spcBef>
                <a:spcPts val="0"/>
              </a:spcBef>
              <a:spcAft>
                <a:spcPts val="800"/>
              </a:spcAft>
              <a:buNone/>
            </a:pPr>
            <a:r>
              <a:rPr lang="en-US" sz="1600" dirty="0">
                <a:solidFill>
                  <a:srgbClr val="D24726"/>
                </a:solidFill>
                <a:latin typeface="Aptos" panose="020B0004020202020204" pitchFamily="34" charset="0"/>
                <a:cs typeface="Segoe UI Semibold" panose="020B0702040204020203" pitchFamily="34" charset="0"/>
              </a:rPr>
              <a:t>Side Note</a:t>
            </a:r>
            <a:r>
              <a:rPr lang="en-US" sz="1600" dirty="0">
                <a:solidFill>
                  <a:prstClr val="black">
                    <a:lumMod val="75000"/>
                    <a:lumOff val="25000"/>
                  </a:prstClr>
                </a:solidFill>
                <a:latin typeface="Aptos" panose="020B0004020202020204" pitchFamily="34" charset="0"/>
                <a:cs typeface="Segoe UI"/>
              </a:rPr>
              <a:t> &gt;</a:t>
            </a:r>
            <a:r>
              <a:rPr lang="en-US" sz="1600" dirty="0">
                <a:solidFill>
                  <a:prstClr val="black">
                    <a:lumMod val="75000"/>
                    <a:lumOff val="25000"/>
                  </a:prstClr>
                </a:solidFill>
                <a:latin typeface="Aptos" panose="020B0004020202020204" pitchFamily="34" charset="0"/>
                <a:cs typeface="Segoe UI" panose="020B0502040204020203" pitchFamily="34" charset="0"/>
              </a:rPr>
              <a:t> The Hex code is the SSID 00:12:17 etc. and the –c 6 is the target channel</a:t>
            </a:r>
          </a:p>
        </p:txBody>
      </p:sp>
      <p:sp>
        <p:nvSpPr>
          <p:cNvPr id="9" name="Content Placeholder 17">
            <a:extLst>
              <a:ext uri="{FF2B5EF4-FFF2-40B4-BE49-F238E27FC236}">
                <a16:creationId xmlns:a16="http://schemas.microsoft.com/office/drawing/2014/main" id="{37A413B6-5AD9-F794-03F3-F3543ADCD6B0}"/>
              </a:ext>
            </a:extLst>
          </p:cNvPr>
          <p:cNvSpPr txBox="1">
            <a:spLocks/>
          </p:cNvSpPr>
          <p:nvPr/>
        </p:nvSpPr>
        <p:spPr>
          <a:xfrm>
            <a:off x="293468" y="1265651"/>
            <a:ext cx="4120866" cy="1128126"/>
          </a:xfrm>
          <a:prstGeom prst="rect">
            <a:avLst/>
          </a:prstGeom>
          <a:solidFill>
            <a:schemeClr val="bg1"/>
          </a:solidFill>
          <a:ln>
            <a:solidFill>
              <a:schemeClr val="accent2"/>
            </a:solidFill>
          </a:ln>
          <a:effectLst/>
        </p:spPr>
        <p:txBody>
          <a:bodyPr vert="horz" lIns="731520" tIns="91440" rIns="274320" bIns="91440" rtlCol="0" anchor="ctr">
            <a:normAutofit lnSpcReduction="10000"/>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800"/>
              </a:spcAft>
              <a:buNone/>
            </a:pPr>
            <a:r>
              <a:rPr lang="en-US" sz="1600" dirty="0">
                <a:solidFill>
                  <a:prstClr val="black">
                    <a:lumMod val="75000"/>
                    <a:lumOff val="25000"/>
                  </a:prstClr>
                </a:solidFill>
                <a:latin typeface="Aptos" panose="020B0004020202020204" pitchFamily="34" charset="0"/>
                <a:cs typeface="Segoe UI" panose="020B0502040204020203" pitchFamily="34" charset="0"/>
              </a:rPr>
              <a:t>First thing to do is identify the target from the previous slide do you see Hacker ECPI? Lets target the Channel and the SSID</a:t>
            </a:r>
          </a:p>
        </p:txBody>
      </p:sp>
      <p:sp>
        <p:nvSpPr>
          <p:cNvPr id="10" name="Oval 9" descr="Small circle">
            <a:extLst>
              <a:ext uri="{FF2B5EF4-FFF2-40B4-BE49-F238E27FC236}">
                <a16:creationId xmlns:a16="http://schemas.microsoft.com/office/drawing/2014/main" id="{8AE0939E-FA35-71D0-AE37-04AAFE65AEB3}"/>
              </a:ext>
            </a:extLst>
          </p:cNvPr>
          <p:cNvSpPr/>
          <p:nvPr/>
        </p:nvSpPr>
        <p:spPr bwMode="blackWhite">
          <a:xfrm>
            <a:off x="424043" y="1621474"/>
            <a:ext cx="409838" cy="409838"/>
          </a:xfrm>
          <a:prstGeom prst="ellipse">
            <a:avLst/>
          </a:prstGeom>
          <a:solidFill>
            <a:srgbClr val="D24726"/>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Aptos SemiBold" panose="020B0004020202020204" pitchFamily="34" charset="0"/>
              </a:rPr>
              <a:t>1</a:t>
            </a:r>
          </a:p>
        </p:txBody>
      </p:sp>
      <p:sp>
        <p:nvSpPr>
          <p:cNvPr id="12" name="Oval 11" descr="Small circle">
            <a:extLst>
              <a:ext uri="{FF2B5EF4-FFF2-40B4-BE49-F238E27FC236}">
                <a16:creationId xmlns:a16="http://schemas.microsoft.com/office/drawing/2014/main" id="{50F2D191-EFDB-F52B-45F4-026D8E9FA119}"/>
              </a:ext>
            </a:extLst>
          </p:cNvPr>
          <p:cNvSpPr/>
          <p:nvPr/>
        </p:nvSpPr>
        <p:spPr bwMode="blackWhite">
          <a:xfrm>
            <a:off x="422774" y="3404398"/>
            <a:ext cx="409838" cy="409838"/>
          </a:xfrm>
          <a:prstGeom prst="ellipse">
            <a:avLst/>
          </a:prstGeom>
          <a:solidFill>
            <a:srgbClr val="D24726"/>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Aptos SemiBold" panose="020B0004020202020204" pitchFamily="34" charset="0"/>
              </a:rPr>
              <a:t>2</a:t>
            </a:r>
          </a:p>
        </p:txBody>
      </p:sp>
      <p:sp>
        <p:nvSpPr>
          <p:cNvPr id="19" name="Content Placeholder 17">
            <a:extLst>
              <a:ext uri="{FF2B5EF4-FFF2-40B4-BE49-F238E27FC236}">
                <a16:creationId xmlns:a16="http://schemas.microsoft.com/office/drawing/2014/main" id="{E07E8094-AF7A-B93D-E23A-17FC60A03A51}"/>
              </a:ext>
            </a:extLst>
          </p:cNvPr>
          <p:cNvSpPr txBox="1">
            <a:spLocks/>
          </p:cNvSpPr>
          <p:nvPr/>
        </p:nvSpPr>
        <p:spPr>
          <a:xfrm>
            <a:off x="320040" y="4832945"/>
            <a:ext cx="4094295" cy="1604725"/>
          </a:xfrm>
          <a:prstGeom prst="rect">
            <a:avLst/>
          </a:prstGeom>
          <a:solidFill>
            <a:schemeClr val="bg1"/>
          </a:solidFill>
          <a:ln>
            <a:solidFill>
              <a:schemeClr val="accent2"/>
            </a:solidFill>
          </a:ln>
          <a:effectLst/>
        </p:spPr>
        <p:txBody>
          <a:bodyPr vert="horz" lIns="731520" tIns="91440" rIns="274320" bIns="91440" rtlCol="0" anchor="ctr">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spcAft>
                <a:spcPts val="800"/>
              </a:spcAft>
              <a:buNone/>
            </a:pPr>
            <a:r>
              <a:rPr lang="en-US" sz="1600" dirty="0">
                <a:solidFill>
                  <a:prstClr val="black">
                    <a:lumMod val="75000"/>
                    <a:lumOff val="25000"/>
                  </a:prstClr>
                </a:solidFill>
                <a:latin typeface="Aptos" panose="020B0004020202020204" pitchFamily="34" charset="0"/>
                <a:cs typeface="Segoe UI" panose="020B0502040204020203" pitchFamily="34" charset="0"/>
              </a:rPr>
              <a:t>One you hit enter then go to another wireless device and select the Access Point you want to access. Watch the Capture of the Password as the handshake occurs.</a:t>
            </a:r>
          </a:p>
        </p:txBody>
      </p:sp>
      <p:sp>
        <p:nvSpPr>
          <p:cNvPr id="21" name="Oval 20" descr="Small circle">
            <a:extLst>
              <a:ext uri="{FF2B5EF4-FFF2-40B4-BE49-F238E27FC236}">
                <a16:creationId xmlns:a16="http://schemas.microsoft.com/office/drawing/2014/main" id="{6EC6B887-7E4A-17C4-EC29-FD06AC48B1BB}"/>
              </a:ext>
            </a:extLst>
          </p:cNvPr>
          <p:cNvSpPr/>
          <p:nvPr/>
        </p:nvSpPr>
        <p:spPr bwMode="blackWhite">
          <a:xfrm>
            <a:off x="422774" y="5430387"/>
            <a:ext cx="409838" cy="409838"/>
          </a:xfrm>
          <a:prstGeom prst="ellipse">
            <a:avLst/>
          </a:prstGeom>
          <a:solidFill>
            <a:srgbClr val="D24726"/>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Aptos SemiBold" panose="020B0004020202020204" pitchFamily="34" charset="0"/>
              </a:rPr>
              <a:t>3</a:t>
            </a:r>
          </a:p>
        </p:txBody>
      </p:sp>
    </p:spTree>
    <p:extLst>
      <p:ext uri="{BB962C8B-B14F-4D97-AF65-F5344CB8AC3E}">
        <p14:creationId xmlns:p14="http://schemas.microsoft.com/office/powerpoint/2010/main" val="25968336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20040" y="159011"/>
            <a:ext cx="9694356" cy="640080"/>
          </a:xfrm>
        </p:spPr>
        <p:txBody>
          <a:bodyPr>
            <a:noAutofit/>
          </a:bodyPr>
          <a:lstStyle/>
          <a:p>
            <a:r>
              <a:rPr lang="en-US" sz="3600" dirty="0">
                <a:solidFill>
                  <a:schemeClr val="tx1"/>
                </a:solidFill>
                <a:latin typeface="Aptos" panose="020B0004020202020204" pitchFamily="34" charset="0"/>
                <a:cs typeface="Segoe UI Light" panose="020B0502040204020203" pitchFamily="34" charset="0"/>
              </a:rPr>
              <a:t>Time to Crack the Password that was Captured</a:t>
            </a:r>
          </a:p>
        </p:txBody>
      </p:sp>
      <p:pic>
        <p:nvPicPr>
          <p:cNvPr id="29" name="Picture 2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11637" y="1137775"/>
            <a:ext cx="5410671" cy="2250960"/>
          </a:xfrm>
          <a:prstGeom prst="rect">
            <a:avLst/>
          </a:prstGeom>
          <a:effectLst>
            <a:outerShdw blurRad="63500" sx="102000" sy="102000" algn="ctr" rotWithShape="0">
              <a:prstClr val="black">
                <a:alpha val="40000"/>
              </a:prstClr>
            </a:outerShdw>
          </a:effectLst>
        </p:spPr>
      </p:pic>
      <p:pic>
        <p:nvPicPr>
          <p:cNvPr id="23" name="Picture 2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11636" y="3659168"/>
            <a:ext cx="5410671" cy="2805487"/>
          </a:xfrm>
          <a:prstGeom prst="rect">
            <a:avLst/>
          </a:prstGeom>
          <a:effectLst>
            <a:outerShdw blurRad="63500" sx="102000" sy="102000" algn="ctr" rotWithShape="0">
              <a:prstClr val="black">
                <a:alpha val="40000"/>
              </a:prstClr>
            </a:outerShdw>
          </a:effectLst>
        </p:spPr>
      </p:pic>
      <p:cxnSp>
        <p:nvCxnSpPr>
          <p:cNvPr id="2" name="Straight Connector 1">
            <a:extLst>
              <a:ext uri="{FF2B5EF4-FFF2-40B4-BE49-F238E27FC236}">
                <a16:creationId xmlns:a16="http://schemas.microsoft.com/office/drawing/2014/main" id="{CC839771-76C9-CDB1-25A9-8E9B88683E5A}"/>
              </a:ext>
            </a:extLst>
          </p:cNvPr>
          <p:cNvCxnSpPr>
            <a:cxnSpLocks/>
          </p:cNvCxnSpPr>
          <p:nvPr/>
        </p:nvCxnSpPr>
        <p:spPr>
          <a:xfrm>
            <a:off x="0" y="855396"/>
            <a:ext cx="10014396" cy="0"/>
          </a:xfrm>
          <a:prstGeom prst="line">
            <a:avLst/>
          </a:prstGeom>
          <a:ln w="69850" cap="rnd" cmpd="sng">
            <a:prstDash val="solid"/>
            <a:round/>
          </a:ln>
          <a:effectLst>
            <a:outerShdw blurRad="50800" dist="38100" dir="5400000" algn="t" rotWithShape="0">
              <a:prstClr val="black">
                <a:alpha val="40000"/>
              </a:prstClr>
            </a:outerShdw>
          </a:effectLst>
        </p:spPr>
        <p:style>
          <a:lnRef idx="3">
            <a:schemeClr val="accent2"/>
          </a:lnRef>
          <a:fillRef idx="0">
            <a:schemeClr val="accent2"/>
          </a:fillRef>
          <a:effectRef idx="2">
            <a:schemeClr val="accent2"/>
          </a:effectRef>
          <a:fontRef idx="minor">
            <a:schemeClr val="tx1"/>
          </a:fontRef>
        </p:style>
      </p:cxnSp>
      <p:sp>
        <p:nvSpPr>
          <p:cNvPr id="5" name="Content Placeholder 17">
            <a:extLst>
              <a:ext uri="{FF2B5EF4-FFF2-40B4-BE49-F238E27FC236}">
                <a16:creationId xmlns:a16="http://schemas.microsoft.com/office/drawing/2014/main" id="{1E3DB435-8C91-2CC5-0042-97CB7A4B4CB4}"/>
              </a:ext>
            </a:extLst>
          </p:cNvPr>
          <p:cNvSpPr txBox="1">
            <a:spLocks/>
          </p:cNvSpPr>
          <p:nvPr/>
        </p:nvSpPr>
        <p:spPr>
          <a:xfrm>
            <a:off x="243840" y="2389508"/>
            <a:ext cx="5852160" cy="1326615"/>
          </a:xfrm>
          <a:prstGeom prst="rect">
            <a:avLst/>
          </a:prstGeom>
          <a:solidFill>
            <a:schemeClr val="bg1"/>
          </a:solidFill>
          <a:ln>
            <a:solidFill>
              <a:schemeClr val="bg1">
                <a:lumMod val="95000"/>
              </a:schemeClr>
            </a:solidFill>
          </a:ln>
          <a:effectLst>
            <a:outerShdw blurRad="63500" sx="102000" sy="102000" algn="ctr" rotWithShape="0">
              <a:prstClr val="black">
                <a:alpha val="40000"/>
              </a:prstClr>
            </a:outerShdw>
          </a:effectLst>
        </p:spPr>
        <p:txBody>
          <a:bodyPr vert="horz" lIns="640080" tIns="91440" rIns="91440" bIns="91440" rtlCol="0" anchor="ctr">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0"/>
              </a:spcBef>
              <a:spcAft>
                <a:spcPts val="200"/>
              </a:spcAft>
              <a:buNone/>
              <a:defRPr/>
            </a:pPr>
            <a:r>
              <a:rPr lang="en-US" sz="1600" dirty="0">
                <a:solidFill>
                  <a:schemeClr val="tx1"/>
                </a:solidFill>
                <a:latin typeface="Aptos" panose="020B0004020202020204" pitchFamily="34" charset="0"/>
                <a:cs typeface="Segoe UI" panose="020B0502040204020203" pitchFamily="34" charset="0"/>
              </a:rPr>
              <a:t>This is the file where we are going to run </a:t>
            </a:r>
            <a:r>
              <a:rPr lang="en-US" sz="1600" dirty="0" err="1">
                <a:solidFill>
                  <a:schemeClr val="tx1"/>
                </a:solidFill>
                <a:latin typeface="Aptos" panose="020B0004020202020204" pitchFamily="34" charset="0"/>
                <a:cs typeface="Segoe UI" panose="020B0502040204020203" pitchFamily="34" charset="0"/>
              </a:rPr>
              <a:t>aircrack</a:t>
            </a:r>
            <a:r>
              <a:rPr lang="en-US" sz="1600" dirty="0">
                <a:solidFill>
                  <a:schemeClr val="tx1"/>
                </a:solidFill>
                <a:latin typeface="Aptos" panose="020B0004020202020204" pitchFamily="34" charset="0"/>
                <a:cs typeface="Segoe UI" panose="020B0502040204020203" pitchFamily="34" charset="0"/>
              </a:rPr>
              <a:t>. Are you ready? Let’s go!</a:t>
            </a:r>
            <a:br>
              <a:rPr lang="en-US" sz="1600" dirty="0">
                <a:solidFill>
                  <a:prstClr val="black">
                    <a:lumMod val="75000"/>
                    <a:lumOff val="25000"/>
                  </a:prstClr>
                </a:solidFill>
                <a:latin typeface="Aptos" panose="020B0004020202020204" pitchFamily="34" charset="0"/>
                <a:cs typeface="Segoe UI"/>
              </a:rPr>
            </a:br>
            <a:r>
              <a:rPr lang="en-US" sz="1600" dirty="0">
                <a:solidFill>
                  <a:srgbClr val="FF0000"/>
                </a:solidFill>
                <a:latin typeface="Aptos" panose="020B0004020202020204" pitchFamily="34" charset="0"/>
                <a:cs typeface="Segoe UI Semibold" panose="020B0702040204020203" pitchFamily="34" charset="0"/>
              </a:rPr>
              <a:t>Hint:  </a:t>
            </a:r>
            <a:r>
              <a:rPr lang="en-US" sz="1600" dirty="0">
                <a:solidFill>
                  <a:schemeClr val="tx1"/>
                </a:solidFill>
                <a:latin typeface="Aptos" panose="020B0004020202020204" pitchFamily="34" charset="0"/>
                <a:cs typeface="Segoe UI Semibold" panose="020B0702040204020203" pitchFamily="34" charset="0"/>
              </a:rPr>
              <a:t>Remember that we must run the most recent capture we do this to ensure we captured the correct Access Attempt.</a:t>
            </a:r>
            <a:endParaRPr lang="en-US" sz="1600" dirty="0">
              <a:solidFill>
                <a:schemeClr val="tx1"/>
              </a:solidFill>
              <a:latin typeface="Aptos" panose="020B0004020202020204" pitchFamily="34" charset="0"/>
              <a:cs typeface="Segoe UI" panose="020B0502040204020203" pitchFamily="34" charset="0"/>
            </a:endParaRPr>
          </a:p>
        </p:txBody>
      </p:sp>
      <p:sp>
        <p:nvSpPr>
          <p:cNvPr id="6" name="Content Placeholder 17">
            <a:extLst>
              <a:ext uri="{FF2B5EF4-FFF2-40B4-BE49-F238E27FC236}">
                <a16:creationId xmlns:a16="http://schemas.microsoft.com/office/drawing/2014/main" id="{838EC726-C33F-40C0-1A0A-7747D43ADFC8}"/>
              </a:ext>
            </a:extLst>
          </p:cNvPr>
          <p:cNvSpPr txBox="1">
            <a:spLocks/>
          </p:cNvSpPr>
          <p:nvPr/>
        </p:nvSpPr>
        <p:spPr>
          <a:xfrm>
            <a:off x="243840" y="5234954"/>
            <a:ext cx="5852160" cy="1188720"/>
          </a:xfrm>
          <a:prstGeom prst="rect">
            <a:avLst/>
          </a:prstGeom>
          <a:solidFill>
            <a:schemeClr val="bg1"/>
          </a:solidFill>
          <a:ln>
            <a:solidFill>
              <a:schemeClr val="bg1">
                <a:lumMod val="95000"/>
              </a:schemeClr>
            </a:solidFill>
          </a:ln>
          <a:effectLst>
            <a:outerShdw blurRad="63500" sx="102000" sy="102000" algn="ctr" rotWithShape="0">
              <a:prstClr val="black">
                <a:alpha val="40000"/>
              </a:prstClr>
            </a:outerShdw>
          </a:effectLst>
        </p:spPr>
        <p:txBody>
          <a:bodyPr vert="horz" lIns="640080" tIns="91440" rIns="274320" bIns="91440" rtlCol="0" anchor="ctr">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0"/>
              </a:spcBef>
              <a:spcAft>
                <a:spcPts val="800"/>
              </a:spcAft>
              <a:buNone/>
              <a:defRPr/>
            </a:pPr>
            <a:r>
              <a:rPr lang="en-US" sz="1600" dirty="0">
                <a:solidFill>
                  <a:prstClr val="black">
                    <a:lumMod val="75000"/>
                    <a:lumOff val="25000"/>
                  </a:prstClr>
                </a:solidFill>
                <a:latin typeface="Aptos" panose="020B0004020202020204" pitchFamily="34" charset="0"/>
                <a:cs typeface="Segoe UI" panose="020B0502040204020203" pitchFamily="34" charset="0"/>
              </a:rPr>
              <a:t>This is the Password cracker while it is running attempting each word in the </a:t>
            </a:r>
            <a:r>
              <a:rPr lang="en-US" sz="1600" dirty="0" err="1">
                <a:solidFill>
                  <a:prstClr val="black">
                    <a:lumMod val="75000"/>
                    <a:lumOff val="25000"/>
                  </a:prstClr>
                </a:solidFill>
                <a:latin typeface="Aptos" panose="020B0004020202020204" pitchFamily="34" charset="0"/>
                <a:cs typeface="Segoe UI" panose="020B0502040204020203" pitchFamily="34" charset="0"/>
              </a:rPr>
              <a:t>Rockyour.txt</a:t>
            </a:r>
            <a:r>
              <a:rPr lang="en-US" sz="1600" dirty="0">
                <a:solidFill>
                  <a:prstClr val="black">
                    <a:lumMod val="75000"/>
                    <a:lumOff val="25000"/>
                  </a:prstClr>
                </a:solidFill>
                <a:latin typeface="Aptos" panose="020B0004020202020204" pitchFamily="34" charset="0"/>
                <a:cs typeface="Segoe UI" panose="020B0502040204020203" pitchFamily="34" charset="0"/>
              </a:rPr>
              <a:t> file.</a:t>
            </a:r>
          </a:p>
        </p:txBody>
      </p:sp>
      <p:sp>
        <p:nvSpPr>
          <p:cNvPr id="7" name="Content Placeholder 17">
            <a:extLst>
              <a:ext uri="{FF2B5EF4-FFF2-40B4-BE49-F238E27FC236}">
                <a16:creationId xmlns:a16="http://schemas.microsoft.com/office/drawing/2014/main" id="{81301DE1-3137-F9C7-FE59-B3F3E5E0EC68}"/>
              </a:ext>
            </a:extLst>
          </p:cNvPr>
          <p:cNvSpPr txBox="1">
            <a:spLocks/>
          </p:cNvSpPr>
          <p:nvPr/>
        </p:nvSpPr>
        <p:spPr>
          <a:xfrm>
            <a:off x="243840" y="1081453"/>
            <a:ext cx="5852160" cy="1188720"/>
          </a:xfrm>
          <a:prstGeom prst="rect">
            <a:avLst/>
          </a:prstGeom>
          <a:solidFill>
            <a:schemeClr val="bg1"/>
          </a:solidFill>
          <a:ln>
            <a:solidFill>
              <a:schemeClr val="bg1">
                <a:lumMod val="95000"/>
              </a:schemeClr>
            </a:solidFill>
          </a:ln>
          <a:effectLst>
            <a:outerShdw blurRad="63500" sx="102000" sy="102000" algn="ctr" rotWithShape="0">
              <a:prstClr val="black">
                <a:alpha val="40000"/>
              </a:prstClr>
            </a:outerShdw>
          </a:effectLst>
        </p:spPr>
        <p:txBody>
          <a:bodyPr vert="horz" lIns="640080" tIns="91440" rIns="91440" bIns="91440" rtlCol="0" anchor="ctr">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0"/>
              </a:spcBef>
              <a:spcAft>
                <a:spcPts val="600"/>
              </a:spcAft>
              <a:buNone/>
              <a:defRPr/>
            </a:pPr>
            <a:r>
              <a:rPr lang="en-US" sz="1600" dirty="0">
                <a:solidFill>
                  <a:schemeClr val="tx1"/>
                </a:solidFill>
                <a:latin typeface="Aptos" panose="020B0004020202020204" pitchFamily="34" charset="0"/>
                <a:cs typeface="Segoe UI" panose="020B0502040204020203" pitchFamily="34" charset="0"/>
              </a:rPr>
              <a:t>First Verify your WPAcrack-04.cap this can be done with a ls in the home directory. You will select the most current capture file in this image it is WPAcrack-04.cap</a:t>
            </a:r>
            <a:endParaRPr lang="en-US" sz="1600" dirty="0">
              <a:solidFill>
                <a:schemeClr val="tx1"/>
              </a:solidFill>
              <a:latin typeface="Aptos" panose="020B0004020202020204" pitchFamily="34" charset="0"/>
              <a:cs typeface="Segoe UI"/>
            </a:endParaRPr>
          </a:p>
        </p:txBody>
      </p:sp>
      <p:sp>
        <p:nvSpPr>
          <p:cNvPr id="8" name="Oval 7" descr="Small circle">
            <a:extLst>
              <a:ext uri="{FF2B5EF4-FFF2-40B4-BE49-F238E27FC236}">
                <a16:creationId xmlns:a16="http://schemas.microsoft.com/office/drawing/2014/main" id="{43A479A2-D5EA-32BE-01F5-E6A02C380570}"/>
              </a:ext>
            </a:extLst>
          </p:cNvPr>
          <p:cNvSpPr/>
          <p:nvPr/>
        </p:nvSpPr>
        <p:spPr bwMode="blackWhite">
          <a:xfrm>
            <a:off x="366209" y="1359495"/>
            <a:ext cx="409838" cy="409838"/>
          </a:xfrm>
          <a:prstGeom prst="ellipse">
            <a:avLst/>
          </a:prstGeom>
          <a:solidFill>
            <a:srgbClr val="D24726"/>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Aptos SemiBold" panose="020B0004020202020204" pitchFamily="34" charset="0"/>
              </a:rPr>
              <a:t>1</a:t>
            </a:r>
          </a:p>
        </p:txBody>
      </p:sp>
      <p:sp>
        <p:nvSpPr>
          <p:cNvPr id="9" name="Oval 8" descr="Small circle">
            <a:extLst>
              <a:ext uri="{FF2B5EF4-FFF2-40B4-BE49-F238E27FC236}">
                <a16:creationId xmlns:a16="http://schemas.microsoft.com/office/drawing/2014/main" id="{46D80C33-B530-2954-FF50-0003FDAC2A67}"/>
              </a:ext>
            </a:extLst>
          </p:cNvPr>
          <p:cNvSpPr/>
          <p:nvPr/>
        </p:nvSpPr>
        <p:spPr bwMode="blackWhite">
          <a:xfrm>
            <a:off x="366209" y="5624395"/>
            <a:ext cx="409838" cy="409838"/>
          </a:xfrm>
          <a:prstGeom prst="ellipse">
            <a:avLst/>
          </a:prstGeom>
          <a:solidFill>
            <a:srgbClr val="D24726"/>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Aptos SemiBold" panose="020B0004020202020204" pitchFamily="34" charset="0"/>
              </a:rPr>
              <a:t>4</a:t>
            </a:r>
          </a:p>
        </p:txBody>
      </p:sp>
      <p:sp>
        <p:nvSpPr>
          <p:cNvPr id="10" name="Oval 9" descr="Small circle">
            <a:extLst>
              <a:ext uri="{FF2B5EF4-FFF2-40B4-BE49-F238E27FC236}">
                <a16:creationId xmlns:a16="http://schemas.microsoft.com/office/drawing/2014/main" id="{C6ADFAFB-1F21-F3EE-3293-CD86AF958F25}"/>
              </a:ext>
            </a:extLst>
          </p:cNvPr>
          <p:cNvSpPr/>
          <p:nvPr/>
        </p:nvSpPr>
        <p:spPr bwMode="blackWhite">
          <a:xfrm>
            <a:off x="366209" y="2753455"/>
            <a:ext cx="409838" cy="409838"/>
          </a:xfrm>
          <a:prstGeom prst="ellipse">
            <a:avLst/>
          </a:prstGeom>
          <a:solidFill>
            <a:srgbClr val="D24726"/>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Aptos SemiBold" panose="020B0004020202020204" pitchFamily="34" charset="0"/>
              </a:rPr>
              <a:t>2</a:t>
            </a:r>
          </a:p>
        </p:txBody>
      </p:sp>
      <p:sp>
        <p:nvSpPr>
          <p:cNvPr id="11" name="Content Placeholder 17">
            <a:extLst>
              <a:ext uri="{FF2B5EF4-FFF2-40B4-BE49-F238E27FC236}">
                <a16:creationId xmlns:a16="http://schemas.microsoft.com/office/drawing/2014/main" id="{76270044-DBAD-5B17-F5A2-6ACA59398C91}"/>
              </a:ext>
            </a:extLst>
          </p:cNvPr>
          <p:cNvSpPr txBox="1">
            <a:spLocks/>
          </p:cNvSpPr>
          <p:nvPr/>
        </p:nvSpPr>
        <p:spPr>
          <a:xfrm>
            <a:off x="243840" y="3835458"/>
            <a:ext cx="5852160" cy="1280160"/>
          </a:xfrm>
          <a:prstGeom prst="rect">
            <a:avLst/>
          </a:prstGeom>
          <a:solidFill>
            <a:schemeClr val="bg1"/>
          </a:solidFill>
          <a:ln>
            <a:solidFill>
              <a:schemeClr val="bg1">
                <a:lumMod val="95000"/>
              </a:schemeClr>
            </a:solidFill>
          </a:ln>
          <a:effectLst>
            <a:outerShdw blurRad="63500" sx="102000" sy="102000" algn="ctr" rotWithShape="0">
              <a:prstClr val="black">
                <a:alpha val="40000"/>
              </a:prstClr>
            </a:outerShdw>
          </a:effectLst>
        </p:spPr>
        <p:txBody>
          <a:bodyPr vert="horz" lIns="640080" tIns="91440" rIns="91440" bIns="91440" rtlCol="0" anchor="ctr">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0"/>
              </a:spcBef>
              <a:spcAft>
                <a:spcPts val="600"/>
              </a:spcAft>
              <a:buNone/>
              <a:defRPr/>
            </a:pPr>
            <a:r>
              <a:rPr lang="en-US" sz="1600" dirty="0" err="1">
                <a:solidFill>
                  <a:srgbClr val="FF0000"/>
                </a:solidFill>
                <a:latin typeface="Aptos" panose="020B0004020202020204" pitchFamily="34" charset="0"/>
                <a:cs typeface="Segoe UI" panose="020B0502040204020203" pitchFamily="34" charset="0"/>
              </a:rPr>
              <a:t>Aircrack</a:t>
            </a:r>
            <a:r>
              <a:rPr lang="en-US" sz="1600" dirty="0">
                <a:solidFill>
                  <a:srgbClr val="FF0000"/>
                </a:solidFill>
                <a:latin typeface="Aptos" panose="020B0004020202020204" pitchFamily="34" charset="0"/>
                <a:cs typeface="Segoe UI" panose="020B0502040204020203" pitchFamily="34" charset="0"/>
              </a:rPr>
              <a:t>-ng –w </a:t>
            </a:r>
            <a:r>
              <a:rPr lang="en-US" sz="1600" dirty="0" err="1">
                <a:solidFill>
                  <a:srgbClr val="FF0000"/>
                </a:solidFill>
                <a:latin typeface="Aptos" panose="020B0004020202020204" pitchFamily="34" charset="0"/>
                <a:cs typeface="Segoe UI" panose="020B0502040204020203" pitchFamily="34" charset="0"/>
              </a:rPr>
              <a:t>rockyou.txt</a:t>
            </a:r>
            <a:r>
              <a:rPr lang="en-US" sz="1600" dirty="0">
                <a:solidFill>
                  <a:srgbClr val="FF0000"/>
                </a:solidFill>
                <a:latin typeface="Aptos" panose="020B0004020202020204" pitchFamily="34" charset="0"/>
                <a:cs typeface="Segoe UI" panose="020B0502040204020203" pitchFamily="34" charset="0"/>
              </a:rPr>
              <a:t> –b 00:12:17:D9:15:DE WPAcrack-04.cap</a:t>
            </a:r>
          </a:p>
          <a:p>
            <a:pPr marL="0" lvl="0" indent="0">
              <a:lnSpc>
                <a:spcPct val="100000"/>
              </a:lnSpc>
              <a:spcBef>
                <a:spcPts val="0"/>
              </a:spcBef>
              <a:spcAft>
                <a:spcPts val="600"/>
              </a:spcAft>
              <a:buNone/>
              <a:defRPr/>
            </a:pPr>
            <a:r>
              <a:rPr lang="en-US" sz="1600" dirty="0">
                <a:solidFill>
                  <a:srgbClr val="FF0000"/>
                </a:solidFill>
                <a:latin typeface="Aptos" panose="020B0004020202020204" pitchFamily="34" charset="0"/>
                <a:cs typeface="Segoe UI" panose="020B0502040204020203" pitchFamily="34" charset="0"/>
              </a:rPr>
              <a:t> Hint: </a:t>
            </a:r>
            <a:r>
              <a:rPr lang="en-US" sz="1600" dirty="0">
                <a:solidFill>
                  <a:prstClr val="black">
                    <a:lumMod val="75000"/>
                    <a:lumOff val="25000"/>
                  </a:prstClr>
                </a:solidFill>
                <a:latin typeface="Aptos" panose="020B0004020202020204" pitchFamily="34" charset="0"/>
                <a:cs typeface="Segoe UI" panose="020B0502040204020203" pitchFamily="34" charset="0"/>
              </a:rPr>
              <a:t>This command will run </a:t>
            </a:r>
            <a:r>
              <a:rPr lang="en-US" sz="1600" dirty="0" err="1">
                <a:solidFill>
                  <a:prstClr val="black">
                    <a:lumMod val="75000"/>
                    <a:lumOff val="25000"/>
                  </a:prstClr>
                </a:solidFill>
                <a:latin typeface="Aptos" panose="020B0004020202020204" pitchFamily="34" charset="0"/>
                <a:cs typeface="Segoe UI" panose="020B0502040204020203" pitchFamily="34" charset="0"/>
              </a:rPr>
              <a:t>aircrack</a:t>
            </a:r>
            <a:r>
              <a:rPr lang="en-US" sz="1600" dirty="0">
                <a:solidFill>
                  <a:prstClr val="black">
                    <a:lumMod val="75000"/>
                    <a:lumOff val="25000"/>
                  </a:prstClr>
                </a:solidFill>
                <a:latin typeface="Aptos" panose="020B0004020202020204" pitchFamily="34" charset="0"/>
                <a:cs typeface="Segoe UI" panose="020B0502040204020203" pitchFamily="34" charset="0"/>
              </a:rPr>
              <a:t>-ng and crack the password if it is in the </a:t>
            </a:r>
            <a:r>
              <a:rPr lang="en-US" sz="1600" dirty="0" err="1">
                <a:solidFill>
                  <a:prstClr val="black">
                    <a:lumMod val="75000"/>
                    <a:lumOff val="25000"/>
                  </a:prstClr>
                </a:solidFill>
                <a:latin typeface="Aptos" panose="020B0004020202020204" pitchFamily="34" charset="0"/>
                <a:cs typeface="Segoe UI" panose="020B0502040204020203" pitchFamily="34" charset="0"/>
              </a:rPr>
              <a:t>Rockyou.txt</a:t>
            </a:r>
            <a:r>
              <a:rPr lang="en-US" sz="1600" dirty="0">
                <a:solidFill>
                  <a:prstClr val="black">
                    <a:lumMod val="75000"/>
                    <a:lumOff val="25000"/>
                  </a:prstClr>
                </a:solidFill>
                <a:latin typeface="Aptos" panose="020B0004020202020204" pitchFamily="34" charset="0"/>
                <a:cs typeface="Segoe UI" panose="020B0502040204020203" pitchFamily="34" charset="0"/>
              </a:rPr>
              <a:t> list.</a:t>
            </a:r>
          </a:p>
        </p:txBody>
      </p:sp>
      <p:sp>
        <p:nvSpPr>
          <p:cNvPr id="12" name="Oval 11" descr="Small circle">
            <a:extLst>
              <a:ext uri="{FF2B5EF4-FFF2-40B4-BE49-F238E27FC236}">
                <a16:creationId xmlns:a16="http://schemas.microsoft.com/office/drawing/2014/main" id="{083BA65D-C49E-8E9F-EEFC-ED4B2B238129}"/>
              </a:ext>
            </a:extLst>
          </p:cNvPr>
          <p:cNvSpPr/>
          <p:nvPr/>
        </p:nvSpPr>
        <p:spPr bwMode="blackWhite">
          <a:xfrm>
            <a:off x="366209" y="4270619"/>
            <a:ext cx="409838" cy="409838"/>
          </a:xfrm>
          <a:prstGeom prst="ellipse">
            <a:avLst/>
          </a:prstGeom>
          <a:solidFill>
            <a:srgbClr val="D24726"/>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latin typeface="Aptos SemiBold" panose="020B0004020202020204" pitchFamily="34" charset="0"/>
              </a:rPr>
              <a:t>3</a:t>
            </a:r>
          </a:p>
        </p:txBody>
      </p:sp>
    </p:spTree>
    <p:extLst>
      <p:ext uri="{BB962C8B-B14F-4D97-AF65-F5344CB8AC3E}">
        <p14:creationId xmlns:p14="http://schemas.microsoft.com/office/powerpoint/2010/main" val="19789720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40" y="215316"/>
            <a:ext cx="8608506" cy="640080"/>
          </a:xfrm>
        </p:spPr>
        <p:txBody>
          <a:bodyPr>
            <a:noAutofit/>
          </a:bodyPr>
          <a:lstStyle/>
          <a:p>
            <a:pPr lvl="0"/>
            <a:r>
              <a:rPr lang="en-US" sz="3600" dirty="0">
                <a:latin typeface="Aptos" panose="020B0004020202020204" pitchFamily="34" charset="0"/>
                <a:cs typeface="Segoe UI Light" panose="020B0502040204020203" pitchFamily="34" charset="0"/>
              </a:rPr>
              <a:t>Password is now Cracked; Here it is!!!</a:t>
            </a:r>
          </a:p>
        </p:txBody>
      </p:sp>
      <p:sp>
        <p:nvSpPr>
          <p:cNvPr id="5" name="Content Placeholder 4"/>
          <p:cNvSpPr>
            <a:spLocks noGrp="1"/>
          </p:cNvSpPr>
          <p:nvPr>
            <p:ph sz="half" idx="4294967295"/>
          </p:nvPr>
        </p:nvSpPr>
        <p:spPr>
          <a:xfrm>
            <a:off x="352359" y="1188122"/>
            <a:ext cx="10545490" cy="877475"/>
          </a:xfrm>
        </p:spPr>
        <p:txBody>
          <a:bodyPr vert="horz" lIns="91440" tIns="45720" rIns="91440" bIns="45720" rtlCol="0">
            <a:noAutofit/>
          </a:bodyPr>
          <a:lstStyle/>
          <a:p>
            <a:pPr marL="0" indent="0">
              <a:lnSpc>
                <a:spcPts val="1800"/>
              </a:lnSpc>
              <a:spcBef>
                <a:spcPts val="1000"/>
              </a:spcBef>
              <a:spcAft>
                <a:spcPts val="2000"/>
              </a:spcAft>
              <a:buNone/>
            </a:pPr>
            <a:r>
              <a:rPr lang="en-US" sz="1800" dirty="0">
                <a:solidFill>
                  <a:prstClr val="black">
                    <a:lumMod val="75000"/>
                    <a:lumOff val="25000"/>
                  </a:prstClr>
                </a:solidFill>
                <a:latin typeface="Aptos" panose="020B0004020202020204" pitchFamily="34" charset="0"/>
                <a:cs typeface="Segoe UI" panose="020B0502040204020203" pitchFamily="34" charset="0"/>
              </a:rPr>
              <a:t>It might take a while depending upon how deep the password is in the list. </a:t>
            </a:r>
            <a:br>
              <a:rPr lang="en-US" sz="1800" dirty="0">
                <a:solidFill>
                  <a:prstClr val="black">
                    <a:lumMod val="75000"/>
                    <a:lumOff val="25000"/>
                  </a:prstClr>
                </a:solidFill>
                <a:latin typeface="Aptos" panose="020B0004020202020204" pitchFamily="34" charset="0"/>
                <a:cs typeface="Segoe UI" panose="020B0502040204020203" pitchFamily="34" charset="0"/>
              </a:rPr>
            </a:br>
            <a:br>
              <a:rPr lang="en-US" sz="1800" dirty="0">
                <a:solidFill>
                  <a:prstClr val="black">
                    <a:lumMod val="75000"/>
                    <a:lumOff val="25000"/>
                  </a:prstClr>
                </a:solidFill>
                <a:latin typeface="Aptos" panose="020B0004020202020204" pitchFamily="34" charset="0"/>
                <a:cs typeface="Segoe UI" panose="020B0502040204020203" pitchFamily="34" charset="0"/>
              </a:rPr>
            </a:br>
            <a:r>
              <a:rPr lang="en-US" sz="1800" dirty="0">
                <a:solidFill>
                  <a:schemeClr val="accent2"/>
                </a:solidFill>
                <a:latin typeface="Aptos" panose="020B0004020202020204" pitchFamily="34" charset="0"/>
                <a:cs typeface="Segoe UI" panose="020B0502040204020203" pitchFamily="34" charset="0"/>
              </a:rPr>
              <a:t>How it works: </a:t>
            </a:r>
            <a:r>
              <a:rPr lang="en-US" sz="1800" dirty="0">
                <a:solidFill>
                  <a:prstClr val="black">
                    <a:lumMod val="75000"/>
                    <a:lumOff val="25000"/>
                  </a:prstClr>
                </a:solidFill>
                <a:latin typeface="Aptos" panose="020B0004020202020204" pitchFamily="34" charset="0"/>
                <a:cs typeface="Segoe UI" panose="020B0502040204020203" pitchFamily="34" charset="0"/>
              </a:rPr>
              <a:t>The Password is aardvark</a:t>
            </a: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9403" y="2065597"/>
            <a:ext cx="10336910" cy="4577087"/>
          </a:xfrm>
          <a:prstGeom prst="rect">
            <a:avLst/>
          </a:prstGeom>
          <a:effectLst>
            <a:outerShdw blurRad="63500" sx="102000" sy="102000" algn="ctr" rotWithShape="0">
              <a:prstClr val="black">
                <a:alpha val="40000"/>
              </a:prstClr>
            </a:outerShdw>
          </a:effectLst>
        </p:spPr>
      </p:pic>
      <p:cxnSp>
        <p:nvCxnSpPr>
          <p:cNvPr id="3" name="Straight Connector 2">
            <a:extLst>
              <a:ext uri="{FF2B5EF4-FFF2-40B4-BE49-F238E27FC236}">
                <a16:creationId xmlns:a16="http://schemas.microsoft.com/office/drawing/2014/main" id="{10E18D19-41F7-45B7-B0CD-210B4E7CEA11}"/>
              </a:ext>
            </a:extLst>
          </p:cNvPr>
          <p:cNvCxnSpPr/>
          <p:nvPr/>
        </p:nvCxnSpPr>
        <p:spPr>
          <a:xfrm>
            <a:off x="0" y="855396"/>
            <a:ext cx="8358188" cy="0"/>
          </a:xfrm>
          <a:prstGeom prst="line">
            <a:avLst/>
          </a:prstGeom>
          <a:ln w="69850" cap="rnd" cmpd="sng">
            <a:prstDash val="solid"/>
            <a:round/>
          </a:ln>
          <a:effectLst>
            <a:outerShdw blurRad="50800" dist="38100" dir="5400000" algn="t" rotWithShape="0">
              <a:prstClr val="black">
                <a:alpha val="40000"/>
              </a:prstClr>
            </a:outerShdw>
          </a:effectLst>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32867600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20040" y="162842"/>
            <a:ext cx="7823446" cy="640080"/>
          </a:xfrm>
        </p:spPr>
        <p:txBody>
          <a:bodyPr>
            <a:noAutofit/>
          </a:bodyPr>
          <a:lstStyle/>
          <a:p>
            <a:r>
              <a:rPr lang="en-US" sz="3600" dirty="0">
                <a:latin typeface="Aptos" panose="020B0004020202020204" pitchFamily="34" charset="0"/>
                <a:cs typeface="Segoe UI Light" panose="020B0502040204020203" pitchFamily="34" charset="0"/>
              </a:rPr>
              <a:t>Background on the Cracking Process</a:t>
            </a:r>
          </a:p>
        </p:txBody>
      </p:sp>
      <p:pic>
        <p:nvPicPr>
          <p:cNvPr id="29" name="Picture 2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3225" y="3812824"/>
            <a:ext cx="5687540" cy="2605169"/>
          </a:xfrm>
          <a:prstGeom prst="rect">
            <a:avLst/>
          </a:prstGeom>
          <a:effectLst>
            <a:outerShdw blurRad="63500" sx="102000" sy="102000" algn="ctr" rotWithShape="0">
              <a:prstClr val="black">
                <a:alpha val="40000"/>
              </a:prstClr>
            </a:outerShdw>
          </a:effectLst>
        </p:spPr>
      </p:pic>
      <p:pic>
        <p:nvPicPr>
          <p:cNvPr id="23" name="Picture 2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83224" y="1158997"/>
            <a:ext cx="5687541" cy="2548878"/>
          </a:xfrm>
          <a:prstGeom prst="rect">
            <a:avLst/>
          </a:prstGeom>
          <a:effectLst>
            <a:outerShdw blurRad="63500" sx="102000" sy="102000" algn="ctr" rotWithShape="0">
              <a:prstClr val="black">
                <a:alpha val="40000"/>
              </a:prstClr>
            </a:outerShdw>
          </a:effectLst>
        </p:spPr>
      </p:pic>
      <p:cxnSp>
        <p:nvCxnSpPr>
          <p:cNvPr id="2" name="Straight Connector 1">
            <a:extLst>
              <a:ext uri="{FF2B5EF4-FFF2-40B4-BE49-F238E27FC236}">
                <a16:creationId xmlns:a16="http://schemas.microsoft.com/office/drawing/2014/main" id="{6F13589A-8CF0-9BF4-67B9-CF2062BB1482}"/>
              </a:ext>
            </a:extLst>
          </p:cNvPr>
          <p:cNvCxnSpPr/>
          <p:nvPr/>
        </p:nvCxnSpPr>
        <p:spPr>
          <a:xfrm>
            <a:off x="0" y="855396"/>
            <a:ext cx="8358188" cy="0"/>
          </a:xfrm>
          <a:prstGeom prst="line">
            <a:avLst/>
          </a:prstGeom>
          <a:ln w="69850" cap="rnd" cmpd="sng">
            <a:prstDash val="solid"/>
            <a:round/>
          </a:ln>
          <a:effectLst>
            <a:outerShdw blurRad="50800" dist="38100" dir="5400000" algn="t" rotWithShape="0">
              <a:prstClr val="black">
                <a:alpha val="40000"/>
              </a:prstClr>
            </a:outerShdw>
          </a:effectLst>
        </p:spPr>
        <p:style>
          <a:lnRef idx="3">
            <a:schemeClr val="accent2"/>
          </a:lnRef>
          <a:fillRef idx="0">
            <a:schemeClr val="accent2"/>
          </a:fillRef>
          <a:effectRef idx="2">
            <a:schemeClr val="accent2"/>
          </a:effectRef>
          <a:fontRef idx="minor">
            <a:schemeClr val="tx1"/>
          </a:fontRef>
        </p:style>
      </p:cxnSp>
      <p:sp>
        <p:nvSpPr>
          <p:cNvPr id="3" name="Content Placeholder 17">
            <a:extLst>
              <a:ext uri="{FF2B5EF4-FFF2-40B4-BE49-F238E27FC236}">
                <a16:creationId xmlns:a16="http://schemas.microsoft.com/office/drawing/2014/main" id="{9E6BDE30-1D08-9454-92C8-D8C4190F761E}"/>
              </a:ext>
            </a:extLst>
          </p:cNvPr>
          <p:cNvSpPr txBox="1">
            <a:spLocks/>
          </p:cNvSpPr>
          <p:nvPr/>
        </p:nvSpPr>
        <p:spPr>
          <a:xfrm>
            <a:off x="289256" y="2543887"/>
            <a:ext cx="5852160" cy="1258575"/>
          </a:xfrm>
          <a:prstGeom prst="rect">
            <a:avLst/>
          </a:prstGeom>
          <a:solidFill>
            <a:schemeClr val="bg1"/>
          </a:solidFill>
          <a:ln>
            <a:solidFill>
              <a:schemeClr val="bg1">
                <a:lumMod val="95000"/>
              </a:schemeClr>
            </a:solidFill>
          </a:ln>
          <a:effectLst>
            <a:outerShdw blurRad="63500" sx="102000" sy="102000" algn="ctr" rotWithShape="0">
              <a:prstClr val="black">
                <a:alpha val="40000"/>
              </a:prstClr>
            </a:outerShdw>
          </a:effectLst>
        </p:spPr>
        <p:txBody>
          <a:bodyPr vert="horz" lIns="731520" tIns="91440" rIns="182880" bIns="91440" rtlCol="0" anchor="ctr">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0"/>
              </a:spcBef>
              <a:spcAft>
                <a:spcPts val="600"/>
              </a:spcAft>
              <a:buNone/>
              <a:defRPr/>
            </a:pPr>
            <a:r>
              <a:rPr lang="en-US" sz="1600" dirty="0">
                <a:solidFill>
                  <a:schemeClr val="tx1"/>
                </a:solidFill>
                <a:latin typeface="Aptos" panose="020B0004020202020204" pitchFamily="34" charset="0"/>
                <a:cs typeface="Segoe UI" panose="020B0502040204020203" pitchFamily="34" charset="0"/>
              </a:rPr>
              <a:t>When the password cracker runs it actually creates a hash of each word</a:t>
            </a:r>
            <a:br>
              <a:rPr lang="en-US" sz="1600" dirty="0">
                <a:solidFill>
                  <a:prstClr val="black">
                    <a:lumMod val="75000"/>
                    <a:lumOff val="25000"/>
                  </a:prstClr>
                </a:solidFill>
                <a:latin typeface="Aptos" panose="020B0004020202020204" pitchFamily="34" charset="0"/>
                <a:cs typeface="Segoe UI"/>
              </a:rPr>
            </a:br>
            <a:r>
              <a:rPr lang="en-US" sz="1600" dirty="0">
                <a:solidFill>
                  <a:srgbClr val="FF0000"/>
                </a:solidFill>
                <a:latin typeface="Aptos" panose="020B0004020202020204" pitchFamily="34" charset="0"/>
                <a:cs typeface="Segoe UI Semibold" panose="020B0702040204020203" pitchFamily="34" charset="0"/>
              </a:rPr>
              <a:t>Hint: </a:t>
            </a:r>
            <a:r>
              <a:rPr lang="en-US" sz="1600" dirty="0">
                <a:solidFill>
                  <a:schemeClr val="tx1"/>
                </a:solidFill>
                <a:latin typeface="Aptos" panose="020B0004020202020204" pitchFamily="34" charset="0"/>
                <a:cs typeface="Segoe UI Semibold" panose="020B0702040204020203" pitchFamily="34" charset="0"/>
              </a:rPr>
              <a:t>Once a hash is created of each word then it checks it against the hashed capture.</a:t>
            </a:r>
            <a:endParaRPr lang="en-US" sz="1600" dirty="0">
              <a:solidFill>
                <a:schemeClr val="tx1"/>
              </a:solidFill>
              <a:latin typeface="Aptos" panose="020B0004020202020204" pitchFamily="34" charset="0"/>
              <a:cs typeface="Segoe UI" panose="020B0502040204020203" pitchFamily="34" charset="0"/>
            </a:endParaRPr>
          </a:p>
        </p:txBody>
      </p:sp>
      <p:sp>
        <p:nvSpPr>
          <p:cNvPr id="5" name="Content Placeholder 17">
            <a:extLst>
              <a:ext uri="{FF2B5EF4-FFF2-40B4-BE49-F238E27FC236}">
                <a16:creationId xmlns:a16="http://schemas.microsoft.com/office/drawing/2014/main" id="{A7472D8E-546E-C23D-3EFD-072265B73D52}"/>
              </a:ext>
            </a:extLst>
          </p:cNvPr>
          <p:cNvSpPr txBox="1">
            <a:spLocks/>
          </p:cNvSpPr>
          <p:nvPr/>
        </p:nvSpPr>
        <p:spPr>
          <a:xfrm>
            <a:off x="269817" y="5313668"/>
            <a:ext cx="5852160" cy="1258575"/>
          </a:xfrm>
          <a:prstGeom prst="rect">
            <a:avLst/>
          </a:prstGeom>
          <a:solidFill>
            <a:schemeClr val="bg1"/>
          </a:solidFill>
          <a:ln>
            <a:solidFill>
              <a:schemeClr val="bg1">
                <a:lumMod val="95000"/>
              </a:schemeClr>
            </a:solidFill>
          </a:ln>
          <a:effectLst>
            <a:outerShdw blurRad="63500" sx="102000" sy="102000" algn="ctr" rotWithShape="0">
              <a:prstClr val="black">
                <a:alpha val="40000"/>
              </a:prstClr>
            </a:outerShdw>
          </a:effectLst>
        </p:spPr>
        <p:txBody>
          <a:bodyPr vert="horz" lIns="731520" tIns="91440" rIns="182880" bIns="91440" rtlCol="0" anchor="ctr">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0"/>
              </a:spcBef>
              <a:spcAft>
                <a:spcPts val="600"/>
              </a:spcAft>
              <a:buNone/>
              <a:defRPr/>
            </a:pPr>
            <a:r>
              <a:rPr lang="en-US" sz="1600" dirty="0">
                <a:solidFill>
                  <a:schemeClr val="tx1"/>
                </a:solidFill>
                <a:latin typeface="Aptos" panose="020B0004020202020204" pitchFamily="34" charset="0"/>
                <a:cs typeface="Segoe UI" panose="020B0502040204020203" pitchFamily="34" charset="0"/>
              </a:rPr>
              <a:t>Once process is stopped it displays the last word that was being compared.</a:t>
            </a:r>
          </a:p>
        </p:txBody>
      </p:sp>
      <p:sp>
        <p:nvSpPr>
          <p:cNvPr id="6" name="Content Placeholder 17">
            <a:extLst>
              <a:ext uri="{FF2B5EF4-FFF2-40B4-BE49-F238E27FC236}">
                <a16:creationId xmlns:a16="http://schemas.microsoft.com/office/drawing/2014/main" id="{D4ACFC7E-B723-02F5-02EC-5C5B713BCB6F}"/>
              </a:ext>
            </a:extLst>
          </p:cNvPr>
          <p:cNvSpPr txBox="1">
            <a:spLocks/>
          </p:cNvSpPr>
          <p:nvPr/>
        </p:nvSpPr>
        <p:spPr>
          <a:xfrm>
            <a:off x="289256" y="1158996"/>
            <a:ext cx="5852160" cy="1258575"/>
          </a:xfrm>
          <a:prstGeom prst="rect">
            <a:avLst/>
          </a:prstGeom>
          <a:solidFill>
            <a:schemeClr val="bg1"/>
          </a:solidFill>
          <a:ln>
            <a:solidFill>
              <a:schemeClr val="bg1">
                <a:lumMod val="95000"/>
              </a:schemeClr>
            </a:solidFill>
          </a:ln>
          <a:effectLst>
            <a:outerShdw blurRad="63500" sx="102000" sy="102000" algn="ctr" rotWithShape="0">
              <a:prstClr val="black">
                <a:alpha val="40000"/>
              </a:prstClr>
            </a:outerShdw>
          </a:effectLst>
        </p:spPr>
        <p:txBody>
          <a:bodyPr vert="horz" lIns="731520" tIns="91440" rIns="182880" bIns="91440" rtlCol="0" anchor="ctr">
            <a:norm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0"/>
              </a:spcBef>
              <a:spcAft>
                <a:spcPts val="600"/>
              </a:spcAft>
              <a:buNone/>
              <a:defRPr/>
            </a:pPr>
            <a:r>
              <a:rPr lang="en-US" sz="1600" dirty="0" err="1">
                <a:solidFill>
                  <a:schemeClr val="tx1"/>
                </a:solidFill>
                <a:latin typeface="Aptos" panose="020B0004020202020204" pitchFamily="34" charset="0"/>
                <a:cs typeface="Segoe UI"/>
              </a:rPr>
              <a:t>Aircrack</a:t>
            </a:r>
            <a:r>
              <a:rPr lang="en-US" sz="1600" dirty="0">
                <a:solidFill>
                  <a:schemeClr val="tx1"/>
                </a:solidFill>
                <a:latin typeface="Aptos" panose="020B0004020202020204" pitchFamily="34" charset="0"/>
                <a:cs typeface="Segoe UI"/>
              </a:rPr>
              <a:t>-ng requires the SSID and the WPAcrack-01.cap file.  WHY?</a:t>
            </a:r>
          </a:p>
        </p:txBody>
      </p:sp>
      <p:sp>
        <p:nvSpPr>
          <p:cNvPr id="7" name="Oval 6" descr="Small circle">
            <a:extLst>
              <a:ext uri="{FF2B5EF4-FFF2-40B4-BE49-F238E27FC236}">
                <a16:creationId xmlns:a16="http://schemas.microsoft.com/office/drawing/2014/main" id="{6BFDACBE-853C-8FCD-0B64-13258E8A0040}"/>
              </a:ext>
            </a:extLst>
          </p:cNvPr>
          <p:cNvSpPr/>
          <p:nvPr/>
        </p:nvSpPr>
        <p:spPr bwMode="blackWhite">
          <a:xfrm>
            <a:off x="411625" y="1579190"/>
            <a:ext cx="409838" cy="409838"/>
          </a:xfrm>
          <a:prstGeom prst="ellipse">
            <a:avLst/>
          </a:prstGeom>
          <a:solidFill>
            <a:srgbClr val="D24726"/>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Aptos" panose="020B0004020202020204" pitchFamily="34" charset="0"/>
              </a:rPr>
              <a:t>1</a:t>
            </a:r>
          </a:p>
        </p:txBody>
      </p:sp>
      <p:sp>
        <p:nvSpPr>
          <p:cNvPr id="8" name="Oval 7" descr="Small circle">
            <a:extLst>
              <a:ext uri="{FF2B5EF4-FFF2-40B4-BE49-F238E27FC236}">
                <a16:creationId xmlns:a16="http://schemas.microsoft.com/office/drawing/2014/main" id="{A8785328-7569-D851-79F4-E89B0944C63C}"/>
              </a:ext>
            </a:extLst>
          </p:cNvPr>
          <p:cNvSpPr/>
          <p:nvPr/>
        </p:nvSpPr>
        <p:spPr bwMode="blackWhite">
          <a:xfrm>
            <a:off x="411625" y="5738036"/>
            <a:ext cx="409838" cy="409838"/>
          </a:xfrm>
          <a:prstGeom prst="ellipse">
            <a:avLst/>
          </a:prstGeom>
          <a:solidFill>
            <a:srgbClr val="D24726"/>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Aptos" panose="020B0004020202020204" pitchFamily="34" charset="0"/>
              </a:rPr>
              <a:t>4</a:t>
            </a:r>
          </a:p>
        </p:txBody>
      </p:sp>
      <p:sp>
        <p:nvSpPr>
          <p:cNvPr id="9" name="Oval 8" descr="Small circle">
            <a:extLst>
              <a:ext uri="{FF2B5EF4-FFF2-40B4-BE49-F238E27FC236}">
                <a16:creationId xmlns:a16="http://schemas.microsoft.com/office/drawing/2014/main" id="{19B90A43-B60E-4ECE-7A9D-27A6B7609B53}"/>
              </a:ext>
            </a:extLst>
          </p:cNvPr>
          <p:cNvSpPr/>
          <p:nvPr/>
        </p:nvSpPr>
        <p:spPr bwMode="blackWhite">
          <a:xfrm>
            <a:off x="411625" y="2968255"/>
            <a:ext cx="409838" cy="409838"/>
          </a:xfrm>
          <a:prstGeom prst="ellipse">
            <a:avLst/>
          </a:prstGeom>
          <a:solidFill>
            <a:srgbClr val="D24726"/>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Aptos" panose="020B0004020202020204" pitchFamily="34" charset="0"/>
              </a:rPr>
              <a:t>2</a:t>
            </a:r>
          </a:p>
        </p:txBody>
      </p:sp>
      <p:sp>
        <p:nvSpPr>
          <p:cNvPr id="10" name="Content Placeholder 17">
            <a:extLst>
              <a:ext uri="{FF2B5EF4-FFF2-40B4-BE49-F238E27FC236}">
                <a16:creationId xmlns:a16="http://schemas.microsoft.com/office/drawing/2014/main" id="{1609B419-7F1B-E789-A067-2DBA2B0A6809}"/>
              </a:ext>
            </a:extLst>
          </p:cNvPr>
          <p:cNvSpPr txBox="1">
            <a:spLocks/>
          </p:cNvSpPr>
          <p:nvPr/>
        </p:nvSpPr>
        <p:spPr>
          <a:xfrm>
            <a:off x="269817" y="3928778"/>
            <a:ext cx="5852160" cy="1258575"/>
          </a:xfrm>
          <a:prstGeom prst="rect">
            <a:avLst/>
          </a:prstGeom>
          <a:solidFill>
            <a:schemeClr val="bg1"/>
          </a:solidFill>
          <a:ln>
            <a:solidFill>
              <a:schemeClr val="bg1">
                <a:lumMod val="95000"/>
              </a:schemeClr>
            </a:solidFill>
          </a:ln>
          <a:effectLst>
            <a:outerShdw blurRad="63500" sx="102000" sy="102000" algn="ctr" rotWithShape="0">
              <a:prstClr val="black">
                <a:alpha val="40000"/>
              </a:prstClr>
            </a:outerShdw>
          </a:effectLst>
        </p:spPr>
        <p:txBody>
          <a:bodyPr vert="horz" lIns="731520" tIns="91440" rIns="182880" bIns="91440" rtlCol="0" anchor="ctr">
            <a:noAutofit/>
          </a:bodyPr>
          <a:lstStyle>
            <a:lvl1pPr marL="2286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1pPr>
            <a:lvl2pPr marL="6858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2pPr>
            <a:lvl3pPr marL="11430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3pPr>
            <a:lvl4pPr marL="16002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smtClean="0">
                <a:solidFill>
                  <a:schemeClr val="tx1">
                    <a:lumMod val="75000"/>
                    <a:lumOff val="25000"/>
                  </a:schemeClr>
                </a:solidFill>
                <a:latin typeface="+mn-lt"/>
                <a:ea typeface="+mn-ea"/>
                <a:cs typeface="+mn-cs"/>
              </a:defRPr>
            </a:lvl4pPr>
            <a:lvl5pPr marL="2057400" indent="-228600" algn="l" defTabSz="914400" rtl="0" eaLnBrk="1" latinLnBrk="0" hangingPunct="1">
              <a:lnSpc>
                <a:spcPts val="1800"/>
              </a:lnSpc>
              <a:spcBef>
                <a:spcPts val="1000"/>
              </a:spcBef>
              <a:spcAft>
                <a:spcPts val="1000"/>
              </a:spcAft>
              <a:buFont typeface="Arial" panose="020B0604020202020204" pitchFamily="34" charset="0"/>
              <a:buChar char="•"/>
              <a:defRPr lang="en-US"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0"/>
              </a:spcBef>
              <a:spcAft>
                <a:spcPts val="600"/>
              </a:spcAft>
              <a:buNone/>
              <a:defRPr/>
            </a:pPr>
            <a:r>
              <a:rPr lang="en-US" sz="1600" dirty="0">
                <a:solidFill>
                  <a:schemeClr val="tx1"/>
                </a:solidFill>
                <a:latin typeface="Aptos" panose="020B0004020202020204" pitchFamily="34" charset="0"/>
                <a:cs typeface="Segoe UI" panose="020B0502040204020203" pitchFamily="34" charset="0"/>
              </a:rPr>
              <a:t>Password hash = Password Capture </a:t>
            </a:r>
          </a:p>
          <a:p>
            <a:pPr marL="0" lvl="0" indent="0">
              <a:lnSpc>
                <a:spcPct val="100000"/>
              </a:lnSpc>
              <a:spcBef>
                <a:spcPts val="0"/>
              </a:spcBef>
              <a:spcAft>
                <a:spcPts val="600"/>
              </a:spcAft>
              <a:buNone/>
              <a:defRPr/>
            </a:pPr>
            <a:r>
              <a:rPr lang="en-US" sz="1600" dirty="0">
                <a:solidFill>
                  <a:srgbClr val="FF0000"/>
                </a:solidFill>
                <a:latin typeface="Aptos" panose="020B0004020202020204" pitchFamily="34" charset="0"/>
                <a:cs typeface="Segoe UI" panose="020B0502040204020203" pitchFamily="34" charset="0"/>
              </a:rPr>
              <a:t>Hint: Once this statement is true then it stops the process</a:t>
            </a:r>
            <a:endParaRPr lang="en-US" sz="1600" dirty="0">
              <a:solidFill>
                <a:srgbClr val="FF0000"/>
              </a:solidFill>
              <a:latin typeface="Aptos" panose="020B0004020202020204" pitchFamily="34" charset="0"/>
              <a:cs typeface="Segoe UI"/>
            </a:endParaRPr>
          </a:p>
        </p:txBody>
      </p:sp>
      <p:sp>
        <p:nvSpPr>
          <p:cNvPr id="11" name="Oval 10" descr="Small circle">
            <a:extLst>
              <a:ext uri="{FF2B5EF4-FFF2-40B4-BE49-F238E27FC236}">
                <a16:creationId xmlns:a16="http://schemas.microsoft.com/office/drawing/2014/main" id="{FB8448BF-00AE-B539-E40C-A2D0779569E6}"/>
              </a:ext>
            </a:extLst>
          </p:cNvPr>
          <p:cNvSpPr/>
          <p:nvPr/>
        </p:nvSpPr>
        <p:spPr bwMode="blackWhite">
          <a:xfrm>
            <a:off x="411625" y="4353146"/>
            <a:ext cx="409838" cy="409838"/>
          </a:xfrm>
          <a:prstGeom prst="ellipse">
            <a:avLst/>
          </a:prstGeom>
          <a:solidFill>
            <a:srgbClr val="D24726"/>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Aptos" panose="020B0004020202020204" pitchFamily="34" charset="0"/>
              </a:rPr>
              <a:t>3</a:t>
            </a:r>
          </a:p>
        </p:txBody>
      </p:sp>
    </p:spTree>
    <p:extLst>
      <p:ext uri="{BB962C8B-B14F-4D97-AF65-F5344CB8AC3E}">
        <p14:creationId xmlns:p14="http://schemas.microsoft.com/office/powerpoint/2010/main" val="41900390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9A319-1AF1-3533-0E69-550A9D923CA6}"/>
              </a:ext>
            </a:extLst>
          </p:cNvPr>
          <p:cNvSpPr>
            <a:spLocks noGrp="1"/>
          </p:cNvSpPr>
          <p:nvPr>
            <p:ph type="title"/>
          </p:nvPr>
        </p:nvSpPr>
        <p:spPr/>
        <p:txBody>
          <a:bodyPr/>
          <a:lstStyle/>
          <a:p>
            <a:r>
              <a:rPr lang="en-US" dirty="0"/>
              <a:t>CEHv13 Update – Advanced Wireless Attack Trends</a:t>
            </a:r>
          </a:p>
        </p:txBody>
      </p:sp>
      <p:sp>
        <p:nvSpPr>
          <p:cNvPr id="4" name="Rectangle 1">
            <a:extLst>
              <a:ext uri="{FF2B5EF4-FFF2-40B4-BE49-F238E27FC236}">
                <a16:creationId xmlns:a16="http://schemas.microsoft.com/office/drawing/2014/main" id="{9260AA8F-EF10-26E4-0BF1-C493D8747EF7}"/>
              </a:ext>
            </a:extLst>
          </p:cNvPr>
          <p:cNvSpPr>
            <a:spLocks noGrp="1" noChangeArrowheads="1"/>
          </p:cNvSpPr>
          <p:nvPr>
            <p:ph idx="1"/>
          </p:nvPr>
        </p:nvSpPr>
        <p:spPr bwMode="auto">
          <a:xfrm>
            <a:off x="763404" y="2088662"/>
            <a:ext cx="10871718"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CEHv13 highlights emerging wireless threats:</a:t>
            </a: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WPA3 downgrade attacks and forced fallback to WPA2</a:t>
            </a: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Evil Twin + Captive Portal attacks using rogue APs and social engineering</a:t>
            </a: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Integration of AI with </a:t>
            </a:r>
            <a:r>
              <a:rPr kumimoji="0" lang="en-US" altLang="en-US" b="0" i="0" u="none" strike="noStrike" cap="none" normalizeH="0" baseline="0" dirty="0" err="1">
                <a:ln>
                  <a:noFill/>
                </a:ln>
                <a:solidFill>
                  <a:schemeClr val="tx1"/>
                </a:solidFill>
                <a:effectLst/>
              </a:rPr>
              <a:t>aircrack</a:t>
            </a:r>
            <a:r>
              <a:rPr kumimoji="0" lang="en-US" altLang="en-US" b="0" i="0" u="none" strike="noStrike" cap="none" normalizeH="0" baseline="0" dirty="0">
                <a:ln>
                  <a:noFill/>
                </a:ln>
                <a:solidFill>
                  <a:schemeClr val="tx1"/>
                </a:solidFill>
                <a:effectLst/>
              </a:rPr>
              <a:t>-ng and </a:t>
            </a:r>
            <a:r>
              <a:rPr kumimoji="0" lang="en-US" altLang="en-US" b="0" i="0" u="none" strike="noStrike" cap="none" normalizeH="0" baseline="0" dirty="0" err="1">
                <a:ln>
                  <a:noFill/>
                </a:ln>
                <a:solidFill>
                  <a:schemeClr val="tx1"/>
                </a:solidFill>
                <a:effectLst/>
              </a:rPr>
              <a:t>hashcat</a:t>
            </a:r>
            <a:r>
              <a:rPr kumimoji="0" lang="en-US" altLang="en-US" b="0" i="0" u="none" strike="noStrike" cap="none" normalizeH="0" baseline="0" dirty="0">
                <a:ln>
                  <a:noFill/>
                </a:ln>
                <a:solidFill>
                  <a:schemeClr val="tx1"/>
                </a:solidFill>
                <a:effectLst/>
              </a:rPr>
              <a:t> for optimized dictionary attacks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Attack vectors now include:</a:t>
            </a: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Bluetooth Low Energy (BLE) fuzzing</a:t>
            </a: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Wi-Fi 6 protocol misconfigurations</a:t>
            </a: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IoT device wireless onboarding vulnerabilities</a:t>
            </a:r>
          </a:p>
        </p:txBody>
      </p:sp>
    </p:spTree>
    <p:extLst>
      <p:ext uri="{BB962C8B-B14F-4D97-AF65-F5344CB8AC3E}">
        <p14:creationId xmlns:p14="http://schemas.microsoft.com/office/powerpoint/2010/main" val="29352336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2EB08-6DC5-54AF-B76F-BEC5DC3D1962}"/>
              </a:ext>
            </a:extLst>
          </p:cNvPr>
          <p:cNvSpPr>
            <a:spLocks noGrp="1"/>
          </p:cNvSpPr>
          <p:nvPr>
            <p:ph type="title"/>
          </p:nvPr>
        </p:nvSpPr>
        <p:spPr/>
        <p:txBody>
          <a:bodyPr/>
          <a:lstStyle/>
          <a:p>
            <a:r>
              <a:rPr lang="en-US" dirty="0"/>
              <a:t>CEHv13 Update – Wireless Defense Enhancements</a:t>
            </a:r>
          </a:p>
        </p:txBody>
      </p:sp>
      <p:sp>
        <p:nvSpPr>
          <p:cNvPr id="4" name="Rectangle 1">
            <a:extLst>
              <a:ext uri="{FF2B5EF4-FFF2-40B4-BE49-F238E27FC236}">
                <a16:creationId xmlns:a16="http://schemas.microsoft.com/office/drawing/2014/main" id="{AA64F41F-2515-08B9-7463-634FE0B8A489}"/>
              </a:ext>
            </a:extLst>
          </p:cNvPr>
          <p:cNvSpPr>
            <a:spLocks noGrp="1" noChangeArrowheads="1"/>
          </p:cNvSpPr>
          <p:nvPr>
            <p:ph idx="1"/>
          </p:nvPr>
        </p:nvSpPr>
        <p:spPr bwMode="auto">
          <a:xfrm>
            <a:off x="711820" y="1778909"/>
            <a:ext cx="10982092" cy="4370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New recommendations in CEHv13 for wireless security:</a:t>
            </a: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Upgrade to </a:t>
            </a:r>
            <a:r>
              <a:rPr kumimoji="0" lang="en-US" altLang="en-US" b="1" i="0" u="none" strike="noStrike" cap="none" normalizeH="0" baseline="0" dirty="0">
                <a:ln>
                  <a:noFill/>
                </a:ln>
                <a:solidFill>
                  <a:schemeClr val="tx1"/>
                </a:solidFill>
                <a:effectLst/>
              </a:rPr>
              <a:t>WPA3-Enterprise</a:t>
            </a:r>
            <a:r>
              <a:rPr kumimoji="0" lang="en-US" altLang="en-US" b="0" i="0" u="none" strike="noStrike" cap="none" normalizeH="0" baseline="0" dirty="0">
                <a:ln>
                  <a:noFill/>
                </a:ln>
                <a:solidFill>
                  <a:schemeClr val="tx1"/>
                </a:solidFill>
                <a:effectLst/>
              </a:rPr>
              <a:t> with Protected Management Frames (PMF)</a:t>
            </a: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Implement </a:t>
            </a:r>
            <a:r>
              <a:rPr kumimoji="0" lang="en-US" altLang="en-US" b="1" i="0" u="none" strike="noStrike" cap="none" normalizeH="0" baseline="0" dirty="0">
                <a:ln>
                  <a:noFill/>
                </a:ln>
                <a:solidFill>
                  <a:schemeClr val="tx1"/>
                </a:solidFill>
                <a:effectLst/>
              </a:rPr>
              <a:t>802.1X with certificate-based authentication</a:t>
            </a:r>
            <a:endParaRPr kumimoji="0" lang="en-US" altLang="en-US" b="0" i="0" u="none" strike="noStrike" cap="none" normalizeH="0" baseline="0" dirty="0">
              <a:ln>
                <a:noFill/>
              </a:ln>
              <a:solidFill>
                <a:schemeClr val="tx1"/>
              </a:solidFill>
              <a:effectLst/>
            </a:endParaRP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Use </a:t>
            </a:r>
            <a:r>
              <a:rPr kumimoji="0" lang="en-US" altLang="en-US" b="1" i="0" u="none" strike="noStrike" cap="none" normalizeH="0" baseline="0" dirty="0">
                <a:ln>
                  <a:noFill/>
                </a:ln>
                <a:solidFill>
                  <a:schemeClr val="tx1"/>
                </a:solidFill>
                <a:effectLst/>
              </a:rPr>
              <a:t>wireless intrusion prevention systems (WIPS)</a:t>
            </a:r>
            <a:r>
              <a:rPr kumimoji="0" lang="en-US" altLang="en-US" b="0" i="0" u="none" strike="noStrike" cap="none" normalizeH="0" baseline="0" dirty="0">
                <a:ln>
                  <a:noFill/>
                </a:ln>
                <a:solidFill>
                  <a:schemeClr val="tx1"/>
                </a:solidFill>
                <a:effectLst/>
              </a:rPr>
              <a:t> with machine learning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Emphasis on real-world practices:</a:t>
            </a:r>
          </a:p>
          <a:p>
            <a:pPr marL="457200" lvl="1" indent="0" eaLnBrk="0" fontAlgn="base" hangingPunct="0">
              <a:lnSpc>
                <a:spcPct val="100000"/>
              </a:lnSpc>
              <a:spcBef>
                <a:spcPct val="0"/>
              </a:spcBef>
              <a:spcAft>
                <a:spcPct val="0"/>
              </a:spcAft>
              <a:buFontTx/>
              <a:buChar char="•"/>
            </a:pPr>
            <a:r>
              <a:rPr kumimoji="0" lang="en-US" altLang="en-US" b="1" i="0" u="none" strike="noStrike" cap="none" normalizeH="0" baseline="0" dirty="0">
                <a:ln>
                  <a:noFill/>
                </a:ln>
                <a:solidFill>
                  <a:schemeClr val="tx1"/>
                </a:solidFill>
                <a:effectLst/>
              </a:rPr>
              <a:t>Disable broadcast SSIDs</a:t>
            </a:r>
            <a:r>
              <a:rPr kumimoji="0" lang="en-US" altLang="en-US" b="0" i="0" u="none" strike="noStrike" cap="none" normalizeH="0" baseline="0" dirty="0">
                <a:ln>
                  <a:noFill/>
                </a:ln>
                <a:solidFill>
                  <a:schemeClr val="tx1"/>
                </a:solidFill>
                <a:effectLst/>
              </a:rPr>
              <a:t>, enforce </a:t>
            </a:r>
            <a:r>
              <a:rPr kumimoji="0" lang="en-US" altLang="en-US" b="1" i="0" u="none" strike="noStrike" cap="none" normalizeH="0" baseline="0" dirty="0">
                <a:ln>
                  <a:noFill/>
                </a:ln>
                <a:solidFill>
                  <a:schemeClr val="tx1"/>
                </a:solidFill>
                <a:effectLst/>
              </a:rPr>
              <a:t>MAC filtering</a:t>
            </a:r>
            <a:r>
              <a:rPr kumimoji="0" lang="en-US" altLang="en-US" b="0" i="0" u="none" strike="noStrike" cap="none" normalizeH="0" baseline="0" dirty="0">
                <a:ln>
                  <a:noFill/>
                </a:ln>
                <a:solidFill>
                  <a:schemeClr val="tx1"/>
                </a:solidFill>
                <a:effectLst/>
              </a:rPr>
              <a:t>, and monitor </a:t>
            </a:r>
            <a:r>
              <a:rPr kumimoji="0" lang="en-US" altLang="en-US" b="1" i="0" u="none" strike="noStrike" cap="none" normalizeH="0" baseline="0" dirty="0">
                <a:ln>
                  <a:noFill/>
                </a:ln>
                <a:solidFill>
                  <a:schemeClr val="tx1"/>
                </a:solidFill>
                <a:effectLst/>
              </a:rPr>
              <a:t>channel behavior</a:t>
            </a:r>
            <a:endParaRPr kumimoji="0" lang="en-US" altLang="en-US" b="0" i="0" u="none" strike="noStrike" cap="none" normalizeH="0" baseline="0" dirty="0">
              <a:ln>
                <a:noFill/>
              </a:ln>
              <a:solidFill>
                <a:schemeClr val="tx1"/>
              </a:solidFill>
              <a:effectLst/>
            </a:endParaRP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Detect anomalies using tools like </a:t>
            </a:r>
            <a:r>
              <a:rPr kumimoji="0" lang="en-US" altLang="en-US" b="1" i="0" u="none" strike="noStrike" cap="none" normalizeH="0" baseline="0" dirty="0">
                <a:ln>
                  <a:noFill/>
                </a:ln>
                <a:solidFill>
                  <a:schemeClr val="tx1"/>
                </a:solidFill>
                <a:effectLst/>
              </a:rPr>
              <a:t>Kismet</a:t>
            </a:r>
            <a:r>
              <a:rPr kumimoji="0" lang="en-US" altLang="en-US" b="0" i="0" u="none" strike="noStrike" cap="none" normalizeH="0" baseline="0" dirty="0">
                <a:ln>
                  <a:noFill/>
                </a:ln>
                <a:solidFill>
                  <a:schemeClr val="tx1"/>
                </a:solidFill>
                <a:effectLst/>
              </a:rPr>
              <a:t>, </a:t>
            </a:r>
            <a:r>
              <a:rPr kumimoji="0" lang="en-US" altLang="en-US" b="1" i="0" u="none" strike="noStrike" cap="none" normalizeH="0" baseline="0" dirty="0">
                <a:ln>
                  <a:noFill/>
                </a:ln>
                <a:solidFill>
                  <a:schemeClr val="tx1"/>
                </a:solidFill>
                <a:effectLst/>
              </a:rPr>
              <a:t>Wireshark</a:t>
            </a:r>
            <a:r>
              <a:rPr kumimoji="0" lang="en-US" altLang="en-US" b="0" i="0" u="none" strike="noStrike" cap="none" normalizeH="0" baseline="0" dirty="0">
                <a:ln>
                  <a:noFill/>
                </a:ln>
                <a:solidFill>
                  <a:schemeClr val="tx1"/>
                </a:solidFill>
                <a:effectLst/>
              </a:rPr>
              <a:t>, and cloud-integrated WIPS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Framework references:</a:t>
            </a: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Aligns with </a:t>
            </a:r>
            <a:r>
              <a:rPr kumimoji="0" lang="en-US" altLang="en-US" b="1" i="0" u="none" strike="noStrike" cap="none" normalizeH="0" baseline="0" dirty="0">
                <a:ln>
                  <a:noFill/>
                </a:ln>
                <a:solidFill>
                  <a:schemeClr val="tx1"/>
                </a:solidFill>
                <a:effectLst/>
              </a:rPr>
              <a:t>MITRE ATT&amp;CK T1557: Adversary-in-the-Middle</a:t>
            </a:r>
            <a:endParaRPr kumimoji="0" lang="en-US" altLang="en-US" b="0" i="0" u="none" strike="noStrike" cap="none" normalizeH="0" baseline="0" dirty="0">
              <a:ln>
                <a:noFill/>
              </a:ln>
              <a:solidFill>
                <a:schemeClr val="tx1"/>
              </a:solidFill>
              <a:effectLst/>
            </a:endParaRP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Includes OWASP Mobile and IoT cross-references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662391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60041" y="2767106"/>
            <a:ext cx="2880828" cy="3071906"/>
          </a:xfrm>
        </p:spPr>
        <p:txBody>
          <a:bodyPr anchor="t">
            <a:normAutofit/>
          </a:bodyPr>
          <a:lstStyle/>
          <a:p>
            <a:pPr algn="l"/>
            <a:r>
              <a:rPr lang="en-US" sz="4000" dirty="0">
                <a:solidFill>
                  <a:srgbClr val="FFFFFF"/>
                </a:solidFill>
                <a:latin typeface="Consolas" panose="020B0609020204030204" pitchFamily="49" charset="0"/>
              </a:rPr>
              <a:t>Hacking Wireless Networks</a:t>
            </a:r>
            <a:br>
              <a:rPr lang="en-US" sz="4000" dirty="0">
                <a:solidFill>
                  <a:srgbClr val="FFFFFF"/>
                </a:solidFill>
                <a:latin typeface="Consolas" panose="020B0609020204030204" pitchFamily="49" charset="0"/>
              </a:rPr>
            </a:br>
            <a:endParaRPr lang="en-US" sz="4000" dirty="0">
              <a:solidFill>
                <a:srgbClr val="FFFFFF"/>
              </a:solidFill>
              <a:latin typeface="Consolas" panose="020B0609020204030204" pitchFamily="49" charset="0"/>
            </a:endParaRPr>
          </a:p>
        </p:txBody>
      </p:sp>
      <p:sp>
        <p:nvSpPr>
          <p:cNvPr id="3" name="Subtitle 2"/>
          <p:cNvSpPr>
            <a:spLocks noGrp="1"/>
          </p:cNvSpPr>
          <p:nvPr>
            <p:ph type="subTitle" idx="1"/>
          </p:nvPr>
        </p:nvSpPr>
        <p:spPr>
          <a:xfrm>
            <a:off x="660042" y="806824"/>
            <a:ext cx="2919738" cy="1494117"/>
          </a:xfrm>
        </p:spPr>
        <p:txBody>
          <a:bodyPr anchor="b">
            <a:normAutofit/>
          </a:bodyPr>
          <a:lstStyle/>
          <a:p>
            <a:pPr algn="l"/>
            <a:r>
              <a:rPr lang="en-US" sz="2000" dirty="0">
                <a:solidFill>
                  <a:srgbClr val="FFFFFF"/>
                </a:solidFill>
                <a:latin typeface="Consolas" panose="020B0609020204030204" pitchFamily="49" charset="0"/>
              </a:rPr>
              <a:t>Volume 4, Chapter 1</a:t>
            </a:r>
          </a:p>
        </p:txBody>
      </p:sp>
      <p:pic>
        <p:nvPicPr>
          <p:cNvPr id="7" name="Graphic 6" descr="Network Tower">
            <a:extLst>
              <a:ext uri="{FF2B5EF4-FFF2-40B4-BE49-F238E27FC236}">
                <a16:creationId xmlns:a16="http://schemas.microsoft.com/office/drawing/2014/main" id="{1B334899-3E86-582A-483F-D0F23ED0EC1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53510" y="467208"/>
            <a:ext cx="5923584" cy="5923584"/>
          </a:xfrm>
          <a:prstGeom prst="rect">
            <a:avLst/>
          </a:prstGeom>
        </p:spPr>
      </p:pic>
    </p:spTree>
    <p:extLst>
      <p:ext uri="{BB962C8B-B14F-4D97-AF65-F5344CB8AC3E}">
        <p14:creationId xmlns:p14="http://schemas.microsoft.com/office/powerpoint/2010/main" val="38631205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Some striking alternatives to protect your wireless ..."/>
          <p:cNvPicPr>
            <a:picLocks noGrp="1" noChangeAspect="1"/>
          </p:cNvPicPr>
          <p:nvPr>
            <p:ph sz="half" idx="2"/>
          </p:nvPr>
        </p:nvPicPr>
        <p:blipFill rotWithShape="1">
          <a:blip r:embed="rId3">
            <a:extLst>
              <a:ext uri="{28A0092B-C50C-407E-A947-70E740481C1C}">
                <a14:useLocalDpi xmlns:a14="http://schemas.microsoft.com/office/drawing/2010/main" val="0"/>
              </a:ext>
            </a:extLst>
          </a:blip>
          <a:srcRect l="19110" r="1226"/>
          <a:stretch/>
        </p:blipFill>
        <p:spPr>
          <a:xfrm>
            <a:off x="2522356" y="10"/>
            <a:ext cx="9669642" cy="6857990"/>
          </a:xfrm>
          <a:prstGeom prst="rect">
            <a:avLst/>
          </a:prstGeom>
        </p:spPr>
      </p:pic>
      <p:sp>
        <p:nvSpPr>
          <p:cNvPr id="2" name="Title 1"/>
          <p:cNvSpPr>
            <a:spLocks noGrp="1"/>
          </p:cNvSpPr>
          <p:nvPr>
            <p:ph type="title"/>
          </p:nvPr>
        </p:nvSpPr>
        <p:spPr>
          <a:xfrm>
            <a:off x="326572" y="144059"/>
            <a:ext cx="3822189" cy="1899912"/>
          </a:xfrm>
        </p:spPr>
        <p:txBody>
          <a:bodyPr vert="horz" lIns="91440" tIns="45720" rIns="91440" bIns="45720" rtlCol="0" anchor="ctr">
            <a:normAutofit/>
          </a:bodyPr>
          <a:lstStyle/>
          <a:p>
            <a:r>
              <a:rPr lang="en-US" sz="4000" dirty="0"/>
              <a:t>Wireless Concepts</a:t>
            </a:r>
          </a:p>
        </p:txBody>
      </p:sp>
      <p:sp>
        <p:nvSpPr>
          <p:cNvPr id="4" name="Content Placeholder 3"/>
          <p:cNvSpPr>
            <a:spLocks noGrp="1"/>
          </p:cNvSpPr>
          <p:nvPr>
            <p:ph sz="half" idx="1"/>
          </p:nvPr>
        </p:nvSpPr>
        <p:spPr>
          <a:xfrm>
            <a:off x="326572" y="2188029"/>
            <a:ext cx="4333818" cy="3988934"/>
          </a:xfrm>
        </p:spPr>
        <p:txBody>
          <a:bodyPr vert="horz" lIns="91440" tIns="45720" rIns="91440" bIns="45720" rtlCol="0">
            <a:normAutofit/>
          </a:bodyPr>
          <a:lstStyle/>
          <a:p>
            <a:r>
              <a:rPr lang="en-US" sz="1600" dirty="0"/>
              <a:t>Wireless Network Advantages:</a:t>
            </a:r>
          </a:p>
          <a:p>
            <a:pPr lvl="1"/>
            <a:r>
              <a:rPr lang="en-US" sz="1600" dirty="0"/>
              <a:t>Easy to install</a:t>
            </a:r>
          </a:p>
          <a:p>
            <a:pPr lvl="1"/>
            <a:r>
              <a:rPr lang="en-US" sz="1600" dirty="0"/>
              <a:t>Connectivity where cabling is difficult</a:t>
            </a:r>
          </a:p>
          <a:p>
            <a:pPr lvl="1"/>
            <a:r>
              <a:rPr lang="en-US" sz="1600" dirty="0"/>
              <a:t>Mobility</a:t>
            </a:r>
          </a:p>
          <a:p>
            <a:r>
              <a:rPr lang="en-US" sz="1600" dirty="0"/>
              <a:t>Wireless Network Disadvantages:</a:t>
            </a:r>
          </a:p>
          <a:p>
            <a:pPr lvl="1"/>
            <a:r>
              <a:rPr lang="en-US" sz="1600" dirty="0"/>
              <a:t>Security </a:t>
            </a:r>
          </a:p>
          <a:p>
            <a:pPr lvl="1"/>
            <a:r>
              <a:rPr lang="en-US" sz="1600" dirty="0"/>
              <a:t>Bandwidth limitations</a:t>
            </a:r>
          </a:p>
          <a:p>
            <a:pPr lvl="1"/>
            <a:r>
              <a:rPr lang="en-US" sz="1600" dirty="0"/>
              <a:t>Interference</a:t>
            </a:r>
          </a:p>
          <a:p>
            <a:r>
              <a:rPr lang="en-US" sz="1600" dirty="0"/>
              <a:t>Types:</a:t>
            </a:r>
          </a:p>
          <a:p>
            <a:pPr lvl="1"/>
            <a:r>
              <a:rPr lang="en-US" sz="1600" dirty="0"/>
              <a:t>Extensions to a wired network</a:t>
            </a:r>
          </a:p>
          <a:p>
            <a:pPr lvl="1"/>
            <a:r>
              <a:rPr lang="en-US" sz="1600" dirty="0"/>
              <a:t>Multiple APs</a:t>
            </a:r>
          </a:p>
          <a:p>
            <a:pPr lvl="1"/>
            <a:r>
              <a:rPr lang="en-US" sz="1600" dirty="0"/>
              <a:t>LAN-to-LAN Wireless Network</a:t>
            </a:r>
          </a:p>
          <a:p>
            <a:pPr lvl="1"/>
            <a:r>
              <a:rPr lang="en-US" sz="1600" dirty="0"/>
              <a:t>3G/4G Hotspot</a:t>
            </a:r>
          </a:p>
        </p:txBody>
      </p:sp>
    </p:spTree>
    <p:extLst>
      <p:ext uri="{BB962C8B-B14F-4D97-AF65-F5344CB8AC3E}">
        <p14:creationId xmlns:p14="http://schemas.microsoft.com/office/powerpoint/2010/main" val="14549939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597" y="348865"/>
            <a:ext cx="10044023" cy="877729"/>
          </a:xfrm>
        </p:spPr>
        <p:txBody>
          <a:bodyPr vert="horz" lIns="91440" tIns="45720" rIns="91440" bIns="45720" rtlCol="0" anchor="ctr">
            <a:normAutofit/>
          </a:bodyPr>
          <a:lstStyle/>
          <a:p>
            <a:r>
              <a:rPr lang="en-US" sz="4000" kern="1200">
                <a:solidFill>
                  <a:srgbClr val="FFFFFF"/>
                </a:solidFill>
                <a:latin typeface="+mj-lt"/>
                <a:ea typeface="+mj-ea"/>
                <a:cs typeface="+mj-cs"/>
              </a:rPr>
              <a:t>Authentication and Encryption</a:t>
            </a:r>
          </a:p>
        </p:txBody>
      </p:sp>
      <p:sp>
        <p:nvSpPr>
          <p:cNvPr id="4" name="Content Placeholder 3"/>
          <p:cNvSpPr>
            <a:spLocks noGrp="1"/>
          </p:cNvSpPr>
          <p:nvPr>
            <p:ph sz="half" idx="1"/>
          </p:nvPr>
        </p:nvSpPr>
        <p:spPr>
          <a:xfrm>
            <a:off x="1041729" y="2112579"/>
            <a:ext cx="4992818" cy="4192805"/>
          </a:xfrm>
          <a:solidFill>
            <a:schemeClr val="bg1">
              <a:alpha val="60000"/>
            </a:schemeClr>
          </a:solidFill>
        </p:spPr>
        <p:txBody>
          <a:bodyPr>
            <a:normAutofit/>
          </a:bodyPr>
          <a:lstStyle/>
          <a:p>
            <a:pPr marL="219456" indent="-219456" defTabSz="877824">
              <a:spcBef>
                <a:spcPts val="960"/>
              </a:spcBef>
            </a:pPr>
            <a:r>
              <a:rPr lang="en-US" sz="1600" kern="1200" dirty="0">
                <a:solidFill>
                  <a:schemeClr val="tx1"/>
                </a:solidFill>
                <a:latin typeface="Consolas" panose="020B0609020204030204" pitchFamily="49" charset="0"/>
                <a:ea typeface="+mn-ea"/>
                <a:cs typeface="+mn-cs"/>
              </a:rPr>
              <a:t>Radius Server Authentication</a:t>
            </a:r>
          </a:p>
          <a:p>
            <a:pPr marL="658368" lvl="1" indent="-219456" defTabSz="877824">
              <a:spcBef>
                <a:spcPts val="480"/>
              </a:spcBef>
            </a:pPr>
            <a:r>
              <a:rPr lang="en-US" sz="1600" kern="1200" dirty="0">
                <a:solidFill>
                  <a:schemeClr val="tx1"/>
                </a:solidFill>
                <a:latin typeface="Consolas" panose="020B0609020204030204" pitchFamily="49" charset="0"/>
                <a:ea typeface="+mn-ea"/>
                <a:cs typeface="+mn-cs"/>
              </a:rPr>
              <a:t>Centralized Management</a:t>
            </a:r>
          </a:p>
          <a:p>
            <a:pPr marL="658368" lvl="1" indent="-219456" defTabSz="877824">
              <a:spcBef>
                <a:spcPts val="480"/>
              </a:spcBef>
            </a:pPr>
            <a:r>
              <a:rPr lang="en-US" sz="1600" kern="1200" dirty="0">
                <a:solidFill>
                  <a:schemeClr val="tx1"/>
                </a:solidFill>
                <a:latin typeface="Consolas" panose="020B0609020204030204" pitchFamily="49" charset="0"/>
                <a:ea typeface="+mn-ea"/>
                <a:cs typeface="+mn-cs"/>
              </a:rPr>
              <a:t>Individual Credentials</a:t>
            </a:r>
          </a:p>
          <a:p>
            <a:pPr marL="658368" lvl="1" indent="-219456" defTabSz="877824">
              <a:spcBef>
                <a:spcPts val="480"/>
              </a:spcBef>
            </a:pPr>
            <a:r>
              <a:rPr lang="en-US" sz="1600" kern="1200" dirty="0">
                <a:solidFill>
                  <a:schemeClr val="tx1"/>
                </a:solidFill>
                <a:latin typeface="Consolas" panose="020B0609020204030204" pitchFamily="49" charset="0"/>
                <a:ea typeface="+mn-ea"/>
                <a:cs typeface="+mn-cs"/>
              </a:rPr>
              <a:t>Scalability</a:t>
            </a:r>
          </a:p>
          <a:p>
            <a:pPr marL="658368" lvl="1" indent="-219456" defTabSz="877824">
              <a:spcBef>
                <a:spcPts val="480"/>
              </a:spcBef>
            </a:pPr>
            <a:r>
              <a:rPr lang="en-US" sz="1600" kern="1200" dirty="0">
                <a:solidFill>
                  <a:schemeClr val="tx1"/>
                </a:solidFill>
                <a:latin typeface="Consolas" panose="020B0609020204030204" pitchFamily="49" charset="0"/>
                <a:ea typeface="+mn-ea"/>
                <a:cs typeface="+mn-cs"/>
              </a:rPr>
              <a:t>Enhanced Security Features (EAP)</a:t>
            </a:r>
            <a:br>
              <a:rPr lang="en-US" sz="1600" kern="1200" dirty="0">
                <a:solidFill>
                  <a:schemeClr val="tx1"/>
                </a:solidFill>
                <a:latin typeface="Consolas" panose="020B0609020204030204" pitchFamily="49" charset="0"/>
                <a:ea typeface="+mn-ea"/>
                <a:cs typeface="+mn-cs"/>
              </a:rPr>
            </a:br>
            <a:endParaRPr lang="en-US" sz="1600" dirty="0">
              <a:latin typeface="Consolas" panose="020B0609020204030204" pitchFamily="49" charset="0"/>
            </a:endParaRPr>
          </a:p>
        </p:txBody>
      </p:sp>
      <p:sp>
        <p:nvSpPr>
          <p:cNvPr id="3" name="Content Placeholder 2"/>
          <p:cNvSpPr>
            <a:spLocks noGrp="1"/>
          </p:cNvSpPr>
          <p:nvPr>
            <p:ph sz="half" idx="2"/>
          </p:nvPr>
        </p:nvSpPr>
        <p:spPr>
          <a:xfrm>
            <a:off x="6181394" y="2112579"/>
            <a:ext cx="4992818" cy="4192805"/>
          </a:xfrm>
          <a:solidFill>
            <a:schemeClr val="bg1">
              <a:alpha val="60000"/>
            </a:schemeClr>
          </a:solidFill>
        </p:spPr>
        <p:txBody>
          <a:bodyPr>
            <a:normAutofit/>
          </a:bodyPr>
          <a:lstStyle/>
          <a:p>
            <a:pPr marL="219456" indent="-219456" defTabSz="877824">
              <a:spcBef>
                <a:spcPts val="960"/>
              </a:spcBef>
            </a:pPr>
            <a:r>
              <a:rPr lang="en-US" sz="1600" kern="1200">
                <a:solidFill>
                  <a:schemeClr val="tx1"/>
                </a:solidFill>
                <a:latin typeface="Consolas" panose="020B0609020204030204" pitchFamily="49" charset="0"/>
                <a:ea typeface="+mn-ea"/>
                <a:cs typeface="+mn-cs"/>
              </a:rPr>
              <a:t>Wireless Encryption</a:t>
            </a:r>
            <a:endParaRPr lang="en-US" sz="1600" kern="1200">
              <a:solidFill>
                <a:schemeClr val="tx1"/>
              </a:solidFill>
              <a:latin typeface="+mn-lt"/>
              <a:ea typeface="+mn-ea"/>
              <a:cs typeface="+mn-cs"/>
            </a:endParaRPr>
          </a:p>
          <a:p>
            <a:pPr marL="658368" lvl="1" indent="-219456" defTabSz="877824">
              <a:spcBef>
                <a:spcPts val="480"/>
              </a:spcBef>
            </a:pPr>
            <a:r>
              <a:rPr lang="en-US" sz="1600" kern="1200">
                <a:solidFill>
                  <a:schemeClr val="tx1"/>
                </a:solidFill>
                <a:latin typeface="Consolas" panose="020B0609020204030204" pitchFamily="49" charset="0"/>
                <a:ea typeface="+mn-ea"/>
                <a:cs typeface="+mn-cs"/>
              </a:rPr>
              <a:t>802.11i</a:t>
            </a:r>
          </a:p>
          <a:p>
            <a:pPr marL="658368" lvl="1" indent="-219456" defTabSz="877824">
              <a:spcBef>
                <a:spcPts val="480"/>
              </a:spcBef>
            </a:pPr>
            <a:r>
              <a:rPr lang="en-US" sz="1600" kern="1200">
                <a:solidFill>
                  <a:schemeClr val="tx1"/>
                </a:solidFill>
                <a:latin typeface="Consolas" panose="020B0609020204030204" pitchFamily="49" charset="0"/>
                <a:ea typeface="+mn-ea"/>
                <a:cs typeface="+mn-cs"/>
              </a:rPr>
              <a:t>WEP – (Not secure)</a:t>
            </a:r>
          </a:p>
          <a:p>
            <a:pPr marL="658368" lvl="1" indent="-219456" defTabSz="877824">
              <a:spcBef>
                <a:spcPts val="480"/>
              </a:spcBef>
            </a:pPr>
            <a:r>
              <a:rPr lang="en-US" sz="1600" kern="1200">
                <a:solidFill>
                  <a:schemeClr val="tx1"/>
                </a:solidFill>
                <a:latin typeface="Consolas" panose="020B0609020204030204" pitchFamily="49" charset="0"/>
                <a:ea typeface="+mn-ea"/>
                <a:cs typeface="+mn-cs"/>
              </a:rPr>
              <a:t>WPA – (Not Secure)</a:t>
            </a:r>
          </a:p>
          <a:p>
            <a:pPr marL="658368" lvl="1" indent="-219456" defTabSz="877824">
              <a:spcBef>
                <a:spcPts val="480"/>
              </a:spcBef>
            </a:pPr>
            <a:r>
              <a:rPr lang="en-US" sz="1600" kern="1200">
                <a:solidFill>
                  <a:schemeClr val="tx1"/>
                </a:solidFill>
                <a:latin typeface="Consolas" panose="020B0609020204030204" pitchFamily="49" charset="0"/>
                <a:ea typeface="+mn-ea"/>
                <a:cs typeface="+mn-cs"/>
              </a:rPr>
              <a:t>WPA2 – (Vulnerabilities)</a:t>
            </a:r>
          </a:p>
          <a:p>
            <a:pPr marL="658368" lvl="1" indent="-219456" defTabSz="877824">
              <a:spcBef>
                <a:spcPts val="480"/>
              </a:spcBef>
            </a:pPr>
            <a:r>
              <a:rPr lang="en-US" sz="1600" kern="1200">
                <a:solidFill>
                  <a:schemeClr val="tx1"/>
                </a:solidFill>
                <a:latin typeface="Consolas" panose="020B0609020204030204" pitchFamily="49" charset="0"/>
                <a:ea typeface="+mn-ea"/>
                <a:cs typeface="+mn-cs"/>
              </a:rPr>
              <a:t>WPA3 – (Currently the most secure)</a:t>
            </a:r>
            <a:endParaRPr lang="en-US" sz="1600">
              <a:latin typeface="Consolas" panose="020B0609020204030204" pitchFamily="49" charset="0"/>
            </a:endParaRPr>
          </a:p>
        </p:txBody>
      </p:sp>
      <p:pic>
        <p:nvPicPr>
          <p:cNvPr id="5" name="Picture 4" descr="5 Ways to Secure Internet from Google Experts ~ All ..."/>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47318" y="4171663"/>
            <a:ext cx="4079173" cy="2133721"/>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3531330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7034" y="609597"/>
            <a:ext cx="9392421" cy="1330841"/>
          </a:xfrm>
        </p:spPr>
        <p:txBody>
          <a:bodyPr vert="horz" lIns="91440" tIns="45720" rIns="91440" bIns="45720" rtlCol="0" anchor="ctr">
            <a:normAutofit/>
          </a:bodyPr>
          <a:lstStyle/>
          <a:p>
            <a:r>
              <a:rPr lang="en-US" kern="1200">
                <a:solidFill>
                  <a:schemeClr val="tx1"/>
                </a:solidFill>
                <a:latin typeface="+mj-lt"/>
                <a:ea typeface="+mj-ea"/>
                <a:cs typeface="+mj-cs"/>
              </a:rPr>
              <a:t>Wireless Four Way Handshake</a:t>
            </a:r>
          </a:p>
        </p:txBody>
      </p:sp>
      <p:sp>
        <p:nvSpPr>
          <p:cNvPr id="4" name="Content Placeholder 3"/>
          <p:cNvSpPr>
            <a:spLocks noGrp="1"/>
          </p:cNvSpPr>
          <p:nvPr>
            <p:ph sz="half" idx="1"/>
          </p:nvPr>
        </p:nvSpPr>
        <p:spPr>
          <a:xfrm>
            <a:off x="625721" y="2373086"/>
            <a:ext cx="4414365" cy="3706563"/>
          </a:xfrm>
        </p:spPr>
        <p:txBody>
          <a:bodyPr vert="horz" lIns="91440" tIns="45720" rIns="91440" bIns="45720" rtlCol="0">
            <a:normAutofit/>
          </a:bodyPr>
          <a:lstStyle/>
          <a:p>
            <a:pPr marL="0" indent="0">
              <a:buNone/>
            </a:pPr>
            <a:r>
              <a:rPr lang="en-US" sz="1800" dirty="0"/>
              <a:t>WPA:</a:t>
            </a:r>
          </a:p>
          <a:p>
            <a:r>
              <a:rPr lang="en-US" sz="1800" dirty="0"/>
              <a:t>Access Point sends a Nonce value (arbitrary number single use)</a:t>
            </a:r>
          </a:p>
          <a:p>
            <a:r>
              <a:rPr lang="en-US" sz="1800" dirty="0"/>
              <a:t>Client responds with a different </a:t>
            </a:r>
            <a:r>
              <a:rPr lang="en-US" sz="1800" dirty="0" err="1"/>
              <a:t>SNounce</a:t>
            </a:r>
            <a:r>
              <a:rPr lang="en-US" sz="1800" dirty="0"/>
              <a:t> (its own arbitrary value)</a:t>
            </a:r>
          </a:p>
          <a:p>
            <a:r>
              <a:rPr lang="en-US" sz="1800" dirty="0"/>
              <a:t>Access Point </a:t>
            </a:r>
            <a:r>
              <a:rPr lang="en-US" sz="1800" dirty="0" err="1"/>
              <a:t>verifys</a:t>
            </a:r>
            <a:r>
              <a:rPr lang="en-US" sz="1800" dirty="0"/>
              <a:t> message from client then sends an </a:t>
            </a:r>
            <a:r>
              <a:rPr lang="en-US" sz="1800" dirty="0" err="1"/>
              <a:t>Anounce</a:t>
            </a:r>
            <a:r>
              <a:rPr lang="en-US" sz="1800" dirty="0"/>
              <a:t> (random number generated by AP)</a:t>
            </a:r>
          </a:p>
          <a:p>
            <a:r>
              <a:rPr lang="en-US" sz="1800" dirty="0"/>
              <a:t>Client sends a confirmation to the AP that the temporal keys have been installed for this session.</a:t>
            </a:r>
          </a:p>
          <a:p>
            <a:pPr lvl="1"/>
            <a:endParaRPr lang="en-US" sz="1800" dirty="0"/>
          </a:p>
        </p:txBody>
      </p:sp>
      <p:pic>
        <p:nvPicPr>
          <p:cNvPr id="5" name="Picture 4" descr="A diagram of a computer network&#10;&#10;Description automatically generated">
            <a:extLst>
              <a:ext uri="{FF2B5EF4-FFF2-40B4-BE49-F238E27FC236}">
                <a16:creationId xmlns:a16="http://schemas.microsoft.com/office/drawing/2014/main" id="{1B079AAD-43F9-57F9-A5DB-58B78D3B96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81624" y="1948805"/>
            <a:ext cx="6208912" cy="4139211"/>
          </a:xfrm>
          <a:prstGeom prst="rect">
            <a:avLst/>
          </a:prstGeom>
        </p:spPr>
      </p:pic>
    </p:spTree>
    <p:extLst>
      <p:ext uri="{BB962C8B-B14F-4D97-AF65-F5344CB8AC3E}">
        <p14:creationId xmlns:p14="http://schemas.microsoft.com/office/powerpoint/2010/main" val="18177412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0936" y="639520"/>
            <a:ext cx="3429000" cy="1719072"/>
          </a:xfrm>
        </p:spPr>
        <p:txBody>
          <a:bodyPr vert="horz" lIns="91440" tIns="45720" rIns="91440" bIns="45720" rtlCol="0" anchor="b">
            <a:normAutofit/>
          </a:bodyPr>
          <a:lstStyle/>
          <a:p>
            <a:r>
              <a:rPr lang="en-US" sz="4600" kern="1200">
                <a:solidFill>
                  <a:schemeClr val="tx1"/>
                </a:solidFill>
                <a:latin typeface="+mj-lt"/>
                <a:ea typeface="+mj-ea"/>
                <a:cs typeface="+mj-cs"/>
              </a:rPr>
              <a:t>Issues with WPA Security</a:t>
            </a:r>
          </a:p>
        </p:txBody>
      </p:sp>
      <p:sp>
        <p:nvSpPr>
          <p:cNvPr id="4" name="Content Placeholder 3"/>
          <p:cNvSpPr>
            <a:spLocks noGrp="1"/>
          </p:cNvSpPr>
          <p:nvPr>
            <p:ph sz="half" idx="1"/>
          </p:nvPr>
        </p:nvSpPr>
        <p:spPr>
          <a:xfrm>
            <a:off x="630935" y="2898648"/>
            <a:ext cx="3569869" cy="3319272"/>
          </a:xfrm>
        </p:spPr>
        <p:txBody>
          <a:bodyPr vert="horz" lIns="91440" tIns="45720" rIns="91440" bIns="45720" rtlCol="0" anchor="t">
            <a:normAutofit/>
          </a:bodyPr>
          <a:lstStyle/>
          <a:p>
            <a:pPr marL="0" indent="0">
              <a:spcAft>
                <a:spcPts val="1200"/>
              </a:spcAft>
              <a:buNone/>
            </a:pPr>
            <a:r>
              <a:rPr lang="en-US" sz="2200" dirty="0"/>
              <a:t>WPA:</a:t>
            </a:r>
          </a:p>
          <a:p>
            <a:pPr>
              <a:spcAft>
                <a:spcPts val="1200"/>
              </a:spcAft>
            </a:pPr>
            <a:r>
              <a:rPr lang="en-US" sz="1800" dirty="0"/>
              <a:t>Weak passwords</a:t>
            </a:r>
          </a:p>
          <a:p>
            <a:r>
              <a:rPr lang="en-US" sz="1800" dirty="0"/>
              <a:t>Dictionary Attacks</a:t>
            </a:r>
          </a:p>
          <a:p>
            <a:r>
              <a:rPr lang="en-US" sz="1800" dirty="0"/>
              <a:t>KRACK vulnerability (Key Reinstallation attack)</a:t>
            </a:r>
          </a:p>
          <a:p>
            <a:r>
              <a:rPr lang="en-US" sz="1800" dirty="0"/>
              <a:t>Vulnerable to wireless DoS</a:t>
            </a:r>
          </a:p>
        </p:txBody>
      </p:sp>
      <p:pic>
        <p:nvPicPr>
          <p:cNvPr id="5" name="Picture 4" descr="A white object with a black antenna&#10;&#10;Description automatically generated">
            <a:extLst>
              <a:ext uri="{FF2B5EF4-FFF2-40B4-BE49-F238E27FC236}">
                <a16:creationId xmlns:a16="http://schemas.microsoft.com/office/drawing/2014/main" id="{165F6C82-A570-A02D-0E89-776401A89B70}"/>
              </a:ext>
            </a:extLst>
          </p:cNvPr>
          <p:cNvPicPr>
            <a:picLocks noChangeAspect="1"/>
          </p:cNvPicPr>
          <p:nvPr/>
        </p:nvPicPr>
        <p:blipFill rotWithShape="1">
          <a:blip r:embed="rId3">
            <a:extLst>
              <a:ext uri="{28A0092B-C50C-407E-A947-70E740481C1C}">
                <a14:useLocalDpi xmlns:a14="http://schemas.microsoft.com/office/drawing/2010/main" val="0"/>
              </a:ext>
            </a:extLst>
          </a:blip>
          <a:srcRect l="4310" r="1050" b="-2"/>
          <a:stretch/>
        </p:blipFill>
        <p:spPr>
          <a:xfrm>
            <a:off x="4654295" y="939628"/>
            <a:ext cx="7084215" cy="510891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5795438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ack car on the road&#10;&#10;Description automatically generated">
            <a:extLst>
              <a:ext uri="{FF2B5EF4-FFF2-40B4-BE49-F238E27FC236}">
                <a16:creationId xmlns:a16="http://schemas.microsoft.com/office/drawing/2014/main" id="{FE197C66-41B0-D1F2-4D47-58506B44B7E6}"/>
              </a:ext>
            </a:extLst>
          </p:cNvPr>
          <p:cNvPicPr>
            <a:picLocks noChangeAspect="1"/>
          </p:cNvPicPr>
          <p:nvPr/>
        </p:nvPicPr>
        <p:blipFill rotWithShape="1">
          <a:blip r:embed="rId2">
            <a:extLst>
              <a:ext uri="{28A0092B-C50C-407E-A947-70E740481C1C}">
                <a14:useLocalDpi xmlns:a14="http://schemas.microsoft.com/office/drawing/2010/main" val="0"/>
              </a:ext>
            </a:extLst>
          </a:blip>
          <a:srcRect l="8132" t="1" r="7120" b="1"/>
          <a:stretch/>
        </p:blipFill>
        <p:spPr>
          <a:xfrm>
            <a:off x="3145970" y="10"/>
            <a:ext cx="9046027" cy="6857990"/>
          </a:xfrm>
          <a:prstGeom prst="rect">
            <a:avLst/>
          </a:prstGeom>
        </p:spPr>
      </p:pic>
      <p:sp>
        <p:nvSpPr>
          <p:cNvPr id="2" name="Title 1"/>
          <p:cNvSpPr>
            <a:spLocks noGrp="1"/>
          </p:cNvSpPr>
          <p:nvPr>
            <p:ph type="title"/>
          </p:nvPr>
        </p:nvSpPr>
        <p:spPr>
          <a:xfrm>
            <a:off x="359230" y="293914"/>
            <a:ext cx="4301160" cy="1971123"/>
          </a:xfrm>
        </p:spPr>
        <p:txBody>
          <a:bodyPr vert="horz" lIns="91440" tIns="45720" rIns="91440" bIns="45720" rtlCol="0" anchor="ctr">
            <a:normAutofit/>
          </a:bodyPr>
          <a:lstStyle/>
          <a:p>
            <a:r>
              <a:rPr lang="en-US" sz="4000" dirty="0"/>
              <a:t>Wireless Threats</a:t>
            </a:r>
          </a:p>
        </p:txBody>
      </p:sp>
      <p:sp>
        <p:nvSpPr>
          <p:cNvPr id="4" name="Content Placeholder 3"/>
          <p:cNvSpPr>
            <a:spLocks noGrp="1"/>
          </p:cNvSpPr>
          <p:nvPr>
            <p:ph sz="half" idx="1"/>
          </p:nvPr>
        </p:nvSpPr>
        <p:spPr>
          <a:xfrm>
            <a:off x="195942" y="2024741"/>
            <a:ext cx="3755569" cy="4321629"/>
          </a:xfrm>
        </p:spPr>
        <p:txBody>
          <a:bodyPr vert="horz" lIns="91440" tIns="45720" rIns="91440" bIns="45720" rtlCol="0">
            <a:noAutofit/>
          </a:bodyPr>
          <a:lstStyle/>
          <a:p>
            <a:r>
              <a:rPr lang="en-US" sz="1800" dirty="0"/>
              <a:t>Access Control Attacks (</a:t>
            </a:r>
            <a:r>
              <a:rPr lang="en-US" sz="1800" dirty="0" err="1"/>
              <a:t>WarDriving</a:t>
            </a:r>
            <a:r>
              <a:rPr lang="en-US" sz="1800" dirty="0"/>
              <a:t>, Rogue AP, MAC Spoofing, AP misconfiguration, Ad hoc associations)</a:t>
            </a:r>
          </a:p>
          <a:p>
            <a:r>
              <a:rPr lang="en-US" sz="1800" dirty="0"/>
              <a:t>Integrity Attacks (Data-Frame Injection, WEP Injection, Bit-Flipping, Extensible AP Replay, Data Replay, Initialization Vector, Replay Attack, RADIUS Replay, Wireless Network Viruses)</a:t>
            </a:r>
          </a:p>
          <a:p>
            <a:r>
              <a:rPr lang="en-US" sz="1800" dirty="0"/>
              <a:t>Availability Attacks (Disassociation, EAP-Failure, Beacon Flood, DoS, De-authenticate attack)</a:t>
            </a:r>
          </a:p>
          <a:p>
            <a:r>
              <a:rPr lang="en-US" sz="1800" dirty="0"/>
              <a:t>Rogue AP Attack </a:t>
            </a:r>
          </a:p>
        </p:txBody>
      </p:sp>
    </p:spTree>
    <p:extLst>
      <p:ext uri="{BB962C8B-B14F-4D97-AF65-F5344CB8AC3E}">
        <p14:creationId xmlns:p14="http://schemas.microsoft.com/office/powerpoint/2010/main" val="42746643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68557" y="1138036"/>
            <a:ext cx="5444382" cy="1402470"/>
          </a:xfrm>
        </p:spPr>
        <p:txBody>
          <a:bodyPr vert="horz" lIns="91440" tIns="45720" rIns="91440" bIns="45720" rtlCol="0" anchor="t">
            <a:normAutofit/>
          </a:bodyPr>
          <a:lstStyle/>
          <a:p>
            <a:r>
              <a:rPr lang="en-US" sz="3200"/>
              <a:t>Wireless Antenna Types</a:t>
            </a:r>
          </a:p>
        </p:txBody>
      </p:sp>
      <p:pic>
        <p:nvPicPr>
          <p:cNvPr id="6" name="Picture 5" descr="Cell towers">
            <a:extLst>
              <a:ext uri="{FF2B5EF4-FFF2-40B4-BE49-F238E27FC236}">
                <a16:creationId xmlns:a16="http://schemas.microsoft.com/office/drawing/2014/main" id="{823D47CC-34FC-9744-4D18-DE25107EA405}"/>
              </a:ext>
            </a:extLst>
          </p:cNvPr>
          <p:cNvPicPr>
            <a:picLocks noChangeAspect="1"/>
          </p:cNvPicPr>
          <p:nvPr/>
        </p:nvPicPr>
        <p:blipFill rotWithShape="1">
          <a:blip r:embed="rId2"/>
          <a:srcRect l="49863" r="-1" b="-1"/>
          <a:stretch/>
        </p:blipFill>
        <p:spPr>
          <a:xfrm>
            <a:off x="-1" y="10"/>
            <a:ext cx="5151179" cy="6857990"/>
          </a:xfrm>
          <a:prstGeom prst="rect">
            <a:avLst/>
          </a:prstGeom>
        </p:spPr>
      </p:pic>
      <p:sp>
        <p:nvSpPr>
          <p:cNvPr id="4" name="Content Placeholder 3"/>
          <p:cNvSpPr>
            <a:spLocks noGrp="1"/>
          </p:cNvSpPr>
          <p:nvPr>
            <p:ph sz="half" idx="1"/>
          </p:nvPr>
        </p:nvSpPr>
        <p:spPr>
          <a:xfrm>
            <a:off x="5971697" y="2122714"/>
            <a:ext cx="5341242" cy="4019669"/>
          </a:xfrm>
        </p:spPr>
        <p:txBody>
          <a:bodyPr vert="horz" lIns="91440" tIns="45720" rIns="91440" bIns="45720" rtlCol="0">
            <a:normAutofit/>
          </a:bodyPr>
          <a:lstStyle/>
          <a:p>
            <a:pPr>
              <a:spcAft>
                <a:spcPts val="1200"/>
              </a:spcAft>
            </a:pPr>
            <a:r>
              <a:rPr lang="en-US" sz="1800" dirty="0"/>
              <a:t>Unidirectional Antenna </a:t>
            </a:r>
          </a:p>
          <a:p>
            <a:pPr>
              <a:spcAft>
                <a:spcPts val="1200"/>
              </a:spcAft>
            </a:pPr>
            <a:r>
              <a:rPr lang="en-US" sz="1800" dirty="0"/>
              <a:t>Parabolic Grid Antenna (Semi dish design long distance)</a:t>
            </a:r>
          </a:p>
          <a:p>
            <a:pPr>
              <a:spcAft>
                <a:spcPts val="1200"/>
              </a:spcAft>
            </a:pPr>
            <a:r>
              <a:rPr lang="en-US" sz="1800" dirty="0"/>
              <a:t>Dipole Antenna (radiates signal in all direction)</a:t>
            </a:r>
          </a:p>
          <a:p>
            <a:pPr>
              <a:spcAft>
                <a:spcPts val="1200"/>
              </a:spcAft>
            </a:pPr>
            <a:r>
              <a:rPr lang="en-US" sz="1800" dirty="0"/>
              <a:t>Yagi Antenna ( High gain and directional)</a:t>
            </a:r>
          </a:p>
          <a:p>
            <a:pPr>
              <a:spcAft>
                <a:spcPts val="1200"/>
              </a:spcAft>
            </a:pPr>
            <a:r>
              <a:rPr lang="en-US" sz="1800" dirty="0"/>
              <a:t>Omni directional Antenna (radiates in 360 </a:t>
            </a:r>
            <a:r>
              <a:rPr lang="en-US" sz="1800" dirty="0" err="1"/>
              <a:t>degress</a:t>
            </a:r>
            <a:r>
              <a:rPr lang="en-US" sz="1800" dirty="0"/>
              <a:t>)</a:t>
            </a:r>
          </a:p>
          <a:p>
            <a:pPr>
              <a:spcAft>
                <a:spcPts val="1200"/>
              </a:spcAft>
            </a:pPr>
            <a:r>
              <a:rPr lang="en-US" sz="1800" dirty="0" err="1"/>
              <a:t>Cantenna</a:t>
            </a:r>
            <a:r>
              <a:rPr lang="en-US" sz="1800" dirty="0"/>
              <a:t> (Directional antenna usually homemade with a pringles can because it must be some type of metal)</a:t>
            </a:r>
          </a:p>
        </p:txBody>
      </p:sp>
    </p:spTree>
    <p:extLst>
      <p:ext uri="{BB962C8B-B14F-4D97-AF65-F5344CB8AC3E}">
        <p14:creationId xmlns:p14="http://schemas.microsoft.com/office/powerpoint/2010/main" val="15586304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Wi-Fi logo art">
            <a:extLst>
              <a:ext uri="{FF2B5EF4-FFF2-40B4-BE49-F238E27FC236}">
                <a16:creationId xmlns:a16="http://schemas.microsoft.com/office/drawing/2014/main" id="{E1C884A9-D77E-57BA-B713-2E6C594F2623}"/>
              </a:ext>
            </a:extLst>
          </p:cNvPr>
          <p:cNvPicPr>
            <a:picLocks noChangeAspect="1"/>
          </p:cNvPicPr>
          <p:nvPr/>
        </p:nvPicPr>
        <p:blipFill rotWithShape="1">
          <a:blip r:embed="rId2"/>
          <a:srcRect l="1301" r="1" b="1"/>
          <a:stretch/>
        </p:blipFill>
        <p:spPr>
          <a:xfrm>
            <a:off x="2522356" y="10"/>
            <a:ext cx="9669642" cy="6857990"/>
          </a:xfrm>
          <a:prstGeom prst="rect">
            <a:avLst/>
          </a:prstGeom>
        </p:spPr>
      </p:pic>
      <p:sp>
        <p:nvSpPr>
          <p:cNvPr id="2" name="Title 1"/>
          <p:cNvSpPr>
            <a:spLocks noGrp="1"/>
          </p:cNvSpPr>
          <p:nvPr>
            <p:ph type="title"/>
          </p:nvPr>
        </p:nvSpPr>
        <p:spPr>
          <a:xfrm>
            <a:off x="611258" y="223611"/>
            <a:ext cx="3822189" cy="1899912"/>
          </a:xfrm>
        </p:spPr>
        <p:txBody>
          <a:bodyPr vert="horz" lIns="91440" tIns="45720" rIns="91440" bIns="45720" rtlCol="0" anchor="ctr">
            <a:normAutofit/>
          </a:bodyPr>
          <a:lstStyle/>
          <a:p>
            <a:r>
              <a:rPr lang="en-US" sz="4000" dirty="0"/>
              <a:t>Wireless Hacking Methodology</a:t>
            </a:r>
          </a:p>
        </p:txBody>
      </p:sp>
      <p:sp>
        <p:nvSpPr>
          <p:cNvPr id="4" name="Content Placeholder 3"/>
          <p:cNvSpPr>
            <a:spLocks noGrp="1"/>
          </p:cNvSpPr>
          <p:nvPr>
            <p:ph sz="half" idx="1"/>
          </p:nvPr>
        </p:nvSpPr>
        <p:spPr>
          <a:xfrm>
            <a:off x="740228" y="2460171"/>
            <a:ext cx="3374571" cy="3716792"/>
          </a:xfrm>
        </p:spPr>
        <p:txBody>
          <a:bodyPr vert="horz" lIns="91440" tIns="45720" rIns="91440" bIns="45720" rtlCol="0">
            <a:normAutofit/>
          </a:bodyPr>
          <a:lstStyle/>
          <a:p>
            <a:pPr>
              <a:spcAft>
                <a:spcPts val="1200"/>
              </a:spcAft>
            </a:pPr>
            <a:r>
              <a:rPr lang="en-US" sz="1800" dirty="0"/>
              <a:t>Wi-Fi discovery</a:t>
            </a:r>
          </a:p>
          <a:p>
            <a:pPr>
              <a:spcAft>
                <a:spcPts val="1200"/>
              </a:spcAft>
            </a:pPr>
            <a:r>
              <a:rPr lang="en-US" sz="1800" dirty="0"/>
              <a:t>GPS mapping</a:t>
            </a:r>
          </a:p>
          <a:p>
            <a:pPr>
              <a:spcAft>
                <a:spcPts val="1200"/>
              </a:spcAft>
            </a:pPr>
            <a:r>
              <a:rPr lang="en-US" sz="1800" dirty="0"/>
              <a:t>Wireless traffic analysis</a:t>
            </a:r>
          </a:p>
          <a:p>
            <a:pPr>
              <a:spcAft>
                <a:spcPts val="1200"/>
              </a:spcAft>
            </a:pPr>
            <a:r>
              <a:rPr lang="en-US" sz="1800" dirty="0"/>
              <a:t>Launch wireless attack</a:t>
            </a:r>
          </a:p>
          <a:p>
            <a:pPr>
              <a:spcAft>
                <a:spcPts val="1200"/>
              </a:spcAft>
            </a:pPr>
            <a:r>
              <a:rPr lang="en-US" sz="1800" dirty="0"/>
              <a:t>Wi-Fi encryption cracking</a:t>
            </a:r>
          </a:p>
          <a:p>
            <a:pPr>
              <a:spcAft>
                <a:spcPts val="1200"/>
              </a:spcAft>
            </a:pPr>
            <a:r>
              <a:rPr lang="en-US" sz="1800" dirty="0"/>
              <a:t>Wi-Fi network compromise</a:t>
            </a:r>
          </a:p>
        </p:txBody>
      </p:sp>
    </p:spTree>
    <p:extLst>
      <p:ext uri="{BB962C8B-B14F-4D97-AF65-F5344CB8AC3E}">
        <p14:creationId xmlns:p14="http://schemas.microsoft.com/office/powerpoint/2010/main" val="3615841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9560" y="856180"/>
            <a:ext cx="4560584" cy="1128068"/>
          </a:xfrm>
        </p:spPr>
        <p:txBody>
          <a:bodyPr vert="horz" lIns="91440" tIns="45720" rIns="91440" bIns="45720" rtlCol="0" anchor="ctr">
            <a:normAutofit/>
          </a:bodyPr>
          <a:lstStyle/>
          <a:p>
            <a:r>
              <a:rPr lang="en-US" sz="4000" b="1"/>
              <a:t>Wi-Fi Discovery</a:t>
            </a:r>
          </a:p>
        </p:txBody>
      </p:sp>
      <p:sp>
        <p:nvSpPr>
          <p:cNvPr id="4" name="Content Placeholder 3"/>
          <p:cNvSpPr>
            <a:spLocks noGrp="1"/>
          </p:cNvSpPr>
          <p:nvPr>
            <p:ph sz="half" idx="1"/>
          </p:nvPr>
        </p:nvSpPr>
        <p:spPr>
          <a:xfrm>
            <a:off x="590719" y="2351314"/>
            <a:ext cx="4886563" cy="3958776"/>
          </a:xfrm>
        </p:spPr>
        <p:txBody>
          <a:bodyPr vert="horz" lIns="91440" tIns="45720" rIns="91440" bIns="45720" rtlCol="0" anchor="ctr">
            <a:normAutofit/>
          </a:bodyPr>
          <a:lstStyle/>
          <a:p>
            <a:r>
              <a:rPr lang="en-US" sz="1800" dirty="0"/>
              <a:t>Wireless Network Footprinting – passive/active </a:t>
            </a:r>
          </a:p>
          <a:p>
            <a:r>
              <a:rPr lang="en-US" sz="1800" dirty="0"/>
              <a:t>Find Wi-Fi Networks in Range to Attack</a:t>
            </a:r>
          </a:p>
          <a:p>
            <a:r>
              <a:rPr lang="en-US" sz="1800" dirty="0"/>
              <a:t>Find WPS-Enabled Aps</a:t>
            </a:r>
          </a:p>
          <a:p>
            <a:endParaRPr lang="en-US" sz="1800" dirty="0"/>
          </a:p>
          <a:p>
            <a:r>
              <a:rPr lang="en-US" sz="1800" dirty="0"/>
              <a:t>Wi-Fi Discovery Tools:</a:t>
            </a:r>
          </a:p>
          <a:p>
            <a:pPr lvl="1"/>
            <a:r>
              <a:rPr lang="en-US" sz="1800" dirty="0" err="1"/>
              <a:t>inSSIDer</a:t>
            </a:r>
            <a:r>
              <a:rPr lang="en-US" sz="1800" dirty="0"/>
              <a:t> Plus (https://www.metageek.com) </a:t>
            </a:r>
          </a:p>
          <a:p>
            <a:pPr lvl="1"/>
            <a:r>
              <a:rPr lang="en-US" sz="1800" dirty="0" err="1"/>
              <a:t>NetSurveyor</a:t>
            </a:r>
            <a:r>
              <a:rPr lang="en-US" sz="1800" dirty="0"/>
              <a:t> (http://nutsaboutnets.com_</a:t>
            </a:r>
          </a:p>
          <a:p>
            <a:pPr lvl="1"/>
            <a:r>
              <a:rPr lang="en-US" sz="1800" dirty="0" err="1"/>
              <a:t>OpenSignalMaps</a:t>
            </a:r>
            <a:r>
              <a:rPr lang="en-US" sz="1800" dirty="0"/>
              <a:t> (https://opensignal.com)</a:t>
            </a:r>
          </a:p>
          <a:p>
            <a:pPr lvl="1"/>
            <a:r>
              <a:rPr lang="en-US" sz="1800" dirty="0"/>
              <a:t>Network Signal Info Pro (http://www.kaibits-software.com)</a:t>
            </a:r>
          </a:p>
        </p:txBody>
      </p:sp>
      <p:pic>
        <p:nvPicPr>
          <p:cNvPr id="3" name="Picture 2" descr="Warchalking - Wikipedia"/>
          <p:cNvPicPr>
            <a:picLocks noChangeAspect="1"/>
          </p:cNvPicPr>
          <p:nvPr/>
        </p:nvPicPr>
        <p:blipFill rotWithShape="1">
          <a:blip r:embed="rId2">
            <a:extLst>
              <a:ext uri="{28A0092B-C50C-407E-A947-70E740481C1C}">
                <a14:useLocalDpi xmlns:a14="http://schemas.microsoft.com/office/drawing/2010/main" val="0"/>
              </a:ext>
            </a:extLst>
          </a:blip>
          <a:srcRect t="9179" b="8161"/>
          <a:stretch/>
        </p:blipFill>
        <p:spPr>
          <a:xfrm>
            <a:off x="5913456" y="708206"/>
            <a:ext cx="5613459" cy="5441587"/>
          </a:xfrm>
          <a:prstGeom prst="rect">
            <a:avLst/>
          </a:prstGeom>
        </p:spPr>
      </p:pic>
    </p:spTree>
    <p:extLst>
      <p:ext uri="{BB962C8B-B14F-4D97-AF65-F5344CB8AC3E}">
        <p14:creationId xmlns:p14="http://schemas.microsoft.com/office/powerpoint/2010/main" val="11526526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86" y="414153"/>
            <a:ext cx="4784796" cy="1330840"/>
          </a:xfrm>
        </p:spPr>
        <p:txBody>
          <a:bodyPr vert="horz" lIns="91440" tIns="45720" rIns="91440" bIns="45720" rtlCol="0" anchor="ctr">
            <a:normAutofit/>
          </a:bodyPr>
          <a:lstStyle/>
          <a:p>
            <a:r>
              <a:rPr lang="en-US" kern="1200" dirty="0">
                <a:solidFill>
                  <a:schemeClr val="tx1"/>
                </a:solidFill>
                <a:latin typeface="+mj-lt"/>
                <a:ea typeface="+mj-ea"/>
                <a:cs typeface="+mj-cs"/>
              </a:rPr>
              <a:t>GPS Mapping</a:t>
            </a:r>
          </a:p>
        </p:txBody>
      </p:sp>
      <p:sp>
        <p:nvSpPr>
          <p:cNvPr id="4" name="Content Placeholder 3"/>
          <p:cNvSpPr>
            <a:spLocks noGrp="1"/>
          </p:cNvSpPr>
          <p:nvPr>
            <p:ph sz="half" idx="1"/>
          </p:nvPr>
        </p:nvSpPr>
        <p:spPr>
          <a:xfrm>
            <a:off x="468086" y="2180918"/>
            <a:ext cx="5464628" cy="3908585"/>
          </a:xfrm>
        </p:spPr>
        <p:txBody>
          <a:bodyPr vert="horz" lIns="91440" tIns="45720" rIns="91440" bIns="45720" rtlCol="0">
            <a:normAutofit/>
          </a:bodyPr>
          <a:lstStyle/>
          <a:p>
            <a:pPr>
              <a:spcBef>
                <a:spcPts val="600"/>
              </a:spcBef>
              <a:spcAft>
                <a:spcPts val="600"/>
              </a:spcAft>
            </a:pPr>
            <a:r>
              <a:rPr lang="en-US" sz="1800" dirty="0"/>
              <a:t>Map a target wireless network</a:t>
            </a:r>
          </a:p>
          <a:p>
            <a:pPr>
              <a:spcBef>
                <a:spcPts val="600"/>
              </a:spcBef>
              <a:spcAft>
                <a:spcPts val="600"/>
              </a:spcAft>
            </a:pPr>
            <a:r>
              <a:rPr lang="en-US" sz="1800" dirty="0"/>
              <a:t>Tools:</a:t>
            </a:r>
          </a:p>
          <a:p>
            <a:pPr lvl="1">
              <a:spcBef>
                <a:spcPts val="600"/>
              </a:spcBef>
              <a:spcAft>
                <a:spcPts val="600"/>
              </a:spcAft>
            </a:pPr>
            <a:r>
              <a:rPr lang="en-US" sz="1800" dirty="0" err="1"/>
              <a:t>WiGLE</a:t>
            </a:r>
            <a:r>
              <a:rPr lang="en-US" sz="1800" dirty="0"/>
              <a:t> (https://</a:t>
            </a:r>
            <a:r>
              <a:rPr lang="en-US" sz="1800" dirty="0" err="1"/>
              <a:t>wigle.net</a:t>
            </a:r>
            <a:r>
              <a:rPr lang="en-US" sz="1800" dirty="0"/>
              <a:t>)</a:t>
            </a:r>
          </a:p>
          <a:p>
            <a:pPr lvl="1">
              <a:spcBef>
                <a:spcPts val="600"/>
              </a:spcBef>
              <a:spcAft>
                <a:spcPts val="600"/>
              </a:spcAft>
            </a:pPr>
            <a:r>
              <a:rPr lang="en-US" sz="1800" dirty="0" err="1"/>
              <a:t>Maptitude</a:t>
            </a:r>
            <a:r>
              <a:rPr lang="en-US" sz="1800" dirty="0"/>
              <a:t> Mapping Software (https://</a:t>
            </a:r>
            <a:r>
              <a:rPr lang="en-US" sz="1800" dirty="0" err="1"/>
              <a:t>www.caliper.com</a:t>
            </a:r>
            <a:r>
              <a:rPr lang="en-US" sz="1800" dirty="0"/>
              <a:t> )</a:t>
            </a:r>
          </a:p>
          <a:p>
            <a:pPr lvl="1">
              <a:spcBef>
                <a:spcPts val="600"/>
              </a:spcBef>
              <a:spcAft>
                <a:spcPts val="600"/>
              </a:spcAft>
            </a:pPr>
            <a:r>
              <a:rPr lang="en-US" sz="1800" dirty="0" err="1"/>
              <a:t>ExpertGPS</a:t>
            </a:r>
            <a:r>
              <a:rPr lang="en-US" sz="1800" dirty="0"/>
              <a:t> (https://</a:t>
            </a:r>
            <a:r>
              <a:rPr lang="en-US" sz="1800" dirty="0" err="1"/>
              <a:t>www.expertgps.com</a:t>
            </a:r>
            <a:r>
              <a:rPr lang="en-US" sz="1800" dirty="0"/>
              <a:t>)</a:t>
            </a:r>
          </a:p>
          <a:p>
            <a:pPr lvl="1">
              <a:spcBef>
                <a:spcPts val="600"/>
              </a:spcBef>
              <a:spcAft>
                <a:spcPts val="600"/>
              </a:spcAft>
            </a:pPr>
            <a:r>
              <a:rPr lang="en-US" sz="1800" dirty="0"/>
              <a:t>GPS Visualizer (https://</a:t>
            </a:r>
            <a:r>
              <a:rPr lang="en-US" sz="1800" dirty="0" err="1"/>
              <a:t>www.gpsvisualizer.com</a:t>
            </a:r>
            <a:r>
              <a:rPr lang="en-US" sz="1800" dirty="0"/>
              <a:t>)</a:t>
            </a:r>
          </a:p>
          <a:p>
            <a:pPr lvl="1">
              <a:spcBef>
                <a:spcPts val="600"/>
              </a:spcBef>
              <a:spcAft>
                <a:spcPts val="600"/>
              </a:spcAft>
            </a:pPr>
            <a:r>
              <a:rPr lang="en-US" sz="1800" dirty="0" err="1"/>
              <a:t>TrackMaker</a:t>
            </a:r>
            <a:r>
              <a:rPr lang="en-US" sz="1800" dirty="0"/>
              <a:t> (https://</a:t>
            </a:r>
            <a:r>
              <a:rPr lang="en-US" sz="1800" dirty="0" err="1"/>
              <a:t>www.trackmaker.com</a:t>
            </a:r>
            <a:r>
              <a:rPr lang="en-US" sz="1800" dirty="0"/>
              <a:t>)</a:t>
            </a:r>
          </a:p>
        </p:txBody>
      </p:sp>
      <p:pic>
        <p:nvPicPr>
          <p:cNvPr id="5" name="Picture 4" descr="A map of a city with many different colored dots&#10;&#10;Description automatically generated">
            <a:extLst>
              <a:ext uri="{FF2B5EF4-FFF2-40B4-BE49-F238E27FC236}">
                <a16:creationId xmlns:a16="http://schemas.microsoft.com/office/drawing/2014/main" id="{C80127A7-0777-8924-B5B3-C9CB918CA8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1994" y="1897393"/>
            <a:ext cx="5078468" cy="3610778"/>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1833141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3662" y="386930"/>
            <a:ext cx="10066122" cy="1298448"/>
          </a:xfrm>
        </p:spPr>
        <p:txBody>
          <a:bodyPr vert="horz" lIns="91440" tIns="45720" rIns="91440" bIns="45720" rtlCol="0" anchor="b">
            <a:normAutofit/>
          </a:bodyPr>
          <a:lstStyle/>
          <a:p>
            <a:r>
              <a:rPr lang="en-US" sz="4800"/>
              <a:t>Wireless Traffic Analysis</a:t>
            </a:r>
          </a:p>
        </p:txBody>
      </p:sp>
      <p:sp>
        <p:nvSpPr>
          <p:cNvPr id="4" name="Content Placeholder 3"/>
          <p:cNvSpPr>
            <a:spLocks noGrp="1"/>
          </p:cNvSpPr>
          <p:nvPr>
            <p:ph sz="half" idx="1"/>
          </p:nvPr>
        </p:nvSpPr>
        <p:spPr>
          <a:xfrm>
            <a:off x="793661" y="2599509"/>
            <a:ext cx="4530898" cy="3639450"/>
          </a:xfrm>
        </p:spPr>
        <p:txBody>
          <a:bodyPr vert="horz" lIns="91440" tIns="45720" rIns="91440" bIns="45720" rtlCol="0" anchor="ctr">
            <a:normAutofit/>
          </a:bodyPr>
          <a:lstStyle/>
          <a:p>
            <a:pPr>
              <a:lnSpc>
                <a:spcPct val="100000"/>
              </a:lnSpc>
              <a:spcBef>
                <a:spcPts val="600"/>
              </a:spcBef>
              <a:spcAft>
                <a:spcPts val="600"/>
              </a:spcAft>
            </a:pPr>
            <a:r>
              <a:rPr lang="en-US" sz="1800" dirty="0"/>
              <a:t>Helps the attacker find vulnerabilities, susceptible victims and appropriate attack strategy</a:t>
            </a:r>
          </a:p>
          <a:p>
            <a:pPr>
              <a:lnSpc>
                <a:spcPct val="100000"/>
              </a:lnSpc>
              <a:spcBef>
                <a:spcPts val="600"/>
              </a:spcBef>
              <a:spcAft>
                <a:spcPts val="600"/>
              </a:spcAft>
            </a:pPr>
            <a:r>
              <a:rPr lang="en-US" sz="1800" dirty="0"/>
              <a:t>Tools:</a:t>
            </a:r>
          </a:p>
          <a:p>
            <a:pPr lvl="1">
              <a:lnSpc>
                <a:spcPct val="100000"/>
              </a:lnSpc>
              <a:spcBef>
                <a:spcPts val="600"/>
              </a:spcBef>
              <a:spcAft>
                <a:spcPts val="600"/>
              </a:spcAft>
            </a:pPr>
            <a:r>
              <a:rPr lang="en-US" sz="1800" dirty="0"/>
              <a:t>Wireshark with </a:t>
            </a:r>
            <a:r>
              <a:rPr lang="en-US" sz="1800" dirty="0" err="1"/>
              <a:t>Npcap</a:t>
            </a:r>
            <a:r>
              <a:rPr lang="en-US" sz="1800" dirty="0"/>
              <a:t> (https://</a:t>
            </a:r>
            <a:r>
              <a:rPr lang="en-US" sz="1800" dirty="0" err="1"/>
              <a:t>www.wireshark.org</a:t>
            </a:r>
            <a:r>
              <a:rPr lang="en-US" sz="1800" dirty="0"/>
              <a:t>)</a:t>
            </a:r>
          </a:p>
          <a:p>
            <a:pPr lvl="1">
              <a:lnSpc>
                <a:spcPct val="100000"/>
              </a:lnSpc>
              <a:spcBef>
                <a:spcPts val="600"/>
              </a:spcBef>
              <a:spcAft>
                <a:spcPts val="600"/>
              </a:spcAft>
            </a:pPr>
            <a:r>
              <a:rPr lang="en-US" sz="1800" dirty="0"/>
              <a:t>RF Explorer (http://</a:t>
            </a:r>
            <a:r>
              <a:rPr lang="en-US" sz="1800" dirty="0" err="1"/>
              <a:t>rfexplorer.com</a:t>
            </a:r>
            <a:r>
              <a:rPr lang="en-US" sz="1800" dirty="0"/>
              <a:t>) (spectrum analysis)</a:t>
            </a:r>
          </a:p>
        </p:txBody>
      </p:sp>
      <p:pic>
        <p:nvPicPr>
          <p:cNvPr id="5" name="Picture 4" descr="wireless - Capturing and sending 802.11 Frames/Packets ..."/>
          <p:cNvPicPr>
            <a:picLocks noChangeAspect="1"/>
          </p:cNvPicPr>
          <p:nvPr/>
        </p:nvPicPr>
        <p:blipFill rotWithShape="1">
          <a:blip r:embed="rId2">
            <a:extLst>
              <a:ext uri="{28A0092B-C50C-407E-A947-70E740481C1C}">
                <a14:useLocalDpi xmlns:a14="http://schemas.microsoft.com/office/drawing/2010/main" val="0"/>
              </a:ext>
            </a:extLst>
          </a:blip>
          <a:srcRect l="8777" r="23623" b="-2"/>
          <a:stretch/>
        </p:blipFill>
        <p:spPr>
          <a:xfrm>
            <a:off x="5911532" y="2484255"/>
            <a:ext cx="5150277" cy="3714244"/>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2224539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3662" y="386930"/>
            <a:ext cx="10066122" cy="1298448"/>
          </a:xfrm>
        </p:spPr>
        <p:txBody>
          <a:bodyPr vert="horz" lIns="91440" tIns="45720" rIns="91440" bIns="45720" rtlCol="0" anchor="b">
            <a:normAutofit/>
          </a:bodyPr>
          <a:lstStyle/>
          <a:p>
            <a:r>
              <a:rPr lang="en-US" sz="4800"/>
              <a:t>Launch Wireless Attacks</a:t>
            </a:r>
          </a:p>
        </p:txBody>
      </p:sp>
      <p:sp>
        <p:nvSpPr>
          <p:cNvPr id="4" name="Content Placeholder 3"/>
          <p:cNvSpPr>
            <a:spLocks noGrp="1"/>
          </p:cNvSpPr>
          <p:nvPr>
            <p:ph sz="half" idx="1"/>
          </p:nvPr>
        </p:nvSpPr>
        <p:spPr>
          <a:xfrm>
            <a:off x="348343" y="2524715"/>
            <a:ext cx="4615543" cy="3714244"/>
          </a:xfrm>
        </p:spPr>
        <p:txBody>
          <a:bodyPr vert="horz" lIns="91440" tIns="45720" rIns="91440" bIns="45720" rtlCol="0" anchor="ctr">
            <a:normAutofit/>
          </a:bodyPr>
          <a:lstStyle/>
          <a:p>
            <a:pPr marL="0" indent="0">
              <a:lnSpc>
                <a:spcPct val="100000"/>
              </a:lnSpc>
              <a:spcAft>
                <a:spcPts val="1200"/>
              </a:spcAft>
              <a:buNone/>
            </a:pPr>
            <a:r>
              <a:rPr lang="en-US" sz="1800" dirty="0"/>
              <a:t>Tools:</a:t>
            </a:r>
          </a:p>
          <a:p>
            <a:pPr>
              <a:lnSpc>
                <a:spcPct val="100000"/>
              </a:lnSpc>
              <a:spcAft>
                <a:spcPts val="1200"/>
              </a:spcAft>
            </a:pPr>
            <a:r>
              <a:rPr lang="en-US" sz="1800" dirty="0" err="1"/>
              <a:t>Aircrack</a:t>
            </a:r>
            <a:r>
              <a:rPr lang="en-US" sz="1800" dirty="0"/>
              <a:t>-ng Suite (http://</a:t>
            </a:r>
            <a:r>
              <a:rPr lang="en-US" sz="1800" dirty="0" err="1"/>
              <a:t>www.aircrack-ng.org</a:t>
            </a:r>
            <a:r>
              <a:rPr lang="en-US" sz="1800" dirty="0"/>
              <a:t>)</a:t>
            </a:r>
          </a:p>
          <a:p>
            <a:pPr>
              <a:lnSpc>
                <a:spcPct val="100000"/>
              </a:lnSpc>
              <a:spcAft>
                <a:spcPts val="1200"/>
              </a:spcAft>
            </a:pPr>
            <a:r>
              <a:rPr lang="en-US" sz="1800" dirty="0" err="1"/>
              <a:t>Technitium</a:t>
            </a:r>
            <a:r>
              <a:rPr lang="en-US" sz="1800" dirty="0"/>
              <a:t> MAC Address Changer (https://</a:t>
            </a:r>
            <a:r>
              <a:rPr lang="en-US" sz="1800" dirty="0" err="1"/>
              <a:t>technitium.com</a:t>
            </a:r>
            <a:r>
              <a:rPr lang="en-US" sz="1800" dirty="0"/>
              <a:t>)</a:t>
            </a:r>
          </a:p>
          <a:p>
            <a:pPr>
              <a:lnSpc>
                <a:spcPct val="100000"/>
              </a:lnSpc>
              <a:spcAft>
                <a:spcPts val="1200"/>
              </a:spcAft>
            </a:pPr>
            <a:r>
              <a:rPr lang="en-US" sz="1800" dirty="0"/>
              <a:t>Kismet (https://</a:t>
            </a:r>
            <a:r>
              <a:rPr lang="en-US" sz="1800" dirty="0" err="1"/>
              <a:t>www.kismetwireless.net</a:t>
            </a:r>
            <a:r>
              <a:rPr lang="en-US" sz="1800" dirty="0"/>
              <a:t>) </a:t>
            </a:r>
          </a:p>
          <a:p>
            <a:pPr>
              <a:lnSpc>
                <a:spcPct val="100000"/>
              </a:lnSpc>
              <a:spcAft>
                <a:spcPts val="1200"/>
              </a:spcAft>
            </a:pPr>
            <a:r>
              <a:rPr lang="en-US" sz="1800" dirty="0" err="1"/>
              <a:t>AirMagnet</a:t>
            </a:r>
            <a:r>
              <a:rPr lang="en-US" sz="1800" dirty="0"/>
              <a:t> </a:t>
            </a:r>
            <a:r>
              <a:rPr lang="en-US" sz="1800" dirty="0" err="1"/>
              <a:t>WiFi</a:t>
            </a:r>
            <a:r>
              <a:rPr lang="en-US" sz="1800" dirty="0"/>
              <a:t> Analyzer PRO (https://</a:t>
            </a:r>
            <a:r>
              <a:rPr lang="en-US" sz="1800" dirty="0" err="1"/>
              <a:t>www.netally.com</a:t>
            </a:r>
            <a:r>
              <a:rPr lang="en-US" sz="1800" dirty="0"/>
              <a:t>)</a:t>
            </a:r>
          </a:p>
          <a:p>
            <a:pPr lvl="1">
              <a:lnSpc>
                <a:spcPct val="100000"/>
              </a:lnSpc>
              <a:spcAft>
                <a:spcPts val="1200"/>
              </a:spcAft>
            </a:pPr>
            <a:endParaRPr lang="en-US" sz="1800" dirty="0"/>
          </a:p>
        </p:txBody>
      </p:sp>
      <p:pic>
        <p:nvPicPr>
          <p:cNvPr id="5" name="Picture 4">
            <a:extLst>
              <a:ext uri="{FF2B5EF4-FFF2-40B4-BE49-F238E27FC236}">
                <a16:creationId xmlns:a16="http://schemas.microsoft.com/office/drawing/2014/main" id="{6FDCB380-22BC-6197-BBBB-5BF63DAC377F}"/>
              </a:ext>
            </a:extLst>
          </p:cNvPr>
          <p:cNvPicPr>
            <a:picLocks noChangeAspect="1"/>
          </p:cNvPicPr>
          <p:nvPr/>
        </p:nvPicPr>
        <p:blipFill rotWithShape="1">
          <a:blip r:embed="rId2">
            <a:extLst>
              <a:ext uri="{28A0092B-C50C-407E-A947-70E740481C1C}">
                <a14:useLocalDpi xmlns:a14="http://schemas.microsoft.com/office/drawing/2010/main" val="0"/>
              </a:ext>
            </a:extLst>
          </a:blip>
          <a:srcRect l="5900" r="17618"/>
          <a:stretch/>
        </p:blipFill>
        <p:spPr>
          <a:xfrm>
            <a:off x="5486401" y="2304477"/>
            <a:ext cx="5455666" cy="3934482"/>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42554979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5405" y="609600"/>
            <a:ext cx="4784796" cy="1330840"/>
          </a:xfrm>
        </p:spPr>
        <p:txBody>
          <a:bodyPr vert="horz" lIns="91440" tIns="45720" rIns="91440" bIns="45720" rtlCol="0" anchor="ctr">
            <a:normAutofit/>
          </a:bodyPr>
          <a:lstStyle/>
          <a:p>
            <a:r>
              <a:rPr lang="en-US" kern="1200" dirty="0">
                <a:solidFill>
                  <a:schemeClr val="tx1"/>
                </a:solidFill>
                <a:latin typeface="+mj-lt"/>
                <a:ea typeface="+mj-ea"/>
                <a:cs typeface="+mj-cs"/>
              </a:rPr>
              <a:t>Bluetooth Hacking</a:t>
            </a:r>
          </a:p>
        </p:txBody>
      </p:sp>
      <p:sp>
        <p:nvSpPr>
          <p:cNvPr id="4" name="Content Placeholder 3"/>
          <p:cNvSpPr>
            <a:spLocks noGrp="1"/>
          </p:cNvSpPr>
          <p:nvPr>
            <p:ph sz="half" idx="1"/>
          </p:nvPr>
        </p:nvSpPr>
        <p:spPr>
          <a:xfrm>
            <a:off x="790274" y="2231571"/>
            <a:ext cx="4784796" cy="3871116"/>
          </a:xfrm>
        </p:spPr>
        <p:txBody>
          <a:bodyPr vert="horz" lIns="91440" tIns="45720" rIns="91440" bIns="45720" rtlCol="0">
            <a:normAutofit/>
          </a:bodyPr>
          <a:lstStyle/>
          <a:p>
            <a:pPr>
              <a:lnSpc>
                <a:spcPct val="100000"/>
              </a:lnSpc>
              <a:spcBef>
                <a:spcPts val="1200"/>
              </a:spcBef>
              <a:spcAft>
                <a:spcPts val="1200"/>
              </a:spcAft>
            </a:pPr>
            <a:r>
              <a:rPr lang="en-US" sz="1800" dirty="0" err="1"/>
              <a:t>Bluesmacking</a:t>
            </a:r>
            <a:endParaRPr lang="en-US" sz="1800" dirty="0"/>
          </a:p>
          <a:p>
            <a:pPr>
              <a:lnSpc>
                <a:spcPct val="100000"/>
              </a:lnSpc>
              <a:spcBef>
                <a:spcPts val="1200"/>
              </a:spcBef>
              <a:spcAft>
                <a:spcPts val="1200"/>
              </a:spcAft>
            </a:pPr>
            <a:r>
              <a:rPr lang="en-US" sz="1800" dirty="0"/>
              <a:t>Bluejacking</a:t>
            </a:r>
          </a:p>
          <a:p>
            <a:pPr>
              <a:lnSpc>
                <a:spcPct val="100000"/>
              </a:lnSpc>
              <a:spcBef>
                <a:spcPts val="1200"/>
              </a:spcBef>
              <a:spcAft>
                <a:spcPts val="1200"/>
              </a:spcAft>
            </a:pPr>
            <a:r>
              <a:rPr lang="en-US" sz="1800" dirty="0" err="1"/>
              <a:t>Bluesnarfing</a:t>
            </a:r>
            <a:endParaRPr lang="en-US" sz="1800" dirty="0"/>
          </a:p>
          <a:p>
            <a:pPr>
              <a:lnSpc>
                <a:spcPct val="100000"/>
              </a:lnSpc>
              <a:spcBef>
                <a:spcPts val="1200"/>
              </a:spcBef>
              <a:spcAft>
                <a:spcPts val="1200"/>
              </a:spcAft>
            </a:pPr>
            <a:r>
              <a:rPr lang="en-US" sz="1800" dirty="0"/>
              <a:t>Other:</a:t>
            </a:r>
          </a:p>
          <a:p>
            <a:pPr lvl="1">
              <a:lnSpc>
                <a:spcPct val="100000"/>
              </a:lnSpc>
              <a:spcBef>
                <a:spcPts val="1200"/>
              </a:spcBef>
              <a:spcAft>
                <a:spcPts val="1200"/>
              </a:spcAft>
            </a:pPr>
            <a:r>
              <a:rPr lang="en-US" sz="1800" dirty="0" err="1"/>
              <a:t>BlueSniff</a:t>
            </a:r>
            <a:endParaRPr lang="en-US" sz="1800" dirty="0"/>
          </a:p>
          <a:p>
            <a:pPr lvl="1">
              <a:lnSpc>
                <a:spcPct val="100000"/>
              </a:lnSpc>
              <a:spcBef>
                <a:spcPts val="1200"/>
              </a:spcBef>
              <a:spcAft>
                <a:spcPts val="1200"/>
              </a:spcAft>
            </a:pPr>
            <a:r>
              <a:rPr lang="en-US" sz="1800" dirty="0" err="1"/>
              <a:t>BluePrinting</a:t>
            </a:r>
            <a:endParaRPr lang="en-US" sz="1800" dirty="0"/>
          </a:p>
          <a:p>
            <a:pPr lvl="1">
              <a:lnSpc>
                <a:spcPct val="100000"/>
              </a:lnSpc>
              <a:spcBef>
                <a:spcPts val="1200"/>
              </a:spcBef>
              <a:spcAft>
                <a:spcPts val="1200"/>
              </a:spcAft>
            </a:pPr>
            <a:r>
              <a:rPr lang="en-US" sz="1800" dirty="0" err="1"/>
              <a:t>Btlejacking</a:t>
            </a:r>
            <a:endParaRPr lang="en-US" sz="1800" dirty="0"/>
          </a:p>
        </p:txBody>
      </p:sp>
      <p:pic>
        <p:nvPicPr>
          <p:cNvPr id="5" name="Picture 4" descr="A screenshot of a computer screen&#10;&#10;Description automatically generated">
            <a:extLst>
              <a:ext uri="{FF2B5EF4-FFF2-40B4-BE49-F238E27FC236}">
                <a16:creationId xmlns:a16="http://schemas.microsoft.com/office/drawing/2014/main" id="{7B70CE79-C0EA-E94C-B043-9F92A1A4D2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0610" y="2356370"/>
            <a:ext cx="4737650" cy="2167474"/>
          </a:xfrm>
          <a:prstGeom prst="rect">
            <a:avLst/>
          </a:prstGeom>
        </p:spPr>
      </p:pic>
    </p:spTree>
    <p:extLst>
      <p:ext uri="{BB962C8B-B14F-4D97-AF65-F5344CB8AC3E}">
        <p14:creationId xmlns:p14="http://schemas.microsoft.com/office/powerpoint/2010/main" val="6259357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2C2D3-7735-B72E-22E3-ADCD5818536F}"/>
              </a:ext>
            </a:extLst>
          </p:cNvPr>
          <p:cNvSpPr>
            <a:spLocks noGrp="1"/>
          </p:cNvSpPr>
          <p:nvPr>
            <p:ph type="title"/>
          </p:nvPr>
        </p:nvSpPr>
        <p:spPr>
          <a:xfrm>
            <a:off x="992206" y="1538655"/>
            <a:ext cx="2632737" cy="4571140"/>
          </a:xfrm>
        </p:spPr>
        <p:txBody>
          <a:bodyPr anchor="t">
            <a:normAutofit/>
          </a:bodyPr>
          <a:lstStyle/>
          <a:p>
            <a:pPr algn="r"/>
            <a:r>
              <a:rPr lang="en-US" sz="3200" dirty="0">
                <a:solidFill>
                  <a:srgbClr val="FFFFFF"/>
                </a:solidFill>
              </a:rPr>
              <a:t>Summary </a:t>
            </a:r>
          </a:p>
        </p:txBody>
      </p:sp>
      <p:sp>
        <p:nvSpPr>
          <p:cNvPr id="3" name="Content Placeholder 2">
            <a:extLst>
              <a:ext uri="{FF2B5EF4-FFF2-40B4-BE49-F238E27FC236}">
                <a16:creationId xmlns:a16="http://schemas.microsoft.com/office/drawing/2014/main" id="{3845B2EC-71F7-CA34-8E36-7312BDC4A5E5}"/>
              </a:ext>
            </a:extLst>
          </p:cNvPr>
          <p:cNvSpPr>
            <a:spLocks noGrp="1"/>
          </p:cNvSpPr>
          <p:nvPr>
            <p:ph sz="half" idx="1"/>
          </p:nvPr>
        </p:nvSpPr>
        <p:spPr>
          <a:xfrm>
            <a:off x="4211120" y="1371600"/>
            <a:ext cx="3071423" cy="4738195"/>
          </a:xfrm>
        </p:spPr>
        <p:txBody>
          <a:bodyPr>
            <a:normAutofit/>
          </a:bodyPr>
          <a:lstStyle/>
          <a:p>
            <a:pPr>
              <a:lnSpc>
                <a:spcPct val="100000"/>
              </a:lnSpc>
              <a:spcAft>
                <a:spcPts val="600"/>
              </a:spcAft>
            </a:pPr>
            <a:r>
              <a:rPr lang="en-US" sz="2000" dirty="0"/>
              <a:t>WPA 3 is more secure than </a:t>
            </a:r>
            <a:r>
              <a:rPr lang="en-US" sz="1800" dirty="0"/>
              <a:t>previous</a:t>
            </a:r>
            <a:r>
              <a:rPr lang="en-US" sz="2000" dirty="0"/>
              <a:t> versions </a:t>
            </a:r>
          </a:p>
          <a:p>
            <a:pPr>
              <a:lnSpc>
                <a:spcPct val="100000"/>
              </a:lnSpc>
              <a:spcAft>
                <a:spcPts val="600"/>
              </a:spcAft>
            </a:pPr>
            <a:r>
              <a:rPr lang="en-US" sz="2000" dirty="0"/>
              <a:t>The four-way handshake for WPA2 can be compromised with </a:t>
            </a:r>
            <a:r>
              <a:rPr lang="en-US" sz="2000" dirty="0" err="1"/>
              <a:t>Krack</a:t>
            </a:r>
            <a:r>
              <a:rPr lang="en-US" sz="2000" dirty="0"/>
              <a:t>-Attack </a:t>
            </a:r>
          </a:p>
          <a:p>
            <a:pPr>
              <a:lnSpc>
                <a:spcPct val="100000"/>
              </a:lnSpc>
              <a:spcAft>
                <a:spcPts val="600"/>
              </a:spcAft>
            </a:pPr>
            <a:r>
              <a:rPr lang="en-US" sz="2000" dirty="0"/>
              <a:t>Wireless connection presents multiple points of entry into the network</a:t>
            </a:r>
          </a:p>
          <a:p>
            <a:pPr>
              <a:lnSpc>
                <a:spcPct val="100000"/>
              </a:lnSpc>
              <a:spcAft>
                <a:spcPts val="600"/>
              </a:spcAft>
            </a:pPr>
            <a:r>
              <a:rPr lang="en-US" sz="2000" dirty="0"/>
              <a:t>Understanding antenna types can help to mitigate available access</a:t>
            </a:r>
          </a:p>
        </p:txBody>
      </p:sp>
      <p:pic>
        <p:nvPicPr>
          <p:cNvPr id="6" name="Content Placeholder 5" descr="A antenna with multiple directional arrows&#10;&#10;Description automatically generated with medium confidence">
            <a:extLst>
              <a:ext uri="{FF2B5EF4-FFF2-40B4-BE49-F238E27FC236}">
                <a16:creationId xmlns:a16="http://schemas.microsoft.com/office/drawing/2014/main" id="{5EEEBC4D-ADF4-4B3E-2D75-F34EEA7B3624}"/>
              </a:ext>
              <a:ext uri="{C183D7F6-B498-43B3-948B-1728B52AA6E4}">
                <adec:decorative xmlns:adec="http://schemas.microsoft.com/office/drawing/2017/decorative" val="0"/>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7414457" y="1538654"/>
            <a:ext cx="4534289" cy="4198117"/>
          </a:xfr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09563444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8D334-3B2D-9792-BB48-21500BBF1361}"/>
              </a:ext>
            </a:extLst>
          </p:cNvPr>
          <p:cNvSpPr>
            <a:spLocks noGrp="1"/>
          </p:cNvSpPr>
          <p:nvPr>
            <p:ph type="title"/>
          </p:nvPr>
        </p:nvSpPr>
        <p:spPr>
          <a:xfrm>
            <a:off x="652463" y="565150"/>
            <a:ext cx="10515600" cy="1325563"/>
          </a:xfrm>
        </p:spPr>
        <p:txBody>
          <a:bodyPr/>
          <a:lstStyle/>
          <a:p>
            <a:r>
              <a:rPr lang="en-US" dirty="0"/>
              <a:t>CEHv13 Update – Expanded Wireless Attack Vectors</a:t>
            </a:r>
          </a:p>
        </p:txBody>
      </p:sp>
      <p:sp>
        <p:nvSpPr>
          <p:cNvPr id="6" name="Rectangle 3">
            <a:extLst>
              <a:ext uri="{FF2B5EF4-FFF2-40B4-BE49-F238E27FC236}">
                <a16:creationId xmlns:a16="http://schemas.microsoft.com/office/drawing/2014/main" id="{6E4517CE-EDFF-AEE1-D2E7-184D48732FCF}"/>
              </a:ext>
            </a:extLst>
          </p:cNvPr>
          <p:cNvSpPr>
            <a:spLocks noGrp="1" noChangeArrowheads="1"/>
          </p:cNvSpPr>
          <p:nvPr>
            <p:ph idx="1"/>
          </p:nvPr>
        </p:nvSpPr>
        <p:spPr bwMode="auto">
          <a:xfrm>
            <a:off x="511571" y="2170866"/>
            <a:ext cx="11554619"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CEHv13 introduces extended coverage of:</a:t>
            </a:r>
          </a:p>
          <a:p>
            <a:pPr marL="457200" lvl="1" indent="0" eaLnBrk="0" fontAlgn="base" hangingPunct="0">
              <a:lnSpc>
                <a:spcPct val="100000"/>
              </a:lnSpc>
              <a:spcBef>
                <a:spcPct val="0"/>
              </a:spcBef>
              <a:spcAft>
                <a:spcPct val="0"/>
              </a:spcAft>
              <a:buFontTx/>
              <a:buChar char="•"/>
            </a:pPr>
            <a:r>
              <a:rPr kumimoji="0" lang="en-US" altLang="en-US" b="1" i="0" u="none" strike="noStrike" cap="none" normalizeH="0" baseline="0" dirty="0">
                <a:ln>
                  <a:noFill/>
                </a:ln>
                <a:solidFill>
                  <a:schemeClr val="tx1"/>
                </a:solidFill>
                <a:effectLst/>
              </a:rPr>
              <a:t>Bluetooth-based attacks</a:t>
            </a:r>
            <a:r>
              <a:rPr kumimoji="0" lang="en-US" altLang="en-US" b="0" i="0" u="none" strike="noStrike" cap="none" normalizeH="0" baseline="0" dirty="0">
                <a:ln>
                  <a:noFill/>
                </a:ln>
                <a:solidFill>
                  <a:schemeClr val="tx1"/>
                </a:solidFill>
                <a:effectLst/>
              </a:rPr>
              <a:t>: Bluesnarfing, </a:t>
            </a:r>
            <a:r>
              <a:rPr kumimoji="0" lang="en-US" altLang="en-US" b="0" i="0" u="none" strike="noStrike" cap="none" normalizeH="0" baseline="0" dirty="0" err="1">
                <a:ln>
                  <a:noFill/>
                </a:ln>
                <a:solidFill>
                  <a:schemeClr val="tx1"/>
                </a:solidFill>
                <a:effectLst/>
              </a:rPr>
              <a:t>Btlejacking</a:t>
            </a:r>
            <a:r>
              <a:rPr kumimoji="0" lang="en-US" altLang="en-US" b="0" i="0" u="none" strike="noStrike" cap="none" normalizeH="0" baseline="0" dirty="0">
                <a:ln>
                  <a:noFill/>
                </a:ln>
                <a:solidFill>
                  <a:schemeClr val="tx1"/>
                </a:solidFill>
                <a:effectLst/>
              </a:rPr>
              <a:t>, and device spoofing</a:t>
            </a:r>
          </a:p>
          <a:p>
            <a:pPr marL="457200" lvl="1" indent="0" eaLnBrk="0" fontAlgn="base" hangingPunct="0">
              <a:lnSpc>
                <a:spcPct val="100000"/>
              </a:lnSpc>
              <a:spcBef>
                <a:spcPct val="0"/>
              </a:spcBef>
              <a:spcAft>
                <a:spcPct val="0"/>
              </a:spcAft>
              <a:buFontTx/>
              <a:buChar char="•"/>
            </a:pPr>
            <a:r>
              <a:rPr kumimoji="0" lang="en-US" altLang="en-US" b="1" i="0" u="none" strike="noStrike" cap="none" normalizeH="0" baseline="0" dirty="0">
                <a:ln>
                  <a:noFill/>
                </a:ln>
                <a:solidFill>
                  <a:schemeClr val="tx1"/>
                </a:solidFill>
                <a:effectLst/>
              </a:rPr>
              <a:t>BLE fuzzing</a:t>
            </a:r>
            <a:r>
              <a:rPr kumimoji="0" lang="en-US" altLang="en-US" b="0" i="0" u="none" strike="noStrike" cap="none" normalizeH="0" baseline="0" dirty="0">
                <a:ln>
                  <a:noFill/>
                </a:ln>
                <a:solidFill>
                  <a:schemeClr val="tx1"/>
                </a:solidFill>
                <a:effectLst/>
              </a:rPr>
              <a:t> to trigger unauthorized actions or crash IoT systems</a:t>
            </a:r>
          </a:p>
          <a:p>
            <a:pPr marL="457200" lvl="1" indent="0" eaLnBrk="0" fontAlgn="base" hangingPunct="0">
              <a:lnSpc>
                <a:spcPct val="100000"/>
              </a:lnSpc>
              <a:spcBef>
                <a:spcPct val="0"/>
              </a:spcBef>
              <a:spcAft>
                <a:spcPct val="0"/>
              </a:spcAft>
              <a:buFontTx/>
              <a:buChar char="•"/>
            </a:pPr>
            <a:r>
              <a:rPr kumimoji="0" lang="en-US" altLang="en-US" b="1" i="0" u="none" strike="noStrike" cap="none" normalizeH="0" baseline="0" dirty="0">
                <a:ln>
                  <a:noFill/>
                </a:ln>
                <a:solidFill>
                  <a:schemeClr val="tx1"/>
                </a:solidFill>
                <a:effectLst/>
              </a:rPr>
              <a:t>Rogue AP and Evil Twin</a:t>
            </a:r>
            <a:r>
              <a:rPr kumimoji="0" lang="en-US" altLang="en-US" b="0" i="0" u="none" strike="noStrike" cap="none" normalizeH="0" baseline="0" dirty="0">
                <a:ln>
                  <a:noFill/>
                </a:ln>
                <a:solidFill>
                  <a:schemeClr val="tx1"/>
                </a:solidFill>
                <a:effectLst/>
              </a:rPr>
              <a:t> attacks using social engineering overlays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Updated emphasis on:</a:t>
            </a:r>
          </a:p>
          <a:p>
            <a:pPr marL="457200" lvl="1" indent="0" eaLnBrk="0" fontAlgn="base" hangingPunct="0">
              <a:lnSpc>
                <a:spcPct val="100000"/>
              </a:lnSpc>
              <a:spcBef>
                <a:spcPct val="0"/>
              </a:spcBef>
              <a:spcAft>
                <a:spcPct val="0"/>
              </a:spcAft>
              <a:buFontTx/>
              <a:buChar char="•"/>
            </a:pPr>
            <a:r>
              <a:rPr kumimoji="0" lang="en-US" altLang="en-US" b="1" i="0" u="none" strike="noStrike" cap="none" normalizeH="0" baseline="0" dirty="0">
                <a:ln>
                  <a:noFill/>
                </a:ln>
                <a:solidFill>
                  <a:schemeClr val="tx1"/>
                </a:solidFill>
                <a:effectLst/>
              </a:rPr>
              <a:t>Wi-Fi 6 and WPA3-specific misconfigurations</a:t>
            </a:r>
            <a:endParaRPr kumimoji="0" lang="en-US" altLang="en-US" b="0" i="0" u="none" strike="noStrike" cap="none" normalizeH="0" baseline="0" dirty="0">
              <a:ln>
                <a:noFill/>
              </a:ln>
              <a:solidFill>
                <a:schemeClr val="tx1"/>
              </a:solidFill>
              <a:effectLst/>
            </a:endParaRP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Attacks on </a:t>
            </a:r>
            <a:r>
              <a:rPr kumimoji="0" lang="en-US" altLang="en-US" b="1" i="0" u="none" strike="noStrike" cap="none" normalizeH="0" baseline="0" dirty="0">
                <a:ln>
                  <a:noFill/>
                </a:ln>
                <a:solidFill>
                  <a:schemeClr val="tx1"/>
                </a:solidFill>
                <a:effectLst/>
              </a:rPr>
              <a:t>wireless mesh networks</a:t>
            </a:r>
            <a:r>
              <a:rPr kumimoji="0" lang="en-US" altLang="en-US" b="0" i="0" u="none" strike="noStrike" cap="none" normalizeH="0" baseline="0" dirty="0">
                <a:ln>
                  <a:noFill/>
                </a:ln>
                <a:solidFill>
                  <a:schemeClr val="tx1"/>
                </a:solidFill>
                <a:effectLst/>
              </a:rPr>
              <a:t> and IoT device provisioning protocols</a:t>
            </a: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Integration of GPS mapping and real-time geolocation recon using tools like </a:t>
            </a:r>
            <a:r>
              <a:rPr kumimoji="0" lang="en-US" altLang="en-US" b="0" i="0" u="none" strike="noStrike" cap="none" normalizeH="0" baseline="0" dirty="0" err="1">
                <a:ln>
                  <a:noFill/>
                </a:ln>
                <a:solidFill>
                  <a:schemeClr val="tx1"/>
                </a:solidFill>
                <a:effectLst/>
              </a:rPr>
              <a:t>WiGLE</a:t>
            </a:r>
            <a:r>
              <a:rPr kumimoji="0" lang="en-US" altLang="en-US" b="0" i="0" u="none" strike="noStrike" cap="none" normalizeH="0" baseline="0" dirty="0">
                <a:ln>
                  <a:noFill/>
                </a:ln>
                <a:solidFill>
                  <a:schemeClr val="tx1"/>
                </a:solidFill>
                <a:effectLst/>
              </a:rPr>
              <a:t> and Kismet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108655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BA88F-5684-8415-DA89-D4BD7C1A0BA7}"/>
              </a:ext>
            </a:extLst>
          </p:cNvPr>
          <p:cNvSpPr>
            <a:spLocks noGrp="1"/>
          </p:cNvSpPr>
          <p:nvPr>
            <p:ph type="title"/>
          </p:nvPr>
        </p:nvSpPr>
        <p:spPr/>
        <p:txBody>
          <a:bodyPr/>
          <a:lstStyle/>
          <a:p>
            <a:r>
              <a:rPr lang="en-US" dirty="0"/>
              <a:t>CEHv13 Update – Advanced Wireless Defense &amp; Tooling</a:t>
            </a:r>
          </a:p>
        </p:txBody>
      </p:sp>
      <p:sp>
        <p:nvSpPr>
          <p:cNvPr id="4" name="Rectangle 1">
            <a:extLst>
              <a:ext uri="{FF2B5EF4-FFF2-40B4-BE49-F238E27FC236}">
                <a16:creationId xmlns:a16="http://schemas.microsoft.com/office/drawing/2014/main" id="{A2C8327C-922F-02E4-27D0-BBBB57E56086}"/>
              </a:ext>
            </a:extLst>
          </p:cNvPr>
          <p:cNvSpPr>
            <a:spLocks noGrp="1" noChangeArrowheads="1"/>
          </p:cNvSpPr>
          <p:nvPr>
            <p:ph idx="1"/>
          </p:nvPr>
        </p:nvSpPr>
        <p:spPr bwMode="auto">
          <a:xfrm>
            <a:off x="838200" y="1939191"/>
            <a:ext cx="9210663" cy="41242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CEHv13 wireless defense updates include:</a:t>
            </a: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Monitoring with </a:t>
            </a:r>
            <a:r>
              <a:rPr kumimoji="0" lang="en-US" altLang="en-US" b="1" i="0" u="none" strike="noStrike" cap="none" normalizeH="0" baseline="0" dirty="0">
                <a:ln>
                  <a:noFill/>
                </a:ln>
                <a:solidFill>
                  <a:schemeClr val="tx1"/>
                </a:solidFill>
                <a:effectLst/>
              </a:rPr>
              <a:t>AI-enabled WIDS/WIPS</a:t>
            </a:r>
            <a:r>
              <a:rPr kumimoji="0" lang="en-US" altLang="en-US" b="0" i="0" u="none" strike="noStrike" cap="none" normalizeH="0" baseline="0" dirty="0">
                <a:ln>
                  <a:noFill/>
                </a:ln>
                <a:solidFill>
                  <a:schemeClr val="tx1"/>
                </a:solidFill>
                <a:effectLst/>
              </a:rPr>
              <a:t> (e.g., Aruba, Cisco Meraki)</a:t>
            </a: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Enhanced Wi-Fi network hardening with:</a:t>
            </a:r>
          </a:p>
          <a:p>
            <a:pPr marL="914400" lvl="2" indent="0" eaLnBrk="0" fontAlgn="base" hangingPunct="0">
              <a:lnSpc>
                <a:spcPct val="100000"/>
              </a:lnSpc>
              <a:spcBef>
                <a:spcPct val="0"/>
              </a:spcBef>
              <a:spcAft>
                <a:spcPct val="0"/>
              </a:spcAft>
              <a:buFontTx/>
              <a:buChar char="•"/>
            </a:pPr>
            <a:r>
              <a:rPr kumimoji="0" lang="en-US" altLang="en-US" b="1" i="0" u="none" strike="noStrike" cap="none" normalizeH="0" baseline="0" dirty="0">
                <a:ln>
                  <a:noFill/>
                </a:ln>
                <a:solidFill>
                  <a:schemeClr val="tx1"/>
                </a:solidFill>
                <a:effectLst/>
              </a:rPr>
              <a:t>MAC filtering</a:t>
            </a:r>
            <a:r>
              <a:rPr kumimoji="0" lang="en-US" altLang="en-US" b="0" i="0" u="none" strike="noStrike" cap="none" normalizeH="0" baseline="0" dirty="0">
                <a:ln>
                  <a:noFill/>
                </a:ln>
                <a:solidFill>
                  <a:schemeClr val="tx1"/>
                </a:solidFill>
                <a:effectLst/>
              </a:rPr>
              <a:t>, </a:t>
            </a:r>
            <a:r>
              <a:rPr kumimoji="0" lang="en-US" altLang="en-US" b="1" i="0" u="none" strike="noStrike" cap="none" normalizeH="0" baseline="0" dirty="0">
                <a:ln>
                  <a:noFill/>
                </a:ln>
                <a:solidFill>
                  <a:schemeClr val="tx1"/>
                </a:solidFill>
                <a:effectLst/>
              </a:rPr>
              <a:t>PMF (Protected Management Frames)</a:t>
            </a:r>
            <a:endParaRPr kumimoji="0" lang="en-US" altLang="en-US" b="0" i="0" u="none" strike="noStrike" cap="none" normalizeH="0" baseline="0" dirty="0">
              <a:ln>
                <a:noFill/>
              </a:ln>
              <a:solidFill>
                <a:schemeClr val="tx1"/>
              </a:solidFill>
              <a:effectLst/>
            </a:endParaRPr>
          </a:p>
          <a:p>
            <a:pPr marL="914400" lvl="2" indent="0" eaLnBrk="0" fontAlgn="base" hangingPunct="0">
              <a:lnSpc>
                <a:spcPct val="100000"/>
              </a:lnSpc>
              <a:spcBef>
                <a:spcPct val="0"/>
              </a:spcBef>
              <a:spcAft>
                <a:spcPct val="0"/>
              </a:spcAft>
              <a:buFontTx/>
              <a:buChar char="•"/>
            </a:pPr>
            <a:r>
              <a:rPr kumimoji="0" lang="en-US" altLang="en-US" b="1" i="0" u="none" strike="noStrike" cap="none" normalizeH="0" baseline="0" dirty="0">
                <a:ln>
                  <a:noFill/>
                </a:ln>
                <a:solidFill>
                  <a:schemeClr val="tx1"/>
                </a:solidFill>
                <a:effectLst/>
              </a:rPr>
              <a:t>802.1X authentication with EAP-TLS</a:t>
            </a:r>
            <a:endParaRPr kumimoji="0" lang="en-US" altLang="en-US" b="0" i="0" u="none" strike="noStrike" cap="none" normalizeH="0" baseline="0" dirty="0">
              <a:ln>
                <a:noFill/>
              </a:ln>
              <a:solidFill>
                <a:schemeClr val="tx1"/>
              </a:solidFill>
              <a:effectLst/>
            </a:endParaRPr>
          </a:p>
          <a:p>
            <a:pPr marL="457200" lvl="1" indent="0" eaLnBrk="0" fontAlgn="base" hangingPunct="0">
              <a:lnSpc>
                <a:spcPct val="100000"/>
              </a:lnSpc>
              <a:spcBef>
                <a:spcPct val="0"/>
              </a:spcBef>
              <a:spcAft>
                <a:spcPct val="0"/>
              </a:spcAft>
              <a:buFontTx/>
              <a:buChar char="•"/>
            </a:pPr>
            <a:r>
              <a:rPr kumimoji="0" lang="en-US" altLang="en-US" b="0" i="0" u="none" strike="noStrike" cap="none" normalizeH="0" baseline="0" dirty="0">
                <a:ln>
                  <a:noFill/>
                </a:ln>
                <a:solidFill>
                  <a:schemeClr val="tx1"/>
                </a:solidFill>
                <a:effectLst/>
              </a:rPr>
              <a:t>Detection of </a:t>
            </a:r>
            <a:r>
              <a:rPr kumimoji="0" lang="en-US" altLang="en-US" b="1" i="0" u="none" strike="noStrike" cap="none" normalizeH="0" baseline="0" dirty="0">
                <a:ln>
                  <a:noFill/>
                </a:ln>
                <a:solidFill>
                  <a:schemeClr val="tx1"/>
                </a:solidFill>
                <a:effectLst/>
              </a:rPr>
              <a:t>signal anomalies</a:t>
            </a:r>
            <a:r>
              <a:rPr kumimoji="0" lang="en-US" altLang="en-US" b="0" i="0" u="none" strike="noStrike" cap="none" normalizeH="0" baseline="0" dirty="0">
                <a:ln>
                  <a:noFill/>
                </a:ln>
                <a:solidFill>
                  <a:schemeClr val="tx1"/>
                </a:solidFill>
                <a:effectLst/>
              </a:rPr>
              <a:t> and </a:t>
            </a:r>
            <a:r>
              <a:rPr kumimoji="0" lang="en-US" altLang="en-US" b="1" i="0" u="none" strike="noStrike" cap="none" normalizeH="0" baseline="0" dirty="0">
                <a:ln>
                  <a:noFill/>
                </a:ln>
                <a:solidFill>
                  <a:schemeClr val="tx1"/>
                </a:solidFill>
                <a:effectLst/>
              </a:rPr>
              <a:t>RF spectrum abuse</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Updated toolset includes:</a:t>
            </a:r>
          </a:p>
          <a:p>
            <a:pPr marL="457200" lvl="1" indent="0" eaLnBrk="0" fontAlgn="base" hangingPunct="0">
              <a:lnSpc>
                <a:spcPct val="100000"/>
              </a:lnSpc>
              <a:spcBef>
                <a:spcPct val="0"/>
              </a:spcBef>
              <a:spcAft>
                <a:spcPct val="0"/>
              </a:spcAft>
              <a:buFontTx/>
              <a:buChar char="•"/>
            </a:pPr>
            <a:r>
              <a:rPr kumimoji="0" lang="en-US" altLang="en-US" b="1" i="0" u="none" strike="noStrike" cap="none" normalizeH="0" baseline="0" dirty="0" err="1">
                <a:ln>
                  <a:noFill/>
                </a:ln>
                <a:solidFill>
                  <a:schemeClr val="tx1"/>
                </a:solidFill>
                <a:effectLst/>
              </a:rPr>
              <a:t>Aircrack</a:t>
            </a:r>
            <a:r>
              <a:rPr kumimoji="0" lang="en-US" altLang="en-US" b="1" i="0" u="none" strike="noStrike" cap="none" normalizeH="0" baseline="0" dirty="0">
                <a:ln>
                  <a:noFill/>
                </a:ln>
                <a:solidFill>
                  <a:schemeClr val="tx1"/>
                </a:solidFill>
                <a:effectLst/>
              </a:rPr>
              <a:t>-ng with </a:t>
            </a:r>
            <a:r>
              <a:rPr kumimoji="0" lang="en-US" altLang="en-US" b="1" i="0" u="none" strike="noStrike" cap="none" normalizeH="0" baseline="0" dirty="0" err="1">
                <a:ln>
                  <a:noFill/>
                </a:ln>
                <a:solidFill>
                  <a:schemeClr val="tx1"/>
                </a:solidFill>
                <a:effectLst/>
              </a:rPr>
              <a:t>hashcat</a:t>
            </a:r>
            <a:r>
              <a:rPr kumimoji="0" lang="en-US" altLang="en-US" b="1" i="0" u="none" strike="noStrike" cap="none" normalizeH="0" baseline="0" dirty="0">
                <a:ln>
                  <a:noFill/>
                </a:ln>
                <a:solidFill>
                  <a:schemeClr val="tx1"/>
                </a:solidFill>
                <a:effectLst/>
              </a:rPr>
              <a:t> GPU cracking</a:t>
            </a:r>
            <a:r>
              <a:rPr kumimoji="0" lang="en-US" altLang="en-US" b="0" i="0" u="none" strike="noStrike" cap="none" normalizeH="0" baseline="0" dirty="0">
                <a:ln>
                  <a:noFill/>
                </a:ln>
                <a:solidFill>
                  <a:schemeClr val="tx1"/>
                </a:solidFill>
                <a:effectLst/>
              </a:rPr>
              <a:t> for password testing</a:t>
            </a:r>
          </a:p>
          <a:p>
            <a:pPr marL="457200" lvl="1" indent="0" eaLnBrk="0" fontAlgn="base" hangingPunct="0">
              <a:lnSpc>
                <a:spcPct val="100000"/>
              </a:lnSpc>
              <a:spcBef>
                <a:spcPct val="0"/>
              </a:spcBef>
              <a:spcAft>
                <a:spcPct val="0"/>
              </a:spcAft>
              <a:buFontTx/>
              <a:buChar char="•"/>
            </a:pPr>
            <a:r>
              <a:rPr kumimoji="0" lang="en-US" altLang="en-US" b="1" i="0" u="none" strike="noStrike" cap="none" normalizeH="0" baseline="0" dirty="0">
                <a:ln>
                  <a:noFill/>
                </a:ln>
                <a:solidFill>
                  <a:schemeClr val="tx1"/>
                </a:solidFill>
                <a:effectLst/>
              </a:rPr>
              <a:t>RF Explorer &amp; Wireshark/</a:t>
            </a:r>
            <a:r>
              <a:rPr kumimoji="0" lang="en-US" altLang="en-US" b="1" i="0" u="none" strike="noStrike" cap="none" normalizeH="0" baseline="0" dirty="0" err="1">
                <a:ln>
                  <a:noFill/>
                </a:ln>
                <a:solidFill>
                  <a:schemeClr val="tx1"/>
                </a:solidFill>
                <a:effectLst/>
              </a:rPr>
              <a:t>Npcap</a:t>
            </a:r>
            <a:r>
              <a:rPr kumimoji="0" lang="en-US" altLang="en-US" b="0" i="0" u="none" strike="noStrike" cap="none" normalizeH="0" baseline="0" dirty="0">
                <a:ln>
                  <a:noFill/>
                </a:ln>
                <a:solidFill>
                  <a:schemeClr val="tx1"/>
                </a:solidFill>
                <a:effectLst/>
              </a:rPr>
              <a:t> for wireless traffic analysis</a:t>
            </a:r>
          </a:p>
          <a:p>
            <a:pPr marL="457200" lvl="1" indent="0" eaLnBrk="0" fontAlgn="base" hangingPunct="0">
              <a:lnSpc>
                <a:spcPct val="100000"/>
              </a:lnSpc>
              <a:spcBef>
                <a:spcPct val="0"/>
              </a:spcBef>
              <a:spcAft>
                <a:spcPct val="0"/>
              </a:spcAft>
              <a:buFontTx/>
              <a:buChar char="•"/>
            </a:pPr>
            <a:r>
              <a:rPr kumimoji="0" lang="en-US" altLang="en-US" b="1" i="0" u="none" strike="noStrike" cap="none" normalizeH="0" baseline="0" dirty="0" err="1">
                <a:ln>
                  <a:noFill/>
                </a:ln>
                <a:solidFill>
                  <a:schemeClr val="tx1"/>
                </a:solidFill>
                <a:effectLst/>
              </a:rPr>
              <a:t>MobSF</a:t>
            </a:r>
            <a:r>
              <a:rPr kumimoji="0" lang="en-US" altLang="en-US" b="0" i="0" u="none" strike="noStrike" cap="none" normalizeH="0" baseline="0" dirty="0">
                <a:ln>
                  <a:noFill/>
                </a:ln>
                <a:solidFill>
                  <a:schemeClr val="tx1"/>
                </a:solidFill>
                <a:effectLst/>
              </a:rPr>
              <a:t> (for mobile/Wi-Fi integrated </a:t>
            </a:r>
            <a:r>
              <a:rPr kumimoji="0" lang="en-US" altLang="en-US" b="0" i="0" u="none" strike="noStrike" cap="none" normalizeH="0" baseline="0" dirty="0" err="1">
                <a:ln>
                  <a:noFill/>
                </a:ln>
                <a:solidFill>
                  <a:schemeClr val="tx1"/>
                </a:solidFill>
                <a:effectLst/>
              </a:rPr>
              <a:t>pentests</a:t>
            </a:r>
            <a:r>
              <a:rPr kumimoji="0" lang="en-US" altLang="en-US"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345415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773663AEC73F64CB9310C74F592BBA1" ma:contentTypeVersion="20" ma:contentTypeDescription="Create a new document." ma:contentTypeScope="" ma:versionID="c4ee6c6961591c1a63add96d4ce05241">
  <xsd:schema xmlns:xsd="http://www.w3.org/2001/XMLSchema" xmlns:xs="http://www.w3.org/2001/XMLSchema" xmlns:p="http://schemas.microsoft.com/office/2006/metadata/properties" xmlns:ns2="c6c77d8f-09f6-4e2b-8f47-31ad1c0144f5" xmlns:ns3="146bd9e1-3fdb-4f50-9526-c68c2343cb8e" targetNamespace="http://schemas.microsoft.com/office/2006/metadata/properties" ma:root="true" ma:fieldsID="b2274d1538facf08196bf05114238597" ns2:_="" ns3:_="">
    <xsd:import namespace="c6c77d8f-09f6-4e2b-8f47-31ad1c0144f5"/>
    <xsd:import namespace="146bd9e1-3fdb-4f50-9526-c68c2343cb8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Location" minOccurs="0"/>
                <xsd:element ref="ns2:MediaServiceAutoKeyPoints" minOccurs="0"/>
                <xsd:element ref="ns2:MediaServiceKeyPoints" minOccurs="0"/>
                <xsd:element ref="ns2:MediaLengthInSeconds" minOccurs="0"/>
                <xsd:element ref="ns3:SharedWithUsers" minOccurs="0"/>
                <xsd:element ref="ns3:SharedWithDetails" minOccurs="0"/>
                <xsd:element ref="ns2:Preview"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6c77d8f-09f6-4e2b-8f47-31ad1c0144f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Location" ma:index="15" nillable="true" ma:displayName="Location" ma:internalName="MediaServiceLocation"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Preview" ma:index="21" nillable="true" ma:displayName="Preview" ma:format="Thumbnail" ma:internalName="Preview">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6a8cab3b-d731-4175-bae6-7d60d1a2576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46bd9e1-3fdb-4f50-9526-c68c2343cb8e"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42da5034-1a9c-45fa-ab74-54df4df1541d}" ma:internalName="TaxCatchAll" ma:showField="CatchAllData" ma:web="146bd9e1-3fdb-4f50-9526-c68c2343cb8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review xmlns="c6c77d8f-09f6-4e2b-8f47-31ad1c0144f5" xsi:nil="true"/>
    <lcf76f155ced4ddcb4097134ff3c332f xmlns="c6c77d8f-09f6-4e2b-8f47-31ad1c0144f5">
      <Terms xmlns="http://schemas.microsoft.com/office/infopath/2007/PartnerControls"/>
    </lcf76f155ced4ddcb4097134ff3c332f>
    <TaxCatchAll xmlns="146bd9e1-3fdb-4f50-9526-c68c2343cb8e" xsi:nil="true"/>
  </documentManagement>
</p:properties>
</file>

<file path=customXml/itemProps1.xml><?xml version="1.0" encoding="utf-8"?>
<ds:datastoreItem xmlns:ds="http://schemas.openxmlformats.org/officeDocument/2006/customXml" ds:itemID="{1A104370-B3F7-4A70-A2FB-E202E560051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6c77d8f-09f6-4e2b-8f47-31ad1c0144f5"/>
    <ds:schemaRef ds:uri="146bd9e1-3fdb-4f50-9526-c68c2343cb8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F6B9AC1-FFB5-48B6-AD8B-9C5FBDA0CFD7}">
  <ds:schemaRefs>
    <ds:schemaRef ds:uri="http://schemas.microsoft.com/sharepoint/v3/contenttype/forms"/>
  </ds:schemaRefs>
</ds:datastoreItem>
</file>

<file path=customXml/itemProps3.xml><?xml version="1.0" encoding="utf-8"?>
<ds:datastoreItem xmlns:ds="http://schemas.openxmlformats.org/officeDocument/2006/customXml" ds:itemID="{0CFCD579-627B-4CEA-84B8-D75A87787FDE}">
  <ds:schemaRefs>
    <ds:schemaRef ds:uri="http://schemas.microsoft.com/office/2006/metadata/properties"/>
    <ds:schemaRef ds:uri="http://schemas.microsoft.com/office/infopath/2007/PartnerControls"/>
    <ds:schemaRef ds:uri="c6c77d8f-09f6-4e2b-8f47-31ad1c0144f5"/>
    <ds:schemaRef ds:uri="146bd9e1-3fdb-4f50-9526-c68c2343cb8e"/>
  </ds:schemaRefs>
</ds:datastoreItem>
</file>

<file path=docMetadata/LabelInfo.xml><?xml version="1.0" encoding="utf-8"?>
<clbl:labelList xmlns:clbl="http://schemas.microsoft.com/office/2020/mipLabelMetadata">
  <clbl:label id="{50656f6f-463c-4054-9fc2-6f4071c6e7fc}" enabled="0" method="" siteId="{50656f6f-463c-4054-9fc2-6f4071c6e7fc}" removed="1"/>
</clbl:labelList>
</file>

<file path=docProps/app.xml><?xml version="1.0" encoding="utf-8"?>
<Properties xmlns="http://schemas.openxmlformats.org/officeDocument/2006/extended-properties" xmlns:vt="http://schemas.openxmlformats.org/officeDocument/2006/docPropsVTypes">
  <TotalTime>708</TotalTime>
  <Words>2082</Words>
  <Application>Microsoft Office PowerPoint</Application>
  <PresentationFormat>Widescreen</PresentationFormat>
  <Paragraphs>286</Paragraphs>
  <Slides>37</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Aptos</vt:lpstr>
      <vt:lpstr>Aptos Display</vt:lpstr>
      <vt:lpstr>Aptos SemiBold</vt:lpstr>
      <vt:lpstr>Arial</vt:lpstr>
      <vt:lpstr>Calibri</vt:lpstr>
      <vt:lpstr>Calibri Light</vt:lpstr>
      <vt:lpstr>Consolas</vt:lpstr>
      <vt:lpstr>Office Theme</vt:lpstr>
      <vt:lpstr>SQL Injection</vt:lpstr>
      <vt:lpstr>SQL Injection Concepts</vt:lpstr>
      <vt:lpstr>SQL Injection Types</vt:lpstr>
      <vt:lpstr>SQLi Tools</vt:lpstr>
      <vt:lpstr>SQLi Detection Tools</vt:lpstr>
      <vt:lpstr>Evading SQLi Detection</vt:lpstr>
      <vt:lpstr>Countermeasures</vt:lpstr>
      <vt:lpstr>Review</vt:lpstr>
      <vt:lpstr>CEHv13 Update – Modern SQL Injection Threats</vt:lpstr>
      <vt:lpstr>CEHv13 Update – SQL Injection Defense Strategy</vt:lpstr>
      <vt:lpstr>Wireless Hacking </vt:lpstr>
      <vt:lpstr>First: Obtain Password Dictionary File</vt:lpstr>
      <vt:lpstr>Copy to Home of Kali Linux</vt:lpstr>
      <vt:lpstr>Configure for Monitor Mode </vt:lpstr>
      <vt:lpstr>Let’s Monitor all Traffic Client and Access Point</vt:lpstr>
      <vt:lpstr>Targeting Wireless Station and Client</vt:lpstr>
      <vt:lpstr>Time to Crack the Password that was Captured</vt:lpstr>
      <vt:lpstr>Password is now Cracked; Here it is!!!</vt:lpstr>
      <vt:lpstr>Background on the Cracking Process</vt:lpstr>
      <vt:lpstr>CEHv13 Update – Advanced Wireless Attack Trends</vt:lpstr>
      <vt:lpstr>CEHv13 Update – Wireless Defense Enhancements</vt:lpstr>
      <vt:lpstr>Hacking Wireless Networks </vt:lpstr>
      <vt:lpstr>Wireless Concepts</vt:lpstr>
      <vt:lpstr>Authentication and Encryption</vt:lpstr>
      <vt:lpstr>Wireless Four Way Handshake</vt:lpstr>
      <vt:lpstr>Issues with WPA Security</vt:lpstr>
      <vt:lpstr>Wireless Threats</vt:lpstr>
      <vt:lpstr>Wireless Antenna Types</vt:lpstr>
      <vt:lpstr>Wireless Hacking Methodology</vt:lpstr>
      <vt:lpstr>Wi-Fi Discovery</vt:lpstr>
      <vt:lpstr>GPS Mapping</vt:lpstr>
      <vt:lpstr>Wireless Traffic Analysis</vt:lpstr>
      <vt:lpstr>Launch Wireless Attacks</vt:lpstr>
      <vt:lpstr>Bluetooth Hacking</vt:lpstr>
      <vt:lpstr>Summary </vt:lpstr>
      <vt:lpstr>CEHv13 Update – Expanded Wireless Attack Vectors</vt:lpstr>
      <vt:lpstr>CEHv13 Update – Advanced Wireless Defense &amp; Tooling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Vasilache, Simina (RICH-Inn)</dc:creator>
  <cp:lastModifiedBy>Michael Wandel (Virginia Beach)</cp:lastModifiedBy>
  <cp:revision>35</cp:revision>
  <dcterms:created xsi:type="dcterms:W3CDTF">2021-10-12T16:34:53Z</dcterms:created>
  <dcterms:modified xsi:type="dcterms:W3CDTF">2026-01-15T23:21:02Z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0x0101009773663AEC73F64CB9310C74F592BBA1</vt:lpwstr>
  </property>
  <property fmtid="{D5CDD505-2E9C-101B-9397-08002B2CF9AE}" pid="3" name="MediaServiceImageTags">
    <vt:lpwstr/>
  </property>
</Properties>
</file>