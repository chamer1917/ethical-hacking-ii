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1"/>
  </p:notesMasterIdLst>
  <p:sldIdLst>
    <p:sldId id="256" r:id="rId5"/>
    <p:sldId id="257" r:id="rId6"/>
    <p:sldId id="272" r:id="rId7"/>
    <p:sldId id="300" r:id="rId8"/>
    <p:sldId id="275" r:id="rId9"/>
    <p:sldId id="276" r:id="rId10"/>
    <p:sldId id="259" r:id="rId11"/>
    <p:sldId id="299" r:id="rId12"/>
    <p:sldId id="280" r:id="rId13"/>
    <p:sldId id="260" r:id="rId14"/>
    <p:sldId id="277" r:id="rId15"/>
    <p:sldId id="281" r:id="rId16"/>
    <p:sldId id="261" r:id="rId17"/>
    <p:sldId id="286" r:id="rId18"/>
    <p:sldId id="301" r:id="rId19"/>
    <p:sldId id="263" r:id="rId20"/>
    <p:sldId id="283" r:id="rId21"/>
    <p:sldId id="287" r:id="rId22"/>
    <p:sldId id="262" r:id="rId23"/>
    <p:sldId id="282" r:id="rId24"/>
    <p:sldId id="288" r:id="rId25"/>
    <p:sldId id="265" r:id="rId26"/>
    <p:sldId id="289" r:id="rId27"/>
    <p:sldId id="292" r:id="rId28"/>
    <p:sldId id="290" r:id="rId29"/>
    <p:sldId id="291" r:id="rId30"/>
    <p:sldId id="302" r:id="rId31"/>
    <p:sldId id="303" r:id="rId32"/>
    <p:sldId id="304" r:id="rId33"/>
    <p:sldId id="305" r:id="rId34"/>
    <p:sldId id="306" r:id="rId35"/>
    <p:sldId id="266" r:id="rId36"/>
    <p:sldId id="267" r:id="rId37"/>
    <p:sldId id="268" r:id="rId38"/>
    <p:sldId id="269" r:id="rId39"/>
    <p:sldId id="307" r:id="rId40"/>
    <p:sldId id="270" r:id="rId41"/>
    <p:sldId id="271" r:id="rId42"/>
    <p:sldId id="308" r:id="rId43"/>
    <p:sldId id="309" r:id="rId44"/>
    <p:sldId id="273" r:id="rId45"/>
    <p:sldId id="264" r:id="rId46"/>
    <p:sldId id="274" r:id="rId47"/>
    <p:sldId id="310" r:id="rId48"/>
    <p:sldId id="311" r:id="rId49"/>
    <p:sldId id="312"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B4C9"/>
    <a:srgbClr val="2E4F61"/>
    <a:srgbClr val="E6E6E6"/>
    <a:srgbClr val="FFAE64"/>
    <a:srgbClr val="FF9933"/>
    <a:srgbClr val="417288"/>
    <a:srgbClr val="BAD5F2"/>
    <a:srgbClr val="006D5E"/>
    <a:srgbClr val="3B8B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B841B5-8A58-6C36-2A3D-2F5F621E8499}" v="2" dt="2025-06-23T01:27:56.6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94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5C719C-AA8E-4F92-8CA7-5D93BC351025}" type="doc">
      <dgm:prSet loTypeId="urn:microsoft.com/office/officeart/2005/8/layout/vList2" loCatId="list" qsTypeId="urn:microsoft.com/office/officeart/2005/8/quickstyle/simple2" qsCatId="simple" csTypeId="urn:microsoft.com/office/officeart/2005/8/colors/accent2_2" csCatId="accent2" phldr="1"/>
      <dgm:spPr/>
      <dgm:t>
        <a:bodyPr/>
        <a:lstStyle/>
        <a:p>
          <a:endParaRPr lang="en-US"/>
        </a:p>
      </dgm:t>
    </dgm:pt>
    <dgm:pt modelId="{E0F82E93-44FF-4F98-B757-123C103A7117}" type="pres">
      <dgm:prSet presAssocID="{305C719C-AA8E-4F92-8CA7-5D93BC351025}" presName="linear" presStyleCnt="0">
        <dgm:presLayoutVars>
          <dgm:animLvl val="lvl"/>
          <dgm:resizeHandles val="exact"/>
        </dgm:presLayoutVars>
      </dgm:prSet>
      <dgm:spPr/>
    </dgm:pt>
  </dgm:ptLst>
  <dgm:cxnLst>
    <dgm:cxn modelId="{96D0B2C1-9DA2-48A7-89E1-08797D6E6B1A}" type="presOf" srcId="{305C719C-AA8E-4F92-8CA7-5D93BC351025}" destId="{E0F82E93-44FF-4F98-B757-123C103A7117}"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13CF01-A4BF-4D40-B052-5CC4E4EC6A0B}"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83EB1A-C1FE-4813-8A94-3B729A21BBEB}" type="slidenum">
              <a:rPr lang="en-US" smtClean="0"/>
              <a:t>‹#›</a:t>
            </a:fld>
            <a:endParaRPr lang="en-US"/>
          </a:p>
        </p:txBody>
      </p:sp>
    </p:spTree>
    <p:extLst>
      <p:ext uri="{BB962C8B-B14F-4D97-AF65-F5344CB8AC3E}">
        <p14:creationId xmlns:p14="http://schemas.microsoft.com/office/powerpoint/2010/main" val="2341044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a:t>
            </a:fld>
            <a:endParaRPr lang="en-US"/>
          </a:p>
        </p:txBody>
      </p:sp>
    </p:spTree>
    <p:extLst>
      <p:ext uri="{BB962C8B-B14F-4D97-AF65-F5344CB8AC3E}">
        <p14:creationId xmlns:p14="http://schemas.microsoft.com/office/powerpoint/2010/main" val="3155762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attacker can guess or steal a valid session ID, which identifies authenticated users, and use it to establish a session with the server.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web server responds to the attacker’s requests under the impression that it is communicating with an authenticated user.</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3</a:t>
            </a:fld>
            <a:endParaRPr lang="en-US"/>
          </a:p>
        </p:txBody>
      </p:sp>
    </p:spTree>
    <p:extLst>
      <p:ext uri="{BB962C8B-B14F-4D97-AF65-F5344CB8AC3E}">
        <p14:creationId xmlns:p14="http://schemas.microsoft.com/office/powerpoint/2010/main" val="2839407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Lack of encryption: If data transmission between the user and the server is not encrypted, it becomes easier for attackers to intercept and manipulate the session data. Unencrypted communication allows attackers to read and alter the data, including session tokens, cookies, or other authentication credentials.</a:t>
            </a:r>
          </a:p>
          <a:p>
            <a:endParaRPr lang="en-US" b="0" i="0">
              <a:solidFill>
                <a:srgbClr val="374151"/>
              </a:solidFill>
              <a:effectLst/>
              <a:latin typeface="Söhne"/>
            </a:endParaRPr>
          </a:p>
          <a:p>
            <a:pPr lvl="0"/>
            <a:r>
              <a:rPr lang="en-US"/>
              <a:t>If a website does not implement account lockout, an attacker can make several attempts to connect with varying session IDs embedded in a genuine URL. </a:t>
            </a:r>
          </a:p>
          <a:p>
            <a:pPr lvl="0"/>
            <a:r>
              <a:rPr lang="en-US"/>
              <a:t>The attacker can continue making attempts until the actual session ID is determined. </a:t>
            </a:r>
          </a:p>
          <a:p>
            <a:pPr lvl="0"/>
            <a:r>
              <a:rPr lang="en-US"/>
              <a:t>This attack is also known as a brute-force attack. </a:t>
            </a:r>
          </a:p>
          <a:p>
            <a:pPr lvl="0"/>
            <a:r>
              <a:rPr lang="en-US"/>
              <a:t>During a brute-force attack, the web server does not display a warning message or complaint, allowing the attacker to determine the valid session ID.</a:t>
            </a:r>
          </a:p>
          <a:p>
            <a:endParaRPr lang="en-US" b="0" i="0">
              <a:solidFill>
                <a:srgbClr val="374151"/>
              </a:solidFill>
              <a:effectLst/>
              <a:latin typeface="Söhne"/>
            </a:endParaRPr>
          </a:p>
          <a:p>
            <a:r>
              <a:rPr lang="en-US" b="0" i="0">
                <a:solidFill>
                  <a:srgbClr val="374151"/>
                </a:solidFill>
                <a:effectLst/>
                <a:latin typeface="Söhne"/>
              </a:rPr>
              <a:t>Weak session management: Poorly implemented session management practices can make it easier for attackers to guess or brute-force session IDs, especially if the session tokens are predictable or have low entropy. Additionally, sessions that don't expire or have overly long expiration times provide a larger window of opportunity for attackers.</a:t>
            </a:r>
          </a:p>
          <a:p>
            <a:endParaRPr lang="en-US" b="0" i="0">
              <a:solidFill>
                <a:srgbClr val="374151"/>
              </a:solidFill>
              <a:effectLst/>
              <a:latin typeface="Söhne"/>
            </a:endParaRPr>
          </a:p>
          <a:p>
            <a:r>
              <a:rPr lang="en-US" b="0" i="0">
                <a:solidFill>
                  <a:srgbClr val="374151"/>
                </a:solidFill>
                <a:effectLst/>
                <a:latin typeface="Söhne"/>
              </a:rPr>
              <a:t>Cross-Site Scripting (XSS) vulnerabilities: XSS vulnerabilities can allow attackers to inject malicious scripts into web pages viewed by other users. When a victim visits the infected page, the attacker can steal their session information, such as cookies, which are then used to hijack the session.</a:t>
            </a:r>
          </a:p>
          <a:p>
            <a:endParaRPr lang="en-US" b="0" i="0">
              <a:solidFill>
                <a:srgbClr val="374151"/>
              </a:solidFill>
              <a:effectLst/>
              <a:latin typeface="Söhne"/>
            </a:endParaRPr>
          </a:p>
          <a:p>
            <a:pPr lvl="0"/>
            <a:r>
              <a:rPr lang="en-US"/>
              <a:t>Most websites use linear algorithms to predict variables such as time or IP address for generating session IDs. </a:t>
            </a:r>
          </a:p>
          <a:p>
            <a:pPr lvl="0"/>
            <a:r>
              <a:rPr lang="en-US"/>
              <a:t>By studying the sequential pattern and generating multiple requests, an attacker can easily narrow the search space necessary to forge a valid session ID.</a:t>
            </a:r>
          </a:p>
          <a:p>
            <a:pPr lvl="0"/>
            <a:r>
              <a:rPr lang="en-US"/>
              <a:t>Even if a strong session-ID generation algorithm is used, an active session ID can be easily determined if the string is short</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4</a:t>
            </a:fld>
            <a:endParaRPr lang="en-US"/>
          </a:p>
        </p:txBody>
      </p:sp>
    </p:spTree>
    <p:extLst>
      <p:ext uri="{BB962C8B-B14F-4D97-AF65-F5344CB8AC3E}">
        <p14:creationId xmlns:p14="http://schemas.microsoft.com/office/powerpoint/2010/main" val="238359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 attacker can retrieve stored session-ID information by misleading the user’s browser into visiting another site. Before the session expires, the attacker can exploit the information in many ways, such as Domain Name System (DNS) poisoning, cross-site scripting exploitation, and the exploitation of a bug in the browser.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lvl="0"/>
            <a:r>
              <a:rPr lang="en-US"/>
              <a:t>Session IDs with an indefinite expiration time provides an attacker with unlimited time to guess a valid session ID. An example of this is the “remember me” option in many websites. </a:t>
            </a:r>
          </a:p>
          <a:p>
            <a:pPr lvl="0"/>
            <a:r>
              <a:rPr lang="en-US"/>
              <a:t>The attacker can use static session IDs to the user’s web account after capturing the user’s cookie file. </a:t>
            </a:r>
          </a:p>
          <a:p>
            <a:pPr lvl="0"/>
            <a:r>
              <a:rPr lang="en-US"/>
              <a:t>The attacker can also perform session hijacking if they can break into a proxy server, which potentially logs or caches session IDs.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5</a:t>
            </a:fld>
            <a:endParaRPr lang="en-US"/>
          </a:p>
        </p:txBody>
      </p:sp>
    </p:spTree>
    <p:extLst>
      <p:ext uri="{BB962C8B-B14F-4D97-AF65-F5344CB8AC3E}">
        <p14:creationId xmlns:p14="http://schemas.microsoft.com/office/powerpoint/2010/main" val="122384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t>It is easy to sniff session IDs in a flat network if transport security is not set up properly during the transmission of session ID cookies, even if a web application uses Secure Sockets Layer (SSL) encryption. </a:t>
            </a:r>
          </a:p>
          <a:p>
            <a:pPr lvl="0"/>
            <a:r>
              <a:rPr lang="en-US"/>
              <a:t>An attacker’s task becomes even easier if they capture session IDs containing actual login information.</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6</a:t>
            </a:fld>
            <a:endParaRPr lang="en-US"/>
          </a:p>
        </p:txBody>
      </p:sp>
    </p:spTree>
    <p:extLst>
      <p:ext uri="{BB962C8B-B14F-4D97-AF65-F5344CB8AC3E}">
        <p14:creationId xmlns:p14="http://schemas.microsoft.com/office/powerpoint/2010/main" val="1753998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is easier for an attacker to sneak into a system as a genuine user than to enter a system directly. </a:t>
            </a:r>
          </a:p>
          <a:p>
            <a:r>
              <a:rPr lang="en-US"/>
              <a:t>An attacker can hijack a genuine user’s session by finding an established session and taking it over after user authentication. </a:t>
            </a:r>
          </a:p>
          <a:p>
            <a:r>
              <a:rPr lang="en-US"/>
              <a:t>After hijacking the session, the attacker can stay connected for hours without arousing suspicion.</a:t>
            </a:r>
          </a:p>
          <a:p>
            <a:r>
              <a:rPr lang="en-US"/>
              <a:t>During this period, all traffic intended for the user’s IP address goes to the attacker’s system instead, and the attacker can plant backdoors or gain additional access to the system. </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7</a:t>
            </a:fld>
            <a:endParaRPr lang="en-US"/>
          </a:p>
        </p:txBody>
      </p:sp>
    </p:spTree>
    <p:extLst>
      <p:ext uri="{BB962C8B-B14F-4D97-AF65-F5344CB8AC3E}">
        <p14:creationId xmlns:p14="http://schemas.microsoft.com/office/powerpoint/2010/main" val="4117380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8</a:t>
            </a:fld>
            <a:endParaRPr lang="en-US"/>
          </a:p>
        </p:txBody>
      </p:sp>
    </p:spTree>
    <p:extLst>
      <p:ext uri="{BB962C8B-B14F-4D97-AF65-F5344CB8AC3E}">
        <p14:creationId xmlns:p14="http://schemas.microsoft.com/office/powerpoint/2010/main" val="755223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9</a:t>
            </a:fld>
            <a:endParaRPr lang="en-US"/>
          </a:p>
        </p:txBody>
      </p:sp>
    </p:spTree>
    <p:extLst>
      <p:ext uri="{BB962C8B-B14F-4D97-AF65-F5344CB8AC3E}">
        <p14:creationId xmlns:p14="http://schemas.microsoft.com/office/powerpoint/2010/main" val="1911401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Passive Session Hijacking In a passive attack, after hijacking a session, an attacker only observes and records all the traffic during the session.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 passive attack uses sniffers on the network, allowing attackers to obtain information such as user IDs and passwords. The attacker can later use this information to log in as a valid user and enjoy the user’s privileges.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Password sniffing is the simplest attack to obtain raw access to a network. Countering this attack involves methods that range from identification schemes (for example, one-time password systems such as S/KEY) to ticketing identification (for example, Kerberos).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These techniques help in protecting data from sniffing attacks, but they cannot protect against active attacks if the data are unencrypted or do not carry a digital signature. </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10</a:t>
            </a:fld>
            <a:endParaRPr lang="en-US"/>
          </a:p>
        </p:txBody>
      </p:sp>
    </p:spTree>
    <p:extLst>
      <p:ext uri="{BB962C8B-B14F-4D97-AF65-F5344CB8AC3E}">
        <p14:creationId xmlns:p14="http://schemas.microsoft.com/office/powerpoint/2010/main" val="36641717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b="0" i="0">
                <a:solidFill>
                  <a:srgbClr val="374151"/>
                </a:solidFill>
                <a:effectLst/>
                <a:latin typeface="Söhne"/>
              </a:rPr>
              <a:t>Session Fixation: The attacker tricks the user into using a session ID or token that the attacker controls. This can be achieved by sending a specially crafted link or URL to the user or exploiting vulnerabilities in the application's session management process.</a:t>
            </a:r>
          </a:p>
          <a:p>
            <a:pPr algn="l">
              <a:buFont typeface="+mj-lt"/>
              <a:buAutoNum type="arabicPeriod"/>
            </a:pPr>
            <a:r>
              <a:rPr lang="en-US" b="0" i="0">
                <a:solidFill>
                  <a:srgbClr val="374151"/>
                </a:solidFill>
                <a:effectLst/>
                <a:latin typeface="Söhne"/>
              </a:rPr>
              <a:t>Session Replay: The attacker records a legitimate session and replays it later, possibly after the user has logged out, to gain unauthorized access to the system using the captured session data.</a:t>
            </a:r>
          </a:p>
          <a:p>
            <a:pPr algn="l">
              <a:buFont typeface="+mj-lt"/>
              <a:buAutoNum type="arabicPeriod"/>
            </a:pPr>
            <a:r>
              <a:rPr lang="en-US" b="0" i="0">
                <a:solidFill>
                  <a:srgbClr val="374151"/>
                </a:solidFill>
                <a:effectLst/>
                <a:latin typeface="Söhne"/>
              </a:rPr>
              <a:t>Cross-Site Scripting (XSS): By injecting malicious scripts into a vulnerable website, the attacker can hijack a user's session in the context of their web browser, allowing them to perform actions on the user's behalf.</a:t>
            </a:r>
          </a:p>
          <a:p>
            <a:pPr algn="l">
              <a:buFont typeface="+mj-lt"/>
              <a:buAutoNum type="arabicPeriod"/>
            </a:pPr>
            <a:r>
              <a:rPr lang="en-US" b="0" i="0">
                <a:solidFill>
                  <a:srgbClr val="374151"/>
                </a:solidFill>
                <a:effectLst/>
                <a:latin typeface="Söhne"/>
              </a:rPr>
              <a:t>Cross-Site Request Forgery (CSRF): In a CSRF attack, the attacker tricks the user's browser into making unauthorized requests to a targeted website, taking advantage of the user's active session on that website.</a:t>
            </a:r>
          </a:p>
          <a:p>
            <a:pPr algn="l">
              <a:buFont typeface="+mj-lt"/>
              <a:buAutoNum type="arabicPeriod"/>
            </a:pPr>
            <a:r>
              <a:rPr lang="en-US" b="0" i="0">
                <a:solidFill>
                  <a:srgbClr val="374151"/>
                </a:solidFill>
                <a:effectLst/>
                <a:latin typeface="Söhne"/>
              </a:rPr>
              <a:t>Man-in-the-Middle (MITM) Attack: The attacker intercepts and alters the communication between the user and the server, allowing them to modify requests, responses, or session tokens to gain control of the session.</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11</a:t>
            </a:fld>
            <a:endParaRPr lang="en-US"/>
          </a:p>
        </p:txBody>
      </p:sp>
    </p:spTree>
    <p:extLst>
      <p:ext uri="{BB962C8B-B14F-4D97-AF65-F5344CB8AC3E}">
        <p14:creationId xmlns:p14="http://schemas.microsoft.com/office/powerpoint/2010/main" val="93213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Network Layer: The network layer handles routing and forwarding of data packets between different networks. While session hijacking is not a primary concern at this layer, an attacker might use network-layer techniques like IP spoofing to facilitate session hijacking.</a:t>
            </a:r>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12</a:t>
            </a:fld>
            <a:endParaRPr lang="en-US"/>
          </a:p>
        </p:txBody>
      </p:sp>
    </p:spTree>
    <p:extLst>
      <p:ext uri="{BB962C8B-B14F-4D97-AF65-F5344CB8AC3E}">
        <p14:creationId xmlns:p14="http://schemas.microsoft.com/office/powerpoint/2010/main" val="489356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Transport Layer: The transport layer, such as TCP (Transmission Control Protocol) or UDP (User Datagram Protocol), is where session hijacking attacks often take place. Attackers can attempt to exploit vulnerabilities in the transport layer protocols to manipulate and take control of existing sessions.</a:t>
            </a:r>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13</a:t>
            </a:fld>
            <a:endParaRPr lang="en-US"/>
          </a:p>
        </p:txBody>
      </p:sp>
    </p:spTree>
    <p:extLst>
      <p:ext uri="{BB962C8B-B14F-4D97-AF65-F5344CB8AC3E}">
        <p14:creationId xmlns:p14="http://schemas.microsoft.com/office/powerpoint/2010/main" val="2082930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Presentation Layer: The presentation layer is responsible for data format conversion, encryption, and compression. While session hijacking doesn't directly target this layer, encryption and security mechanisms implemented at this layer can help prevent unauthorized access to the session data.</a:t>
            </a:r>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14</a:t>
            </a:fld>
            <a:endParaRPr lang="en-US"/>
          </a:p>
        </p:txBody>
      </p:sp>
    </p:spTree>
    <p:extLst>
      <p:ext uri="{BB962C8B-B14F-4D97-AF65-F5344CB8AC3E}">
        <p14:creationId xmlns:p14="http://schemas.microsoft.com/office/powerpoint/2010/main" val="2158095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74151"/>
                </a:solidFill>
                <a:effectLst/>
                <a:latin typeface="Söhne"/>
              </a:rPr>
              <a:t>Application Layer: The application layer is where most session hijacking attacks target. This layer includes the application-specific protocols and services used for user interactions, such as HTTP, FTP, SMTP, etc. Attackers often exploit application vulnerabilities, such as flaws in session management, authentication mechanisms, or weaknesses in web applications, to perform session hijacking attacks.</a:t>
            </a:r>
          </a:p>
          <a:p>
            <a:endParaRPr lang="en-US" b="0" i="0">
              <a:solidFill>
                <a:srgbClr val="374151"/>
              </a:solidFill>
              <a:effectLst/>
              <a:latin typeface="Söhne"/>
            </a:endParaRP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15</a:t>
            </a:fld>
            <a:endParaRPr lang="en-US"/>
          </a:p>
        </p:txBody>
      </p:sp>
    </p:spTree>
    <p:extLst>
      <p:ext uri="{BB962C8B-B14F-4D97-AF65-F5344CB8AC3E}">
        <p14:creationId xmlns:p14="http://schemas.microsoft.com/office/powerpoint/2010/main" val="462296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This section discusses application level session hijacking and various methods to compromise the session token, such as session sniffing and the use of predictable session tokens.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In application level session hijacking, an attacker steals or predicts a valid session to gain unauthorized access to a web server. </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16</a:t>
            </a:fld>
            <a:endParaRPr lang="en-US"/>
          </a:p>
        </p:txBody>
      </p:sp>
    </p:spTree>
    <p:extLst>
      <p:ext uri="{BB962C8B-B14F-4D97-AF65-F5344CB8AC3E}">
        <p14:creationId xmlns:p14="http://schemas.microsoft.com/office/powerpoint/2010/main" val="7177921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Thus, guessing techniques are effective only when servers use weak or flawed session-ID generation mechanisms.</a:t>
            </a:r>
          </a:p>
          <a:p>
            <a:endParaRPr lang="en-US"/>
          </a:p>
          <a:p>
            <a:r>
              <a:rPr lang="en-US"/>
              <a:t>Attacker guesses the session IDs by observing session variables. In the case of session hijacking, the range of session ID values that can be guessed is limited. </a:t>
            </a:r>
          </a:p>
        </p:txBody>
      </p:sp>
      <p:sp>
        <p:nvSpPr>
          <p:cNvPr id="4" name="Slide Number Placeholder 3"/>
          <p:cNvSpPr>
            <a:spLocks noGrp="1"/>
          </p:cNvSpPr>
          <p:nvPr>
            <p:ph type="sldNum" sz="quarter" idx="5"/>
          </p:nvPr>
        </p:nvSpPr>
        <p:spPr/>
        <p:txBody>
          <a:bodyPr/>
          <a:lstStyle/>
          <a:p>
            <a:fld id="{1283EB1A-C1FE-4813-8A94-3B729A21BBEB}" type="slidenum">
              <a:rPr lang="en-US" smtClean="0"/>
              <a:t>17</a:t>
            </a:fld>
            <a:endParaRPr lang="en-US"/>
          </a:p>
        </p:txBody>
      </p:sp>
    </p:spTree>
    <p:extLst>
      <p:ext uri="{BB962C8B-B14F-4D97-AF65-F5344CB8AC3E}">
        <p14:creationId xmlns:p14="http://schemas.microsoft.com/office/powerpoint/2010/main" val="36727767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18</a:t>
            </a:fld>
            <a:endParaRPr lang="en-US"/>
          </a:p>
        </p:txBody>
      </p:sp>
    </p:spTree>
    <p:extLst>
      <p:ext uri="{BB962C8B-B14F-4D97-AF65-F5344CB8AC3E}">
        <p14:creationId xmlns:p14="http://schemas.microsoft.com/office/powerpoint/2010/main" val="1671353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blind hijacking, an attacker predicts the sequence numbers that a victim host sends to create a connection that appears to originate from the host or a blind spoof.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To understand blind hijacking, it is important to understand sequence-number prediction. TCP sequence numbers, which are unique per byte in a TCP session, provide flow control and data integrity.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TCP segments provide the initial sequence number (ISN) as a part of each segment header. ISNs do not start at zero for each session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As part of the handshake process, each participant needs to state the ISN, and bytes are numbered sequentially from that point.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Blind session hijacking relies on the attacker’s ability to predict or guess sequence numbers.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An attacker is unable spoof a trusted host on a different network and observe the reply packets because no route exists for the packets to return to the attacker’s IP address. </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19</a:t>
            </a:fld>
            <a:endParaRPr lang="en-US"/>
          </a:p>
        </p:txBody>
      </p:sp>
    </p:spTree>
    <p:extLst>
      <p:ext uri="{BB962C8B-B14F-4D97-AF65-F5344CB8AC3E}">
        <p14:creationId xmlns:p14="http://schemas.microsoft.com/office/powerpoint/2010/main" val="4109518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summary, the hijacking of non-encrypted TCP communications requires the presence of non-encrypted session-oriented traffic, the ability to recognize TCP sequence numbers from which the next sequence number (NSN) can be predicted, and the ability to spoof a host’s media access control (MAC) or IP address to receive communications that are not destined for the attacker’s host. </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20</a:t>
            </a:fld>
            <a:endParaRPr lang="en-US"/>
          </a:p>
        </p:txBody>
      </p:sp>
    </p:spTree>
    <p:extLst>
      <p:ext uri="{BB962C8B-B14F-4D97-AF65-F5344CB8AC3E}">
        <p14:creationId xmlns:p14="http://schemas.microsoft.com/office/powerpoint/2010/main" val="30866558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21</a:t>
            </a:fld>
            <a:endParaRPr lang="en-US"/>
          </a:p>
        </p:txBody>
      </p:sp>
    </p:spTree>
    <p:extLst>
      <p:ext uri="{BB962C8B-B14F-4D97-AF65-F5344CB8AC3E}">
        <p14:creationId xmlns:p14="http://schemas.microsoft.com/office/powerpoint/2010/main" val="9657945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web server identifies a user’s connection through a unique session ID (also known as a session token).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web server sends a session token to the client browser after the successful authentication of client login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Usually, a session token comprises a string of variable width that is useful in various ways, such as in the header of an HTTP requisition (cookie), in a URL, or in the body of an HTTP requisition.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An attacker uses packet sniffing tools such as Wireshark and Steel Central Packet Analyzer to intercept the HTTP traffic between a victim and web server.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attacker then analyzes the data in the captured packets to identify valuable information such as session IDs and passwords.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Once the session ID is determined, the attacker masquerades as the victim and sends the session ID to the web server before the victim does.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attacker uses the valid token session to gain unauthorized access to the web server. In this manner, the attacker takes control over an existing legitimate session.</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22</a:t>
            </a:fld>
            <a:endParaRPr lang="en-US"/>
          </a:p>
        </p:txBody>
      </p:sp>
    </p:spTree>
    <p:extLst>
      <p:ext uri="{BB962C8B-B14F-4D97-AF65-F5344CB8AC3E}">
        <p14:creationId xmlns:p14="http://schemas.microsoft.com/office/powerpoint/2010/main" val="2841200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session ID is tagged as proof of an authenticated session established between a user and web server. Thus, if an attacker can guess or predict the session ID of the user, fraudulent activity is possible.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Session prediction enables an attacker to bypass the authentication schema of an application. Usually, attackers can predict session IDs generated by weak algorithms and impersonate a website user.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Attackers analyze a variable section of session IDs to determine the existence of a pattern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This analysis is performed either manually or by using various cryptanalytic tools. </a:t>
            </a:r>
          </a:p>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23</a:t>
            </a:fld>
            <a:endParaRPr lang="en-US"/>
          </a:p>
        </p:txBody>
      </p:sp>
    </p:spTree>
    <p:extLst>
      <p:ext uri="{BB962C8B-B14F-4D97-AF65-F5344CB8AC3E}">
        <p14:creationId xmlns:p14="http://schemas.microsoft.com/office/powerpoint/2010/main" val="489853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25</a:t>
            </a:fld>
            <a:endParaRPr lang="en-US"/>
          </a:p>
        </p:txBody>
      </p:sp>
    </p:spTree>
    <p:extLst>
      <p:ext uri="{BB962C8B-B14F-4D97-AF65-F5344CB8AC3E}">
        <p14:creationId xmlns:p14="http://schemas.microsoft.com/office/powerpoint/2010/main" val="267858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26</a:t>
            </a:fld>
            <a:endParaRPr lang="en-US"/>
          </a:p>
        </p:txBody>
      </p:sp>
    </p:spTree>
    <p:extLst>
      <p:ext uri="{BB962C8B-B14F-4D97-AF65-F5344CB8AC3E}">
        <p14:creationId xmlns:p14="http://schemas.microsoft.com/office/powerpoint/2010/main" val="13652301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283EB1A-C1FE-4813-8A94-3B729A21BBEB}" type="slidenum">
              <a:rPr lang="en-US" smtClean="0"/>
              <a:t>28</a:t>
            </a:fld>
            <a:endParaRPr lang="en-US"/>
          </a:p>
        </p:txBody>
      </p:sp>
    </p:spTree>
    <p:extLst>
      <p:ext uri="{BB962C8B-B14F-4D97-AF65-F5344CB8AC3E}">
        <p14:creationId xmlns:p14="http://schemas.microsoft.com/office/powerpoint/2010/main" val="29030084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intrusion detection system (IDS) is a security software or hardware device used to monitor, detect, and protect networks or systems from malicious activities; it alerts the concerned security personnel immediately upon detecting intrusions. IDS are extremely useful as they monitor the inbound/outbound traffic of the network and check for suspicious activities continuously to detect a network or system security breach</a:t>
            </a:r>
          </a:p>
        </p:txBody>
      </p:sp>
      <p:sp>
        <p:nvSpPr>
          <p:cNvPr id="4" name="Slide Number Placeholder 3"/>
          <p:cNvSpPr>
            <a:spLocks noGrp="1"/>
          </p:cNvSpPr>
          <p:nvPr>
            <p:ph type="sldNum" sz="quarter" idx="5"/>
          </p:nvPr>
        </p:nvSpPr>
        <p:spPr/>
        <p:txBody>
          <a:bodyPr/>
          <a:lstStyle/>
          <a:p>
            <a:fld id="{9CDAE4CD-7E65-4E1C-BC0A-F87A34AE3924}" type="slidenum">
              <a:rPr lang="en-US" smtClean="0"/>
              <a:t>31</a:t>
            </a:fld>
            <a:endParaRPr lang="en-US"/>
          </a:p>
        </p:txBody>
      </p:sp>
    </p:spTree>
    <p:extLst>
      <p:ext uri="{BB962C8B-B14F-4D97-AF65-F5344CB8AC3E}">
        <p14:creationId xmlns:p14="http://schemas.microsoft.com/office/powerpoint/2010/main" val="38278122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IDS gathers and analyzes information from within a computer or a network to identify possible violations of the security policy, including unauthorized access, as well as misuse.</a:t>
            </a:r>
          </a:p>
          <a:p>
            <a:r>
              <a:rPr lang="en-US" dirty="0"/>
              <a:t>An IDS is also referred to as a “packet sniffer,” which intercepts packets traveling via various communication media and protocols, usually TCP/IP.</a:t>
            </a:r>
          </a:p>
          <a:p>
            <a:r>
              <a:rPr lang="en-US" dirty="0"/>
              <a:t>The packets are analyzed after they are captured.  An IDS evaluates traffic for suspected intrusions and raises an alarm upon detecting such intrusions.</a:t>
            </a:r>
          </a:p>
        </p:txBody>
      </p:sp>
      <p:sp>
        <p:nvSpPr>
          <p:cNvPr id="4" name="Slide Number Placeholder 3"/>
          <p:cNvSpPr>
            <a:spLocks noGrp="1"/>
          </p:cNvSpPr>
          <p:nvPr>
            <p:ph type="sldNum" sz="quarter" idx="5"/>
          </p:nvPr>
        </p:nvSpPr>
        <p:spPr/>
        <p:txBody>
          <a:bodyPr/>
          <a:lstStyle/>
          <a:p>
            <a:fld id="{9CDAE4CD-7E65-4E1C-BC0A-F87A34AE3924}" type="slidenum">
              <a:rPr lang="en-US" smtClean="0"/>
              <a:t>32</a:t>
            </a:fld>
            <a:endParaRPr lang="en-US"/>
          </a:p>
        </p:txBody>
      </p:sp>
    </p:spTree>
    <p:extLst>
      <p:ext uri="{BB962C8B-B14F-4D97-AF65-F5344CB8AC3E}">
        <p14:creationId xmlns:p14="http://schemas.microsoft.com/office/powerpoint/2010/main" val="23792753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Intrusion Detection Tools Intrusion detection tools detect anomalies. These tools, when running on a dedicated workstation, read all network packets, reconstruct user sessions, and scan for possible intrusions by looking for attack signatures and network traffic statistical anomalies</a:t>
            </a:r>
          </a:p>
        </p:txBody>
      </p:sp>
      <p:sp>
        <p:nvSpPr>
          <p:cNvPr id="4" name="Slide Number Placeholder 3"/>
          <p:cNvSpPr>
            <a:spLocks noGrp="1"/>
          </p:cNvSpPr>
          <p:nvPr>
            <p:ph type="sldNum" sz="quarter" idx="5"/>
          </p:nvPr>
        </p:nvSpPr>
        <p:spPr/>
        <p:txBody>
          <a:bodyPr/>
          <a:lstStyle/>
          <a:p>
            <a:fld id="{9CDAE4CD-7E65-4E1C-BC0A-F87A34AE3924}" type="slidenum">
              <a:rPr lang="en-US" smtClean="0"/>
              <a:t>33</a:t>
            </a:fld>
            <a:endParaRPr lang="en-US"/>
          </a:p>
        </p:txBody>
      </p:sp>
    </p:spTree>
    <p:extLst>
      <p:ext uri="{BB962C8B-B14F-4D97-AF65-F5344CB8AC3E}">
        <p14:creationId xmlns:p14="http://schemas.microsoft.com/office/powerpoint/2010/main" val="24915669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Hardware firewall is a dedicated, standalone device that provides robust security at the network level and can protect multiple devices, whereas a software firewall is installed on individual devices and provides security at the host level. Both hardware and software firewalls play critical roles in securing networks and systems, and often a combination of both is employed to create a layered and comprehensive security strategy.</a:t>
            </a:r>
          </a:p>
          <a:p>
            <a:endParaRPr lang="en-US" b="0" i="0" dirty="0">
              <a:solidFill>
                <a:srgbClr val="374151"/>
              </a:solidFill>
              <a:effectLst/>
              <a:latin typeface="Söhne"/>
            </a:endParaRPr>
          </a:p>
          <a:p>
            <a:r>
              <a:rPr lang="en-US" b="0" i="0" dirty="0">
                <a:solidFill>
                  <a:srgbClr val="374151"/>
                </a:solidFill>
                <a:effectLst/>
                <a:latin typeface="Söhne"/>
              </a:rPr>
              <a:t>Software-based: A software firewall is a piece of security software installed directly on a computer or server. It operates as a program within the operating system and is dependent on the host's resources.</a:t>
            </a:r>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34</a:t>
            </a:fld>
            <a:endParaRPr lang="en-US"/>
          </a:p>
        </p:txBody>
      </p:sp>
    </p:spTree>
    <p:extLst>
      <p:ext uri="{BB962C8B-B14F-4D97-AF65-F5344CB8AC3E}">
        <p14:creationId xmlns:p14="http://schemas.microsoft.com/office/powerpoint/2010/main" val="33598686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 that provide an extra layer of security to the organization’s infrastructure are interesting targets for attackers. Attackers implement various IDS evasion techniques to bypass such </a:t>
            </a:r>
            <a:r>
              <a:rPr lang="en-US" dirty="0" err="1"/>
              <a:t>ecurity</a:t>
            </a:r>
            <a:r>
              <a:rPr lang="en-US" dirty="0"/>
              <a:t> mechanisms and compromise the infrastructure. IDS evasion is the process of modifying attacks to fool the IDS/IPS into interpreting that the traffic is legitimate and thus prevent the IDS from triggering an alert. Many IDS evasion techniques can perform IDS evasion in different and effective ways.</a:t>
            </a:r>
          </a:p>
          <a:p>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36</a:t>
            </a:fld>
            <a:endParaRPr lang="en-US"/>
          </a:p>
        </p:txBody>
      </p:sp>
    </p:spTree>
    <p:extLst>
      <p:ext uri="{BB962C8B-B14F-4D97-AF65-F5344CB8AC3E}">
        <p14:creationId xmlns:p14="http://schemas.microsoft.com/office/powerpoint/2010/main" val="35430463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attacker identifies a point of network processing that requires the allocation of a resource, causing a condition to occur in which all of that resource is consumed. The resources affected by the attacker are CPU cycles, memory, disk space, and network bandwidth.</a:t>
            </a:r>
          </a:p>
        </p:txBody>
      </p:sp>
      <p:sp>
        <p:nvSpPr>
          <p:cNvPr id="4" name="Slide Number Placeholder 3"/>
          <p:cNvSpPr>
            <a:spLocks noGrp="1"/>
          </p:cNvSpPr>
          <p:nvPr>
            <p:ph type="sldNum" sz="quarter" idx="5"/>
          </p:nvPr>
        </p:nvSpPr>
        <p:spPr/>
        <p:txBody>
          <a:bodyPr/>
          <a:lstStyle/>
          <a:p>
            <a:fld id="{9CDAE4CD-7E65-4E1C-BC0A-F87A34AE3924}" type="slidenum">
              <a:rPr lang="en-US" smtClean="0"/>
              <a:t>37</a:t>
            </a:fld>
            <a:endParaRPr lang="en-US"/>
          </a:p>
        </p:txBody>
      </p:sp>
    </p:spTree>
    <p:extLst>
      <p:ext uri="{BB962C8B-B14F-4D97-AF65-F5344CB8AC3E}">
        <p14:creationId xmlns:p14="http://schemas.microsoft.com/office/powerpoint/2010/main" val="16449942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 fragmentation attack is a type of network security attack that exploits the way network packets are broken down or fragmented and reassembled by networking devices and operating systems. The attack takes advantage of inconsistencies in handling fragmented packets to deceive or bypass security measures, potentially leading to unauthorized access or data manipulation.</a:t>
            </a:r>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38</a:t>
            </a:fld>
            <a:endParaRPr lang="en-US"/>
          </a:p>
        </p:txBody>
      </p:sp>
    </p:spTree>
    <p:extLst>
      <p:ext uri="{BB962C8B-B14F-4D97-AF65-F5344CB8AC3E}">
        <p14:creationId xmlns:p14="http://schemas.microsoft.com/office/powerpoint/2010/main" val="3327680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39</a:t>
            </a:fld>
            <a:endParaRPr lang="en-US"/>
          </a:p>
        </p:txBody>
      </p:sp>
    </p:spTree>
    <p:extLst>
      <p:ext uri="{BB962C8B-B14F-4D97-AF65-F5344CB8AC3E}">
        <p14:creationId xmlns:p14="http://schemas.microsoft.com/office/powerpoint/2010/main" val="1072353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40</a:t>
            </a:fld>
            <a:endParaRPr lang="en-US"/>
          </a:p>
        </p:txBody>
      </p:sp>
    </p:spTree>
    <p:extLst>
      <p:ext uri="{BB962C8B-B14F-4D97-AF65-F5344CB8AC3E}">
        <p14:creationId xmlns:p14="http://schemas.microsoft.com/office/powerpoint/2010/main" val="16903053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Bypassing a firewall using tunneling is a technique employed to circumvent the security restrictions imposed by a firewall and gain unauthorized access to restricted resources or services on the internet or within a private network. Tunneling involves encapsulating the original data traffic within a different protocol, allowing it to pass through the firewall undetected or unblocked.</a:t>
            </a:r>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41</a:t>
            </a:fld>
            <a:endParaRPr lang="en-US"/>
          </a:p>
        </p:txBody>
      </p:sp>
    </p:spTree>
    <p:extLst>
      <p:ext uri="{BB962C8B-B14F-4D97-AF65-F5344CB8AC3E}">
        <p14:creationId xmlns:p14="http://schemas.microsoft.com/office/powerpoint/2010/main" val="19896961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err="1">
                <a:solidFill>
                  <a:srgbClr val="374151"/>
                </a:solidFill>
                <a:effectLst/>
                <a:latin typeface="Söhne"/>
              </a:rPr>
              <a:t>Kippo</a:t>
            </a:r>
            <a:r>
              <a:rPr lang="en-US" b="0" i="0" dirty="0">
                <a:solidFill>
                  <a:srgbClr val="374151"/>
                </a:solidFill>
                <a:effectLst/>
                <a:latin typeface="Söhne"/>
              </a:rPr>
              <a:t> is an open-source SSH honeypot designed to mimic a real SSH server and record the activities of potential attackers. It captures and logs attackers' actions, including their login attempts, commands executed, and more. In this scenario, we will create a simple application that uses </a:t>
            </a:r>
            <a:r>
              <a:rPr lang="en-US" b="0" i="0" dirty="0" err="1">
                <a:solidFill>
                  <a:srgbClr val="374151"/>
                </a:solidFill>
                <a:effectLst/>
                <a:latin typeface="Söhne"/>
              </a:rPr>
              <a:t>Kippo</a:t>
            </a:r>
            <a:r>
              <a:rPr lang="en-US" b="0" i="0" dirty="0">
                <a:solidFill>
                  <a:srgbClr val="374151"/>
                </a:solidFill>
                <a:effectLst/>
                <a:latin typeface="Söhne"/>
              </a:rPr>
              <a:t> to detect and record SSH-based attacks.</a:t>
            </a:r>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42</a:t>
            </a:fld>
            <a:endParaRPr lang="en-US"/>
          </a:p>
        </p:txBody>
      </p:sp>
    </p:spTree>
    <p:extLst>
      <p:ext uri="{BB962C8B-B14F-4D97-AF65-F5344CB8AC3E}">
        <p14:creationId xmlns:p14="http://schemas.microsoft.com/office/powerpoint/2010/main" val="41921093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DAE4CD-7E65-4E1C-BC0A-F87A34AE3924}" type="slidenum">
              <a:rPr lang="en-US" smtClean="0"/>
              <a:t>43</a:t>
            </a:fld>
            <a:endParaRPr lang="en-US"/>
          </a:p>
        </p:txBody>
      </p:sp>
    </p:spTree>
    <p:extLst>
      <p:ext uri="{BB962C8B-B14F-4D97-AF65-F5344CB8AC3E}">
        <p14:creationId xmlns:p14="http://schemas.microsoft.com/office/powerpoint/2010/main" val="23085288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DAE4CD-7E65-4E1C-BC0A-F87A34AE3924}" type="slidenum">
              <a:rPr lang="en-US" smtClean="0"/>
              <a:t>46</a:t>
            </a:fld>
            <a:endParaRPr lang="en-US"/>
          </a:p>
        </p:txBody>
      </p:sp>
    </p:spTree>
    <p:extLst>
      <p:ext uri="{BB962C8B-B14F-4D97-AF65-F5344CB8AC3E}">
        <p14:creationId xmlns:p14="http://schemas.microsoft.com/office/powerpoint/2010/main" val="2973626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44959C17-C469-4A63-A0CD-354C9F19CB10}" type="datetimeFigureOut">
              <a:rPr lang="en-US" smtClean="0"/>
              <a:t>1/15/2026</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939ED282-F81B-4E2F-BF57-2B7BDB20A994}" type="slidenum">
              <a:rPr lang="en-US" smtClean="0"/>
              <a:t>‹#›</a:t>
            </a:fld>
            <a:endParaRPr lang="en-US"/>
          </a:p>
        </p:txBody>
      </p:sp>
    </p:spTree>
    <p:extLst>
      <p:ext uri="{BB962C8B-B14F-4D97-AF65-F5344CB8AC3E}">
        <p14:creationId xmlns:p14="http://schemas.microsoft.com/office/powerpoint/2010/main" val="300489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59C17-C469-4A63-A0CD-354C9F19CB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29080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59C17-C469-4A63-A0CD-354C9F19CB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2297883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59C17-C469-4A63-A0CD-354C9F19CB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616503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59C17-C469-4A63-A0CD-354C9F19CB10}"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124268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59C17-C469-4A63-A0CD-354C9F19CB10}"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2825399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59C17-C469-4A63-A0CD-354C9F19CB10}"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1481299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44959C17-C469-4A63-A0CD-354C9F19CB10}"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939ED282-F81B-4E2F-BF57-2B7BDB20A994}" type="slidenum">
              <a:rPr lang="en-US" smtClean="0"/>
              <a:t>‹#›</a:t>
            </a:fld>
            <a:endParaRPr lang="en-US"/>
          </a:p>
        </p:txBody>
      </p:sp>
    </p:spTree>
    <p:extLst>
      <p:ext uri="{BB962C8B-B14F-4D97-AF65-F5344CB8AC3E}">
        <p14:creationId xmlns:p14="http://schemas.microsoft.com/office/powerpoint/2010/main" val="157803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44959C17-C469-4A63-A0CD-354C9F19CB10}" type="datetimeFigureOut">
              <a:rPr lang="en-US" smtClean="0"/>
              <a:t>1/15/2026</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939ED282-F81B-4E2F-BF57-2B7BDB20A994}" type="slidenum">
              <a:rPr lang="en-US" smtClean="0"/>
              <a:t>‹#›</a:t>
            </a:fld>
            <a:endParaRPr lang="en-US"/>
          </a:p>
        </p:txBody>
      </p:sp>
    </p:spTree>
    <p:extLst>
      <p:ext uri="{BB962C8B-B14F-4D97-AF65-F5344CB8AC3E}">
        <p14:creationId xmlns:p14="http://schemas.microsoft.com/office/powerpoint/2010/main" val="227921543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59C17-C469-4A63-A0CD-354C9F19CB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1635851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59C17-C469-4A63-A0CD-354C9F19CB10}"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9ED282-F81B-4E2F-BF57-2B7BDB20A994}" type="slidenum">
              <a:rPr lang="en-US" smtClean="0"/>
              <a:t>‹#›</a:t>
            </a:fld>
            <a:endParaRPr lang="en-US"/>
          </a:p>
        </p:txBody>
      </p:sp>
    </p:spTree>
    <p:extLst>
      <p:ext uri="{BB962C8B-B14F-4D97-AF65-F5344CB8AC3E}">
        <p14:creationId xmlns:p14="http://schemas.microsoft.com/office/powerpoint/2010/main" val="1622758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44959C17-C469-4A63-A0CD-354C9F19CB10}" type="datetimeFigureOut">
              <a:rPr lang="en-US" smtClean="0"/>
              <a:t>1/15/2026</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939ED282-F81B-4E2F-BF57-2B7BDB20A994}" type="slidenum">
              <a:rPr lang="en-US" smtClean="0"/>
              <a:t>‹#›</a:t>
            </a:fld>
            <a:endParaRPr lang="en-US"/>
          </a:p>
        </p:txBody>
      </p:sp>
    </p:spTree>
    <p:extLst>
      <p:ext uri="{BB962C8B-B14F-4D97-AF65-F5344CB8AC3E}">
        <p14:creationId xmlns:p14="http://schemas.microsoft.com/office/powerpoint/2010/main" val="2041105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3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cisco.com/"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4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github.com/" TargetMode="External"/><Relationship Id="rId4" Type="http://schemas.openxmlformats.org/officeDocument/2006/relationships/hyperlink" Target="http://www.send-safe.com/"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alpha val="67000"/>
          </a:schemeClr>
        </a:solidFill>
        <a:effectLst/>
      </p:bgPr>
    </p:bg>
    <p:spTree>
      <p:nvGrpSpPr>
        <p:cNvPr id="1" name=""/>
        <p:cNvGrpSpPr/>
        <p:nvPr/>
      </p:nvGrpSpPr>
      <p:grpSpPr>
        <a:xfrm>
          <a:off x="0" y="0"/>
          <a:ext cx="0" cy="0"/>
          <a:chOff x="0" y="0"/>
          <a:chExt cx="0" cy="0"/>
        </a:xfrm>
      </p:grpSpPr>
      <p:pic>
        <p:nvPicPr>
          <p:cNvPr id="6" name="Picture 4" descr="Abstract background of data">
            <a:extLst>
              <a:ext uri="{FF2B5EF4-FFF2-40B4-BE49-F238E27FC236}">
                <a16:creationId xmlns:a16="http://schemas.microsoft.com/office/drawing/2014/main" id="{BBE142B7-2AAE-43C2-A5E6-8F07E8349EEF}"/>
              </a:ext>
            </a:extLst>
          </p:cNvPr>
          <p:cNvPicPr>
            <a:picLocks noChangeAspect="1"/>
          </p:cNvPicPr>
          <p:nvPr/>
        </p:nvPicPr>
        <p:blipFill rotWithShape="1">
          <a:blip r:embed="rId2">
            <a:duotone>
              <a:prstClr val="black"/>
              <a:schemeClr val="tx2">
                <a:tint val="45000"/>
                <a:satMod val="400000"/>
              </a:schemeClr>
            </a:duotone>
            <a:alphaModFix amt="25000"/>
          </a:blip>
          <a:srcRect/>
          <a:stretch/>
        </p:blipFill>
        <p:spPr>
          <a:xfrm>
            <a:off x="0" y="0"/>
            <a:ext cx="12191980" cy="6857990"/>
          </a:xfrm>
          <a:prstGeom prst="rect">
            <a:avLst/>
          </a:prstGeom>
        </p:spPr>
      </p:pic>
      <p:sp>
        <p:nvSpPr>
          <p:cNvPr id="2" name="Title 1"/>
          <p:cNvSpPr>
            <a:spLocks noGrp="1"/>
          </p:cNvSpPr>
          <p:nvPr>
            <p:ph type="ctrTitle"/>
          </p:nvPr>
        </p:nvSpPr>
        <p:spPr>
          <a:xfrm>
            <a:off x="381000" y="440870"/>
            <a:ext cx="7848600" cy="1355271"/>
          </a:xfrm>
          <a:solidFill>
            <a:srgbClr val="3B8B9C">
              <a:alpha val="57000"/>
            </a:srgbClr>
          </a:solidFill>
        </p:spPr>
        <p:txBody>
          <a:bodyPr>
            <a:normAutofit/>
          </a:bodyPr>
          <a:lstStyle/>
          <a:p>
            <a:r>
              <a:rPr lang="en-US"/>
              <a:t>Session Hijacking</a:t>
            </a:r>
          </a:p>
        </p:txBody>
      </p:sp>
      <p:sp>
        <p:nvSpPr>
          <p:cNvPr id="3" name="TextBox 2">
            <a:extLst>
              <a:ext uri="{FF2B5EF4-FFF2-40B4-BE49-F238E27FC236}">
                <a16:creationId xmlns:a16="http://schemas.microsoft.com/office/drawing/2014/main" id="{996F3270-D5D9-13CE-D2CB-3F479521C511}"/>
              </a:ext>
            </a:extLst>
          </p:cNvPr>
          <p:cNvSpPr txBox="1"/>
          <p:nvPr/>
        </p:nvSpPr>
        <p:spPr>
          <a:xfrm>
            <a:off x="561975" y="1962150"/>
            <a:ext cx="7467600" cy="369332"/>
          </a:xfrm>
          <a:prstGeom prst="rect">
            <a:avLst/>
          </a:prstGeom>
          <a:noFill/>
        </p:spPr>
        <p:txBody>
          <a:bodyPr wrap="square" lIns="91440" tIns="45720" rIns="91440" bIns="45720" rtlCol="0" anchor="t">
            <a:spAutoFit/>
          </a:bodyPr>
          <a:lstStyle/>
          <a:p>
            <a:r>
              <a:rPr lang="en-US"/>
              <a:t>Volume 3, Module 1, v12, with v13 updates at the end</a:t>
            </a:r>
          </a:p>
        </p:txBody>
      </p:sp>
    </p:spTree>
    <p:extLst>
      <p:ext uri="{BB962C8B-B14F-4D97-AF65-F5344CB8AC3E}">
        <p14:creationId xmlns:p14="http://schemas.microsoft.com/office/powerpoint/2010/main" val="113002869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2296" y="270933"/>
            <a:ext cx="10772775" cy="921053"/>
          </a:xfrm>
        </p:spPr>
        <p:txBody>
          <a:bodyPr>
            <a:normAutofit/>
          </a:bodyPr>
          <a:lstStyle/>
          <a:p>
            <a:r>
              <a:rPr lang="en-US">
                <a:latin typeface="Calibri" panose="020F0502020204030204" pitchFamily="34" charset="0"/>
                <a:cs typeface="Calibri" panose="020F0502020204030204" pitchFamily="34" charset="0"/>
              </a:rPr>
              <a:t>What is Session Hijacking?</a:t>
            </a:r>
          </a:p>
        </p:txBody>
      </p:sp>
      <p:sp>
        <p:nvSpPr>
          <p:cNvPr id="3" name="Rounded Rectangle 2">
            <a:extLst>
              <a:ext uri="{FF2B5EF4-FFF2-40B4-BE49-F238E27FC236}">
                <a16:creationId xmlns:a16="http://schemas.microsoft.com/office/drawing/2014/main" id="{36AF403E-A805-5FF4-3FD3-79463CC16C30}"/>
              </a:ext>
            </a:extLst>
          </p:cNvPr>
          <p:cNvSpPr/>
          <p:nvPr/>
        </p:nvSpPr>
        <p:spPr>
          <a:xfrm>
            <a:off x="676276" y="1191986"/>
            <a:ext cx="4777468" cy="702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alibri" panose="020F0502020204030204" pitchFamily="34" charset="0"/>
                <a:cs typeface="Calibri" panose="020F0502020204030204" pitchFamily="34" charset="0"/>
              </a:rPr>
              <a:t>You log into a website or web application</a:t>
            </a:r>
          </a:p>
        </p:txBody>
      </p:sp>
      <p:sp>
        <p:nvSpPr>
          <p:cNvPr id="4" name="Chevron 3">
            <a:extLst>
              <a:ext uri="{FF2B5EF4-FFF2-40B4-BE49-F238E27FC236}">
                <a16:creationId xmlns:a16="http://schemas.microsoft.com/office/drawing/2014/main" id="{FD0ADD7F-75A4-F13A-A143-E09C36828404}"/>
              </a:ext>
            </a:extLst>
          </p:cNvPr>
          <p:cNvSpPr/>
          <p:nvPr/>
        </p:nvSpPr>
        <p:spPr>
          <a:xfrm>
            <a:off x="5798683" y="1318288"/>
            <a:ext cx="424543" cy="4446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8" name="Rounded Rectangle 7">
            <a:extLst>
              <a:ext uri="{FF2B5EF4-FFF2-40B4-BE49-F238E27FC236}">
                <a16:creationId xmlns:a16="http://schemas.microsoft.com/office/drawing/2014/main" id="{415D301A-0479-D74D-78B6-9E1985E2EA8C}"/>
              </a:ext>
            </a:extLst>
          </p:cNvPr>
          <p:cNvSpPr/>
          <p:nvPr/>
        </p:nvSpPr>
        <p:spPr>
          <a:xfrm>
            <a:off x="870856" y="3788229"/>
            <a:ext cx="6738257" cy="74286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alibri" panose="020F0502020204030204" pitchFamily="34" charset="0"/>
                <a:cs typeface="Calibri" panose="020F0502020204030204" pitchFamily="34" charset="0"/>
              </a:rPr>
              <a:t>The session is a unique identifier allowing the server to recognize and associate your requests with your user account</a:t>
            </a:r>
          </a:p>
        </p:txBody>
      </p:sp>
      <p:sp>
        <p:nvSpPr>
          <p:cNvPr id="9" name="Rounded Rectangle 8">
            <a:extLst>
              <a:ext uri="{FF2B5EF4-FFF2-40B4-BE49-F238E27FC236}">
                <a16:creationId xmlns:a16="http://schemas.microsoft.com/office/drawing/2014/main" id="{69EB58A4-506D-7EF0-E69B-C915FA5C34EF}"/>
              </a:ext>
            </a:extLst>
          </p:cNvPr>
          <p:cNvSpPr/>
          <p:nvPr/>
        </p:nvSpPr>
        <p:spPr>
          <a:xfrm>
            <a:off x="870856" y="4826646"/>
            <a:ext cx="6738257" cy="8205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a:latin typeface="Calibri" panose="020F0502020204030204" pitchFamily="34" charset="0"/>
                <a:cs typeface="Calibri" panose="020F0502020204030204" pitchFamily="34" charset="0"/>
              </a:rPr>
              <a:t>During your browsing session. It often involves the use of a session ID, which is stored as a cookie on your device.</a:t>
            </a:r>
          </a:p>
        </p:txBody>
      </p:sp>
      <p:sp>
        <p:nvSpPr>
          <p:cNvPr id="12" name="Rounded Rectangle 11">
            <a:extLst>
              <a:ext uri="{FF2B5EF4-FFF2-40B4-BE49-F238E27FC236}">
                <a16:creationId xmlns:a16="http://schemas.microsoft.com/office/drawing/2014/main" id="{BE036304-F2A0-6EEB-6956-B1415578A78F}"/>
              </a:ext>
            </a:extLst>
          </p:cNvPr>
          <p:cNvSpPr/>
          <p:nvPr/>
        </p:nvSpPr>
        <p:spPr>
          <a:xfrm>
            <a:off x="502789" y="3010241"/>
            <a:ext cx="7522028" cy="293335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a:solidFill>
                  <a:schemeClr val="tx1"/>
                </a:solidFill>
                <a:latin typeface="Calibri" panose="020F0502020204030204" pitchFamily="34" charset="0"/>
                <a:cs typeface="Calibri" panose="020F0502020204030204" pitchFamily="34" charset="0"/>
              </a:rPr>
              <a:t>The Session</a:t>
            </a:r>
          </a:p>
        </p:txBody>
      </p:sp>
      <p:sp>
        <p:nvSpPr>
          <p:cNvPr id="13" name="Chevron 12">
            <a:extLst>
              <a:ext uri="{FF2B5EF4-FFF2-40B4-BE49-F238E27FC236}">
                <a16:creationId xmlns:a16="http://schemas.microsoft.com/office/drawing/2014/main" id="{6DB75883-4CB6-148B-3F8A-E09CE30EFAC0}"/>
              </a:ext>
            </a:extLst>
          </p:cNvPr>
          <p:cNvSpPr/>
          <p:nvPr/>
        </p:nvSpPr>
        <p:spPr>
          <a:xfrm>
            <a:off x="6223226" y="1318288"/>
            <a:ext cx="424543" cy="4446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4" name="Chevron 13">
            <a:extLst>
              <a:ext uri="{FF2B5EF4-FFF2-40B4-BE49-F238E27FC236}">
                <a16:creationId xmlns:a16="http://schemas.microsoft.com/office/drawing/2014/main" id="{BE9AF6C1-A3C2-A14B-91EA-6DFFCE3DA840}"/>
              </a:ext>
            </a:extLst>
          </p:cNvPr>
          <p:cNvSpPr/>
          <p:nvPr/>
        </p:nvSpPr>
        <p:spPr>
          <a:xfrm rot="8008268">
            <a:off x="9122909" y="2216463"/>
            <a:ext cx="424543" cy="4446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Chevron 14">
            <a:extLst>
              <a:ext uri="{FF2B5EF4-FFF2-40B4-BE49-F238E27FC236}">
                <a16:creationId xmlns:a16="http://schemas.microsoft.com/office/drawing/2014/main" id="{B8FFEF45-3575-3443-A146-7101F7E15E0C}"/>
              </a:ext>
            </a:extLst>
          </p:cNvPr>
          <p:cNvSpPr/>
          <p:nvPr/>
        </p:nvSpPr>
        <p:spPr>
          <a:xfrm rot="8008268">
            <a:off x="8837841" y="2480884"/>
            <a:ext cx="424543" cy="4446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Chevron 15">
            <a:extLst>
              <a:ext uri="{FF2B5EF4-FFF2-40B4-BE49-F238E27FC236}">
                <a16:creationId xmlns:a16="http://schemas.microsoft.com/office/drawing/2014/main" id="{B3A863E4-86A1-5E62-8AAF-1C2EB668940E}"/>
              </a:ext>
            </a:extLst>
          </p:cNvPr>
          <p:cNvSpPr/>
          <p:nvPr/>
        </p:nvSpPr>
        <p:spPr>
          <a:xfrm rot="8008268">
            <a:off x="8530443" y="2745304"/>
            <a:ext cx="424543" cy="4446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Chevron 16">
            <a:extLst>
              <a:ext uri="{FF2B5EF4-FFF2-40B4-BE49-F238E27FC236}">
                <a16:creationId xmlns:a16="http://schemas.microsoft.com/office/drawing/2014/main" id="{F9D46D9C-BC93-E82D-BC6E-FC759DB5CF54}"/>
              </a:ext>
            </a:extLst>
          </p:cNvPr>
          <p:cNvSpPr/>
          <p:nvPr/>
        </p:nvSpPr>
        <p:spPr>
          <a:xfrm rot="8008268">
            <a:off x="8247325" y="3035388"/>
            <a:ext cx="424543" cy="44467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5" name="Rounded Rectangle 24">
            <a:extLst>
              <a:ext uri="{FF2B5EF4-FFF2-40B4-BE49-F238E27FC236}">
                <a16:creationId xmlns:a16="http://schemas.microsoft.com/office/drawing/2014/main" id="{D3586477-B0A6-0567-13D5-1FAF65B1825D}"/>
              </a:ext>
            </a:extLst>
          </p:cNvPr>
          <p:cNvSpPr/>
          <p:nvPr/>
        </p:nvSpPr>
        <p:spPr>
          <a:xfrm>
            <a:off x="6915151" y="1165237"/>
            <a:ext cx="4269920" cy="702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alibri" panose="020F0502020204030204" pitchFamily="34" charset="0"/>
                <a:cs typeface="Calibri" panose="020F0502020204030204" pitchFamily="34" charset="0"/>
              </a:rPr>
              <a:t>The server creates a session for you </a:t>
            </a:r>
          </a:p>
        </p:txBody>
      </p:sp>
    </p:spTree>
    <p:extLst>
      <p:ext uri="{BB962C8B-B14F-4D97-AF65-F5344CB8AC3E}">
        <p14:creationId xmlns:p14="http://schemas.microsoft.com/office/powerpoint/2010/main" val="2588730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30652" y="260048"/>
            <a:ext cx="10772775" cy="733865"/>
          </a:xfrm>
        </p:spPr>
        <p:txBody>
          <a:bodyPr>
            <a:normAutofit/>
          </a:bodyPr>
          <a:lstStyle/>
          <a:p>
            <a:r>
              <a:rPr lang="en-US" sz="4400">
                <a:latin typeface="Calibri" panose="020F0502020204030204" pitchFamily="34" charset="0"/>
                <a:cs typeface="Calibri" panose="020F0502020204030204" pitchFamily="34" charset="0"/>
              </a:rPr>
              <a:t>Capturing the Session ID</a:t>
            </a:r>
          </a:p>
        </p:txBody>
      </p:sp>
      <p:sp>
        <p:nvSpPr>
          <p:cNvPr id="3" name="Rectangle 2">
            <a:extLst>
              <a:ext uri="{FF2B5EF4-FFF2-40B4-BE49-F238E27FC236}">
                <a16:creationId xmlns:a16="http://schemas.microsoft.com/office/drawing/2014/main" id="{37F950F4-13E5-BA9E-B4AA-81453E921E5F}"/>
              </a:ext>
            </a:extLst>
          </p:cNvPr>
          <p:cNvSpPr/>
          <p:nvPr/>
        </p:nvSpPr>
        <p:spPr>
          <a:xfrm>
            <a:off x="881270" y="1590261"/>
            <a:ext cx="1643269" cy="1086678"/>
          </a:xfrm>
          <a:prstGeom prst="rect">
            <a:avLst/>
          </a:prstGeom>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alibri" panose="020F0502020204030204" pitchFamily="34" charset="0"/>
                <a:cs typeface="Calibri" panose="020F0502020204030204" pitchFamily="34" charset="0"/>
              </a:rPr>
              <a:t>Packet Sniffing</a:t>
            </a:r>
          </a:p>
        </p:txBody>
      </p:sp>
      <p:sp>
        <p:nvSpPr>
          <p:cNvPr id="4" name="Rectangle 3">
            <a:extLst>
              <a:ext uri="{FF2B5EF4-FFF2-40B4-BE49-F238E27FC236}">
                <a16:creationId xmlns:a16="http://schemas.microsoft.com/office/drawing/2014/main" id="{F4F7773D-5831-F6D0-F77D-2831ABF23B0F}"/>
              </a:ext>
            </a:extLst>
          </p:cNvPr>
          <p:cNvSpPr/>
          <p:nvPr/>
        </p:nvSpPr>
        <p:spPr>
          <a:xfrm>
            <a:off x="2524539" y="1590261"/>
            <a:ext cx="8428382" cy="1086678"/>
          </a:xfrm>
          <a:prstGeom prst="rect">
            <a:avLst/>
          </a:prstGeom>
          <a:solidFill>
            <a:schemeClr val="bg1"/>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pPr algn="ctr"/>
            <a:r>
              <a:rPr lang="en-US">
                <a:solidFill>
                  <a:schemeClr val="tx1"/>
                </a:solidFill>
                <a:latin typeface="Calibri" panose="020F0502020204030204" pitchFamily="34" charset="0"/>
                <a:cs typeface="Calibri" panose="020F0502020204030204" pitchFamily="34" charset="0"/>
              </a:rPr>
              <a:t>The attacker uses Packet Sniffing tools to capture or intercept traffic to reveal Session ID</a:t>
            </a:r>
          </a:p>
        </p:txBody>
      </p:sp>
      <p:sp>
        <p:nvSpPr>
          <p:cNvPr id="6" name="Rectangle 5">
            <a:extLst>
              <a:ext uri="{FF2B5EF4-FFF2-40B4-BE49-F238E27FC236}">
                <a16:creationId xmlns:a16="http://schemas.microsoft.com/office/drawing/2014/main" id="{45CA7882-0932-4E1F-B367-1243D2164CA4}"/>
              </a:ext>
            </a:extLst>
          </p:cNvPr>
          <p:cNvSpPr/>
          <p:nvPr/>
        </p:nvSpPr>
        <p:spPr>
          <a:xfrm>
            <a:off x="881270" y="3103687"/>
            <a:ext cx="1643269" cy="1086678"/>
          </a:xfrm>
          <a:prstGeom prst="rect">
            <a:avLst/>
          </a:prstGeom>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alibri" panose="020F0502020204030204" pitchFamily="34" charset="0"/>
                <a:cs typeface="Calibri" panose="020F0502020204030204" pitchFamily="34" charset="0"/>
              </a:rPr>
              <a:t>Cross-Site Scripting (XSS)</a:t>
            </a:r>
          </a:p>
        </p:txBody>
      </p:sp>
      <p:sp>
        <p:nvSpPr>
          <p:cNvPr id="7" name="Rectangle 6">
            <a:extLst>
              <a:ext uri="{FF2B5EF4-FFF2-40B4-BE49-F238E27FC236}">
                <a16:creationId xmlns:a16="http://schemas.microsoft.com/office/drawing/2014/main" id="{E9DE4872-FE25-1AF2-C20C-CADE6F11B211}"/>
              </a:ext>
            </a:extLst>
          </p:cNvPr>
          <p:cNvSpPr/>
          <p:nvPr/>
        </p:nvSpPr>
        <p:spPr>
          <a:xfrm>
            <a:off x="2524539" y="3103687"/>
            <a:ext cx="8428382" cy="1086678"/>
          </a:xfrm>
          <a:prstGeom prst="rect">
            <a:avLst/>
          </a:prstGeom>
          <a:solidFill>
            <a:schemeClr val="bg1"/>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r>
              <a:rPr lang="en-US">
                <a:solidFill>
                  <a:schemeClr val="tx1"/>
                </a:solidFill>
                <a:latin typeface="Calibri" panose="020F0502020204030204" pitchFamily="34" charset="0"/>
                <a:cs typeface="Calibri" panose="020F0502020204030204" pitchFamily="34" charset="0"/>
              </a:rPr>
              <a:t>Cross-Site</a:t>
            </a:r>
            <a:r>
              <a:rPr lang="en-US" baseline="0">
                <a:solidFill>
                  <a:schemeClr val="tx1"/>
                </a:solidFill>
                <a:latin typeface="Calibri" panose="020F0502020204030204" pitchFamily="34" charset="0"/>
                <a:cs typeface="Calibri" panose="020F0502020204030204" pitchFamily="34" charset="0"/>
              </a:rPr>
              <a:t> Scripting (XSS) allows the hacker to inject malicious client-side scripts into a vulnerable website to gain access to data</a:t>
            </a:r>
            <a:endParaRPr lang="en-US">
              <a:solidFill>
                <a:schemeClr val="tx1"/>
              </a:solidFill>
              <a:latin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28E9E150-20D3-9DCF-CD3F-878F0CF4A486}"/>
              </a:ext>
            </a:extLst>
          </p:cNvPr>
          <p:cNvSpPr/>
          <p:nvPr/>
        </p:nvSpPr>
        <p:spPr>
          <a:xfrm>
            <a:off x="881270" y="4617113"/>
            <a:ext cx="1643269" cy="1086678"/>
          </a:xfrm>
          <a:prstGeom prst="rect">
            <a:avLst/>
          </a:prstGeom>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latin typeface="Calibri" panose="020F0502020204030204" pitchFamily="34" charset="0"/>
                <a:cs typeface="Calibri" panose="020F0502020204030204" pitchFamily="34" charset="0"/>
              </a:rPr>
              <a:t>Man-in-the Middle (MITM)</a:t>
            </a:r>
          </a:p>
        </p:txBody>
      </p:sp>
      <p:sp>
        <p:nvSpPr>
          <p:cNvPr id="9" name="Rectangle 8">
            <a:extLst>
              <a:ext uri="{FF2B5EF4-FFF2-40B4-BE49-F238E27FC236}">
                <a16:creationId xmlns:a16="http://schemas.microsoft.com/office/drawing/2014/main" id="{E6A0FE70-C878-6B57-A8C1-A354A2C94CD1}"/>
              </a:ext>
            </a:extLst>
          </p:cNvPr>
          <p:cNvSpPr/>
          <p:nvPr/>
        </p:nvSpPr>
        <p:spPr>
          <a:xfrm>
            <a:off x="2524539" y="4617113"/>
            <a:ext cx="8428382" cy="1086678"/>
          </a:xfrm>
          <a:prstGeom prst="rect">
            <a:avLst/>
          </a:prstGeom>
          <a:solidFill>
            <a:schemeClr val="bg1"/>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r>
              <a:rPr lang="en-US">
                <a:solidFill>
                  <a:schemeClr val="tx1"/>
                </a:solidFill>
                <a:latin typeface="Calibri" panose="020F0502020204030204" pitchFamily="34" charset="0"/>
                <a:cs typeface="Calibri" panose="020F0502020204030204" pitchFamily="34" charset="0"/>
              </a:rPr>
              <a:t>Man-in-the-Middle (MITM) intercept by places themselves between an authorized client and server so that Session ID passes through them when transmitted</a:t>
            </a:r>
          </a:p>
        </p:txBody>
      </p:sp>
    </p:spTree>
    <p:extLst>
      <p:ext uri="{BB962C8B-B14F-4D97-AF65-F5344CB8AC3E}">
        <p14:creationId xmlns:p14="http://schemas.microsoft.com/office/powerpoint/2010/main" val="74503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7218665-EA77-40EC-8172-4F17E2DED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5992" y="0"/>
            <a:ext cx="4636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99458" y="643467"/>
            <a:ext cx="3539461" cy="5584296"/>
          </a:xfrm>
        </p:spPr>
        <p:txBody>
          <a:bodyPr anchor="ctr">
            <a:normAutofit/>
          </a:bodyPr>
          <a:lstStyle/>
          <a:p>
            <a:pPr algn="ctr"/>
            <a:r>
              <a:rPr lang="en-US" sz="4400">
                <a:solidFill>
                  <a:srgbClr val="FFFFFF"/>
                </a:solidFill>
                <a:latin typeface="Calibri" panose="020F0502020204030204" pitchFamily="34" charset="0"/>
                <a:cs typeface="Calibri" panose="020F0502020204030204" pitchFamily="34" charset="0"/>
              </a:rPr>
              <a:t>Why Session Hacking is Successful</a:t>
            </a:r>
          </a:p>
        </p:txBody>
      </p:sp>
      <p:sp>
        <p:nvSpPr>
          <p:cNvPr id="3" name="Half Frame 2">
            <a:extLst>
              <a:ext uri="{FF2B5EF4-FFF2-40B4-BE49-F238E27FC236}">
                <a16:creationId xmlns:a16="http://schemas.microsoft.com/office/drawing/2014/main" id="{45ADAE84-DF85-8EAF-4AE1-1DB6D852B756}"/>
              </a:ext>
            </a:extLst>
          </p:cNvPr>
          <p:cNvSpPr/>
          <p:nvPr/>
        </p:nvSpPr>
        <p:spPr>
          <a:xfrm>
            <a:off x="633413" y="1625486"/>
            <a:ext cx="313232" cy="417643"/>
          </a:xfrm>
          <a:prstGeom prst="half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endParaRPr>
          </a:p>
        </p:txBody>
      </p:sp>
      <p:sp>
        <p:nvSpPr>
          <p:cNvPr id="4" name="TextBox 3">
            <a:extLst>
              <a:ext uri="{FF2B5EF4-FFF2-40B4-BE49-F238E27FC236}">
                <a16:creationId xmlns:a16="http://schemas.microsoft.com/office/drawing/2014/main" id="{C7FB827C-9782-24F4-CB5F-F8C63303580D}"/>
              </a:ext>
            </a:extLst>
          </p:cNvPr>
          <p:cNvSpPr txBox="1"/>
          <p:nvPr/>
        </p:nvSpPr>
        <p:spPr>
          <a:xfrm>
            <a:off x="706672" y="1687523"/>
            <a:ext cx="2777308" cy="461665"/>
          </a:xfrm>
          <a:prstGeom prst="rect">
            <a:avLst/>
          </a:prstGeom>
          <a:noFill/>
        </p:spPr>
        <p:txBody>
          <a:bodyPr wrap="square" rtlCol="0">
            <a:spAutoFit/>
          </a:bodyPr>
          <a:lstStyle/>
          <a:p>
            <a:pPr defTabSz="274320">
              <a:spcAft>
                <a:spcPts val="600"/>
              </a:spcAft>
            </a:pPr>
            <a:r>
              <a:rPr lang="en-US" sz="2400" b="1" kern="1200">
                <a:solidFill>
                  <a:schemeClr val="tx1"/>
                </a:solidFill>
                <a:latin typeface="+mn-lt"/>
                <a:ea typeface="+mn-ea"/>
                <a:cs typeface="+mn-cs"/>
              </a:rPr>
              <a:t>Lack of Encryption</a:t>
            </a:r>
            <a:endParaRPr lang="en-US" sz="4000" b="1"/>
          </a:p>
        </p:txBody>
      </p:sp>
      <p:sp>
        <p:nvSpPr>
          <p:cNvPr id="6" name="Half Frame 5">
            <a:extLst>
              <a:ext uri="{FF2B5EF4-FFF2-40B4-BE49-F238E27FC236}">
                <a16:creationId xmlns:a16="http://schemas.microsoft.com/office/drawing/2014/main" id="{85A86759-B92C-3094-3350-B28994E435B5}"/>
              </a:ext>
            </a:extLst>
          </p:cNvPr>
          <p:cNvSpPr/>
          <p:nvPr/>
        </p:nvSpPr>
        <p:spPr>
          <a:xfrm>
            <a:off x="1750291" y="2722958"/>
            <a:ext cx="313232" cy="417643"/>
          </a:xfrm>
          <a:prstGeom prst="half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endParaRPr>
          </a:p>
        </p:txBody>
      </p:sp>
      <p:sp>
        <p:nvSpPr>
          <p:cNvPr id="7" name="TextBox 6">
            <a:extLst>
              <a:ext uri="{FF2B5EF4-FFF2-40B4-BE49-F238E27FC236}">
                <a16:creationId xmlns:a16="http://schemas.microsoft.com/office/drawing/2014/main" id="{71628D54-56F5-299F-10A3-9C68F58D0AA7}"/>
              </a:ext>
            </a:extLst>
          </p:cNvPr>
          <p:cNvSpPr txBox="1"/>
          <p:nvPr/>
        </p:nvSpPr>
        <p:spPr>
          <a:xfrm>
            <a:off x="1867369" y="2812634"/>
            <a:ext cx="3967878" cy="461665"/>
          </a:xfrm>
          <a:prstGeom prst="rect">
            <a:avLst/>
          </a:prstGeom>
          <a:noFill/>
        </p:spPr>
        <p:txBody>
          <a:bodyPr wrap="square" rtlCol="0">
            <a:spAutoFit/>
          </a:bodyPr>
          <a:lstStyle/>
          <a:p>
            <a:pPr defTabSz="274320">
              <a:spcAft>
                <a:spcPts val="600"/>
              </a:spcAft>
            </a:pPr>
            <a:r>
              <a:rPr lang="en-US" sz="2400" b="1" kern="1200">
                <a:solidFill>
                  <a:schemeClr val="tx1"/>
                </a:solidFill>
                <a:latin typeface="+mn-lt"/>
                <a:ea typeface="+mn-ea"/>
                <a:cs typeface="+mn-cs"/>
              </a:rPr>
              <a:t>Weak Session Management</a:t>
            </a:r>
            <a:endParaRPr lang="en-US" sz="4000" b="1"/>
          </a:p>
        </p:txBody>
      </p:sp>
      <p:sp>
        <p:nvSpPr>
          <p:cNvPr id="8" name="Half Frame 7">
            <a:extLst>
              <a:ext uri="{FF2B5EF4-FFF2-40B4-BE49-F238E27FC236}">
                <a16:creationId xmlns:a16="http://schemas.microsoft.com/office/drawing/2014/main" id="{2C94F82C-FDAF-080B-9104-CCDC7D6996A7}"/>
              </a:ext>
            </a:extLst>
          </p:cNvPr>
          <p:cNvSpPr/>
          <p:nvPr/>
        </p:nvSpPr>
        <p:spPr>
          <a:xfrm>
            <a:off x="3483980" y="3797736"/>
            <a:ext cx="313232" cy="417643"/>
          </a:xfrm>
          <a:prstGeom prst="half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tx1"/>
              </a:solidFill>
            </a:endParaRPr>
          </a:p>
        </p:txBody>
      </p:sp>
      <p:sp>
        <p:nvSpPr>
          <p:cNvPr id="9" name="TextBox 8">
            <a:extLst>
              <a:ext uri="{FF2B5EF4-FFF2-40B4-BE49-F238E27FC236}">
                <a16:creationId xmlns:a16="http://schemas.microsoft.com/office/drawing/2014/main" id="{2BB7120E-AF0D-D906-F37E-006176E1289E}"/>
              </a:ext>
            </a:extLst>
          </p:cNvPr>
          <p:cNvSpPr txBox="1"/>
          <p:nvPr/>
        </p:nvSpPr>
        <p:spPr>
          <a:xfrm>
            <a:off x="3640594" y="3937745"/>
            <a:ext cx="3854624" cy="461665"/>
          </a:xfrm>
          <a:prstGeom prst="rect">
            <a:avLst/>
          </a:prstGeom>
          <a:noFill/>
        </p:spPr>
        <p:txBody>
          <a:bodyPr wrap="square" rtlCol="0">
            <a:spAutoFit/>
          </a:bodyPr>
          <a:lstStyle/>
          <a:p>
            <a:pPr defTabSz="274320">
              <a:spcAft>
                <a:spcPts val="600"/>
              </a:spcAft>
            </a:pPr>
            <a:r>
              <a:rPr lang="en-US" sz="2400" b="1" kern="1200">
                <a:solidFill>
                  <a:schemeClr val="tx1"/>
                </a:solidFill>
                <a:latin typeface="+mn-lt"/>
                <a:ea typeface="+mn-ea"/>
                <a:cs typeface="+mn-cs"/>
              </a:rPr>
              <a:t>Prolific XSS Vulnerabilities</a:t>
            </a:r>
            <a:endParaRPr lang="en-US" sz="4000" b="1"/>
          </a:p>
        </p:txBody>
      </p:sp>
    </p:spTree>
    <p:extLst>
      <p:ext uri="{BB962C8B-B14F-4D97-AF65-F5344CB8AC3E}">
        <p14:creationId xmlns:p14="http://schemas.microsoft.com/office/powerpoint/2010/main" val="2807473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8174" y="337488"/>
            <a:ext cx="10772775" cy="854705"/>
          </a:xfrm>
        </p:spPr>
        <p:txBody>
          <a:bodyPr>
            <a:normAutofit/>
          </a:bodyPr>
          <a:lstStyle/>
          <a:p>
            <a:r>
              <a:rPr lang="en-US" sz="4400">
                <a:latin typeface="Calibri" panose="020F0502020204030204" pitchFamily="34" charset="0"/>
                <a:cs typeface="Calibri" panose="020F0502020204030204" pitchFamily="34" charset="0"/>
              </a:rPr>
              <a:t>Why is Session Hijacking Successful (</a:t>
            </a:r>
            <a:r>
              <a:rPr lang="en-US" sz="4400" err="1">
                <a:latin typeface="Calibri" panose="020F0502020204030204" pitchFamily="34" charset="0"/>
                <a:cs typeface="Calibri" panose="020F0502020204030204" pitchFamily="34" charset="0"/>
              </a:rPr>
              <a:t>Cont</a:t>
            </a:r>
            <a:r>
              <a:rPr lang="en-US" sz="4400">
                <a:latin typeface="Calibri" panose="020F0502020204030204" pitchFamily="34" charset="0"/>
                <a:cs typeface="Calibri" panose="020F0502020204030204" pitchFamily="34" charset="0"/>
              </a:rPr>
              <a:t>)</a:t>
            </a:r>
          </a:p>
        </p:txBody>
      </p:sp>
      <p:sp>
        <p:nvSpPr>
          <p:cNvPr id="3" name="Rectangle 2">
            <a:extLst>
              <a:ext uri="{FF2B5EF4-FFF2-40B4-BE49-F238E27FC236}">
                <a16:creationId xmlns:a16="http://schemas.microsoft.com/office/drawing/2014/main" id="{9360C439-F12E-D29C-724D-531A89D55B85}"/>
              </a:ext>
            </a:extLst>
          </p:cNvPr>
          <p:cNvSpPr/>
          <p:nvPr/>
        </p:nvSpPr>
        <p:spPr>
          <a:xfrm>
            <a:off x="925974" y="1192193"/>
            <a:ext cx="4663440" cy="2468880"/>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t"/>
          <a:lstStyle/>
          <a:p>
            <a:pPr algn="ctr"/>
            <a:endParaRPr lang="en-US" sz="2000">
              <a:latin typeface="Calibri" panose="020F0502020204030204" pitchFamily="34" charset="0"/>
              <a:cs typeface="Calibri" panose="020F0502020204030204" pitchFamily="34" charset="0"/>
            </a:endParaRPr>
          </a:p>
          <a:p>
            <a:pPr algn="ctr"/>
            <a:r>
              <a:rPr lang="en-US" sz="2000" b="1">
                <a:latin typeface="Calibri" panose="020F0502020204030204" pitchFamily="34" charset="0"/>
                <a:cs typeface="Calibri" panose="020F0502020204030204" pitchFamily="34" charset="0"/>
              </a:rPr>
              <a:t>Insecure Handling of Session IDs</a:t>
            </a:r>
          </a:p>
          <a:p>
            <a:pPr algn="ctr"/>
            <a:endParaRPr lang="en-US">
              <a:latin typeface="Calibri" panose="020F0502020204030204" pitchFamily="34" charset="0"/>
              <a:cs typeface="Calibri" panose="020F0502020204030204" pitchFamily="34" charset="0"/>
            </a:endParaRPr>
          </a:p>
          <a:p>
            <a:pPr algn="ctr"/>
            <a:r>
              <a:rPr lang="en-US" sz="2000">
                <a:latin typeface="Calibri" panose="020F0502020204030204" pitchFamily="34" charset="0"/>
                <a:cs typeface="Calibri" panose="020F0502020204030204" pitchFamily="34" charset="0"/>
              </a:rPr>
              <a:t>An attacker can retrieve stored session ID information by misleading the user’s browser</a:t>
            </a:r>
          </a:p>
          <a:p>
            <a:pPr algn="ctr"/>
            <a:endParaRPr lang="en-US"/>
          </a:p>
        </p:txBody>
      </p:sp>
      <p:cxnSp>
        <p:nvCxnSpPr>
          <p:cNvPr id="6" name="Straight Connector 5">
            <a:extLst>
              <a:ext uri="{FF2B5EF4-FFF2-40B4-BE49-F238E27FC236}">
                <a16:creationId xmlns:a16="http://schemas.microsoft.com/office/drawing/2014/main" id="{20FC2578-E68E-3766-2D82-EE503788ADEA}"/>
              </a:ext>
            </a:extLst>
          </p:cNvPr>
          <p:cNvCxnSpPr/>
          <p:nvPr/>
        </p:nvCxnSpPr>
        <p:spPr>
          <a:xfrm>
            <a:off x="1520664" y="1891992"/>
            <a:ext cx="3518704" cy="0"/>
          </a:xfrm>
          <a:prstGeom prst="line">
            <a:avLst/>
          </a:prstGeom>
          <a:ln w="22225">
            <a:solidFill>
              <a:schemeClr val="tx1">
                <a:lumMod val="50000"/>
                <a:lumOff val="50000"/>
              </a:schemeClr>
            </a:solidFill>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1E10BDD3-FB56-F842-CA34-C436CE9C4B20}"/>
              </a:ext>
            </a:extLst>
          </p:cNvPr>
          <p:cNvSpPr/>
          <p:nvPr/>
        </p:nvSpPr>
        <p:spPr>
          <a:xfrm>
            <a:off x="6493395" y="3946966"/>
            <a:ext cx="4663440" cy="2468880"/>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t"/>
          <a:lstStyle/>
          <a:p>
            <a:pPr algn="ctr"/>
            <a:endParaRPr lang="en-US" sz="2000">
              <a:latin typeface="Calibri" panose="020F0502020204030204" pitchFamily="34" charset="0"/>
              <a:cs typeface="Calibri" panose="020F0502020204030204" pitchFamily="34" charset="0"/>
            </a:endParaRPr>
          </a:p>
          <a:p>
            <a:pPr algn="ctr"/>
            <a:r>
              <a:rPr lang="en-US" sz="2000" b="1">
                <a:latin typeface="Calibri" panose="020F0502020204030204" pitchFamily="34" charset="0"/>
                <a:cs typeface="Calibri" panose="020F0502020204030204" pitchFamily="34" charset="0"/>
              </a:rPr>
              <a:t>Indefinite Session Timeout</a:t>
            </a:r>
            <a:endParaRPr lang="en-US" sz="2000">
              <a:latin typeface="Calibri" panose="020F0502020204030204" pitchFamily="34" charset="0"/>
              <a:cs typeface="Calibri" panose="020F0502020204030204" pitchFamily="34" charset="0"/>
            </a:endParaRPr>
          </a:p>
          <a:p>
            <a:pPr algn="ctr"/>
            <a:endParaRPr lang="en-US">
              <a:latin typeface="Calibri" panose="020F0502020204030204" pitchFamily="34" charset="0"/>
              <a:cs typeface="Calibri" panose="020F0502020204030204" pitchFamily="34" charset="0"/>
            </a:endParaRPr>
          </a:p>
          <a:p>
            <a:pPr algn="ctr"/>
            <a:r>
              <a:rPr lang="en-US" sz="2000">
                <a:latin typeface="Calibri" panose="020F0502020204030204" pitchFamily="34" charset="0"/>
                <a:cs typeface="Calibri" panose="020F0502020204030204" pitchFamily="34" charset="0"/>
              </a:rPr>
              <a:t>Session IDs with an indefinite expiration time provide the attacker with unlimited time to guess a valid Session ID</a:t>
            </a:r>
          </a:p>
          <a:p>
            <a:pPr algn="ctr"/>
            <a:endParaRPr lang="en-US"/>
          </a:p>
        </p:txBody>
      </p:sp>
      <p:cxnSp>
        <p:nvCxnSpPr>
          <p:cNvPr id="8" name="Straight Connector 7">
            <a:extLst>
              <a:ext uri="{FF2B5EF4-FFF2-40B4-BE49-F238E27FC236}">
                <a16:creationId xmlns:a16="http://schemas.microsoft.com/office/drawing/2014/main" id="{0A359383-F4DF-6956-C115-7BDB02CDC27A}"/>
              </a:ext>
            </a:extLst>
          </p:cNvPr>
          <p:cNvCxnSpPr/>
          <p:nvPr/>
        </p:nvCxnSpPr>
        <p:spPr>
          <a:xfrm>
            <a:off x="7063271" y="4659124"/>
            <a:ext cx="3518704" cy="0"/>
          </a:xfrm>
          <a:prstGeom prst="line">
            <a:avLst/>
          </a:prstGeom>
          <a:ln w="22225">
            <a:solidFill>
              <a:schemeClr val="tx1">
                <a:lumMod val="50000"/>
                <a:lumOff val="50000"/>
              </a:schemeClr>
            </a:solidFill>
          </a:ln>
        </p:spPr>
        <p:style>
          <a:lnRef idx="1">
            <a:schemeClr val="dk1"/>
          </a:lnRef>
          <a:fillRef idx="0">
            <a:schemeClr val="dk1"/>
          </a:fillRef>
          <a:effectRef idx="0">
            <a:schemeClr val="dk1"/>
          </a:effectRef>
          <a:fontRef idx="minor">
            <a:schemeClr val="tx1"/>
          </a:fontRef>
        </p:style>
      </p:cxnSp>
      <p:pic>
        <p:nvPicPr>
          <p:cNvPr id="14" name="Picture 13">
            <a:extLst>
              <a:ext uri="{FF2B5EF4-FFF2-40B4-BE49-F238E27FC236}">
                <a16:creationId xmlns:a16="http://schemas.microsoft.com/office/drawing/2014/main" id="{9E15DC26-AFCC-C968-1E80-F7180FE6E155}"/>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4719694" y="2696285"/>
            <a:ext cx="2314300" cy="212144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42464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8174" y="202972"/>
            <a:ext cx="10772775" cy="859710"/>
          </a:xfrm>
        </p:spPr>
        <p:txBody>
          <a:bodyPr>
            <a:normAutofit/>
          </a:bodyPr>
          <a:lstStyle/>
          <a:p>
            <a:r>
              <a:rPr lang="en-US" sz="4400">
                <a:latin typeface="Calibri" panose="020F0502020204030204" pitchFamily="34" charset="0"/>
                <a:cs typeface="Calibri" panose="020F0502020204030204" pitchFamily="34" charset="0"/>
              </a:rPr>
              <a:t>Session Hijacking and TCP/IP protocol</a:t>
            </a:r>
          </a:p>
        </p:txBody>
      </p:sp>
      <p:sp>
        <p:nvSpPr>
          <p:cNvPr id="4" name="Rectangle 3">
            <a:extLst>
              <a:ext uri="{FF2B5EF4-FFF2-40B4-BE49-F238E27FC236}">
                <a16:creationId xmlns:a16="http://schemas.microsoft.com/office/drawing/2014/main" id="{81E40ABD-111F-75C7-2448-674DAA2815B8}"/>
              </a:ext>
            </a:extLst>
          </p:cNvPr>
          <p:cNvSpPr/>
          <p:nvPr/>
        </p:nvSpPr>
        <p:spPr>
          <a:xfrm>
            <a:off x="4930345" y="1371600"/>
            <a:ext cx="6203092" cy="1149178"/>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lvl="1"/>
            <a:r>
              <a:rPr lang="en-US">
                <a:latin typeface="Calibri" panose="020F0502020204030204" pitchFamily="34" charset="0"/>
                <a:cs typeface="Calibri" panose="020F0502020204030204" pitchFamily="34" charset="0"/>
              </a:rPr>
              <a:t>All machines running TCP/IP are vulnerable to session hijacking because of the design flaws inherent in TCP/IP</a:t>
            </a:r>
          </a:p>
        </p:txBody>
      </p:sp>
      <p:sp>
        <p:nvSpPr>
          <p:cNvPr id="3" name="Rectangle 2">
            <a:extLst>
              <a:ext uri="{FF2B5EF4-FFF2-40B4-BE49-F238E27FC236}">
                <a16:creationId xmlns:a16="http://schemas.microsoft.com/office/drawing/2014/main" id="{92918F8D-5E03-FB48-3682-6836B20224C8}"/>
              </a:ext>
            </a:extLst>
          </p:cNvPr>
          <p:cNvSpPr/>
          <p:nvPr/>
        </p:nvSpPr>
        <p:spPr>
          <a:xfrm>
            <a:off x="676274" y="1371600"/>
            <a:ext cx="4254071" cy="1149178"/>
          </a:xfrm>
          <a:prstGeom prst="rect">
            <a:avLst/>
          </a:prstGeom>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a:r>
              <a:rPr lang="en-US" sz="2000">
                <a:latin typeface="Calibri" panose="020F0502020204030204" pitchFamily="34" charset="0"/>
                <a:cs typeface="Calibri" panose="020F0502020204030204" pitchFamily="34" charset="0"/>
              </a:rPr>
              <a:t>Most computers using TCP/Internet Protocol (IP) are vulnerable</a:t>
            </a:r>
          </a:p>
        </p:txBody>
      </p:sp>
      <p:sp>
        <p:nvSpPr>
          <p:cNvPr id="6" name="Rectangle 5">
            <a:extLst>
              <a:ext uri="{FF2B5EF4-FFF2-40B4-BE49-F238E27FC236}">
                <a16:creationId xmlns:a16="http://schemas.microsoft.com/office/drawing/2014/main" id="{A64C4194-B6DF-7006-5BE4-E51ECEE33BC4}"/>
              </a:ext>
            </a:extLst>
          </p:cNvPr>
          <p:cNvSpPr/>
          <p:nvPr/>
        </p:nvSpPr>
        <p:spPr>
          <a:xfrm>
            <a:off x="4930345" y="4911811"/>
            <a:ext cx="6203092" cy="1149178"/>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lvl="1"/>
            <a:r>
              <a:rPr lang="en-US">
                <a:latin typeface="Calibri" panose="020F0502020204030204" pitchFamily="34" charset="0"/>
                <a:cs typeface="Calibri" panose="020F0502020204030204" pitchFamily="34" charset="0"/>
              </a:rPr>
              <a:t>If no encryption is present, then there are no countermeasures in place.</a:t>
            </a:r>
          </a:p>
        </p:txBody>
      </p:sp>
      <p:sp>
        <p:nvSpPr>
          <p:cNvPr id="7" name="Rectangle 6">
            <a:extLst>
              <a:ext uri="{FF2B5EF4-FFF2-40B4-BE49-F238E27FC236}">
                <a16:creationId xmlns:a16="http://schemas.microsoft.com/office/drawing/2014/main" id="{3364DD86-CF8F-E23D-75EF-BA6385494FE3}"/>
              </a:ext>
            </a:extLst>
          </p:cNvPr>
          <p:cNvSpPr/>
          <p:nvPr/>
        </p:nvSpPr>
        <p:spPr>
          <a:xfrm>
            <a:off x="676274" y="4911811"/>
            <a:ext cx="4254071" cy="1149178"/>
          </a:xfrm>
          <a:prstGeom prst="rect">
            <a:avLst/>
          </a:prstGeom>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0"/>
            <a:r>
              <a:rPr lang="en-US" sz="2000">
                <a:latin typeface="Calibri" panose="020F0502020204030204" pitchFamily="34" charset="0"/>
                <a:cs typeface="Calibri" panose="020F0502020204030204" pitchFamily="34" charset="0"/>
              </a:rPr>
              <a:t>Most countermeasures do not work without encryption: </a:t>
            </a:r>
          </a:p>
        </p:txBody>
      </p:sp>
      <p:pic>
        <p:nvPicPr>
          <p:cNvPr id="11" name="Picture 10" descr="A computer with a location pin&#10;&#10;Description automatically generated">
            <a:extLst>
              <a:ext uri="{FF2B5EF4-FFF2-40B4-BE49-F238E27FC236}">
                <a16:creationId xmlns:a16="http://schemas.microsoft.com/office/drawing/2014/main" id="{BFA1B4C3-FD54-CFC2-07EE-9FDEC288E1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9204" y="2620681"/>
            <a:ext cx="2310713" cy="2291130"/>
          </a:xfrm>
          <a:prstGeom prst="rect">
            <a:avLst/>
          </a:prstGeom>
        </p:spPr>
      </p:pic>
    </p:spTree>
    <p:extLst>
      <p:ext uri="{BB962C8B-B14F-4D97-AF65-F5344CB8AC3E}">
        <p14:creationId xmlns:p14="http://schemas.microsoft.com/office/powerpoint/2010/main" val="65204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D6F6937-3B5A-4391-9F37-58A571B362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8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2995" y="936711"/>
            <a:ext cx="3707027" cy="4984578"/>
          </a:xfrm>
        </p:spPr>
        <p:txBody>
          <a:bodyPr>
            <a:normAutofit/>
          </a:bodyPr>
          <a:lstStyle/>
          <a:p>
            <a:pPr algn="ctr"/>
            <a:r>
              <a:rPr lang="en-US" sz="4400" b="1">
                <a:solidFill>
                  <a:srgbClr val="FFFFFF"/>
                </a:solidFill>
              </a:rPr>
              <a:t>Session Hijacking Process</a:t>
            </a:r>
          </a:p>
        </p:txBody>
      </p:sp>
      <p:sp>
        <p:nvSpPr>
          <p:cNvPr id="3" name="Content Placeholder 2"/>
          <p:cNvSpPr>
            <a:spLocks noGrp="1"/>
          </p:cNvSpPr>
          <p:nvPr>
            <p:ph idx="1"/>
          </p:nvPr>
        </p:nvSpPr>
        <p:spPr>
          <a:xfrm>
            <a:off x="4614389" y="936711"/>
            <a:ext cx="6815992" cy="4984578"/>
          </a:xfrm>
        </p:spPr>
        <p:txBody>
          <a:bodyPr anchor="ctr">
            <a:normAutofit/>
          </a:bodyPr>
          <a:lstStyle/>
          <a:p>
            <a:pPr marL="274320" indent="-274320">
              <a:spcBef>
                <a:spcPts val="700"/>
              </a:spcBef>
              <a:spcAft>
                <a:spcPts val="1200"/>
              </a:spcAft>
              <a:buClr>
                <a:schemeClr val="accent1">
                  <a:lumMod val="75000"/>
                </a:schemeClr>
              </a:buClr>
              <a:buFont typeface="Courier New" panose="02070309020205020404" pitchFamily="49" charset="0"/>
              <a:buChar char="o"/>
            </a:pPr>
            <a:r>
              <a:rPr lang="en-US">
                <a:solidFill>
                  <a:schemeClr val="tx1"/>
                </a:solidFill>
                <a:latin typeface="Calibri" panose="020F0502020204030204" pitchFamily="34" charset="0"/>
                <a:cs typeface="Calibri" panose="020F0502020204030204" pitchFamily="34" charset="0"/>
              </a:rPr>
              <a:t>It is easier for an attacker to masquerade as legitimate user.</a:t>
            </a:r>
          </a:p>
          <a:p>
            <a:pPr marL="274320" indent="-274320">
              <a:spcBef>
                <a:spcPts val="700"/>
              </a:spcBef>
              <a:spcAft>
                <a:spcPts val="1200"/>
              </a:spcAft>
              <a:buClr>
                <a:schemeClr val="accent1">
                  <a:lumMod val="75000"/>
                </a:schemeClr>
              </a:buClr>
              <a:buFont typeface="Courier New" panose="02070309020205020404" pitchFamily="49" charset="0"/>
              <a:buChar char="o"/>
            </a:pPr>
            <a:r>
              <a:rPr lang="en-US">
                <a:solidFill>
                  <a:schemeClr val="tx1"/>
                </a:solidFill>
                <a:latin typeface="Calibri" panose="020F0502020204030204" pitchFamily="34" charset="0"/>
                <a:cs typeface="Calibri" panose="020F0502020204030204" pitchFamily="34" charset="0"/>
              </a:rPr>
              <a:t>An attacker can capture a user’s session by finding an established session and taking it over after user authentication. </a:t>
            </a:r>
          </a:p>
          <a:p>
            <a:pPr marL="274320" indent="-274320">
              <a:spcBef>
                <a:spcPts val="700"/>
              </a:spcBef>
              <a:spcAft>
                <a:spcPts val="1200"/>
              </a:spcAft>
              <a:buClr>
                <a:schemeClr val="accent1">
                  <a:lumMod val="75000"/>
                </a:schemeClr>
              </a:buClr>
              <a:buFont typeface="Courier New" panose="02070309020205020404" pitchFamily="49" charset="0"/>
              <a:buChar char="o"/>
            </a:pPr>
            <a:r>
              <a:rPr lang="en-US">
                <a:solidFill>
                  <a:schemeClr val="tx1"/>
                </a:solidFill>
                <a:latin typeface="Calibri" panose="020F0502020204030204" pitchFamily="34" charset="0"/>
                <a:cs typeface="Calibri" panose="020F0502020204030204" pitchFamily="34" charset="0"/>
              </a:rPr>
              <a:t>During this period, all traffic intended for the user’s IP address goes to the attacker’s system</a:t>
            </a:r>
          </a:p>
        </p:txBody>
      </p:sp>
    </p:spTree>
    <p:extLst>
      <p:ext uri="{BB962C8B-B14F-4D97-AF65-F5344CB8AC3E}">
        <p14:creationId xmlns:p14="http://schemas.microsoft.com/office/powerpoint/2010/main" val="2148217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55727-5B56-43E0-88F7-B4D000AC1C64}"/>
              </a:ext>
            </a:extLst>
          </p:cNvPr>
          <p:cNvSpPr>
            <a:spLocks noGrp="1"/>
          </p:cNvSpPr>
          <p:nvPr>
            <p:ph type="title"/>
          </p:nvPr>
        </p:nvSpPr>
        <p:spPr>
          <a:xfrm>
            <a:off x="447159" y="250790"/>
            <a:ext cx="10772775" cy="699072"/>
          </a:xfrm>
        </p:spPr>
        <p:txBody>
          <a:bodyPr>
            <a:normAutofit/>
          </a:bodyPr>
          <a:lstStyle/>
          <a:p>
            <a:r>
              <a:rPr lang="en-US" sz="4000">
                <a:latin typeface="Calibri" panose="020F0502020204030204" pitchFamily="34" charset="0"/>
                <a:cs typeface="Calibri" panose="020F0502020204030204" pitchFamily="34" charset="0"/>
              </a:rPr>
              <a:t>Session Hijacking Process</a:t>
            </a:r>
          </a:p>
        </p:txBody>
      </p:sp>
      <p:pic>
        <p:nvPicPr>
          <p:cNvPr id="5" name="Picture 4" descr="A diagram of a program&#10;&#10;Description automatically generated">
            <a:extLst>
              <a:ext uri="{FF2B5EF4-FFF2-40B4-BE49-F238E27FC236}">
                <a16:creationId xmlns:a16="http://schemas.microsoft.com/office/drawing/2014/main" id="{DCC845A1-2588-CF24-4E67-6F2DB8700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766" y="949862"/>
            <a:ext cx="11752467" cy="5657348"/>
          </a:xfrm>
          <a:prstGeom prst="rect">
            <a:avLst/>
          </a:prstGeom>
        </p:spPr>
      </p:pic>
      <p:sp>
        <p:nvSpPr>
          <p:cNvPr id="8" name="TextBox 7">
            <a:extLst>
              <a:ext uri="{FF2B5EF4-FFF2-40B4-BE49-F238E27FC236}">
                <a16:creationId xmlns:a16="http://schemas.microsoft.com/office/drawing/2014/main" id="{5681A12E-5C05-B6F8-2D71-9CD46C27935A}"/>
              </a:ext>
            </a:extLst>
          </p:cNvPr>
          <p:cNvSpPr txBox="1"/>
          <p:nvPr/>
        </p:nvSpPr>
        <p:spPr>
          <a:xfrm>
            <a:off x="2617572" y="6437933"/>
            <a:ext cx="6956853" cy="338554"/>
          </a:xfrm>
          <a:prstGeom prst="rect">
            <a:avLst/>
          </a:prstGeom>
          <a:noFill/>
        </p:spPr>
        <p:txBody>
          <a:bodyPr wrap="square" rtlCol="0">
            <a:spAutoFit/>
          </a:bodyPr>
          <a:lstStyle/>
          <a:p>
            <a:r>
              <a:rPr lang="en-US" sz="1600"/>
              <a:t>Copyright © by EC-Council. All Rights Reserved. Reproduction is Strictly Prohibited.</a:t>
            </a:r>
          </a:p>
        </p:txBody>
      </p:sp>
    </p:spTree>
    <p:extLst>
      <p:ext uri="{BB962C8B-B14F-4D97-AF65-F5344CB8AC3E}">
        <p14:creationId xmlns:p14="http://schemas.microsoft.com/office/powerpoint/2010/main" val="893450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4803" y="326538"/>
            <a:ext cx="10772775" cy="933851"/>
          </a:xfrm>
        </p:spPr>
        <p:txBody>
          <a:bodyPr>
            <a:normAutofit/>
          </a:bodyPr>
          <a:lstStyle/>
          <a:p>
            <a:r>
              <a:rPr lang="en-US" sz="4400">
                <a:latin typeface="Calibri" panose="020F0502020204030204" pitchFamily="34" charset="0"/>
                <a:cs typeface="Calibri" panose="020F0502020204030204" pitchFamily="34" charset="0"/>
              </a:rPr>
              <a:t>Passive and Active Session Hijacking</a:t>
            </a:r>
          </a:p>
        </p:txBody>
      </p:sp>
      <p:sp>
        <p:nvSpPr>
          <p:cNvPr id="3" name="Rectangle 2">
            <a:extLst>
              <a:ext uri="{FF2B5EF4-FFF2-40B4-BE49-F238E27FC236}">
                <a16:creationId xmlns:a16="http://schemas.microsoft.com/office/drawing/2014/main" id="{DF4B728C-623E-9C42-2F7B-B2CB8387A524}"/>
              </a:ext>
            </a:extLst>
          </p:cNvPr>
          <p:cNvSpPr/>
          <p:nvPr/>
        </p:nvSpPr>
        <p:spPr>
          <a:xfrm>
            <a:off x="1334530" y="1448048"/>
            <a:ext cx="1816443" cy="933851"/>
          </a:xfrm>
          <a:prstGeom prst="rect">
            <a:avLst/>
          </a:prstGeom>
          <a:solidFill>
            <a:srgbClr val="2E4F6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t>Passive</a:t>
            </a:r>
          </a:p>
        </p:txBody>
      </p:sp>
      <p:pic>
        <p:nvPicPr>
          <p:cNvPr id="6" name="Picture 5" descr="A cloud computing diagram with a line&#10;&#10;Description automatically generated">
            <a:extLst>
              <a:ext uri="{FF2B5EF4-FFF2-40B4-BE49-F238E27FC236}">
                <a16:creationId xmlns:a16="http://schemas.microsoft.com/office/drawing/2014/main" id="{3778C352-981A-DDAD-33D1-D0ECDE1F80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762" y="4509238"/>
            <a:ext cx="11004475" cy="1767932"/>
          </a:xfrm>
          <a:prstGeom prst="rect">
            <a:avLst/>
          </a:prstGeom>
          <a:effectLst>
            <a:outerShdw blurRad="63500" sx="102000" sy="102000" algn="ctr" rotWithShape="0">
              <a:prstClr val="black">
                <a:alpha val="40000"/>
              </a:prstClr>
            </a:outerShdw>
          </a:effectLst>
        </p:spPr>
      </p:pic>
      <p:sp>
        <p:nvSpPr>
          <p:cNvPr id="7" name="Rectangle 6">
            <a:extLst>
              <a:ext uri="{FF2B5EF4-FFF2-40B4-BE49-F238E27FC236}">
                <a16:creationId xmlns:a16="http://schemas.microsoft.com/office/drawing/2014/main" id="{B282C91A-EB83-F7CE-63F6-45FC0BC83114}"/>
              </a:ext>
            </a:extLst>
          </p:cNvPr>
          <p:cNvSpPr/>
          <p:nvPr/>
        </p:nvSpPr>
        <p:spPr>
          <a:xfrm>
            <a:off x="1334530" y="3000268"/>
            <a:ext cx="1816443" cy="933851"/>
          </a:xfrm>
          <a:prstGeom prst="rect">
            <a:avLst/>
          </a:prstGeom>
          <a:solidFill>
            <a:srgbClr val="2E4F61"/>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a:t>Active</a:t>
            </a:r>
          </a:p>
        </p:txBody>
      </p:sp>
      <p:sp>
        <p:nvSpPr>
          <p:cNvPr id="8" name="Rectangle 7">
            <a:extLst>
              <a:ext uri="{FF2B5EF4-FFF2-40B4-BE49-F238E27FC236}">
                <a16:creationId xmlns:a16="http://schemas.microsoft.com/office/drawing/2014/main" id="{B7855094-2DE5-84AC-2539-5497C06987F7}"/>
              </a:ext>
            </a:extLst>
          </p:cNvPr>
          <p:cNvSpPr/>
          <p:nvPr/>
        </p:nvSpPr>
        <p:spPr>
          <a:xfrm>
            <a:off x="3150973" y="1448048"/>
            <a:ext cx="7574692" cy="933851"/>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a:solidFill>
                  <a:schemeClr val="tx1"/>
                </a:solidFill>
              </a:rPr>
              <a:t>An attacker hijacks a session then sits back, watches, and records all the traffic in that session</a:t>
            </a:r>
          </a:p>
        </p:txBody>
      </p:sp>
      <p:sp>
        <p:nvSpPr>
          <p:cNvPr id="9" name="Rectangle 8">
            <a:extLst>
              <a:ext uri="{FF2B5EF4-FFF2-40B4-BE49-F238E27FC236}">
                <a16:creationId xmlns:a16="http://schemas.microsoft.com/office/drawing/2014/main" id="{F56B4F0B-3D33-3159-159F-4F1D0B84EFA5}"/>
              </a:ext>
            </a:extLst>
          </p:cNvPr>
          <p:cNvSpPr/>
          <p:nvPr/>
        </p:nvSpPr>
        <p:spPr>
          <a:xfrm>
            <a:off x="3150973" y="3000267"/>
            <a:ext cx="7574692" cy="933851"/>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a:solidFill>
                  <a:schemeClr val="tx1"/>
                </a:solidFill>
              </a:rPr>
              <a:t>An attacker finds an active session and seizes control of it</a:t>
            </a:r>
          </a:p>
        </p:txBody>
      </p:sp>
      <p:sp>
        <p:nvSpPr>
          <p:cNvPr id="12" name="TextBox 11">
            <a:extLst>
              <a:ext uri="{FF2B5EF4-FFF2-40B4-BE49-F238E27FC236}">
                <a16:creationId xmlns:a16="http://schemas.microsoft.com/office/drawing/2014/main" id="{13D2122C-83FF-1B45-3F56-D9BFB59C53EE}"/>
              </a:ext>
            </a:extLst>
          </p:cNvPr>
          <p:cNvSpPr txBox="1"/>
          <p:nvPr/>
        </p:nvSpPr>
        <p:spPr>
          <a:xfrm>
            <a:off x="5177481" y="6277170"/>
            <a:ext cx="6420756" cy="261610"/>
          </a:xfrm>
          <a:prstGeom prst="rect">
            <a:avLst/>
          </a:prstGeom>
          <a:noFill/>
        </p:spPr>
        <p:txBody>
          <a:bodyPr wrap="square" rtlCol="0">
            <a:spAutoFit/>
          </a:bodyPr>
          <a:lstStyle/>
          <a:p>
            <a:pPr algn="r"/>
            <a:r>
              <a:rPr lang="en-US" sz="1100"/>
              <a:t>Copyright © by EC-Council. All Rights Reserved. Reproduction is Strictly Prohibited.</a:t>
            </a:r>
          </a:p>
        </p:txBody>
      </p:sp>
    </p:spTree>
    <p:extLst>
      <p:ext uri="{BB962C8B-B14F-4D97-AF65-F5344CB8AC3E}">
        <p14:creationId xmlns:p14="http://schemas.microsoft.com/office/powerpoint/2010/main" val="3486077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556" y="5115696"/>
            <a:ext cx="11081695" cy="1098836"/>
          </a:xfrm>
        </p:spPr>
        <p:txBody>
          <a:bodyPr>
            <a:normAutofit/>
          </a:bodyPr>
          <a:lstStyle/>
          <a:p>
            <a:pPr algn="ctr"/>
            <a:r>
              <a:rPr lang="en-US" sz="4400" b="1">
                <a:solidFill>
                  <a:srgbClr val="FFFFFF"/>
                </a:solidFill>
              </a:rPr>
              <a:t>Session Hijacking – Passive Hijacking</a:t>
            </a:r>
          </a:p>
        </p:txBody>
      </p:sp>
      <p:sp>
        <p:nvSpPr>
          <p:cNvPr id="17" name="Rectangle 16">
            <a:extLst>
              <a:ext uri="{FF2B5EF4-FFF2-40B4-BE49-F238E27FC236}">
                <a16:creationId xmlns:a16="http://schemas.microsoft.com/office/drawing/2014/main" id="{8E3CD993-A38F-6DF0-4D08-300499ABDD1E}"/>
              </a:ext>
            </a:extLst>
          </p:cNvPr>
          <p:cNvSpPr/>
          <p:nvPr/>
        </p:nvSpPr>
        <p:spPr>
          <a:xfrm>
            <a:off x="449348" y="643468"/>
            <a:ext cx="11081695" cy="1411357"/>
          </a:xfrm>
          <a:prstGeom prst="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lIns="182880" tIns="0" rIns="182880" bIns="0" rtlCol="0" anchor="ctr"/>
          <a:lstStyle/>
          <a:p>
            <a:pPr marL="0" lvl="0" indent="0" algn="ctr" defTabSz="1066800">
              <a:lnSpc>
                <a:spcPct val="90000"/>
              </a:lnSpc>
              <a:spcBef>
                <a:spcPct val="0"/>
              </a:spcBef>
              <a:spcAft>
                <a:spcPct val="35000"/>
              </a:spcAft>
              <a:buNone/>
            </a:pPr>
            <a:r>
              <a:rPr lang="en-US" sz="2400" kern="1200">
                <a:latin typeface="Calibri" panose="020F0502020204030204" pitchFamily="34" charset="0"/>
                <a:cs typeface="Calibri" panose="020F0502020204030204" pitchFamily="34" charset="0"/>
              </a:rPr>
              <a:t>In passive session hijacking, the attacker intercepts and monitors the communication between the user's device and the server without actively altering the data being exchanged.</a:t>
            </a:r>
          </a:p>
        </p:txBody>
      </p:sp>
      <p:sp>
        <p:nvSpPr>
          <p:cNvPr id="18" name="Rectangle 17">
            <a:extLst>
              <a:ext uri="{FF2B5EF4-FFF2-40B4-BE49-F238E27FC236}">
                <a16:creationId xmlns:a16="http://schemas.microsoft.com/office/drawing/2014/main" id="{4728A498-4B80-F3E7-49CF-8F2191C8B8ED}"/>
              </a:ext>
            </a:extLst>
          </p:cNvPr>
          <p:cNvSpPr/>
          <p:nvPr/>
        </p:nvSpPr>
        <p:spPr>
          <a:xfrm>
            <a:off x="571556" y="2651173"/>
            <a:ext cx="11081695" cy="1411357"/>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182880" tIns="0" rIns="182880" bIns="0" rtlCol="0" anchor="ctr"/>
          <a:lstStyle/>
          <a:p>
            <a:pPr marL="11113" lvl="0" indent="0" algn="ctr" defTabSz="1066800">
              <a:lnSpc>
                <a:spcPct val="90000"/>
              </a:lnSpc>
              <a:spcBef>
                <a:spcPct val="0"/>
              </a:spcBef>
              <a:spcAft>
                <a:spcPct val="35000"/>
              </a:spcAft>
              <a:buNone/>
              <a:tabLst/>
            </a:pPr>
            <a:r>
              <a:rPr lang="en-US" sz="2400" kern="1200">
                <a:latin typeface="Calibri" panose="020F0502020204030204" pitchFamily="34" charset="0"/>
                <a:cs typeface="Calibri" panose="020F0502020204030204" pitchFamily="34" charset="0"/>
              </a:rPr>
              <a:t>A passive attack uses sniffers on the network, allowing attackers to obtain information such as user IDs and passwords. The attacker can later use this information to log in as a valid user and enjoy the user’s privileges.</a:t>
            </a:r>
          </a:p>
        </p:txBody>
      </p:sp>
      <p:sp>
        <p:nvSpPr>
          <p:cNvPr id="19" name="Down Arrow 18">
            <a:extLst>
              <a:ext uri="{FF2B5EF4-FFF2-40B4-BE49-F238E27FC236}">
                <a16:creationId xmlns:a16="http://schemas.microsoft.com/office/drawing/2014/main" id="{8B9568AD-4DF9-8330-1E78-369D14256D3F}"/>
              </a:ext>
            </a:extLst>
          </p:cNvPr>
          <p:cNvSpPr/>
          <p:nvPr/>
        </p:nvSpPr>
        <p:spPr>
          <a:xfrm>
            <a:off x="8806070" y="1664071"/>
            <a:ext cx="993913" cy="1171710"/>
          </a:xfrm>
          <a:prstGeom prst="downArrow">
            <a:avLst/>
          </a:prstGeom>
          <a:gradFill flip="none" rotWithShape="1">
            <a:gsLst>
              <a:gs pos="0">
                <a:schemeClr val="accent1"/>
              </a:gs>
              <a:gs pos="30000">
                <a:schemeClr val="tx2">
                  <a:lumMod val="50000"/>
                  <a:lumOff val="50000"/>
                </a:schemeClr>
              </a:gs>
              <a:gs pos="71000">
                <a:schemeClr val="accent1">
                  <a:lumMod val="20000"/>
                  <a:lumOff val="80000"/>
                </a:schemeClr>
              </a:gs>
            </a:gsLst>
            <a:lin ang="13500000" scaled="1"/>
            <a:tileRect/>
          </a:gra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7434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39210" y="4784083"/>
            <a:ext cx="11713579" cy="1658198"/>
          </a:xfrm>
        </p:spPr>
        <p:txBody>
          <a:bodyPr>
            <a:normAutofit/>
          </a:bodyPr>
          <a:lstStyle/>
          <a:p>
            <a:pPr algn="ctr"/>
            <a:r>
              <a:rPr lang="en-US" sz="4400" b="1">
                <a:solidFill>
                  <a:srgbClr val="FFFFFF"/>
                </a:solidFill>
              </a:rPr>
              <a:t>Types of Session Hijacking:</a:t>
            </a:r>
            <a:br>
              <a:rPr lang="en-US" sz="4400" b="1">
                <a:solidFill>
                  <a:srgbClr val="FFFFFF"/>
                </a:solidFill>
              </a:rPr>
            </a:br>
            <a:r>
              <a:rPr lang="en-US" sz="3600" b="1">
                <a:solidFill>
                  <a:srgbClr val="FFFFFF"/>
                </a:solidFill>
              </a:rPr>
              <a:t>Active Session Hijacking</a:t>
            </a:r>
            <a:endParaRPr lang="en-US" sz="4400" b="1">
              <a:solidFill>
                <a:srgbClr val="FFFFFF"/>
              </a:solidFill>
            </a:endParaRPr>
          </a:p>
        </p:txBody>
      </p:sp>
      <p:sp>
        <p:nvSpPr>
          <p:cNvPr id="3" name="Rectangle 2">
            <a:extLst>
              <a:ext uri="{FF2B5EF4-FFF2-40B4-BE49-F238E27FC236}">
                <a16:creationId xmlns:a16="http://schemas.microsoft.com/office/drawing/2014/main" id="{A5A72A1F-CCE7-0B27-DD09-43A8F458EE6B}"/>
              </a:ext>
            </a:extLst>
          </p:cNvPr>
          <p:cNvSpPr/>
          <p:nvPr/>
        </p:nvSpPr>
        <p:spPr>
          <a:xfrm>
            <a:off x="682905" y="415718"/>
            <a:ext cx="2651760" cy="1005840"/>
          </a:xfrm>
          <a:prstGeom prst="rect">
            <a:avLst/>
          </a:prstGeom>
          <a:solidFill>
            <a:schemeClr val="accent1">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400" b="1"/>
              <a:t>Session Fixation</a:t>
            </a:r>
          </a:p>
        </p:txBody>
      </p:sp>
      <p:sp>
        <p:nvSpPr>
          <p:cNvPr id="4" name="Rectangle 3">
            <a:extLst>
              <a:ext uri="{FF2B5EF4-FFF2-40B4-BE49-F238E27FC236}">
                <a16:creationId xmlns:a16="http://schemas.microsoft.com/office/drawing/2014/main" id="{198EC5FF-7778-CD14-3D0F-E6732B90CE54}"/>
              </a:ext>
            </a:extLst>
          </p:cNvPr>
          <p:cNvSpPr/>
          <p:nvPr/>
        </p:nvSpPr>
        <p:spPr>
          <a:xfrm>
            <a:off x="682904" y="1659885"/>
            <a:ext cx="2651760" cy="1005840"/>
          </a:xfrm>
          <a:prstGeom prst="rect">
            <a:avLst/>
          </a:prstGeom>
          <a:solidFill>
            <a:schemeClr val="accent1">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400" b="1"/>
              <a:t>Session Replay</a:t>
            </a:r>
          </a:p>
        </p:txBody>
      </p:sp>
      <p:sp>
        <p:nvSpPr>
          <p:cNvPr id="6" name="Rectangle 5">
            <a:extLst>
              <a:ext uri="{FF2B5EF4-FFF2-40B4-BE49-F238E27FC236}">
                <a16:creationId xmlns:a16="http://schemas.microsoft.com/office/drawing/2014/main" id="{4E8D7434-0CD7-9D63-7C06-5D4749E6244D}"/>
              </a:ext>
            </a:extLst>
          </p:cNvPr>
          <p:cNvSpPr/>
          <p:nvPr/>
        </p:nvSpPr>
        <p:spPr>
          <a:xfrm>
            <a:off x="682905" y="3079458"/>
            <a:ext cx="2651760" cy="1005840"/>
          </a:xfrm>
          <a:prstGeom prst="rect">
            <a:avLst/>
          </a:prstGeom>
          <a:solidFill>
            <a:schemeClr val="accent1">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400" b="1"/>
              <a:t>Cross-Site Scripting</a:t>
            </a:r>
          </a:p>
        </p:txBody>
      </p:sp>
      <p:sp>
        <p:nvSpPr>
          <p:cNvPr id="7" name="Rectangle 6">
            <a:extLst>
              <a:ext uri="{FF2B5EF4-FFF2-40B4-BE49-F238E27FC236}">
                <a16:creationId xmlns:a16="http://schemas.microsoft.com/office/drawing/2014/main" id="{5A51890A-AE07-82B0-B0A5-3833DEBD7929}"/>
              </a:ext>
            </a:extLst>
          </p:cNvPr>
          <p:cNvSpPr/>
          <p:nvPr/>
        </p:nvSpPr>
        <p:spPr>
          <a:xfrm>
            <a:off x="3334663" y="426319"/>
            <a:ext cx="7574692" cy="1005840"/>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2000">
                <a:solidFill>
                  <a:schemeClr val="tx1"/>
                </a:solidFill>
              </a:rPr>
              <a:t>The hacker tricks the user into using Session ID</a:t>
            </a:r>
          </a:p>
        </p:txBody>
      </p:sp>
      <p:sp>
        <p:nvSpPr>
          <p:cNvPr id="8" name="Rectangle 7">
            <a:extLst>
              <a:ext uri="{FF2B5EF4-FFF2-40B4-BE49-F238E27FC236}">
                <a16:creationId xmlns:a16="http://schemas.microsoft.com/office/drawing/2014/main" id="{4A4355F9-E53D-B090-008C-BB44BA06D593}"/>
              </a:ext>
            </a:extLst>
          </p:cNvPr>
          <p:cNvSpPr/>
          <p:nvPr/>
        </p:nvSpPr>
        <p:spPr>
          <a:xfrm>
            <a:off x="3334663" y="1669609"/>
            <a:ext cx="7574692" cy="1005840"/>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2000">
                <a:solidFill>
                  <a:schemeClr val="tx1"/>
                </a:solidFill>
              </a:rPr>
              <a:t>The hacker records legitimate session and replays later after the legitimate user logs out</a:t>
            </a:r>
          </a:p>
        </p:txBody>
      </p:sp>
      <p:sp>
        <p:nvSpPr>
          <p:cNvPr id="9" name="Rectangle 8">
            <a:extLst>
              <a:ext uri="{FF2B5EF4-FFF2-40B4-BE49-F238E27FC236}">
                <a16:creationId xmlns:a16="http://schemas.microsoft.com/office/drawing/2014/main" id="{937920A6-58CD-5512-E1E8-AD8701E71629}"/>
              </a:ext>
            </a:extLst>
          </p:cNvPr>
          <p:cNvSpPr/>
          <p:nvPr/>
        </p:nvSpPr>
        <p:spPr>
          <a:xfrm>
            <a:off x="3334663" y="3089182"/>
            <a:ext cx="7574692" cy="1005840"/>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2000">
                <a:solidFill>
                  <a:schemeClr val="tx1"/>
                </a:solidFill>
              </a:rPr>
              <a:t>The hacker injects malicious scripts into vulnerable websites</a:t>
            </a:r>
          </a:p>
        </p:txBody>
      </p:sp>
    </p:spTree>
    <p:extLst>
      <p:ext uri="{BB962C8B-B14F-4D97-AF65-F5344CB8AC3E}">
        <p14:creationId xmlns:p14="http://schemas.microsoft.com/office/powerpoint/2010/main" val="2857882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7224" y="4772508"/>
            <a:ext cx="10772775" cy="1658198"/>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Session Hijacking in OSI Model: </a:t>
            </a:r>
            <a:br>
              <a:rPr lang="en-US" sz="4400">
                <a:solidFill>
                  <a:srgbClr val="FFFFFF"/>
                </a:solidFill>
                <a:latin typeface="Calibri" panose="020F0502020204030204" pitchFamily="34" charset="0"/>
                <a:cs typeface="Calibri" panose="020F0502020204030204" pitchFamily="34" charset="0"/>
              </a:rPr>
            </a:br>
            <a:r>
              <a:rPr lang="en-US" sz="3600">
                <a:solidFill>
                  <a:srgbClr val="FFFFFF"/>
                </a:solidFill>
                <a:latin typeface="Calibri" panose="020F0502020204030204" pitchFamily="34" charset="0"/>
                <a:cs typeface="Calibri" panose="020F0502020204030204" pitchFamily="34" charset="0"/>
              </a:rPr>
              <a:t>Network Layer</a:t>
            </a:r>
            <a:endParaRPr lang="en-US" sz="4400">
              <a:solidFill>
                <a:srgbClr val="FFFFFF"/>
              </a:solidFill>
              <a:latin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8A7F941B-F175-083E-B10F-A3FF2D5E62BD}"/>
              </a:ext>
            </a:extLst>
          </p:cNvPr>
          <p:cNvSpPr/>
          <p:nvPr/>
        </p:nvSpPr>
        <p:spPr>
          <a:xfrm>
            <a:off x="3472405" y="1563412"/>
            <a:ext cx="7743463" cy="722588"/>
          </a:xfrm>
          <a:prstGeom prst="rect">
            <a:avLst/>
          </a:prstGeom>
          <a:solidFill>
            <a:srgbClr val="E6E6E6"/>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rPr>
              <a:t>Network Layer</a:t>
            </a:r>
          </a:p>
        </p:txBody>
      </p:sp>
      <p:sp>
        <p:nvSpPr>
          <p:cNvPr id="6" name="Rectangle 5">
            <a:extLst>
              <a:ext uri="{FF2B5EF4-FFF2-40B4-BE49-F238E27FC236}">
                <a16:creationId xmlns:a16="http://schemas.microsoft.com/office/drawing/2014/main" id="{E0F5B8B2-7C10-1625-2D55-424C49EB283C}"/>
              </a:ext>
            </a:extLst>
          </p:cNvPr>
          <p:cNvSpPr/>
          <p:nvPr/>
        </p:nvSpPr>
        <p:spPr>
          <a:xfrm>
            <a:off x="3413732" y="2286000"/>
            <a:ext cx="7802135" cy="933851"/>
          </a:xfrm>
          <a:prstGeom prst="rect">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00100" lvl="1" indent="-342900">
              <a:buFont typeface="Courier New" panose="02070309020205020404" pitchFamily="49" charset="0"/>
              <a:buChar char="o"/>
            </a:pPr>
            <a:r>
              <a:rPr lang="en-US" sz="2400">
                <a:solidFill>
                  <a:schemeClr val="tx1"/>
                </a:solidFill>
              </a:rPr>
              <a:t>The first layer impacted</a:t>
            </a:r>
          </a:p>
          <a:p>
            <a:pPr marL="800100" lvl="1" indent="-342900">
              <a:buFont typeface="Courier New" panose="02070309020205020404" pitchFamily="49" charset="0"/>
              <a:buChar char="o"/>
            </a:pPr>
            <a:r>
              <a:rPr lang="en-US" sz="2400">
                <a:solidFill>
                  <a:schemeClr val="tx1"/>
                </a:solidFill>
              </a:rPr>
              <a:t>IP</a:t>
            </a:r>
            <a:r>
              <a:rPr lang="en-US" sz="2400" baseline="0">
                <a:solidFill>
                  <a:schemeClr val="tx1"/>
                </a:solidFill>
              </a:rPr>
              <a:t> Spoofing to help facilitate a session hijacking </a:t>
            </a:r>
            <a:endParaRPr lang="en-US" sz="2400">
              <a:solidFill>
                <a:schemeClr val="tx1"/>
              </a:solidFill>
            </a:endParaRPr>
          </a:p>
        </p:txBody>
      </p:sp>
      <p:pic>
        <p:nvPicPr>
          <p:cNvPr id="14" name="Picture 13">
            <a:extLst>
              <a:ext uri="{FF2B5EF4-FFF2-40B4-BE49-F238E27FC236}">
                <a16:creationId xmlns:a16="http://schemas.microsoft.com/office/drawing/2014/main" id="{CFD182D2-D7A4-5D8A-143C-B7C5E1E18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409" y="1034850"/>
            <a:ext cx="2775831" cy="2502300"/>
          </a:xfrm>
          <a:prstGeom prst="rect">
            <a:avLst/>
          </a:prstGeom>
        </p:spPr>
      </p:pic>
    </p:spTree>
    <p:extLst>
      <p:ext uri="{BB962C8B-B14F-4D97-AF65-F5344CB8AC3E}">
        <p14:creationId xmlns:p14="http://schemas.microsoft.com/office/powerpoint/2010/main" val="2631736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7224" y="4772508"/>
            <a:ext cx="10772775" cy="1658198"/>
          </a:xfrm>
        </p:spPr>
        <p:txBody>
          <a:bodyPr>
            <a:normAutofit/>
          </a:bodyPr>
          <a:lstStyle/>
          <a:p>
            <a:pPr algn="ctr"/>
            <a:r>
              <a:rPr lang="en-US" sz="4800">
                <a:solidFill>
                  <a:srgbClr val="FFFFFF"/>
                </a:solidFill>
                <a:latin typeface="Calibri" panose="020F0502020204030204" pitchFamily="34" charset="0"/>
                <a:cs typeface="Calibri" panose="020F0502020204030204" pitchFamily="34" charset="0"/>
              </a:rPr>
              <a:t>Session Hijacking in OSI Model</a:t>
            </a:r>
            <a:r>
              <a:rPr lang="en-US">
                <a:solidFill>
                  <a:srgbClr val="FFFFFF"/>
                </a:solidFill>
                <a:latin typeface="Calibri" panose="020F0502020204030204" pitchFamily="34" charset="0"/>
                <a:cs typeface="Calibri" panose="020F0502020204030204" pitchFamily="34" charset="0"/>
              </a:rPr>
              <a:t>: </a:t>
            </a:r>
            <a:br>
              <a:rPr lang="en-US">
                <a:solidFill>
                  <a:srgbClr val="FFFFFF"/>
                </a:solidFill>
                <a:latin typeface="Calibri" panose="020F0502020204030204" pitchFamily="34" charset="0"/>
                <a:cs typeface="Calibri" panose="020F0502020204030204" pitchFamily="34" charset="0"/>
              </a:rPr>
            </a:br>
            <a:r>
              <a:rPr lang="en-US" sz="4000">
                <a:solidFill>
                  <a:srgbClr val="FFFFFF"/>
                </a:solidFill>
                <a:latin typeface="Calibri" panose="020F0502020204030204" pitchFamily="34" charset="0"/>
                <a:cs typeface="Calibri" panose="020F0502020204030204" pitchFamily="34" charset="0"/>
              </a:rPr>
              <a:t>Transport Layer: Hijacking</a:t>
            </a:r>
            <a:endParaRPr lang="en-US">
              <a:solidFill>
                <a:srgbClr val="FFFFFF"/>
              </a:solidFill>
              <a:latin typeface="Calibri" panose="020F0502020204030204" pitchFamily="34" charset="0"/>
              <a:cs typeface="Calibri" panose="020F0502020204030204" pitchFamily="34" charset="0"/>
            </a:endParaRPr>
          </a:p>
        </p:txBody>
      </p:sp>
      <p:sp>
        <p:nvSpPr>
          <p:cNvPr id="13" name="Rounded Rectangle 12">
            <a:extLst>
              <a:ext uri="{FF2B5EF4-FFF2-40B4-BE49-F238E27FC236}">
                <a16:creationId xmlns:a16="http://schemas.microsoft.com/office/drawing/2014/main" id="{DC4A151C-18C3-56F6-DA1B-BDAF8F11B5C7}"/>
              </a:ext>
            </a:extLst>
          </p:cNvPr>
          <p:cNvSpPr/>
          <p:nvPr/>
        </p:nvSpPr>
        <p:spPr>
          <a:xfrm>
            <a:off x="1435262" y="162046"/>
            <a:ext cx="9816958" cy="906819"/>
          </a:xfrm>
          <a:prstGeom prst="roundRect">
            <a:avLst/>
          </a:prstGeom>
          <a:solidFill>
            <a:srgbClr val="41728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Calibri" panose="020F0502020204030204" pitchFamily="34" charset="0"/>
                <a:cs typeface="Calibri" panose="020F0502020204030204" pitchFamily="34" charset="0"/>
              </a:rPr>
              <a:t>Attackers attempt to exploit vulnerabilities in the transport layer to manipulate and take control of existing sessions</a:t>
            </a:r>
          </a:p>
        </p:txBody>
      </p:sp>
      <p:sp>
        <p:nvSpPr>
          <p:cNvPr id="24" name="TextBox 23">
            <a:extLst>
              <a:ext uri="{FF2B5EF4-FFF2-40B4-BE49-F238E27FC236}">
                <a16:creationId xmlns:a16="http://schemas.microsoft.com/office/drawing/2014/main" id="{825CA224-F596-8D51-3121-96D9FD15D014}"/>
              </a:ext>
            </a:extLst>
          </p:cNvPr>
          <p:cNvSpPr txBox="1"/>
          <p:nvPr/>
        </p:nvSpPr>
        <p:spPr>
          <a:xfrm>
            <a:off x="3585920" y="4345214"/>
            <a:ext cx="4915382" cy="261610"/>
          </a:xfrm>
          <a:prstGeom prst="rect">
            <a:avLst/>
          </a:prstGeom>
          <a:noFill/>
        </p:spPr>
        <p:txBody>
          <a:bodyPr wrap="square" rtlCol="0">
            <a:spAutoFit/>
          </a:bodyPr>
          <a:lstStyle/>
          <a:p>
            <a:pPr algn="ctr"/>
            <a:r>
              <a:rPr lang="en-US" sz="1100"/>
              <a:t>Copyright © by EC-Council. All Rights Reserved. Reproduction is Strictly Prohibited.</a:t>
            </a:r>
          </a:p>
        </p:txBody>
      </p:sp>
      <p:pic>
        <p:nvPicPr>
          <p:cNvPr id="28" name="Picture 27" descr="A diagram of a hacker&#10;&#10;Description automatically generated">
            <a:extLst>
              <a:ext uri="{FF2B5EF4-FFF2-40B4-BE49-F238E27FC236}">
                <a16:creationId xmlns:a16="http://schemas.microsoft.com/office/drawing/2014/main" id="{DADD0484-04D7-D893-2AC8-BDDEE832BC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8851" y="1152549"/>
            <a:ext cx="6694297" cy="3192665"/>
          </a:xfrm>
          <a:prstGeom prst="rect">
            <a:avLst/>
          </a:prstGeom>
        </p:spPr>
      </p:pic>
    </p:spTree>
    <p:extLst>
      <p:ext uri="{BB962C8B-B14F-4D97-AF65-F5344CB8AC3E}">
        <p14:creationId xmlns:p14="http://schemas.microsoft.com/office/powerpoint/2010/main" val="18906801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6275" y="5185458"/>
            <a:ext cx="10772775" cy="1029074"/>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Presentation Session Hijacking</a:t>
            </a:r>
          </a:p>
        </p:txBody>
      </p:sp>
      <p:sp>
        <p:nvSpPr>
          <p:cNvPr id="3" name="Rectangle 2">
            <a:extLst>
              <a:ext uri="{FF2B5EF4-FFF2-40B4-BE49-F238E27FC236}">
                <a16:creationId xmlns:a16="http://schemas.microsoft.com/office/drawing/2014/main" id="{4B18AAFF-EF22-7C73-26A8-42CD91AEDA8B}"/>
              </a:ext>
            </a:extLst>
          </p:cNvPr>
          <p:cNvSpPr/>
          <p:nvPr/>
        </p:nvSpPr>
        <p:spPr>
          <a:xfrm>
            <a:off x="676275" y="643468"/>
            <a:ext cx="3566160" cy="2785532"/>
          </a:xfrm>
          <a:prstGeom prst="rect">
            <a:avLst/>
          </a:prstGeom>
          <a:solidFill>
            <a:srgbClr val="BAD5F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pPr algn="ctr"/>
            <a:r>
              <a:rPr lang="en-US" sz="2000">
                <a:solidFill>
                  <a:schemeClr val="tx1"/>
                </a:solidFill>
                <a:latin typeface="Calibri" panose="020F0502020204030204" pitchFamily="34" charset="0"/>
                <a:cs typeface="Calibri" panose="020F0502020204030204" pitchFamily="34" charset="0"/>
              </a:rPr>
              <a:t>The presentation layer is the point in the OSI model in which security methods such as encryption and security mechanisms can be implemented to prevent attacks.</a:t>
            </a:r>
          </a:p>
        </p:txBody>
      </p:sp>
      <p:sp>
        <p:nvSpPr>
          <p:cNvPr id="4" name="Rectangle 3">
            <a:extLst>
              <a:ext uri="{FF2B5EF4-FFF2-40B4-BE49-F238E27FC236}">
                <a16:creationId xmlns:a16="http://schemas.microsoft.com/office/drawing/2014/main" id="{04C43B2B-E258-CDCB-7CA5-51C959D9361B}"/>
              </a:ext>
            </a:extLst>
          </p:cNvPr>
          <p:cNvSpPr/>
          <p:nvPr/>
        </p:nvSpPr>
        <p:spPr>
          <a:xfrm>
            <a:off x="7777735" y="643468"/>
            <a:ext cx="3566160" cy="2785532"/>
          </a:xfrm>
          <a:prstGeom prst="rect">
            <a:avLst/>
          </a:prstGeom>
          <a:solidFill>
            <a:srgbClr val="BAD5F2"/>
          </a:solidFill>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pPr algn="ctr"/>
            <a:r>
              <a:rPr lang="en-US" sz="2000">
                <a:solidFill>
                  <a:schemeClr val="tx1"/>
                </a:solidFill>
                <a:latin typeface="Calibri" panose="020F0502020204030204" pitchFamily="34" charset="0"/>
                <a:cs typeface="Calibri" panose="020F0502020204030204" pitchFamily="34" charset="0"/>
              </a:rPr>
              <a:t>This layer is being exploited by not being implemented</a:t>
            </a:r>
          </a:p>
        </p:txBody>
      </p:sp>
      <p:pic>
        <p:nvPicPr>
          <p:cNvPr id="9" name="Picture 8" descr="A computer screen with a broken shield&#10;&#10;Description automatically generated">
            <a:extLst>
              <a:ext uri="{FF2B5EF4-FFF2-40B4-BE49-F238E27FC236}">
                <a16:creationId xmlns:a16="http://schemas.microsoft.com/office/drawing/2014/main" id="{1CCED738-CEC2-F816-9553-BEA0A67BDC06}"/>
              </a:ext>
            </a:extLst>
          </p:cNvPr>
          <p:cNvPicPr>
            <a:picLocks noChangeAspect="1"/>
          </p:cNvPicPr>
          <p:nvPr/>
        </p:nvPicPr>
        <p:blipFill rotWithShape="1">
          <a:blip r:embed="rId3">
            <a:extLst>
              <a:ext uri="{28A0092B-C50C-407E-A947-70E740481C1C}">
                <a14:useLocalDpi xmlns:a14="http://schemas.microsoft.com/office/drawing/2010/main" val="0"/>
              </a:ext>
            </a:extLst>
          </a:blip>
          <a:srcRect t="2869" r="4063"/>
          <a:stretch/>
        </p:blipFill>
        <p:spPr>
          <a:xfrm>
            <a:off x="4242435" y="1968272"/>
            <a:ext cx="3338403" cy="3096249"/>
          </a:xfrm>
          <a:prstGeom prst="rect">
            <a:avLst/>
          </a:prstGeom>
        </p:spPr>
      </p:pic>
    </p:spTree>
    <p:extLst>
      <p:ext uri="{BB962C8B-B14F-4D97-AF65-F5344CB8AC3E}">
        <p14:creationId xmlns:p14="http://schemas.microsoft.com/office/powerpoint/2010/main" val="3375530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09612" y="5137814"/>
            <a:ext cx="10772775" cy="1154371"/>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Application-Level Session Hijacking</a:t>
            </a:r>
          </a:p>
        </p:txBody>
      </p:sp>
      <p:pic>
        <p:nvPicPr>
          <p:cNvPr id="4" name="Picture 3" descr="A person sitting at a computer&#10;&#10;Description automatically generated">
            <a:extLst>
              <a:ext uri="{FF2B5EF4-FFF2-40B4-BE49-F238E27FC236}">
                <a16:creationId xmlns:a16="http://schemas.microsoft.com/office/drawing/2014/main" id="{F3653C99-9649-BB43-7B47-538ED466AB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4103"/>
            <a:ext cx="5270500" cy="3873500"/>
          </a:xfrm>
          <a:prstGeom prst="rect">
            <a:avLst/>
          </a:prstGeom>
        </p:spPr>
      </p:pic>
      <p:sp>
        <p:nvSpPr>
          <p:cNvPr id="6" name="Rectangle 5">
            <a:extLst>
              <a:ext uri="{FF2B5EF4-FFF2-40B4-BE49-F238E27FC236}">
                <a16:creationId xmlns:a16="http://schemas.microsoft.com/office/drawing/2014/main" id="{9B38AB96-E23F-8173-42DB-4B0AC4039C40}"/>
              </a:ext>
            </a:extLst>
          </p:cNvPr>
          <p:cNvSpPr/>
          <p:nvPr/>
        </p:nvSpPr>
        <p:spPr>
          <a:xfrm>
            <a:off x="5681650" y="1075038"/>
            <a:ext cx="5501216" cy="2743200"/>
          </a:xfrm>
          <a:prstGeom prst="rect">
            <a:avLst/>
          </a:prstGeom>
          <a:solidFill>
            <a:srgbClr val="006D5E"/>
          </a:solidFill>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pPr lvl="0" algn="ctr"/>
            <a:r>
              <a:rPr lang="en-US" sz="2400">
                <a:latin typeface="Calibri" panose="020F0502020204030204" pitchFamily="34" charset="0"/>
                <a:cs typeface="Calibri" panose="020F0502020204030204" pitchFamily="34" charset="0"/>
              </a:rPr>
              <a:t>Techniques such as stealing, guessing, and brute forcing to obtain a valid session ID, which helps in acquiring control over a valid user’s session while it is in progress. </a:t>
            </a:r>
          </a:p>
        </p:txBody>
      </p:sp>
    </p:spTree>
    <p:extLst>
      <p:ext uri="{BB962C8B-B14F-4D97-AF65-F5344CB8AC3E}">
        <p14:creationId xmlns:p14="http://schemas.microsoft.com/office/powerpoint/2010/main" val="1590469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7224" y="4772508"/>
            <a:ext cx="10772775" cy="1658198"/>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Application-Level Session Hijacking</a:t>
            </a:r>
          </a:p>
        </p:txBody>
      </p:sp>
      <p:pic>
        <p:nvPicPr>
          <p:cNvPr id="4" name="Picture 3" descr="A diagram of a computer network&#10;&#10;Description automatically generated">
            <a:extLst>
              <a:ext uri="{FF2B5EF4-FFF2-40B4-BE49-F238E27FC236}">
                <a16:creationId xmlns:a16="http://schemas.microsoft.com/office/drawing/2014/main" id="{C8CDBD42-2BFE-4E24-4967-650E77D1697A}"/>
              </a:ext>
            </a:extLst>
          </p:cNvPr>
          <p:cNvPicPr>
            <a:picLocks noChangeAspect="1"/>
          </p:cNvPicPr>
          <p:nvPr/>
        </p:nvPicPr>
        <p:blipFill rotWithShape="1">
          <a:blip r:embed="rId3">
            <a:extLst>
              <a:ext uri="{28A0092B-C50C-407E-A947-70E740481C1C}">
                <a14:useLocalDpi xmlns:a14="http://schemas.microsoft.com/office/drawing/2010/main" val="0"/>
              </a:ext>
            </a:extLst>
          </a:blip>
          <a:srcRect l="1919"/>
          <a:stretch/>
        </p:blipFill>
        <p:spPr>
          <a:xfrm>
            <a:off x="5041556" y="527533"/>
            <a:ext cx="6487297" cy="3647850"/>
          </a:xfrm>
          <a:prstGeom prst="rect">
            <a:avLst/>
          </a:prstGeom>
        </p:spPr>
      </p:pic>
      <p:sp>
        <p:nvSpPr>
          <p:cNvPr id="6" name="Rounded Rectangle 5">
            <a:extLst>
              <a:ext uri="{FF2B5EF4-FFF2-40B4-BE49-F238E27FC236}">
                <a16:creationId xmlns:a16="http://schemas.microsoft.com/office/drawing/2014/main" id="{3BEEAF4C-34F8-C93F-37C2-7A0978A1CAB1}"/>
              </a:ext>
            </a:extLst>
          </p:cNvPr>
          <p:cNvSpPr/>
          <p:nvPr/>
        </p:nvSpPr>
        <p:spPr>
          <a:xfrm>
            <a:off x="284204" y="527533"/>
            <a:ext cx="4275437" cy="1005840"/>
          </a:xfrm>
          <a:prstGeom prst="round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Calibri" panose="020F0502020204030204" pitchFamily="34" charset="0"/>
                <a:cs typeface="Calibri" panose="020F0502020204030204" pitchFamily="34" charset="0"/>
              </a:rPr>
              <a:t>Protocols Impacted on Application Layer: HTTP, FTP, SMTP, etc.</a:t>
            </a:r>
          </a:p>
        </p:txBody>
      </p:sp>
      <p:sp>
        <p:nvSpPr>
          <p:cNvPr id="7" name="Rounded Rectangle 6">
            <a:extLst>
              <a:ext uri="{FF2B5EF4-FFF2-40B4-BE49-F238E27FC236}">
                <a16:creationId xmlns:a16="http://schemas.microsoft.com/office/drawing/2014/main" id="{99AA5B35-E09C-09EA-2213-254106C3CD8C}"/>
              </a:ext>
            </a:extLst>
          </p:cNvPr>
          <p:cNvSpPr/>
          <p:nvPr/>
        </p:nvSpPr>
        <p:spPr>
          <a:xfrm>
            <a:off x="284205" y="1765050"/>
            <a:ext cx="4275437" cy="1005840"/>
          </a:xfrm>
          <a:prstGeom prst="round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Calibri" panose="020F0502020204030204" pitchFamily="34" charset="0"/>
                <a:cs typeface="Calibri" panose="020F0502020204030204" pitchFamily="34" charset="0"/>
              </a:rPr>
              <a:t>Application-level Session Hijacking uses methods suck as session sniffing and predictable session tokens</a:t>
            </a:r>
          </a:p>
        </p:txBody>
      </p:sp>
      <p:sp>
        <p:nvSpPr>
          <p:cNvPr id="8" name="Rounded Rectangle 7">
            <a:extLst>
              <a:ext uri="{FF2B5EF4-FFF2-40B4-BE49-F238E27FC236}">
                <a16:creationId xmlns:a16="http://schemas.microsoft.com/office/drawing/2014/main" id="{39618788-E6D1-842C-5447-21DA08C7D3FB}"/>
              </a:ext>
            </a:extLst>
          </p:cNvPr>
          <p:cNvSpPr/>
          <p:nvPr/>
        </p:nvSpPr>
        <p:spPr>
          <a:xfrm>
            <a:off x="284205" y="3102806"/>
            <a:ext cx="4275437" cy="1005840"/>
          </a:xfrm>
          <a:prstGeom prst="round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Calibri" panose="020F0502020204030204" pitchFamily="34" charset="0"/>
                <a:cs typeface="Calibri" panose="020F0502020204030204" pitchFamily="34" charset="0"/>
              </a:rPr>
              <a:t>The attacker steals or predicts a valid session to gain unauthorized access to a web server</a:t>
            </a:r>
          </a:p>
        </p:txBody>
      </p:sp>
      <p:sp>
        <p:nvSpPr>
          <p:cNvPr id="12" name="TextBox 11">
            <a:extLst>
              <a:ext uri="{FF2B5EF4-FFF2-40B4-BE49-F238E27FC236}">
                <a16:creationId xmlns:a16="http://schemas.microsoft.com/office/drawing/2014/main" id="{09D7389A-8F09-0E53-C3F3-B170D0D607E1}"/>
              </a:ext>
            </a:extLst>
          </p:cNvPr>
          <p:cNvSpPr txBox="1"/>
          <p:nvPr/>
        </p:nvSpPr>
        <p:spPr>
          <a:xfrm>
            <a:off x="5041556" y="4175383"/>
            <a:ext cx="6126562" cy="261610"/>
          </a:xfrm>
          <a:prstGeom prst="rect">
            <a:avLst/>
          </a:prstGeom>
          <a:noFill/>
        </p:spPr>
        <p:txBody>
          <a:bodyPr wrap="square" rtlCol="0">
            <a:spAutoFit/>
          </a:bodyPr>
          <a:lstStyle/>
          <a:p>
            <a:pPr algn="ctr"/>
            <a:r>
              <a:rPr lang="en-US" sz="1100"/>
              <a:t>Copyright © by EC-Council. All Rights Reserved. Reproduction is Strictly Prohibited.</a:t>
            </a:r>
          </a:p>
        </p:txBody>
      </p:sp>
    </p:spTree>
    <p:extLst>
      <p:ext uri="{BB962C8B-B14F-4D97-AF65-F5344CB8AC3E}">
        <p14:creationId xmlns:p14="http://schemas.microsoft.com/office/powerpoint/2010/main" val="1266639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09908" y="5131636"/>
            <a:ext cx="10772775" cy="1166728"/>
          </a:xfrm>
        </p:spPr>
        <p:txBody>
          <a:bodyPr>
            <a:normAutofit/>
          </a:bodyPr>
          <a:lstStyle/>
          <a:p>
            <a:pPr algn="ctr"/>
            <a:r>
              <a:rPr lang="en-US" sz="4600">
                <a:solidFill>
                  <a:srgbClr val="FFFFFF"/>
                </a:solidFill>
                <a:latin typeface="Calibri" panose="020F0502020204030204" pitchFamily="34" charset="0"/>
                <a:cs typeface="Calibri" panose="020F0502020204030204" pitchFamily="34" charset="0"/>
              </a:rPr>
              <a:t>Application-Level Session Hijacking: Stealing</a:t>
            </a:r>
          </a:p>
        </p:txBody>
      </p:sp>
      <p:sp>
        <p:nvSpPr>
          <p:cNvPr id="4" name="Rectangle 3">
            <a:extLst>
              <a:ext uri="{FF2B5EF4-FFF2-40B4-BE49-F238E27FC236}">
                <a16:creationId xmlns:a16="http://schemas.microsoft.com/office/drawing/2014/main" id="{C651E729-25DF-A260-D245-B83E0DE352E4}"/>
              </a:ext>
            </a:extLst>
          </p:cNvPr>
          <p:cNvSpPr/>
          <p:nvPr/>
        </p:nvSpPr>
        <p:spPr>
          <a:xfrm>
            <a:off x="6586150" y="559636"/>
            <a:ext cx="5288693" cy="1561450"/>
          </a:xfrm>
          <a:prstGeom prst="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Calibri" panose="020F0502020204030204" pitchFamily="34" charset="0"/>
                <a:cs typeface="Calibri" panose="020F0502020204030204" pitchFamily="34" charset="0"/>
              </a:rPr>
              <a:t>An attacker can steal the session key through physical access, such as acquiring the files with Session IDs or memory contents of either the user’s system or the server</a:t>
            </a:r>
          </a:p>
        </p:txBody>
      </p:sp>
      <p:sp>
        <p:nvSpPr>
          <p:cNvPr id="6" name="Rectangle 5">
            <a:extLst>
              <a:ext uri="{FF2B5EF4-FFF2-40B4-BE49-F238E27FC236}">
                <a16:creationId xmlns:a16="http://schemas.microsoft.com/office/drawing/2014/main" id="{1F641AF4-C4FF-BE18-6E1E-4C45F38FFD3D}"/>
              </a:ext>
            </a:extLst>
          </p:cNvPr>
          <p:cNvSpPr/>
          <p:nvPr/>
        </p:nvSpPr>
        <p:spPr>
          <a:xfrm>
            <a:off x="6586150" y="2565818"/>
            <a:ext cx="5288693" cy="1561450"/>
          </a:xfrm>
          <a:prstGeom prst="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a:solidFill>
                  <a:schemeClr val="tx1"/>
                </a:solidFill>
                <a:latin typeface="Calibri" panose="020F0502020204030204" pitchFamily="34" charset="0"/>
                <a:cs typeface="Calibri" panose="020F0502020204030204" pitchFamily="34" charset="0"/>
              </a:rPr>
              <a:t>The attacker can use sniffing tools, such as Wireshark, to sniff the traffic between the client and server to extract the Session IDs from the packets</a:t>
            </a:r>
          </a:p>
        </p:txBody>
      </p:sp>
      <p:pic>
        <p:nvPicPr>
          <p:cNvPr id="11" name="Picture 10" descr="A diagram of a person with a hoodie&#10;&#10;Description automatically generated">
            <a:extLst>
              <a:ext uri="{FF2B5EF4-FFF2-40B4-BE49-F238E27FC236}">
                <a16:creationId xmlns:a16="http://schemas.microsoft.com/office/drawing/2014/main" id="{103E51D0-1BDE-F68C-B6A7-AA06350FF429}"/>
              </a:ext>
            </a:extLst>
          </p:cNvPr>
          <p:cNvPicPr>
            <a:picLocks noChangeAspect="1"/>
          </p:cNvPicPr>
          <p:nvPr/>
        </p:nvPicPr>
        <p:blipFill rotWithShape="1">
          <a:blip r:embed="rId3">
            <a:extLst>
              <a:ext uri="{28A0092B-C50C-407E-A947-70E740481C1C}">
                <a14:useLocalDpi xmlns:a14="http://schemas.microsoft.com/office/drawing/2010/main" val="0"/>
              </a:ext>
            </a:extLst>
          </a:blip>
          <a:srcRect l="1455" r="767" b="2688"/>
          <a:stretch/>
        </p:blipFill>
        <p:spPr>
          <a:xfrm>
            <a:off x="102604" y="559636"/>
            <a:ext cx="6449635" cy="3624782"/>
          </a:xfrm>
          <a:prstGeom prst="rect">
            <a:avLst/>
          </a:prstGeom>
        </p:spPr>
      </p:pic>
      <p:sp>
        <p:nvSpPr>
          <p:cNvPr id="12" name="TextBox 11">
            <a:extLst>
              <a:ext uri="{FF2B5EF4-FFF2-40B4-BE49-F238E27FC236}">
                <a16:creationId xmlns:a16="http://schemas.microsoft.com/office/drawing/2014/main" id="{2B40C02D-E6B7-666A-6647-AA4D0BDD5342}"/>
              </a:ext>
            </a:extLst>
          </p:cNvPr>
          <p:cNvSpPr txBox="1"/>
          <p:nvPr/>
        </p:nvSpPr>
        <p:spPr>
          <a:xfrm>
            <a:off x="-30562" y="4247404"/>
            <a:ext cx="6126562" cy="261610"/>
          </a:xfrm>
          <a:prstGeom prst="rect">
            <a:avLst/>
          </a:prstGeom>
          <a:noFill/>
        </p:spPr>
        <p:txBody>
          <a:bodyPr wrap="square" rtlCol="0">
            <a:spAutoFit/>
          </a:bodyPr>
          <a:lstStyle/>
          <a:p>
            <a:pPr algn="ctr"/>
            <a:r>
              <a:rPr lang="en-US" sz="1100"/>
              <a:t>Copyright © by EC-Council. All Rights Reserved. Reproduction is Strictly Prohibited.</a:t>
            </a:r>
          </a:p>
        </p:txBody>
      </p:sp>
    </p:spTree>
    <p:extLst>
      <p:ext uri="{BB962C8B-B14F-4D97-AF65-F5344CB8AC3E}">
        <p14:creationId xmlns:p14="http://schemas.microsoft.com/office/powerpoint/2010/main" val="2374690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7255" y="5004486"/>
            <a:ext cx="10797490" cy="1426220"/>
          </a:xfrm>
        </p:spPr>
        <p:txBody>
          <a:bodyPr>
            <a:normAutofit/>
          </a:bodyPr>
          <a:lstStyle/>
          <a:p>
            <a:r>
              <a:rPr lang="en-US" sz="4600">
                <a:solidFill>
                  <a:srgbClr val="FFFFFF"/>
                </a:solidFill>
                <a:latin typeface="Calibri" panose="020F0502020204030204" pitchFamily="34" charset="0"/>
                <a:cs typeface="Calibri" panose="020F0502020204030204" pitchFamily="34" charset="0"/>
              </a:rPr>
              <a:t>Application-Level Session Hijacking: Guessing</a:t>
            </a:r>
          </a:p>
        </p:txBody>
      </p:sp>
      <p:sp>
        <p:nvSpPr>
          <p:cNvPr id="3" name="Rectangle 2">
            <a:extLst>
              <a:ext uri="{FF2B5EF4-FFF2-40B4-BE49-F238E27FC236}">
                <a16:creationId xmlns:a16="http://schemas.microsoft.com/office/drawing/2014/main" id="{C8CD7D6E-3663-6582-6111-2EBDB79B284A}"/>
              </a:ext>
            </a:extLst>
          </p:cNvPr>
          <p:cNvSpPr/>
          <p:nvPr/>
        </p:nvSpPr>
        <p:spPr>
          <a:xfrm>
            <a:off x="807307" y="427292"/>
            <a:ext cx="2651760" cy="3840480"/>
          </a:xfrm>
          <a:prstGeom prst="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pPr algn="ctr"/>
            <a:r>
              <a:rPr lang="en-US" sz="2000">
                <a:solidFill>
                  <a:schemeClr val="tx1"/>
                </a:solidFill>
                <a:latin typeface="Calibri" panose="020F0502020204030204" pitchFamily="34" charset="0"/>
                <a:cs typeface="Calibri" panose="020F0502020204030204" pitchFamily="34" charset="0"/>
              </a:rPr>
              <a:t>The attacker attempts to guess the Session IDs by observing session variables</a:t>
            </a:r>
          </a:p>
        </p:txBody>
      </p:sp>
      <p:sp>
        <p:nvSpPr>
          <p:cNvPr id="4" name="Rectangle 3">
            <a:extLst>
              <a:ext uri="{FF2B5EF4-FFF2-40B4-BE49-F238E27FC236}">
                <a16:creationId xmlns:a16="http://schemas.microsoft.com/office/drawing/2014/main" id="{96A89C67-6BFE-4A07-A440-56E959C2E92B}"/>
              </a:ext>
            </a:extLst>
          </p:cNvPr>
          <p:cNvSpPr/>
          <p:nvPr/>
        </p:nvSpPr>
        <p:spPr>
          <a:xfrm>
            <a:off x="4770120" y="425349"/>
            <a:ext cx="2651760" cy="3840480"/>
          </a:xfrm>
          <a:prstGeom prst="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pPr algn="ctr"/>
            <a:r>
              <a:rPr lang="en-US" sz="2000">
                <a:solidFill>
                  <a:schemeClr val="tx1"/>
                </a:solidFill>
                <a:latin typeface="Calibri" panose="020F0502020204030204" pitchFamily="34" charset="0"/>
                <a:cs typeface="Calibri" panose="020F0502020204030204" pitchFamily="34" charset="0"/>
              </a:rPr>
              <a:t>The range of Session ID values that can be guessed is limited</a:t>
            </a:r>
          </a:p>
        </p:txBody>
      </p:sp>
      <p:sp>
        <p:nvSpPr>
          <p:cNvPr id="6" name="Rectangle 5">
            <a:extLst>
              <a:ext uri="{FF2B5EF4-FFF2-40B4-BE49-F238E27FC236}">
                <a16:creationId xmlns:a16="http://schemas.microsoft.com/office/drawing/2014/main" id="{CF0D2682-360F-B4D8-C455-AAD9CD9F1D2D}"/>
              </a:ext>
            </a:extLst>
          </p:cNvPr>
          <p:cNvSpPr/>
          <p:nvPr/>
        </p:nvSpPr>
        <p:spPr>
          <a:xfrm>
            <a:off x="8587779" y="425349"/>
            <a:ext cx="2651760" cy="3840480"/>
          </a:xfrm>
          <a:prstGeom prst="rect">
            <a:avLst/>
          </a:prstGeom>
          <a:solidFill>
            <a:schemeClr val="bg1"/>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274320" rtlCol="0" anchor="ctr"/>
          <a:lstStyle/>
          <a:p>
            <a:pPr algn="ctr"/>
            <a:r>
              <a:rPr lang="en-US" sz="2000">
                <a:solidFill>
                  <a:schemeClr val="tx1"/>
                </a:solidFill>
                <a:latin typeface="Calibri" panose="020F0502020204030204" pitchFamily="34" charset="0"/>
                <a:cs typeface="Calibri" panose="020F0502020204030204" pitchFamily="34" charset="0"/>
              </a:rPr>
              <a:t>Guessing techniques are </a:t>
            </a:r>
            <a:r>
              <a:rPr lang="en-US" sz="2000" b="1">
                <a:solidFill>
                  <a:schemeClr val="tx1"/>
                </a:solidFill>
                <a:latin typeface="Calibri" panose="020F0502020204030204" pitchFamily="34" charset="0"/>
                <a:cs typeface="Calibri" panose="020F0502020204030204" pitchFamily="34" charset="0"/>
              </a:rPr>
              <a:t>only</a:t>
            </a:r>
            <a:r>
              <a:rPr lang="en-US" sz="2000">
                <a:solidFill>
                  <a:schemeClr val="tx1"/>
                </a:solidFill>
                <a:latin typeface="Calibri" panose="020F0502020204030204" pitchFamily="34" charset="0"/>
                <a:cs typeface="Calibri" panose="020F0502020204030204" pitchFamily="34" charset="0"/>
              </a:rPr>
              <a:t> effective when servers use weak or flawed Session-ID generation mechanisms</a:t>
            </a:r>
          </a:p>
        </p:txBody>
      </p:sp>
      <p:cxnSp>
        <p:nvCxnSpPr>
          <p:cNvPr id="12" name="Straight Arrow Connector 11">
            <a:extLst>
              <a:ext uri="{FF2B5EF4-FFF2-40B4-BE49-F238E27FC236}">
                <a16:creationId xmlns:a16="http://schemas.microsoft.com/office/drawing/2014/main" id="{0615C925-6E97-2B2C-D29F-544BECEC83B3}"/>
              </a:ext>
            </a:extLst>
          </p:cNvPr>
          <p:cNvCxnSpPr>
            <a:cxnSpLocks/>
            <a:stCxn id="3" idx="3"/>
            <a:endCxn id="4" idx="1"/>
          </p:cNvCxnSpPr>
          <p:nvPr/>
        </p:nvCxnSpPr>
        <p:spPr>
          <a:xfrm flipV="1">
            <a:off x="3459067" y="2345589"/>
            <a:ext cx="1311053" cy="1943"/>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78D090B-F96F-502E-C0D2-4A676291DF66}"/>
              </a:ext>
            </a:extLst>
          </p:cNvPr>
          <p:cNvCxnSpPr>
            <a:cxnSpLocks/>
            <a:stCxn id="4" idx="3"/>
            <a:endCxn id="6" idx="1"/>
          </p:cNvCxnSpPr>
          <p:nvPr/>
        </p:nvCxnSpPr>
        <p:spPr>
          <a:xfrm>
            <a:off x="7421880" y="2345589"/>
            <a:ext cx="1165899"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5656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6275" y="5080420"/>
            <a:ext cx="10772775" cy="1269159"/>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Spoofing vs. Hijacking</a:t>
            </a:r>
          </a:p>
        </p:txBody>
      </p:sp>
      <p:sp>
        <p:nvSpPr>
          <p:cNvPr id="3" name="Rectangle 2">
            <a:extLst>
              <a:ext uri="{FF2B5EF4-FFF2-40B4-BE49-F238E27FC236}">
                <a16:creationId xmlns:a16="http://schemas.microsoft.com/office/drawing/2014/main" id="{D95D590F-5EE3-64F6-01FE-9C89AEE1EE77}"/>
              </a:ext>
            </a:extLst>
          </p:cNvPr>
          <p:cNvSpPr/>
          <p:nvPr/>
        </p:nvSpPr>
        <p:spPr>
          <a:xfrm>
            <a:off x="312820" y="770024"/>
            <a:ext cx="4174959" cy="106768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 Blind Session Hijacking, the attacker does not have access to the data exchanged between the client and server</a:t>
            </a:r>
          </a:p>
        </p:txBody>
      </p:sp>
      <p:sp>
        <p:nvSpPr>
          <p:cNvPr id="4" name="Rectangle 3">
            <a:extLst>
              <a:ext uri="{FF2B5EF4-FFF2-40B4-BE49-F238E27FC236}">
                <a16:creationId xmlns:a16="http://schemas.microsoft.com/office/drawing/2014/main" id="{2EC5C110-D418-8436-E0D0-176D003DF9DE}"/>
              </a:ext>
            </a:extLst>
          </p:cNvPr>
          <p:cNvSpPr/>
          <p:nvPr/>
        </p:nvSpPr>
        <p:spPr>
          <a:xfrm>
            <a:off x="312819" y="1973404"/>
            <a:ext cx="4174959" cy="106768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The attack is blind to the data being exchanged because of encryption</a:t>
            </a:r>
          </a:p>
        </p:txBody>
      </p:sp>
      <p:sp>
        <p:nvSpPr>
          <p:cNvPr id="6" name="Rectangle 5">
            <a:extLst>
              <a:ext uri="{FF2B5EF4-FFF2-40B4-BE49-F238E27FC236}">
                <a16:creationId xmlns:a16="http://schemas.microsoft.com/office/drawing/2014/main" id="{8CE9B5DA-DE0C-EBEF-B787-C1F99D666164}"/>
              </a:ext>
            </a:extLst>
          </p:cNvPr>
          <p:cNvSpPr/>
          <p:nvPr/>
        </p:nvSpPr>
        <p:spPr>
          <a:xfrm>
            <a:off x="312819" y="3167428"/>
            <a:ext cx="4174959" cy="106768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TCP segments provide the initial sequence number (ISN) as a part of the segment header, which the attacker must guess</a:t>
            </a:r>
          </a:p>
        </p:txBody>
      </p:sp>
      <p:pic>
        <p:nvPicPr>
          <p:cNvPr id="8" name="Picture 7" descr="A diagram of a hacker&#10;&#10;Description automatically generated">
            <a:extLst>
              <a:ext uri="{FF2B5EF4-FFF2-40B4-BE49-F238E27FC236}">
                <a16:creationId xmlns:a16="http://schemas.microsoft.com/office/drawing/2014/main" id="{42FEA0BA-8C60-85F9-1542-EDE916F77A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3612" y="770024"/>
            <a:ext cx="7305568" cy="3465092"/>
          </a:xfrm>
          <a:prstGeom prst="rect">
            <a:avLst/>
          </a:prstGeom>
        </p:spPr>
      </p:pic>
      <p:sp>
        <p:nvSpPr>
          <p:cNvPr id="12" name="TextBox 11">
            <a:extLst>
              <a:ext uri="{FF2B5EF4-FFF2-40B4-BE49-F238E27FC236}">
                <a16:creationId xmlns:a16="http://schemas.microsoft.com/office/drawing/2014/main" id="{262127B1-46DD-1140-14E8-F6B114732E51}"/>
              </a:ext>
            </a:extLst>
          </p:cNvPr>
          <p:cNvSpPr txBox="1"/>
          <p:nvPr/>
        </p:nvSpPr>
        <p:spPr>
          <a:xfrm>
            <a:off x="5891514" y="4249669"/>
            <a:ext cx="6126562" cy="261610"/>
          </a:xfrm>
          <a:prstGeom prst="rect">
            <a:avLst/>
          </a:prstGeom>
          <a:noFill/>
        </p:spPr>
        <p:txBody>
          <a:bodyPr wrap="square" rtlCol="0">
            <a:spAutoFit/>
          </a:bodyPr>
          <a:lstStyle/>
          <a:p>
            <a:pPr algn="r"/>
            <a:r>
              <a:rPr lang="en-US" sz="1100"/>
              <a:t>Copyright © by EC-Council. All Rights Reserved. Reproduction is Strictly Prohibited.</a:t>
            </a:r>
          </a:p>
        </p:txBody>
      </p:sp>
    </p:spTree>
    <p:extLst>
      <p:ext uri="{BB962C8B-B14F-4D97-AF65-F5344CB8AC3E}">
        <p14:creationId xmlns:p14="http://schemas.microsoft.com/office/powerpoint/2010/main" val="1275548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6016" y="5038310"/>
            <a:ext cx="10772775" cy="1353380"/>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Spoofing vs. Hijacking Summary</a:t>
            </a:r>
          </a:p>
        </p:txBody>
      </p:sp>
      <p:sp>
        <p:nvSpPr>
          <p:cNvPr id="6" name="Rectangle 5">
            <a:extLst>
              <a:ext uri="{FF2B5EF4-FFF2-40B4-BE49-F238E27FC236}">
                <a16:creationId xmlns:a16="http://schemas.microsoft.com/office/drawing/2014/main" id="{31B062E7-018C-792F-B9E9-0F3279C32603}"/>
              </a:ext>
            </a:extLst>
          </p:cNvPr>
          <p:cNvSpPr/>
          <p:nvPr/>
        </p:nvSpPr>
        <p:spPr>
          <a:xfrm>
            <a:off x="632753" y="309755"/>
            <a:ext cx="4206240" cy="3474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5760" rIns="365760" rtlCol="0" anchor="ctr"/>
          <a:lstStyle/>
          <a:p>
            <a:pPr lvl="0">
              <a:spcAft>
                <a:spcPts val="1200"/>
              </a:spcAft>
            </a:pPr>
            <a:r>
              <a:rPr lang="en-US" sz="2000">
                <a:latin typeface="Calibri" panose="020F0502020204030204" pitchFamily="34" charset="0"/>
                <a:cs typeface="Calibri" panose="020F0502020204030204" pitchFamily="34" charset="0"/>
              </a:rPr>
              <a:t>Hijacking non-encrypted TCP communications requires:</a:t>
            </a:r>
          </a:p>
          <a:p>
            <a:pPr marL="285750" lvl="0" indent="-285750">
              <a:spcAft>
                <a:spcPts val="1200"/>
              </a:spcAft>
              <a:buFont typeface="Courier New" panose="02070309020205020404" pitchFamily="49" charset="0"/>
              <a:buChar char="o"/>
            </a:pPr>
            <a:r>
              <a:rPr lang="en-US" sz="2000">
                <a:latin typeface="Calibri" panose="020F0502020204030204" pitchFamily="34" charset="0"/>
                <a:cs typeface="Calibri" panose="020F0502020204030204" pitchFamily="34" charset="0"/>
              </a:rPr>
              <a:t>the presence of non-encrypted session-oriented traffic</a:t>
            </a:r>
          </a:p>
          <a:p>
            <a:pPr marL="285750" lvl="0" indent="-285750">
              <a:spcAft>
                <a:spcPts val="1200"/>
              </a:spcAft>
              <a:buFont typeface="Courier New" panose="02070309020205020404" pitchFamily="49" charset="0"/>
              <a:buChar char="o"/>
            </a:pPr>
            <a:r>
              <a:rPr lang="en-US" sz="2000">
                <a:latin typeface="Calibri" panose="020F0502020204030204" pitchFamily="34" charset="0"/>
                <a:cs typeface="Calibri" panose="020F0502020204030204" pitchFamily="34" charset="0"/>
              </a:rPr>
              <a:t>the ability to recognize TCP sequence numbers to predict the next sequence number (NSN)</a:t>
            </a:r>
          </a:p>
        </p:txBody>
      </p:sp>
      <p:sp>
        <p:nvSpPr>
          <p:cNvPr id="7" name="Rectangle 6">
            <a:extLst>
              <a:ext uri="{FF2B5EF4-FFF2-40B4-BE49-F238E27FC236}">
                <a16:creationId xmlns:a16="http://schemas.microsoft.com/office/drawing/2014/main" id="{F95674EA-DF8D-E118-AEB0-E6E35BA261A4}"/>
              </a:ext>
            </a:extLst>
          </p:cNvPr>
          <p:cNvSpPr/>
          <p:nvPr/>
        </p:nvSpPr>
        <p:spPr>
          <a:xfrm>
            <a:off x="7353006" y="309755"/>
            <a:ext cx="4206240" cy="34747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5760" rIns="365760" rtlCol="0" anchor="ctr"/>
          <a:lstStyle/>
          <a:p>
            <a:pPr lvl="0" algn="ctr">
              <a:spcAft>
                <a:spcPts val="1200"/>
              </a:spcAft>
            </a:pPr>
            <a:r>
              <a:rPr lang="en-US" sz="2000">
                <a:latin typeface="Calibri" panose="020F0502020204030204" pitchFamily="34" charset="0"/>
                <a:cs typeface="Calibri" panose="020F0502020204030204" pitchFamily="34" charset="0"/>
              </a:rPr>
              <a:t>On the local segment, a hacker can poison the ARP caches on the two legitimate hosts of a session by sniffing and predicting the ISN + 1 number and routing the traffic back to them</a:t>
            </a:r>
          </a:p>
        </p:txBody>
      </p:sp>
      <p:pic>
        <p:nvPicPr>
          <p:cNvPr id="12" name="Picture 11" descr="A computer screen with a red screen with a exclamation mark&#10;&#10;Description automatically generated">
            <a:extLst>
              <a:ext uri="{FF2B5EF4-FFF2-40B4-BE49-F238E27FC236}">
                <a16:creationId xmlns:a16="http://schemas.microsoft.com/office/drawing/2014/main" id="{28187D2B-F32F-1E8E-BEDF-EFFA6A242B1F}"/>
              </a:ext>
            </a:extLst>
          </p:cNvPr>
          <p:cNvPicPr>
            <a:picLocks noChangeAspect="1"/>
          </p:cNvPicPr>
          <p:nvPr/>
        </p:nvPicPr>
        <p:blipFill rotWithShape="1">
          <a:blip r:embed="rId3">
            <a:extLst>
              <a:ext uri="{28A0092B-C50C-407E-A947-70E740481C1C}">
                <a14:useLocalDpi xmlns:a14="http://schemas.microsoft.com/office/drawing/2010/main" val="0"/>
              </a:ext>
            </a:extLst>
          </a:blip>
          <a:srcRect l="2671" t="4119" r="8435" b="9731"/>
          <a:stretch/>
        </p:blipFill>
        <p:spPr>
          <a:xfrm>
            <a:off x="4510197" y="2452608"/>
            <a:ext cx="3204411" cy="2996951"/>
          </a:xfrm>
          <a:prstGeom prst="rect">
            <a:avLst/>
          </a:prstGeom>
        </p:spPr>
      </p:pic>
    </p:spTree>
    <p:extLst>
      <p:ext uri="{BB962C8B-B14F-4D97-AF65-F5344CB8AC3E}">
        <p14:creationId xmlns:p14="http://schemas.microsoft.com/office/powerpoint/2010/main" val="143303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09612" y="5057264"/>
            <a:ext cx="10772775" cy="1315471"/>
          </a:xfrm>
        </p:spPr>
        <p:txBody>
          <a:bodyPr>
            <a:normAutofit/>
          </a:bodyPr>
          <a:lstStyle/>
          <a:p>
            <a:r>
              <a:rPr lang="en-US" sz="4200">
                <a:solidFill>
                  <a:srgbClr val="FFFFFF"/>
                </a:solidFill>
                <a:latin typeface="Calibri" panose="020F0502020204030204" pitchFamily="34" charset="0"/>
                <a:cs typeface="Calibri" panose="020F0502020204030204" pitchFamily="34" charset="0"/>
              </a:rPr>
              <a:t>Application-Level Session Hijacking: Brute Forcing</a:t>
            </a:r>
          </a:p>
        </p:txBody>
      </p:sp>
      <p:sp>
        <p:nvSpPr>
          <p:cNvPr id="3" name="Rectangle 2">
            <a:extLst>
              <a:ext uri="{FF2B5EF4-FFF2-40B4-BE49-F238E27FC236}">
                <a16:creationId xmlns:a16="http://schemas.microsoft.com/office/drawing/2014/main" id="{AC07F056-CACB-A502-BA4F-6632D4AC3960}"/>
              </a:ext>
            </a:extLst>
          </p:cNvPr>
          <p:cNvSpPr/>
          <p:nvPr/>
        </p:nvSpPr>
        <p:spPr>
          <a:xfrm>
            <a:off x="7788194" y="891366"/>
            <a:ext cx="4047023" cy="1097280"/>
          </a:xfrm>
          <a:prstGeom prst="rect">
            <a:avLst/>
          </a:prstGeom>
          <a:solidFill>
            <a:schemeClr val="bg1"/>
          </a:solidFill>
          <a:ln>
            <a:solidFill>
              <a:schemeClr val="bg1"/>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panose="020F0502020204030204" pitchFamily="34" charset="0"/>
                <a:cs typeface="Calibri" panose="020F0502020204030204" pitchFamily="34" charset="0"/>
              </a:rPr>
              <a:t>With brute-force technique, the attacker obtains Session IDs by attempting all possible permutations</a:t>
            </a:r>
          </a:p>
        </p:txBody>
      </p:sp>
      <p:sp>
        <p:nvSpPr>
          <p:cNvPr id="4" name="Rectangle 3">
            <a:extLst>
              <a:ext uri="{FF2B5EF4-FFF2-40B4-BE49-F238E27FC236}">
                <a16:creationId xmlns:a16="http://schemas.microsoft.com/office/drawing/2014/main" id="{FED3113F-079A-5F73-77C7-B32D3F5B2814}"/>
              </a:ext>
            </a:extLst>
          </p:cNvPr>
          <p:cNvSpPr/>
          <p:nvPr/>
        </p:nvSpPr>
        <p:spPr>
          <a:xfrm>
            <a:off x="7788194" y="2034367"/>
            <a:ext cx="4047023" cy="1097280"/>
          </a:xfrm>
          <a:prstGeom prst="rect">
            <a:avLst/>
          </a:prstGeom>
          <a:solidFill>
            <a:schemeClr val="bg1"/>
          </a:solidFill>
          <a:ln>
            <a:solidFill>
              <a:schemeClr val="bg1"/>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panose="020F0502020204030204" pitchFamily="34" charset="0"/>
                <a:cs typeface="Calibri" panose="020F0502020204030204" pitchFamily="34" charset="0"/>
              </a:rPr>
              <a:t>An attacker using a digital subscriber line (DSL) can generate up to 1,000 Session IDs/second</a:t>
            </a:r>
          </a:p>
        </p:txBody>
      </p:sp>
      <p:sp>
        <p:nvSpPr>
          <p:cNvPr id="6" name="Rectangle 5">
            <a:extLst>
              <a:ext uri="{FF2B5EF4-FFF2-40B4-BE49-F238E27FC236}">
                <a16:creationId xmlns:a16="http://schemas.microsoft.com/office/drawing/2014/main" id="{10CDC2A9-38A4-6184-A111-8929CC8D82FF}"/>
              </a:ext>
            </a:extLst>
          </p:cNvPr>
          <p:cNvSpPr/>
          <p:nvPr/>
        </p:nvSpPr>
        <p:spPr>
          <a:xfrm>
            <a:off x="7788194" y="3177368"/>
            <a:ext cx="4047023" cy="1097280"/>
          </a:xfrm>
          <a:prstGeom prst="rect">
            <a:avLst/>
          </a:prstGeom>
          <a:solidFill>
            <a:schemeClr val="bg1"/>
          </a:solidFill>
          <a:ln>
            <a:solidFill>
              <a:schemeClr val="bg1"/>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latin typeface="Calibri" panose="020F0502020204030204" pitchFamily="34" charset="0"/>
                <a:cs typeface="Calibri" panose="020F0502020204030204" pitchFamily="34" charset="0"/>
              </a:rPr>
              <a:t>Brute-Force attacks are most useful when the algorithm producing Session IDs is not random</a:t>
            </a:r>
          </a:p>
        </p:txBody>
      </p:sp>
      <p:pic>
        <p:nvPicPr>
          <p:cNvPr id="11" name="Picture 10" descr="A computer screen with a link&#10;&#10;Description automatically generated">
            <a:extLst>
              <a:ext uri="{FF2B5EF4-FFF2-40B4-BE49-F238E27FC236}">
                <a16:creationId xmlns:a16="http://schemas.microsoft.com/office/drawing/2014/main" id="{71568F4A-2099-133D-06FC-95E36157EC6D}"/>
              </a:ext>
            </a:extLst>
          </p:cNvPr>
          <p:cNvPicPr>
            <a:picLocks noChangeAspect="1"/>
          </p:cNvPicPr>
          <p:nvPr/>
        </p:nvPicPr>
        <p:blipFill rotWithShape="1">
          <a:blip r:embed="rId3">
            <a:extLst>
              <a:ext uri="{28A0092B-C50C-407E-A947-70E740481C1C}">
                <a14:useLocalDpi xmlns:a14="http://schemas.microsoft.com/office/drawing/2010/main" val="0"/>
              </a:ext>
            </a:extLst>
          </a:blip>
          <a:srcRect r="3208"/>
          <a:stretch/>
        </p:blipFill>
        <p:spPr>
          <a:xfrm>
            <a:off x="247707" y="705720"/>
            <a:ext cx="7540487" cy="3584161"/>
          </a:xfrm>
          <a:prstGeom prst="rect">
            <a:avLst/>
          </a:prstGeom>
        </p:spPr>
      </p:pic>
      <p:sp>
        <p:nvSpPr>
          <p:cNvPr id="12" name="TextBox 11">
            <a:extLst>
              <a:ext uri="{FF2B5EF4-FFF2-40B4-BE49-F238E27FC236}">
                <a16:creationId xmlns:a16="http://schemas.microsoft.com/office/drawing/2014/main" id="{309E3749-38BF-4900-1FBB-8E8111ACCA41}"/>
              </a:ext>
            </a:extLst>
          </p:cNvPr>
          <p:cNvSpPr txBox="1"/>
          <p:nvPr/>
        </p:nvSpPr>
        <p:spPr>
          <a:xfrm>
            <a:off x="583094" y="4339167"/>
            <a:ext cx="6126562" cy="261610"/>
          </a:xfrm>
          <a:prstGeom prst="rect">
            <a:avLst/>
          </a:prstGeom>
          <a:noFill/>
        </p:spPr>
        <p:txBody>
          <a:bodyPr wrap="square" rtlCol="0">
            <a:spAutoFit/>
          </a:bodyPr>
          <a:lstStyle/>
          <a:p>
            <a:pPr algn="ctr"/>
            <a:r>
              <a:rPr lang="en-US" sz="1100"/>
              <a:t>Copyright © by EC-Council. All Rights Reserved. Reproduction is Strictly Prohibited.</a:t>
            </a:r>
          </a:p>
        </p:txBody>
      </p:sp>
    </p:spTree>
    <p:extLst>
      <p:ext uri="{BB962C8B-B14F-4D97-AF65-F5344CB8AC3E}">
        <p14:creationId xmlns:p14="http://schemas.microsoft.com/office/powerpoint/2010/main" val="14567350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7223" y="5161824"/>
            <a:ext cx="10772775" cy="1106352"/>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Compromising Session IDs Using Sniffing</a:t>
            </a:r>
          </a:p>
        </p:txBody>
      </p:sp>
      <p:pic>
        <p:nvPicPr>
          <p:cNvPr id="4" name="Picture 3">
            <a:extLst>
              <a:ext uri="{FF2B5EF4-FFF2-40B4-BE49-F238E27FC236}">
                <a16:creationId xmlns:a16="http://schemas.microsoft.com/office/drawing/2014/main" id="{E8281446-308D-B0CA-F881-E6C1353A5B1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91622" y="95322"/>
            <a:ext cx="7103975" cy="4476678"/>
          </a:xfrm>
          <a:prstGeom prst="rect">
            <a:avLst/>
          </a:prstGeom>
        </p:spPr>
      </p:pic>
      <p:sp>
        <p:nvSpPr>
          <p:cNvPr id="7" name="TextBox 6">
            <a:extLst>
              <a:ext uri="{FF2B5EF4-FFF2-40B4-BE49-F238E27FC236}">
                <a16:creationId xmlns:a16="http://schemas.microsoft.com/office/drawing/2014/main" id="{65AF22B9-2899-F767-528B-8483B353E9E9}"/>
              </a:ext>
            </a:extLst>
          </p:cNvPr>
          <p:cNvSpPr txBox="1"/>
          <p:nvPr/>
        </p:nvSpPr>
        <p:spPr>
          <a:xfrm>
            <a:off x="2980328" y="4333540"/>
            <a:ext cx="6126562" cy="261610"/>
          </a:xfrm>
          <a:prstGeom prst="rect">
            <a:avLst/>
          </a:prstGeom>
          <a:noFill/>
        </p:spPr>
        <p:txBody>
          <a:bodyPr wrap="square" rtlCol="0">
            <a:spAutoFit/>
          </a:bodyPr>
          <a:lstStyle/>
          <a:p>
            <a:pPr algn="ctr"/>
            <a:r>
              <a:rPr lang="en-US" sz="1100"/>
              <a:t>Copyright © by EC-Council. All Rights Reserved. Reproduction is Strictly Prohibited.</a:t>
            </a:r>
          </a:p>
        </p:txBody>
      </p:sp>
    </p:spTree>
    <p:extLst>
      <p:ext uri="{BB962C8B-B14F-4D97-AF65-F5344CB8AC3E}">
        <p14:creationId xmlns:p14="http://schemas.microsoft.com/office/powerpoint/2010/main" val="3916451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5143" y="4823791"/>
            <a:ext cx="10801713" cy="1605945"/>
          </a:xfrm>
        </p:spPr>
        <p:txBody>
          <a:bodyPr>
            <a:normAutofit/>
          </a:bodyPr>
          <a:lstStyle/>
          <a:p>
            <a:pPr algn="ctr"/>
            <a:r>
              <a:rPr lang="en-US" sz="4400">
                <a:solidFill>
                  <a:srgbClr val="FFFFFF"/>
                </a:solidFill>
                <a:latin typeface="Calibri" panose="020F0502020204030204" pitchFamily="34" charset="0"/>
                <a:cs typeface="Calibri" panose="020F0502020204030204" pitchFamily="34" charset="0"/>
              </a:rPr>
              <a:t>Compromising Session IDs by Predicting Session Token</a:t>
            </a:r>
          </a:p>
        </p:txBody>
      </p:sp>
      <p:graphicFrame>
        <p:nvGraphicFramePr>
          <p:cNvPr id="5" name="Content Placeholder 2">
            <a:extLst>
              <a:ext uri="{FF2B5EF4-FFF2-40B4-BE49-F238E27FC236}">
                <a16:creationId xmlns:a16="http://schemas.microsoft.com/office/drawing/2014/main" id="{F198769C-BBD3-4B55-83DB-94EFC1197DEA}"/>
              </a:ext>
            </a:extLst>
          </p:cNvPr>
          <p:cNvGraphicFramePr>
            <a:graphicFrameLocks noGrp="1"/>
          </p:cNvGraphicFramePr>
          <p:nvPr>
            <p:ph idx="1"/>
            <p:extLst>
              <p:ext uri="{D42A27DB-BD31-4B8C-83A1-F6EECF244321}">
                <p14:modId xmlns:p14="http://schemas.microsoft.com/office/powerpoint/2010/main" val="2284975200"/>
              </p:ext>
            </p:extLst>
          </p:nvPr>
        </p:nvGraphicFramePr>
        <p:xfrm>
          <a:off x="676275" y="643468"/>
          <a:ext cx="10872258" cy="3501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diagram of a program">
            <a:extLst>
              <a:ext uri="{FF2B5EF4-FFF2-40B4-BE49-F238E27FC236}">
                <a16:creationId xmlns:a16="http://schemas.microsoft.com/office/drawing/2014/main" id="{EE08AFD0-6195-EF1C-F703-57BAB03B72BB}"/>
              </a:ext>
            </a:extLst>
          </p:cNvPr>
          <p:cNvPicPr>
            <a:picLocks noChangeAspect="1"/>
          </p:cNvPicPr>
          <p:nvPr/>
        </p:nvPicPr>
        <p:blipFill rotWithShape="1">
          <a:blip r:embed="rId8">
            <a:extLst>
              <a:ext uri="{28A0092B-C50C-407E-A947-70E740481C1C}">
                <a14:useLocalDpi xmlns:a14="http://schemas.microsoft.com/office/drawing/2010/main" val="0"/>
              </a:ext>
            </a:extLst>
          </a:blip>
          <a:srcRect b="10201"/>
          <a:stretch/>
        </p:blipFill>
        <p:spPr>
          <a:xfrm>
            <a:off x="643467" y="167749"/>
            <a:ext cx="10388646" cy="4236501"/>
          </a:xfrm>
          <a:prstGeom prst="rect">
            <a:avLst/>
          </a:prstGeom>
        </p:spPr>
      </p:pic>
    </p:spTree>
    <p:extLst>
      <p:ext uri="{BB962C8B-B14F-4D97-AF65-F5344CB8AC3E}">
        <p14:creationId xmlns:p14="http://schemas.microsoft.com/office/powerpoint/2010/main" val="11669207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76275" y="5096256"/>
            <a:ext cx="10753724" cy="1334450"/>
          </a:xfrm>
        </p:spPr>
        <p:txBody>
          <a:bodyPr>
            <a:normAutofit/>
          </a:bodyPr>
          <a:lstStyle/>
          <a:p>
            <a:pPr algn="ctr"/>
            <a:r>
              <a:rPr lang="en-US" sz="3800">
                <a:solidFill>
                  <a:srgbClr val="FFFFFF"/>
                </a:solidFill>
                <a:latin typeface="Calibri" panose="020F0502020204030204" pitchFamily="34" charset="0"/>
                <a:cs typeface="Calibri" panose="020F0502020204030204" pitchFamily="34" charset="0"/>
              </a:rPr>
              <a:t>Compromising Session IDs by Predicting Session Token</a:t>
            </a:r>
          </a:p>
        </p:txBody>
      </p:sp>
      <p:sp>
        <p:nvSpPr>
          <p:cNvPr id="3" name="Rectangle 2">
            <a:extLst>
              <a:ext uri="{FF2B5EF4-FFF2-40B4-BE49-F238E27FC236}">
                <a16:creationId xmlns:a16="http://schemas.microsoft.com/office/drawing/2014/main" id="{6D673679-1B3F-273D-3443-60369B3B5C28}"/>
              </a:ext>
            </a:extLst>
          </p:cNvPr>
          <p:cNvSpPr/>
          <p:nvPr/>
        </p:nvSpPr>
        <p:spPr>
          <a:xfrm>
            <a:off x="256032" y="222504"/>
            <a:ext cx="11460480" cy="792480"/>
          </a:xfrm>
          <a:prstGeom prst="rect">
            <a:avLst/>
          </a:prstGeom>
          <a:solidFill>
            <a:srgbClr val="4FB4C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en-US" sz="2000">
                <a:latin typeface="Calibri" panose="020F0502020204030204" pitchFamily="34" charset="0"/>
                <a:cs typeface="Calibri" panose="020F0502020204030204" pitchFamily="34" charset="0"/>
              </a:rPr>
              <a:t>An attacker collects a large amount of simultaneous session IDs to gather samples in the same time window and keep the variable constant. </a:t>
            </a:r>
          </a:p>
        </p:txBody>
      </p:sp>
      <p:sp>
        <p:nvSpPr>
          <p:cNvPr id="4" name="Rounded Rectangle 3">
            <a:extLst>
              <a:ext uri="{FF2B5EF4-FFF2-40B4-BE49-F238E27FC236}">
                <a16:creationId xmlns:a16="http://schemas.microsoft.com/office/drawing/2014/main" id="{8AD9C3EE-E487-C1FF-4B62-F3C5E730F80B}"/>
              </a:ext>
            </a:extLst>
          </p:cNvPr>
          <p:cNvSpPr/>
          <p:nvPr/>
        </p:nvSpPr>
        <p:spPr>
          <a:xfrm>
            <a:off x="1365504" y="1271016"/>
            <a:ext cx="8686800"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r>
              <a:rPr lang="en-US">
                <a:solidFill>
                  <a:schemeClr val="tx1"/>
                </a:solidFill>
              </a:rPr>
              <a:t>The attacker collects valid Session IDs useful in identifying authenticated users</a:t>
            </a:r>
          </a:p>
        </p:txBody>
      </p:sp>
      <p:sp>
        <p:nvSpPr>
          <p:cNvPr id="6" name="Oval 5">
            <a:extLst>
              <a:ext uri="{FF2B5EF4-FFF2-40B4-BE49-F238E27FC236}">
                <a16:creationId xmlns:a16="http://schemas.microsoft.com/office/drawing/2014/main" id="{825F17A4-E98C-40A8-8201-A85592FE468A}"/>
              </a:ext>
            </a:extLst>
          </p:cNvPr>
          <p:cNvSpPr/>
          <p:nvPr/>
        </p:nvSpPr>
        <p:spPr>
          <a:xfrm>
            <a:off x="1231392" y="1222248"/>
            <a:ext cx="451104" cy="49987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a:latin typeface="Calibri" panose="020F0502020204030204" pitchFamily="34" charset="0"/>
                <a:cs typeface="Calibri" panose="020F0502020204030204" pitchFamily="34" charset="0"/>
              </a:rPr>
              <a:t>1</a:t>
            </a:r>
          </a:p>
        </p:txBody>
      </p:sp>
      <p:sp>
        <p:nvSpPr>
          <p:cNvPr id="7" name="Rounded Rectangle 6">
            <a:extLst>
              <a:ext uri="{FF2B5EF4-FFF2-40B4-BE49-F238E27FC236}">
                <a16:creationId xmlns:a16="http://schemas.microsoft.com/office/drawing/2014/main" id="{992F19E0-36CE-4E3A-D6D2-DABBCA1EDE3A}"/>
              </a:ext>
            </a:extLst>
          </p:cNvPr>
          <p:cNvSpPr/>
          <p:nvPr/>
        </p:nvSpPr>
        <p:spPr>
          <a:xfrm>
            <a:off x="2005584" y="2331720"/>
            <a:ext cx="8686800"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548640" rtlCol="0" anchor="ctr"/>
          <a:lstStyle/>
          <a:p>
            <a:r>
              <a:rPr lang="en-US">
                <a:solidFill>
                  <a:schemeClr val="tx1"/>
                </a:solidFill>
              </a:rPr>
              <a:t>The attacker studies the Session ID structure, information used to generate it, and the algorithm used by the web application to secure it</a:t>
            </a:r>
          </a:p>
        </p:txBody>
      </p:sp>
      <p:sp>
        <p:nvSpPr>
          <p:cNvPr id="8" name="Oval 7">
            <a:extLst>
              <a:ext uri="{FF2B5EF4-FFF2-40B4-BE49-F238E27FC236}">
                <a16:creationId xmlns:a16="http://schemas.microsoft.com/office/drawing/2014/main" id="{18E58BC9-48C0-8105-7F9B-7405109261C7}"/>
              </a:ext>
            </a:extLst>
          </p:cNvPr>
          <p:cNvSpPr/>
          <p:nvPr/>
        </p:nvSpPr>
        <p:spPr>
          <a:xfrm>
            <a:off x="1871472" y="2282952"/>
            <a:ext cx="451104" cy="49987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a:latin typeface="Calibri" panose="020F0502020204030204" pitchFamily="34" charset="0"/>
                <a:cs typeface="Calibri" panose="020F0502020204030204" pitchFamily="34" charset="0"/>
              </a:rPr>
              <a:t>2</a:t>
            </a:r>
          </a:p>
        </p:txBody>
      </p:sp>
      <p:sp>
        <p:nvSpPr>
          <p:cNvPr id="9" name="Rounded Rectangle 8">
            <a:extLst>
              <a:ext uri="{FF2B5EF4-FFF2-40B4-BE49-F238E27FC236}">
                <a16:creationId xmlns:a16="http://schemas.microsoft.com/office/drawing/2014/main" id="{B6F2FBD3-7378-C1D4-6B1B-8DE781FDE6B0}"/>
              </a:ext>
            </a:extLst>
          </p:cNvPr>
          <p:cNvSpPr/>
          <p:nvPr/>
        </p:nvSpPr>
        <p:spPr>
          <a:xfrm>
            <a:off x="2743199" y="3429000"/>
            <a:ext cx="8686800" cy="9144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lIns="457200" rtlCol="0" anchor="ctr"/>
          <a:lstStyle/>
          <a:p>
            <a:pPr marL="285750" indent="-285750">
              <a:buFont typeface="Courier New" panose="02070309020205020404" pitchFamily="49" charset="0"/>
              <a:buChar char="o"/>
            </a:pPr>
            <a:r>
              <a:rPr lang="en-US">
                <a:solidFill>
                  <a:schemeClr val="tx1"/>
                </a:solidFill>
              </a:rPr>
              <a:t>The attacker uses this information to predict the Session ID. </a:t>
            </a:r>
          </a:p>
          <a:p>
            <a:pPr marL="285750" indent="-285750">
              <a:buFont typeface="Courier New" panose="02070309020205020404" pitchFamily="49" charset="0"/>
              <a:buChar char="o"/>
            </a:pPr>
            <a:r>
              <a:rPr lang="en-US">
                <a:solidFill>
                  <a:schemeClr val="tx1"/>
                </a:solidFill>
              </a:rPr>
              <a:t>Attackers can only guess Session IDs using a brute-force technique where they generate and test different Session ID values until they gain access</a:t>
            </a:r>
          </a:p>
        </p:txBody>
      </p:sp>
      <p:sp>
        <p:nvSpPr>
          <p:cNvPr id="10" name="Oval 9">
            <a:extLst>
              <a:ext uri="{FF2B5EF4-FFF2-40B4-BE49-F238E27FC236}">
                <a16:creationId xmlns:a16="http://schemas.microsoft.com/office/drawing/2014/main" id="{5B98EF64-6958-43EA-E9F3-9676E1AC4BA1}"/>
              </a:ext>
            </a:extLst>
          </p:cNvPr>
          <p:cNvSpPr/>
          <p:nvPr/>
        </p:nvSpPr>
        <p:spPr>
          <a:xfrm>
            <a:off x="2609087" y="3380232"/>
            <a:ext cx="451104" cy="499872"/>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a:latin typeface="Calibri" panose="020F0502020204030204" pitchFamily="34" charset="0"/>
                <a:cs typeface="Calibri" panose="020F0502020204030204" pitchFamily="34" charset="0"/>
              </a:rPr>
              <a:t>3</a:t>
            </a:r>
          </a:p>
        </p:txBody>
      </p:sp>
    </p:spTree>
    <p:extLst>
      <p:ext uri="{BB962C8B-B14F-4D97-AF65-F5344CB8AC3E}">
        <p14:creationId xmlns:p14="http://schemas.microsoft.com/office/powerpoint/2010/main" val="2170965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09612" y="4974888"/>
            <a:ext cx="10772775" cy="1371026"/>
          </a:xfrm>
        </p:spPr>
        <p:txBody>
          <a:bodyPr>
            <a:normAutofit fontScale="90000"/>
          </a:bodyPr>
          <a:lstStyle/>
          <a:p>
            <a:pPr algn="ctr"/>
            <a:r>
              <a:rPr lang="en-US">
                <a:solidFill>
                  <a:srgbClr val="FFFFFF"/>
                </a:solidFill>
                <a:latin typeface="Calibri" panose="020F0502020204030204" pitchFamily="34" charset="0"/>
                <a:cs typeface="Calibri" panose="020F0502020204030204" pitchFamily="34" charset="0"/>
              </a:rPr>
              <a:t>Compromising Session IDs Using Man-in-the-Middle Attack</a:t>
            </a:r>
          </a:p>
        </p:txBody>
      </p:sp>
      <p:sp>
        <p:nvSpPr>
          <p:cNvPr id="3" name="Rectangle 2">
            <a:extLst>
              <a:ext uri="{FF2B5EF4-FFF2-40B4-BE49-F238E27FC236}">
                <a16:creationId xmlns:a16="http://schemas.microsoft.com/office/drawing/2014/main" id="{8168206B-5DA6-F3E3-442E-BFA2A4EFE440}"/>
              </a:ext>
            </a:extLst>
          </p:cNvPr>
          <p:cNvSpPr/>
          <p:nvPr/>
        </p:nvSpPr>
        <p:spPr>
          <a:xfrm>
            <a:off x="303657" y="252750"/>
            <a:ext cx="6035040" cy="822960"/>
          </a:xfrm>
          <a:prstGeom prst="rect">
            <a:avLst/>
          </a:prstGeom>
          <a:solidFill>
            <a:schemeClr val="bg1"/>
          </a:solidFill>
          <a:ln>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Calibri" panose="020F0502020204030204" pitchFamily="34" charset="0"/>
                <a:cs typeface="Calibri" panose="020F0502020204030204" pitchFamily="34" charset="0"/>
              </a:rPr>
              <a:t>A man-in-the-middle (MITM) attack intrudes into an existing connection between systems and intercepts messages being transmitted</a:t>
            </a:r>
          </a:p>
        </p:txBody>
      </p:sp>
      <p:sp>
        <p:nvSpPr>
          <p:cNvPr id="4" name="Rectangle 3">
            <a:extLst>
              <a:ext uri="{FF2B5EF4-FFF2-40B4-BE49-F238E27FC236}">
                <a16:creationId xmlns:a16="http://schemas.microsoft.com/office/drawing/2014/main" id="{F3EE8D93-7BB1-74ED-FAE2-28FF2DEF1D3C}"/>
              </a:ext>
            </a:extLst>
          </p:cNvPr>
          <p:cNvSpPr/>
          <p:nvPr/>
        </p:nvSpPr>
        <p:spPr>
          <a:xfrm>
            <a:off x="303657" y="1405680"/>
            <a:ext cx="6035040" cy="822960"/>
          </a:xfrm>
          <a:prstGeom prst="rect">
            <a:avLst/>
          </a:prstGeom>
          <a:solidFill>
            <a:schemeClr val="bg1"/>
          </a:solidFill>
          <a:ln>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Calibri" panose="020F0502020204030204" pitchFamily="34" charset="0"/>
                <a:cs typeface="Calibri" panose="020F0502020204030204" pitchFamily="34" charset="0"/>
              </a:rPr>
              <a:t>Attackers use different techniques and split a TCP connection into two:</a:t>
            </a:r>
          </a:p>
          <a:p>
            <a:pPr marL="285750" indent="-285750">
              <a:buFont typeface="Courier New" panose="02070309020205020404" pitchFamily="49" charset="0"/>
              <a:buChar char="o"/>
            </a:pPr>
            <a:r>
              <a:rPr lang="en-US" sz="1600">
                <a:solidFill>
                  <a:schemeClr val="tx1"/>
                </a:solidFill>
                <a:latin typeface="Calibri" panose="020F0502020204030204" pitchFamily="34" charset="0"/>
                <a:cs typeface="Calibri" panose="020F0502020204030204" pitchFamily="34" charset="0"/>
              </a:rPr>
              <a:t>Client-to-attacker</a:t>
            </a:r>
          </a:p>
          <a:p>
            <a:pPr marL="285750" indent="-285750">
              <a:buFont typeface="Courier New" panose="02070309020205020404" pitchFamily="49" charset="0"/>
              <a:buChar char="o"/>
            </a:pPr>
            <a:r>
              <a:rPr lang="en-US" sz="1600">
                <a:solidFill>
                  <a:schemeClr val="tx1"/>
                </a:solidFill>
                <a:latin typeface="Calibri" panose="020F0502020204030204" pitchFamily="34" charset="0"/>
                <a:cs typeface="Calibri" panose="020F0502020204030204" pitchFamily="34" charset="0"/>
              </a:rPr>
              <a:t>Attacker-to-server</a:t>
            </a:r>
          </a:p>
        </p:txBody>
      </p:sp>
      <p:sp>
        <p:nvSpPr>
          <p:cNvPr id="6" name="Rectangle 5">
            <a:extLst>
              <a:ext uri="{FF2B5EF4-FFF2-40B4-BE49-F238E27FC236}">
                <a16:creationId xmlns:a16="http://schemas.microsoft.com/office/drawing/2014/main" id="{C1C6811D-4D36-AC24-747F-A0C8C35A860B}"/>
              </a:ext>
            </a:extLst>
          </p:cNvPr>
          <p:cNvSpPr/>
          <p:nvPr/>
        </p:nvSpPr>
        <p:spPr>
          <a:xfrm>
            <a:off x="303657" y="2560385"/>
            <a:ext cx="6035040" cy="822960"/>
          </a:xfrm>
          <a:prstGeom prst="rect">
            <a:avLst/>
          </a:prstGeom>
          <a:solidFill>
            <a:schemeClr val="bg1"/>
          </a:solidFill>
          <a:ln>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Calibri" panose="020F0502020204030204" pitchFamily="34" charset="0"/>
                <a:cs typeface="Calibri" panose="020F0502020204030204" pitchFamily="34" charset="0"/>
              </a:rPr>
              <a:t>After successfully intercepting a TCP connection, an attacker can read, modify, and insert fraudulent data into the intercepted communication</a:t>
            </a:r>
          </a:p>
        </p:txBody>
      </p:sp>
      <p:sp>
        <p:nvSpPr>
          <p:cNvPr id="7" name="Rectangle 6">
            <a:extLst>
              <a:ext uri="{FF2B5EF4-FFF2-40B4-BE49-F238E27FC236}">
                <a16:creationId xmlns:a16="http://schemas.microsoft.com/office/drawing/2014/main" id="{9D0D182E-2A9C-64AC-E8B6-C29154182308}"/>
              </a:ext>
            </a:extLst>
          </p:cNvPr>
          <p:cNvSpPr/>
          <p:nvPr/>
        </p:nvSpPr>
        <p:spPr>
          <a:xfrm>
            <a:off x="303657" y="3648786"/>
            <a:ext cx="6035040" cy="822960"/>
          </a:xfrm>
          <a:prstGeom prst="rect">
            <a:avLst/>
          </a:prstGeom>
          <a:solidFill>
            <a:schemeClr val="bg1"/>
          </a:solidFill>
          <a:ln>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a:solidFill>
                  <a:schemeClr val="tx1"/>
                </a:solidFill>
                <a:latin typeface="Calibri" panose="020F0502020204030204" pitchFamily="34" charset="0"/>
                <a:cs typeface="Calibri" panose="020F0502020204030204" pitchFamily="34" charset="0"/>
              </a:rPr>
              <a:t>In an HTTP transaction, the TCP connection between the client and server is targeted</a:t>
            </a:r>
          </a:p>
        </p:txBody>
      </p:sp>
      <p:pic>
        <p:nvPicPr>
          <p:cNvPr id="12" name="Picture 11" descr="A diagram of a computer network&#10;&#10;Description automatically generated">
            <a:extLst>
              <a:ext uri="{FF2B5EF4-FFF2-40B4-BE49-F238E27FC236}">
                <a16:creationId xmlns:a16="http://schemas.microsoft.com/office/drawing/2014/main" id="{B638027E-11CF-3F31-F50F-D1D0E09550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5589" y="266564"/>
            <a:ext cx="5472165" cy="4186206"/>
          </a:xfrm>
          <a:prstGeom prst="rect">
            <a:avLst/>
          </a:prstGeom>
        </p:spPr>
      </p:pic>
      <p:sp>
        <p:nvSpPr>
          <p:cNvPr id="13" name="TextBox 12">
            <a:extLst>
              <a:ext uri="{FF2B5EF4-FFF2-40B4-BE49-F238E27FC236}">
                <a16:creationId xmlns:a16="http://schemas.microsoft.com/office/drawing/2014/main" id="{61983850-8BD4-50C3-467B-FECD3E0495AE}"/>
              </a:ext>
            </a:extLst>
          </p:cNvPr>
          <p:cNvSpPr txBox="1"/>
          <p:nvPr/>
        </p:nvSpPr>
        <p:spPr>
          <a:xfrm>
            <a:off x="6407142" y="4340941"/>
            <a:ext cx="5609057" cy="261610"/>
          </a:xfrm>
          <a:prstGeom prst="rect">
            <a:avLst/>
          </a:prstGeom>
          <a:noFill/>
        </p:spPr>
        <p:txBody>
          <a:bodyPr wrap="square" rtlCol="0">
            <a:spAutoFit/>
          </a:bodyPr>
          <a:lstStyle/>
          <a:p>
            <a:pPr algn="ctr"/>
            <a:r>
              <a:rPr lang="en-US" sz="1100"/>
              <a:t>Copyright © by EC-Council. All Rights Reserved. Reproduction is Strictly Prohibited.</a:t>
            </a:r>
          </a:p>
        </p:txBody>
      </p:sp>
    </p:spTree>
    <p:extLst>
      <p:ext uri="{BB962C8B-B14F-4D97-AF65-F5344CB8AC3E}">
        <p14:creationId xmlns:p14="http://schemas.microsoft.com/office/powerpoint/2010/main" val="2966689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88D80A3-503A-400A-9D7F-99EC3CE065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12192000" cy="228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35304" y="5005103"/>
            <a:ext cx="10772775" cy="1419794"/>
          </a:xfrm>
        </p:spPr>
        <p:txBody>
          <a:bodyPr>
            <a:normAutofit fontScale="90000"/>
          </a:bodyPr>
          <a:lstStyle/>
          <a:p>
            <a:pPr algn="ctr"/>
            <a:r>
              <a:rPr lang="en-US">
                <a:solidFill>
                  <a:srgbClr val="FFFFFF"/>
                </a:solidFill>
                <a:latin typeface="Calibri" panose="020F0502020204030204" pitchFamily="34" charset="0"/>
                <a:cs typeface="Calibri" panose="020F0502020204030204" pitchFamily="34" charset="0"/>
              </a:rPr>
              <a:t>Compromising Session IDs Using Man-in-the-Browser Attack</a:t>
            </a:r>
          </a:p>
        </p:txBody>
      </p:sp>
      <p:sp>
        <p:nvSpPr>
          <p:cNvPr id="3" name="Rectangle 2">
            <a:extLst>
              <a:ext uri="{FF2B5EF4-FFF2-40B4-BE49-F238E27FC236}">
                <a16:creationId xmlns:a16="http://schemas.microsoft.com/office/drawing/2014/main" id="{56E6E6C5-DFBA-4F05-3E6F-842BDA237C3E}"/>
              </a:ext>
            </a:extLst>
          </p:cNvPr>
          <p:cNvSpPr/>
          <p:nvPr/>
        </p:nvSpPr>
        <p:spPr>
          <a:xfrm>
            <a:off x="657225" y="401906"/>
            <a:ext cx="6309360" cy="1097280"/>
          </a:xfrm>
          <a:prstGeom prst="rect">
            <a:avLst/>
          </a:prstGeom>
          <a:solidFill>
            <a:schemeClr val="bg1"/>
          </a:solidFill>
          <a:ln>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182880" rtlCol="0" anchor="ctr"/>
          <a:lstStyle/>
          <a:p>
            <a:r>
              <a:rPr lang="en-US" sz="1600">
                <a:solidFill>
                  <a:schemeClr val="tx1"/>
                </a:solidFill>
                <a:latin typeface="Calibri" panose="020F0502020204030204" pitchFamily="34" charset="0"/>
                <a:cs typeface="Calibri" panose="020F0502020204030204" pitchFamily="34" charset="0"/>
              </a:rPr>
              <a:t>A man-in-the-browser attack is similar to an MITM attack</a:t>
            </a:r>
          </a:p>
        </p:txBody>
      </p:sp>
      <p:sp>
        <p:nvSpPr>
          <p:cNvPr id="4" name="Rectangle 3">
            <a:extLst>
              <a:ext uri="{FF2B5EF4-FFF2-40B4-BE49-F238E27FC236}">
                <a16:creationId xmlns:a16="http://schemas.microsoft.com/office/drawing/2014/main" id="{8B08A91B-73D0-AD3E-A46D-46EE1A59E194}"/>
              </a:ext>
            </a:extLst>
          </p:cNvPr>
          <p:cNvSpPr/>
          <p:nvPr/>
        </p:nvSpPr>
        <p:spPr>
          <a:xfrm>
            <a:off x="2614041" y="1770315"/>
            <a:ext cx="6309360" cy="1097280"/>
          </a:xfrm>
          <a:prstGeom prst="rect">
            <a:avLst/>
          </a:prstGeom>
          <a:solidFill>
            <a:schemeClr val="bg1"/>
          </a:solidFill>
          <a:ln>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182880" rtlCol="0" anchor="ctr"/>
          <a:lstStyle/>
          <a:p>
            <a:r>
              <a:rPr lang="en-US" sz="1600">
                <a:solidFill>
                  <a:schemeClr val="tx1"/>
                </a:solidFill>
                <a:latin typeface="Calibri" panose="020F0502020204030204" pitchFamily="34" charset="0"/>
                <a:cs typeface="Calibri" panose="020F0502020204030204" pitchFamily="34" charset="0"/>
              </a:rPr>
              <a:t>The man-in-the-browser is different from an MITM attack because it uses a Trojan horse to intercept and manipulate calls between a browser and its security mechanisms or libraries</a:t>
            </a:r>
          </a:p>
        </p:txBody>
      </p:sp>
      <p:sp>
        <p:nvSpPr>
          <p:cNvPr id="6" name="Rectangle 5">
            <a:extLst>
              <a:ext uri="{FF2B5EF4-FFF2-40B4-BE49-F238E27FC236}">
                <a16:creationId xmlns:a16="http://schemas.microsoft.com/office/drawing/2014/main" id="{66EE00D0-55B4-89A8-1869-7E02F4BF0732}"/>
              </a:ext>
            </a:extLst>
          </p:cNvPr>
          <p:cNvSpPr/>
          <p:nvPr/>
        </p:nvSpPr>
        <p:spPr>
          <a:xfrm>
            <a:off x="5273039" y="3213659"/>
            <a:ext cx="6309360" cy="1097280"/>
          </a:xfrm>
          <a:prstGeom prst="rect">
            <a:avLst/>
          </a:prstGeom>
          <a:solidFill>
            <a:schemeClr val="bg1"/>
          </a:solidFill>
          <a:ln>
            <a:solidFill>
              <a:schemeClr val="accent1">
                <a:lumMod val="20000"/>
                <a:lumOff val="8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182880" rtlCol="0" anchor="ctr"/>
          <a:lstStyle/>
          <a:p>
            <a:r>
              <a:rPr lang="en-US" sz="1600">
                <a:solidFill>
                  <a:schemeClr val="tx1"/>
                </a:solidFill>
                <a:latin typeface="Calibri" panose="020F0502020204030204" pitchFamily="34" charset="0"/>
                <a:cs typeface="Calibri" panose="020F0502020204030204" pitchFamily="34" charset="0"/>
              </a:rPr>
              <a:t>An attacker positions a previously installed Trojan between the browser and its security mechanism, allowing it to modify web pages and transaction content or insert additional transactions</a:t>
            </a:r>
          </a:p>
        </p:txBody>
      </p:sp>
      <p:sp>
        <p:nvSpPr>
          <p:cNvPr id="9" name="Bent Arrow 8">
            <a:extLst>
              <a:ext uri="{FF2B5EF4-FFF2-40B4-BE49-F238E27FC236}">
                <a16:creationId xmlns:a16="http://schemas.microsoft.com/office/drawing/2014/main" id="{299E179A-EDFA-9ECF-3F7A-EEB6064E2B4E}"/>
              </a:ext>
            </a:extLst>
          </p:cNvPr>
          <p:cNvSpPr/>
          <p:nvPr/>
        </p:nvSpPr>
        <p:spPr>
          <a:xfrm rot="10800000" flipH="1">
            <a:off x="1463040" y="1597152"/>
            <a:ext cx="914400" cy="897090"/>
          </a:xfrm>
          <a:prstGeom prst="bentArrow">
            <a:avLst>
              <a:gd name="adj1" fmla="val 18205"/>
              <a:gd name="adj2" fmla="val 25000"/>
              <a:gd name="adj3" fmla="val 19564"/>
              <a:gd name="adj4" fmla="val 233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Bent Arrow 10">
            <a:extLst>
              <a:ext uri="{FF2B5EF4-FFF2-40B4-BE49-F238E27FC236}">
                <a16:creationId xmlns:a16="http://schemas.microsoft.com/office/drawing/2014/main" id="{D5E1E6B2-0760-4047-ED2B-F94BEF285376}"/>
              </a:ext>
            </a:extLst>
          </p:cNvPr>
          <p:cNvSpPr/>
          <p:nvPr/>
        </p:nvSpPr>
        <p:spPr>
          <a:xfrm rot="10800000" flipH="1">
            <a:off x="4126992" y="3009814"/>
            <a:ext cx="914400" cy="897090"/>
          </a:xfrm>
          <a:prstGeom prst="bentArrow">
            <a:avLst>
              <a:gd name="adj1" fmla="val 18205"/>
              <a:gd name="adj2" fmla="val 25000"/>
              <a:gd name="adj3" fmla="val 19564"/>
              <a:gd name="adj4" fmla="val 2336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17187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9247F-A4EB-35DF-09F2-FB688FB9FB0F}"/>
              </a:ext>
            </a:extLst>
          </p:cNvPr>
          <p:cNvSpPr>
            <a:spLocks noGrp="1"/>
          </p:cNvSpPr>
          <p:nvPr>
            <p:ph type="title"/>
          </p:nvPr>
        </p:nvSpPr>
        <p:spPr/>
        <p:txBody>
          <a:bodyPr/>
          <a:lstStyle/>
          <a:p>
            <a:r>
              <a:rPr lang="en-US"/>
              <a:t>CEHv13 Update – Advanced Session Hijacking Techniques</a:t>
            </a:r>
          </a:p>
        </p:txBody>
      </p:sp>
      <p:sp>
        <p:nvSpPr>
          <p:cNvPr id="3" name="Content Placeholder 2">
            <a:extLst>
              <a:ext uri="{FF2B5EF4-FFF2-40B4-BE49-F238E27FC236}">
                <a16:creationId xmlns:a16="http://schemas.microsoft.com/office/drawing/2014/main" id="{8EB04459-6B6B-F3D3-280B-4D0BE53B78A2}"/>
              </a:ext>
            </a:extLst>
          </p:cNvPr>
          <p:cNvSpPr>
            <a:spLocks noGrp="1"/>
          </p:cNvSpPr>
          <p:nvPr>
            <p:ph idx="1"/>
          </p:nvPr>
        </p:nvSpPr>
        <p:spPr>
          <a:xfrm>
            <a:off x="676274" y="2157731"/>
            <a:ext cx="10753725" cy="3766185"/>
          </a:xfrm>
        </p:spPr>
        <p:txBody>
          <a:bodyPr>
            <a:normAutofit lnSpcReduction="10000"/>
          </a:bodyPr>
          <a:lstStyle/>
          <a:p>
            <a:pPr>
              <a:buFont typeface="Arial" panose="020B0604020202020204" pitchFamily="34" charset="0"/>
              <a:buChar char="•"/>
            </a:pPr>
            <a:r>
              <a:rPr lang="en-US"/>
              <a:t>CEHv13 highlights expanded threat vectors such as:</a:t>
            </a:r>
          </a:p>
          <a:p>
            <a:pPr marL="742950" lvl="1" indent="-285750">
              <a:buFont typeface="Arial" panose="020B0604020202020204" pitchFamily="34" charset="0"/>
              <a:buChar char="•"/>
            </a:pPr>
            <a:r>
              <a:rPr lang="en-US" b="1"/>
              <a:t>Man-in-the-Browser (</a:t>
            </a:r>
            <a:r>
              <a:rPr lang="en-US" b="1" err="1"/>
              <a:t>MitB</a:t>
            </a:r>
            <a:r>
              <a:rPr lang="en-US" b="1"/>
              <a:t>)</a:t>
            </a:r>
            <a:r>
              <a:rPr lang="en-US"/>
              <a:t> attacks using injected trojans (common in banking malware)</a:t>
            </a:r>
          </a:p>
          <a:p>
            <a:pPr marL="742950" lvl="1" indent="-285750">
              <a:buFont typeface="Arial" panose="020B0604020202020204" pitchFamily="34" charset="0"/>
              <a:buChar char="•"/>
            </a:pPr>
            <a:r>
              <a:rPr lang="en-US" b="1"/>
              <a:t>Cloud session hijacking</a:t>
            </a:r>
            <a:r>
              <a:rPr lang="en-US"/>
              <a:t> due to poor token invalidation across federated apps (e.g., SSO misuse)</a:t>
            </a:r>
          </a:p>
          <a:p>
            <a:pPr marL="742950" lvl="1" indent="-285750">
              <a:buFont typeface="Arial" panose="020B0604020202020204" pitchFamily="34" charset="0"/>
              <a:buChar char="•"/>
            </a:pPr>
            <a:r>
              <a:rPr lang="en-US" b="1"/>
              <a:t>Browser exploitation frameworks (</a:t>
            </a:r>
            <a:r>
              <a:rPr lang="en-US" b="1" err="1"/>
              <a:t>BeEF</a:t>
            </a:r>
            <a:r>
              <a:rPr lang="en-US" b="1"/>
              <a:t>)</a:t>
            </a:r>
            <a:r>
              <a:rPr lang="en-US"/>
              <a:t> used to automate client-side session manipulation</a:t>
            </a:r>
          </a:p>
          <a:p>
            <a:pPr>
              <a:buFont typeface="Arial" panose="020B0604020202020204" pitchFamily="34" charset="0"/>
              <a:buChar char="•"/>
            </a:pPr>
            <a:r>
              <a:rPr lang="en-US"/>
              <a:t>New focus on hijacking </a:t>
            </a:r>
            <a:r>
              <a:rPr lang="en-US" b="1"/>
              <a:t>JWTs</a:t>
            </a:r>
            <a:r>
              <a:rPr lang="en-US"/>
              <a:t> and </a:t>
            </a:r>
            <a:r>
              <a:rPr lang="en-US" b="1"/>
              <a:t>OAuth tokens</a:t>
            </a:r>
            <a:r>
              <a:rPr lang="en-US"/>
              <a:t>, especially in SPA/web API environments</a:t>
            </a:r>
          </a:p>
          <a:p>
            <a:pPr>
              <a:buFont typeface="Arial" panose="020B0604020202020204" pitchFamily="34" charset="0"/>
              <a:buChar char="•"/>
            </a:pPr>
            <a:r>
              <a:rPr lang="en-US"/>
              <a:t>Attackers increasingly leverage </a:t>
            </a:r>
            <a:r>
              <a:rPr lang="en-US" b="1"/>
              <a:t>AI-based brute force models</a:t>
            </a:r>
            <a:r>
              <a:rPr lang="en-US"/>
              <a:t> to predict or generate weak session tokens</a:t>
            </a:r>
          </a:p>
          <a:p>
            <a:endParaRPr lang="en-US"/>
          </a:p>
        </p:txBody>
      </p:sp>
    </p:spTree>
    <p:extLst>
      <p:ext uri="{BB962C8B-B14F-4D97-AF65-F5344CB8AC3E}">
        <p14:creationId xmlns:p14="http://schemas.microsoft.com/office/powerpoint/2010/main" val="94037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FE9-6823-212C-CCCF-FCF798E49FF0}"/>
              </a:ext>
            </a:extLst>
          </p:cNvPr>
          <p:cNvSpPr>
            <a:spLocks noGrp="1"/>
          </p:cNvSpPr>
          <p:nvPr>
            <p:ph type="title"/>
          </p:nvPr>
        </p:nvSpPr>
        <p:spPr/>
        <p:txBody>
          <a:bodyPr/>
          <a:lstStyle/>
          <a:p>
            <a:r>
              <a:rPr lang="en-US"/>
              <a:t>CEHv13 Update – Detection &amp; Prevention Strategies</a:t>
            </a:r>
          </a:p>
        </p:txBody>
      </p:sp>
      <p:sp>
        <p:nvSpPr>
          <p:cNvPr id="5" name="Rectangle 2">
            <a:extLst>
              <a:ext uri="{FF2B5EF4-FFF2-40B4-BE49-F238E27FC236}">
                <a16:creationId xmlns:a16="http://schemas.microsoft.com/office/drawing/2014/main" id="{E08B0C3A-DBC9-CD7E-B55D-066006D9569D}"/>
              </a:ext>
            </a:extLst>
          </p:cNvPr>
          <p:cNvSpPr>
            <a:spLocks noGrp="1" noChangeArrowheads="1"/>
          </p:cNvSpPr>
          <p:nvPr>
            <p:ph idx="1"/>
          </p:nvPr>
        </p:nvSpPr>
        <p:spPr bwMode="auto">
          <a:xfrm>
            <a:off x="571881" y="2046596"/>
            <a:ext cx="1065809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a:ln>
                  <a:noFill/>
                </a:ln>
                <a:solidFill>
                  <a:schemeClr val="tx1"/>
                </a:solidFill>
                <a:effectLst/>
                <a:latin typeface="Calibri" panose="020F0502020204030204" pitchFamily="34" charset="0"/>
                <a:cs typeface="Calibri" panose="020F0502020204030204" pitchFamily="34" charset="0"/>
              </a:rPr>
              <a:t>Enhanced defenses emphasized in CEHv13:</a:t>
            </a:r>
          </a:p>
          <a:p>
            <a:pPr marL="256032" lvl="1" indent="0" eaLnBrk="0" fontAlgn="base" hangingPunct="0">
              <a:lnSpc>
                <a:spcPct val="100000"/>
              </a:lnSpc>
              <a:spcBef>
                <a:spcPct val="0"/>
              </a:spcBef>
              <a:spcAft>
                <a:spcPct val="0"/>
              </a:spcAft>
              <a:buFontTx/>
              <a:buChar char="•"/>
            </a:pPr>
            <a:r>
              <a:rPr kumimoji="0" lang="en-US" altLang="en-US" b="1" i="0" u="none" strike="noStrike" cap="none" normalizeH="0" baseline="0">
                <a:ln>
                  <a:noFill/>
                </a:ln>
                <a:solidFill>
                  <a:schemeClr val="tx1"/>
                </a:solidFill>
                <a:effectLst/>
                <a:latin typeface="Calibri" panose="020F0502020204030204" pitchFamily="34" charset="0"/>
                <a:cs typeface="Calibri" panose="020F0502020204030204" pitchFamily="34" charset="0"/>
              </a:rPr>
              <a:t>Session binding</a:t>
            </a:r>
            <a:r>
              <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rPr>
              <a:t> to IP/device fingerprint to prevent reuse</a:t>
            </a:r>
          </a:p>
          <a:p>
            <a:pPr marL="256032"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rPr>
              <a:t>Use of </a:t>
            </a:r>
            <a:r>
              <a:rPr kumimoji="0" lang="en-US" altLang="en-US" b="1" i="0" u="none" strike="noStrike" cap="none" normalizeH="0" baseline="0">
                <a:ln>
                  <a:noFill/>
                </a:ln>
                <a:solidFill>
                  <a:schemeClr val="tx1"/>
                </a:solidFill>
                <a:effectLst/>
                <a:latin typeface="Calibri" panose="020F0502020204030204" pitchFamily="34" charset="0"/>
                <a:cs typeface="Calibri" panose="020F0502020204030204" pitchFamily="34" charset="0"/>
              </a:rPr>
              <a:t>Secure, </a:t>
            </a:r>
            <a:r>
              <a:rPr kumimoji="0" lang="en-US" altLang="en-US" b="1" i="0" u="none" strike="noStrike" cap="none" normalizeH="0" baseline="0" err="1">
                <a:ln>
                  <a:noFill/>
                </a:ln>
                <a:solidFill>
                  <a:schemeClr val="tx1"/>
                </a:solidFill>
                <a:effectLst/>
                <a:latin typeface="Calibri" panose="020F0502020204030204" pitchFamily="34" charset="0"/>
                <a:cs typeface="Calibri" panose="020F0502020204030204" pitchFamily="34" charset="0"/>
              </a:rPr>
              <a:t>HttpOnly</a:t>
            </a:r>
            <a:r>
              <a:rPr kumimoji="0" lang="en-US" altLang="en-US" b="1" i="0" u="none" strike="noStrike" cap="none" normalizeH="0" baseline="0">
                <a:ln>
                  <a:noFill/>
                </a:ln>
                <a:solidFill>
                  <a:schemeClr val="tx1"/>
                </a:solidFill>
                <a:effectLst/>
                <a:latin typeface="Calibri" panose="020F0502020204030204" pitchFamily="34" charset="0"/>
                <a:cs typeface="Calibri" panose="020F0502020204030204" pitchFamily="34" charset="0"/>
              </a:rPr>
              <a:t>, and </a:t>
            </a:r>
            <a:r>
              <a:rPr kumimoji="0" lang="en-US" altLang="en-US" b="1" i="0" u="none" strike="noStrike" cap="none" normalizeH="0" baseline="0" err="1">
                <a:ln>
                  <a:noFill/>
                </a:ln>
                <a:solidFill>
                  <a:schemeClr val="tx1"/>
                </a:solidFill>
                <a:effectLst/>
                <a:latin typeface="Calibri" panose="020F0502020204030204" pitchFamily="34" charset="0"/>
                <a:cs typeface="Calibri" panose="020F0502020204030204" pitchFamily="34" charset="0"/>
              </a:rPr>
              <a:t>SameSite</a:t>
            </a:r>
            <a:r>
              <a:rPr kumimoji="0" lang="en-US" altLang="en-US" b="1" i="0" u="none" strike="noStrike" cap="none" normalizeH="0" baseline="0">
                <a:ln>
                  <a:noFill/>
                </a:ln>
                <a:solidFill>
                  <a:schemeClr val="tx1"/>
                </a:solidFill>
                <a:effectLst/>
                <a:latin typeface="Calibri" panose="020F0502020204030204" pitchFamily="34" charset="0"/>
                <a:cs typeface="Calibri" panose="020F0502020204030204" pitchFamily="34" charset="0"/>
              </a:rPr>
              <a:t> cookie attributes</a:t>
            </a:r>
            <a:r>
              <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rPr>
              <a:t> to mitigate XSS and fixation</a:t>
            </a:r>
          </a:p>
          <a:p>
            <a:pPr marL="256032" lvl="1" indent="0" eaLnBrk="0" fontAlgn="base" hangingPunct="0">
              <a:lnSpc>
                <a:spcPct val="100000"/>
              </a:lnSpc>
              <a:spcBef>
                <a:spcPct val="0"/>
              </a:spcBef>
              <a:spcAft>
                <a:spcPct val="0"/>
              </a:spcAft>
              <a:buFontTx/>
              <a:buChar char="•"/>
            </a:pPr>
            <a:r>
              <a:rPr kumimoji="0" lang="en-US" altLang="en-US" b="1" i="0" u="none" strike="noStrike" cap="none" normalizeH="0" baseline="0">
                <a:ln>
                  <a:noFill/>
                </a:ln>
                <a:solidFill>
                  <a:schemeClr val="tx1"/>
                </a:solidFill>
                <a:effectLst/>
                <a:latin typeface="Calibri" panose="020F0502020204030204" pitchFamily="34" charset="0"/>
                <a:cs typeface="Calibri" panose="020F0502020204030204" pitchFamily="34" charset="0"/>
              </a:rPr>
              <a:t>Short session lifespans and forced re-authentication</a:t>
            </a:r>
            <a:r>
              <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rPr>
              <a:t> after privilege elevation</a:t>
            </a:r>
          </a:p>
          <a:p>
            <a:pPr marL="256032"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rPr>
              <a:t>Monitoring for </a:t>
            </a:r>
            <a:r>
              <a:rPr kumimoji="0" lang="en-US" altLang="en-US" b="1" i="0" u="none" strike="noStrike" cap="none" normalizeH="0" baseline="0">
                <a:ln>
                  <a:noFill/>
                </a:ln>
                <a:solidFill>
                  <a:schemeClr val="tx1"/>
                </a:solidFill>
                <a:effectLst/>
                <a:latin typeface="Calibri" panose="020F0502020204030204" pitchFamily="34" charset="0"/>
                <a:cs typeface="Calibri" panose="020F0502020204030204" pitchFamily="34" charset="0"/>
              </a:rPr>
              <a:t>token reuse across geolocations or devices</a:t>
            </a:r>
            <a:endPar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a:ln>
                  <a:noFill/>
                </a:ln>
                <a:solidFill>
                  <a:schemeClr val="tx1"/>
                </a:solidFill>
                <a:effectLst/>
                <a:latin typeface="Calibri" panose="020F0502020204030204" pitchFamily="34" charset="0"/>
                <a:cs typeface="Calibri" panose="020F0502020204030204" pitchFamily="34" charset="0"/>
              </a:rPr>
              <a:t>AI-based session defense tools now:</a:t>
            </a:r>
          </a:p>
          <a:p>
            <a:pPr marL="256032"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rPr>
              <a:t>Flag abnormal token reuse patterns</a:t>
            </a:r>
          </a:p>
          <a:p>
            <a:pPr marL="256032" lvl="1" indent="0" eaLnBrk="0" fontAlgn="base" hangingPunct="0">
              <a:lnSpc>
                <a:spcPct val="100000"/>
              </a:lnSpc>
              <a:spcBef>
                <a:spcPct val="0"/>
              </a:spcBef>
              <a:spcAft>
                <a:spcPct val="0"/>
              </a:spcAft>
              <a:buFontTx/>
              <a:buChar char="•"/>
            </a:pPr>
            <a:r>
              <a:rPr kumimoji="0" lang="en-US" altLang="en-US" b="0" i="0" u="none" strike="noStrike" cap="none" normalizeH="0" baseline="0">
                <a:ln>
                  <a:noFill/>
                </a:ln>
                <a:solidFill>
                  <a:schemeClr val="tx1"/>
                </a:solidFill>
                <a:effectLst/>
                <a:latin typeface="Calibri" panose="020F0502020204030204" pitchFamily="34" charset="0"/>
                <a:cs typeface="Calibri" panose="020F0502020204030204" pitchFamily="34" charset="0"/>
              </a:rPr>
              <a:t>Detect token replay across session expiration boundaries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a:ln>
                  <a:noFill/>
                </a:ln>
                <a:solidFill>
                  <a:schemeClr val="tx1"/>
                </a:solidFill>
                <a:effectLst/>
                <a:latin typeface="Calibri" panose="020F0502020204030204" pitchFamily="34" charset="0"/>
                <a:cs typeface="Calibri" panose="020F0502020204030204" pitchFamily="34" charset="0"/>
              </a:rPr>
              <a:t>Industry examples: Azure AD Conditional Access, Google Cloud session risk scoring</a:t>
            </a:r>
          </a:p>
        </p:txBody>
      </p:sp>
    </p:spTree>
    <p:extLst>
      <p:ext uri="{BB962C8B-B14F-4D97-AF65-F5344CB8AC3E}">
        <p14:creationId xmlns:p14="http://schemas.microsoft.com/office/powerpoint/2010/main" val="3635087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ees working on a honeycomb">
            <a:extLst>
              <a:ext uri="{FF2B5EF4-FFF2-40B4-BE49-F238E27FC236}">
                <a16:creationId xmlns:a16="http://schemas.microsoft.com/office/drawing/2014/main" id="{07FB7A57-BB3D-360A-377D-B0527E83E463}"/>
              </a:ext>
            </a:extLst>
          </p:cNvPr>
          <p:cNvPicPr>
            <a:picLocks noChangeAspect="1"/>
          </p:cNvPicPr>
          <p:nvPr/>
        </p:nvPicPr>
        <p:blipFill rotWithShape="1">
          <a:blip r:embed="rId2">
            <a:alphaModFix amt="60000"/>
          </a:blip>
          <a:srcRect b="22681"/>
          <a:stretch/>
        </p:blipFill>
        <p:spPr>
          <a:xfrm>
            <a:off x="-1" y="10"/>
            <a:ext cx="12192001" cy="6857990"/>
          </a:xfrm>
          <a:prstGeom prst="rect">
            <a:avLst/>
          </a:prstGeom>
        </p:spPr>
      </p:pic>
      <p:sp>
        <p:nvSpPr>
          <p:cNvPr id="2" name="Title 1"/>
          <p:cNvSpPr>
            <a:spLocks noGrp="1"/>
          </p:cNvSpPr>
          <p:nvPr>
            <p:ph type="ctrTitle"/>
          </p:nvPr>
        </p:nvSpPr>
        <p:spPr>
          <a:xfrm>
            <a:off x="1198181" y="1122363"/>
            <a:ext cx="9795637" cy="2220775"/>
          </a:xfrm>
        </p:spPr>
        <p:txBody>
          <a:bodyPr>
            <a:normAutofit/>
          </a:bodyPr>
          <a:lstStyle/>
          <a:p>
            <a:r>
              <a:rPr lang="en-US" sz="5200">
                <a:solidFill>
                  <a:srgbClr val="FFFFFF"/>
                </a:solidFill>
                <a:latin typeface="Consolas" panose="020B0609020204030204" pitchFamily="49" charset="0"/>
              </a:rPr>
              <a:t>Evading IDS, Firewalls and Honeypots</a:t>
            </a:r>
          </a:p>
        </p:txBody>
      </p:sp>
      <p:sp>
        <p:nvSpPr>
          <p:cNvPr id="3" name="Subtitle 2"/>
          <p:cNvSpPr>
            <a:spLocks noGrp="1"/>
          </p:cNvSpPr>
          <p:nvPr>
            <p:ph type="subTitle" idx="1"/>
          </p:nvPr>
        </p:nvSpPr>
        <p:spPr>
          <a:xfrm>
            <a:off x="1198181" y="3514853"/>
            <a:ext cx="9795637" cy="2057043"/>
          </a:xfrm>
        </p:spPr>
        <p:txBody>
          <a:bodyPr>
            <a:normAutofit/>
          </a:bodyPr>
          <a:lstStyle/>
          <a:p>
            <a:r>
              <a:rPr lang="en-US" dirty="0">
                <a:solidFill>
                  <a:srgbClr val="FFFFFF"/>
                </a:solidFill>
                <a:latin typeface="Consolas" panose="020B0609020204030204" pitchFamily="49" charset="0"/>
              </a:rPr>
              <a:t>EC Council</a:t>
            </a:r>
          </a:p>
          <a:p>
            <a:r>
              <a:rPr lang="en-US" dirty="0">
                <a:solidFill>
                  <a:srgbClr val="FFFFFF"/>
                </a:solidFill>
                <a:latin typeface="Consolas" panose="020B0609020204030204" pitchFamily="49" charset="0"/>
              </a:rPr>
              <a:t>Volume 3, Module 2, v12, with v13 additions at the end</a:t>
            </a:r>
          </a:p>
        </p:txBody>
      </p:sp>
    </p:spTree>
    <p:extLst>
      <p:ext uri="{BB962C8B-B14F-4D97-AF65-F5344CB8AC3E}">
        <p14:creationId xmlns:p14="http://schemas.microsoft.com/office/powerpoint/2010/main" val="368997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42" y="207034"/>
            <a:ext cx="6127588" cy="819509"/>
          </a:xfrm>
        </p:spPr>
        <p:txBody>
          <a:bodyPr anchor="ctr">
            <a:noAutofit/>
          </a:bodyPr>
          <a:lstStyle/>
          <a:p>
            <a:r>
              <a:rPr lang="en-US" dirty="0">
                <a:latin typeface="Calibri" panose="020F0502020204030204" pitchFamily="34" charset="0"/>
                <a:cs typeface="Calibri" panose="020F0502020204030204" pitchFamily="34" charset="0"/>
              </a:rPr>
              <a:t>Overview IDS and IPS</a:t>
            </a:r>
          </a:p>
        </p:txBody>
      </p:sp>
      <p:sp>
        <p:nvSpPr>
          <p:cNvPr id="3" name="Content Placeholder 2"/>
          <p:cNvSpPr>
            <a:spLocks noGrp="1"/>
          </p:cNvSpPr>
          <p:nvPr>
            <p:ph idx="1"/>
          </p:nvPr>
        </p:nvSpPr>
        <p:spPr>
          <a:xfrm>
            <a:off x="465826" y="1345721"/>
            <a:ext cx="6849374" cy="4485736"/>
          </a:xfrm>
        </p:spPr>
        <p:txBody>
          <a:bodyPr>
            <a:noAutofit/>
          </a:bodyPr>
          <a:lstStyle/>
          <a:p>
            <a:r>
              <a:rPr lang="en-US" sz="1800" dirty="0"/>
              <a:t>IDS/IPS</a:t>
            </a:r>
          </a:p>
          <a:p>
            <a:pPr lvl="1"/>
            <a:r>
              <a:rPr lang="en-US" sz="1800" dirty="0"/>
              <a:t>software or hardware device </a:t>
            </a:r>
          </a:p>
          <a:p>
            <a:pPr lvl="1"/>
            <a:r>
              <a:rPr lang="en-US" sz="1800" dirty="0"/>
              <a:t>Monitor network for malicious activities</a:t>
            </a:r>
          </a:p>
          <a:p>
            <a:pPr lvl="1"/>
            <a:r>
              <a:rPr lang="en-US" sz="1800" dirty="0"/>
              <a:t>passive - IDS</a:t>
            </a:r>
          </a:p>
          <a:p>
            <a:pPr lvl="1"/>
            <a:r>
              <a:rPr lang="en-US" sz="1800" dirty="0"/>
              <a:t>active - IPS</a:t>
            </a:r>
          </a:p>
          <a:p>
            <a:r>
              <a:rPr lang="en-US" sz="1800" dirty="0"/>
              <a:t>Firewall</a:t>
            </a:r>
          </a:p>
          <a:p>
            <a:pPr lvl="1"/>
            <a:r>
              <a:rPr lang="en-US" sz="1800" dirty="0"/>
              <a:t>software or hardware</a:t>
            </a:r>
          </a:p>
          <a:p>
            <a:pPr lvl="1"/>
            <a:r>
              <a:rPr lang="en-US" sz="1800" dirty="0"/>
              <a:t>protects a private network</a:t>
            </a:r>
          </a:p>
          <a:p>
            <a:pPr lvl="1"/>
            <a:r>
              <a:rPr lang="en-US" sz="1800" dirty="0"/>
              <a:t>between two networks - usually between private network and public </a:t>
            </a:r>
          </a:p>
          <a:p>
            <a:r>
              <a:rPr lang="en-US" sz="1800" dirty="0"/>
              <a:t>Honeypot</a:t>
            </a:r>
          </a:p>
          <a:p>
            <a:pPr lvl="1"/>
            <a:r>
              <a:rPr lang="en-US" sz="1800" dirty="0"/>
              <a:t>simulates a target but does not store any sensitive information</a:t>
            </a:r>
          </a:p>
          <a:p>
            <a:pPr lvl="1"/>
            <a:r>
              <a:rPr lang="en-US" sz="1800" dirty="0"/>
              <a:t>usually is poorly secured allowing a hacker to easily bypass its security measures</a:t>
            </a:r>
          </a:p>
        </p:txBody>
      </p:sp>
      <p:pic>
        <p:nvPicPr>
          <p:cNvPr id="5" name="Picture 4" descr="Effective Tips to Secure your Wireless Router | 101hacker"/>
          <p:cNvPicPr>
            <a:picLocks noChangeAspect="1"/>
          </p:cNvPicPr>
          <p:nvPr/>
        </p:nvPicPr>
        <p:blipFill rotWithShape="1">
          <a:blip r:embed="rId2">
            <a:extLst>
              <a:ext uri="{28A0092B-C50C-407E-A947-70E740481C1C}">
                <a14:useLocalDpi xmlns:a14="http://schemas.microsoft.com/office/drawing/2010/main" val="0"/>
              </a:ext>
            </a:extLst>
          </a:blip>
          <a:srcRect r="3795"/>
          <a:stretch/>
        </p:blipFill>
        <p:spPr>
          <a:xfrm>
            <a:off x="7599933" y="1998927"/>
            <a:ext cx="4431687" cy="4606506"/>
          </a:xfrm>
          <a:prstGeom prst="rect">
            <a:avLst/>
          </a:prstGeom>
        </p:spPr>
      </p:pic>
      <p:sp>
        <p:nvSpPr>
          <p:cNvPr id="4" name="Rectangle 3">
            <a:extLst>
              <a:ext uri="{FF2B5EF4-FFF2-40B4-BE49-F238E27FC236}">
                <a16:creationId xmlns:a16="http://schemas.microsoft.com/office/drawing/2014/main" id="{0277D866-C3FC-1E4B-2501-7B7733ED4F81}"/>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Tree>
    <p:extLst>
      <p:ext uri="{BB962C8B-B14F-4D97-AF65-F5344CB8AC3E}">
        <p14:creationId xmlns:p14="http://schemas.microsoft.com/office/powerpoint/2010/main" val="2732558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uter network&#10;&#10;Description automatically generated">
            <a:extLst>
              <a:ext uri="{FF2B5EF4-FFF2-40B4-BE49-F238E27FC236}">
                <a16:creationId xmlns:a16="http://schemas.microsoft.com/office/drawing/2014/main" id="{0AFE2F22-96FD-9493-DC43-6FF4C086FA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7382" y="1141943"/>
            <a:ext cx="8189780" cy="5400136"/>
          </a:xfrm>
          <a:prstGeom prst="rect">
            <a:avLst/>
          </a:prstGeom>
        </p:spPr>
      </p:pic>
      <p:sp>
        <p:nvSpPr>
          <p:cNvPr id="2" name="Title 1"/>
          <p:cNvSpPr>
            <a:spLocks noGrp="1"/>
          </p:cNvSpPr>
          <p:nvPr>
            <p:ph type="title"/>
          </p:nvPr>
        </p:nvSpPr>
        <p:spPr>
          <a:xfrm>
            <a:off x="1097713" y="139651"/>
            <a:ext cx="8667390" cy="948906"/>
          </a:xfrm>
          <a:noFill/>
        </p:spPr>
        <p:txBody>
          <a:bodyPr vert="horz" lIns="91440" tIns="45720" rIns="91440" bIns="45720" rtlCol="0" anchor="ctr">
            <a:normAutofit/>
          </a:bodyPr>
          <a:lstStyle/>
          <a:p>
            <a:r>
              <a:rPr lang="en-US" kern="1200" dirty="0">
                <a:latin typeface="+mn-lt"/>
                <a:ea typeface="+mj-ea"/>
                <a:cs typeface="+mj-cs"/>
              </a:rPr>
              <a:t>Intrusion Detection Overview</a:t>
            </a:r>
          </a:p>
        </p:txBody>
      </p:sp>
      <p:sp>
        <p:nvSpPr>
          <p:cNvPr id="3" name="Rectangle 2">
            <a:extLst>
              <a:ext uri="{FF2B5EF4-FFF2-40B4-BE49-F238E27FC236}">
                <a16:creationId xmlns:a16="http://schemas.microsoft.com/office/drawing/2014/main" id="{EC4754A1-5A91-B9E5-2258-D0879224106D}"/>
              </a:ext>
            </a:extLst>
          </p:cNvPr>
          <p:cNvSpPr/>
          <p:nvPr/>
        </p:nvSpPr>
        <p:spPr>
          <a:xfrm>
            <a:off x="276046" y="1088556"/>
            <a:ext cx="3571336" cy="5560295"/>
          </a:xfrm>
          <a:prstGeom prst="rect">
            <a:avLst/>
          </a:prstGeom>
          <a:solidFill>
            <a:schemeClr val="bg1"/>
          </a:solidFill>
          <a:ln>
            <a:solidFill>
              <a:schemeClr val="bg1"/>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1200"/>
              </a:spcAft>
              <a:buClr>
                <a:srgbClr val="FFDB87"/>
              </a:buClr>
              <a:buSzPct val="140000"/>
              <a:buFont typeface="Wingdings" pitchFamily="2" charset="2"/>
              <a:buChar char="§"/>
            </a:pPr>
            <a:r>
              <a:rPr lang="en-US" dirty="0">
                <a:solidFill>
                  <a:schemeClr val="tx1"/>
                </a:solidFill>
              </a:rPr>
              <a:t>An intrusion detection system (IDS) is a software system or hardware device that inspects all inbound and outbound network traffic for suspicious patterns that may indicate a network or system security breach</a:t>
            </a:r>
          </a:p>
          <a:p>
            <a:pPr marL="285750" indent="-285750">
              <a:spcAft>
                <a:spcPts val="1200"/>
              </a:spcAft>
              <a:buClr>
                <a:srgbClr val="FFDB87"/>
              </a:buClr>
              <a:buSzPct val="140000"/>
              <a:buFont typeface="Wingdings" pitchFamily="2" charset="2"/>
              <a:buChar char="§"/>
            </a:pPr>
            <a:r>
              <a:rPr lang="en-US" dirty="0">
                <a:solidFill>
                  <a:schemeClr val="tx1"/>
                </a:solidFill>
              </a:rPr>
              <a:t>The IDS checks traffic for signatures that match known intrusion patterns and signals an alarm when a match is found</a:t>
            </a:r>
          </a:p>
          <a:p>
            <a:pPr marL="285750" indent="-285750">
              <a:spcAft>
                <a:spcPts val="1200"/>
              </a:spcAft>
              <a:buClr>
                <a:srgbClr val="FFDB87"/>
              </a:buClr>
              <a:buSzPct val="140000"/>
              <a:buFont typeface="Wingdings" pitchFamily="2" charset="2"/>
              <a:buChar char="§"/>
            </a:pPr>
            <a:r>
              <a:rPr lang="en-US" dirty="0">
                <a:solidFill>
                  <a:schemeClr val="tx1"/>
                </a:solidFill>
              </a:rPr>
              <a:t>Depending on the traffic to be monitored, the IDS is placed outside/inside the firewall to monitor suspicious traffic originating from outside/inside the network</a:t>
            </a:r>
          </a:p>
        </p:txBody>
      </p:sp>
      <p:sp>
        <p:nvSpPr>
          <p:cNvPr id="7" name="Rectangle 6">
            <a:extLst>
              <a:ext uri="{FF2B5EF4-FFF2-40B4-BE49-F238E27FC236}">
                <a16:creationId xmlns:a16="http://schemas.microsoft.com/office/drawing/2014/main" id="{21EBD4B9-F0A6-D674-EA25-6BAF5266A48D}"/>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0" name="TextBox 9">
            <a:extLst>
              <a:ext uri="{FF2B5EF4-FFF2-40B4-BE49-F238E27FC236}">
                <a16:creationId xmlns:a16="http://schemas.microsoft.com/office/drawing/2014/main" id="{94074BB7-7353-F5C2-C336-0BDADB0DA90A}"/>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Tree>
    <p:extLst>
      <p:ext uri="{BB962C8B-B14F-4D97-AF65-F5344CB8AC3E}">
        <p14:creationId xmlns:p14="http://schemas.microsoft.com/office/powerpoint/2010/main" val="2093114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1679DA-A856-FFBB-BBA2-78FB5F265C8D}"/>
              </a:ext>
            </a:extLst>
          </p:cNvPr>
          <p:cNvSpPr/>
          <p:nvPr/>
        </p:nvSpPr>
        <p:spPr>
          <a:xfrm>
            <a:off x="633984" y="1203839"/>
            <a:ext cx="10420710" cy="1224951"/>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571750" lvl="5" indent="-285750">
              <a:buClr>
                <a:srgbClr val="006FBE"/>
              </a:buClr>
              <a:buSzPct val="130000"/>
              <a:buFont typeface="Arial" panose="020B0604020202020204" pitchFamily="34" charset="0"/>
              <a:buChar char="•"/>
            </a:pPr>
            <a:r>
              <a:rPr lang="en-US" sz="2000" dirty="0">
                <a:solidFill>
                  <a:schemeClr val="tx1"/>
                </a:solidFill>
              </a:rPr>
              <a:t>Signature recognition, also known as misuse detection, tries to identify events that indicate an abuse of a system or network resource</a:t>
            </a:r>
          </a:p>
        </p:txBody>
      </p:sp>
      <p:sp>
        <p:nvSpPr>
          <p:cNvPr id="4" name="TextBox 3">
            <a:extLst>
              <a:ext uri="{FF2B5EF4-FFF2-40B4-BE49-F238E27FC236}">
                <a16:creationId xmlns:a16="http://schemas.microsoft.com/office/drawing/2014/main" id="{6B5A45CF-ECA8-F8AA-91BB-51CCCC63A1B8}"/>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
        <p:nvSpPr>
          <p:cNvPr id="5" name="TextBox 4">
            <a:extLst>
              <a:ext uri="{FF2B5EF4-FFF2-40B4-BE49-F238E27FC236}">
                <a16:creationId xmlns:a16="http://schemas.microsoft.com/office/drawing/2014/main" id="{1AC26AC3-5264-570F-81EA-5528C80E0E6A}"/>
              </a:ext>
            </a:extLst>
          </p:cNvPr>
          <p:cNvSpPr txBox="1"/>
          <p:nvPr/>
        </p:nvSpPr>
        <p:spPr>
          <a:xfrm>
            <a:off x="798551" y="1400815"/>
            <a:ext cx="1846052" cy="830997"/>
          </a:xfrm>
          <a:prstGeom prst="rect">
            <a:avLst/>
          </a:prstGeom>
          <a:noFill/>
        </p:spPr>
        <p:txBody>
          <a:bodyPr wrap="square" rtlCol="0">
            <a:spAutoFit/>
          </a:bodyPr>
          <a:lstStyle/>
          <a:p>
            <a:pPr algn="ctr"/>
            <a:r>
              <a:rPr lang="en-US" sz="2400" b="1" dirty="0">
                <a:solidFill>
                  <a:srgbClr val="006FBE"/>
                </a:solidFill>
              </a:rPr>
              <a:t>Signature Recognition</a:t>
            </a:r>
          </a:p>
        </p:txBody>
      </p:sp>
      <p:cxnSp>
        <p:nvCxnSpPr>
          <p:cNvPr id="8" name="Straight Connector 7">
            <a:extLst>
              <a:ext uri="{FF2B5EF4-FFF2-40B4-BE49-F238E27FC236}">
                <a16:creationId xmlns:a16="http://schemas.microsoft.com/office/drawing/2014/main" id="{A28781F6-D644-08BA-1117-A46767036438}"/>
              </a:ext>
            </a:extLst>
          </p:cNvPr>
          <p:cNvCxnSpPr>
            <a:cxnSpLocks/>
          </p:cNvCxnSpPr>
          <p:nvPr/>
        </p:nvCxnSpPr>
        <p:spPr>
          <a:xfrm>
            <a:off x="2644603" y="1328468"/>
            <a:ext cx="0" cy="978238"/>
          </a:xfrm>
          <a:prstGeom prst="line">
            <a:avLst/>
          </a:prstGeom>
          <a:ln w="38100">
            <a:gradFill flip="none" rotWithShape="1">
              <a:gsLst>
                <a:gs pos="45000">
                  <a:schemeClr val="bg2">
                    <a:lumMod val="75000"/>
                  </a:schemeClr>
                </a:gs>
                <a:gs pos="2000">
                  <a:schemeClr val="tx1"/>
                </a:gs>
                <a:gs pos="88000">
                  <a:schemeClr val="bg1">
                    <a:lumMod val="95000"/>
                  </a:schemeClr>
                </a:gs>
                <a:gs pos="62000">
                  <a:schemeClr val="bg2">
                    <a:lumMod val="90000"/>
                  </a:schemeClr>
                </a:gs>
                <a:gs pos="24000">
                  <a:schemeClr val="bg2">
                    <a:lumMod val="50000"/>
                  </a:schemeClr>
                </a:gs>
              </a:gsLst>
              <a:path path="circle">
                <a:fillToRect l="50000" t="50000" r="50000" b="50000"/>
              </a:path>
              <a:tileRect/>
            </a:gradFill>
          </a:ln>
          <a:effectLst/>
        </p:spPr>
        <p:style>
          <a:lnRef idx="1">
            <a:schemeClr val="accent1"/>
          </a:lnRef>
          <a:fillRef idx="0">
            <a:schemeClr val="accent1"/>
          </a:fillRef>
          <a:effectRef idx="0">
            <a:schemeClr val="accent1"/>
          </a:effectRef>
          <a:fontRef idx="minor">
            <a:schemeClr val="tx1"/>
          </a:fontRef>
        </p:style>
      </p:cxnSp>
      <p:sp>
        <p:nvSpPr>
          <p:cNvPr id="12" name="Title 11">
            <a:extLst>
              <a:ext uri="{FF2B5EF4-FFF2-40B4-BE49-F238E27FC236}">
                <a16:creationId xmlns:a16="http://schemas.microsoft.com/office/drawing/2014/main" id="{8D70F058-B4AD-939D-E6FF-06C02F785CFA}"/>
              </a:ext>
            </a:extLst>
          </p:cNvPr>
          <p:cNvSpPr>
            <a:spLocks noGrp="1"/>
          </p:cNvSpPr>
          <p:nvPr>
            <p:ph type="title"/>
          </p:nvPr>
        </p:nvSpPr>
        <p:spPr>
          <a:xfrm>
            <a:off x="1042416" y="212627"/>
            <a:ext cx="10515600" cy="830997"/>
          </a:xfrm>
        </p:spPr>
        <p:txBody>
          <a:bodyPr/>
          <a:lstStyle/>
          <a:p>
            <a:r>
              <a:rPr lang="en-US" dirty="0">
                <a:latin typeface="Calibri" panose="020F0502020204030204" pitchFamily="34" charset="0"/>
                <a:cs typeface="Calibri" panose="020F0502020204030204" pitchFamily="34" charset="0"/>
              </a:rPr>
              <a:t>How an IDS Detects an Intrusion</a:t>
            </a:r>
          </a:p>
        </p:txBody>
      </p:sp>
      <p:sp>
        <p:nvSpPr>
          <p:cNvPr id="13" name="Rectangle 12">
            <a:extLst>
              <a:ext uri="{FF2B5EF4-FFF2-40B4-BE49-F238E27FC236}">
                <a16:creationId xmlns:a16="http://schemas.microsoft.com/office/drawing/2014/main" id="{29301DEE-9F7A-D3A8-8DC8-BB9D69D41022}"/>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6" name="Rectangle 15">
            <a:extLst>
              <a:ext uri="{FF2B5EF4-FFF2-40B4-BE49-F238E27FC236}">
                <a16:creationId xmlns:a16="http://schemas.microsoft.com/office/drawing/2014/main" id="{6E9275EE-DBB3-D32E-D3A0-ED187862411A}"/>
              </a:ext>
            </a:extLst>
          </p:cNvPr>
          <p:cNvSpPr/>
          <p:nvPr/>
        </p:nvSpPr>
        <p:spPr>
          <a:xfrm>
            <a:off x="633984" y="2961839"/>
            <a:ext cx="10420710" cy="1224951"/>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571750" lvl="5" indent="-285750">
              <a:buClr>
                <a:srgbClr val="006FBE"/>
              </a:buClr>
              <a:buSzPct val="130000"/>
              <a:buFont typeface="Arial" panose="020B0604020202020204" pitchFamily="34" charset="0"/>
              <a:buChar char="•"/>
            </a:pPr>
            <a:r>
              <a:rPr lang="en-US" sz="2000" dirty="0">
                <a:solidFill>
                  <a:schemeClr val="tx1"/>
                </a:solidFill>
              </a:rPr>
              <a:t>It detects the intrusion based on the fixed behavioral characteristics of the users and components in a computer system</a:t>
            </a:r>
          </a:p>
        </p:txBody>
      </p:sp>
      <p:sp>
        <p:nvSpPr>
          <p:cNvPr id="17" name="TextBox 16">
            <a:extLst>
              <a:ext uri="{FF2B5EF4-FFF2-40B4-BE49-F238E27FC236}">
                <a16:creationId xmlns:a16="http://schemas.microsoft.com/office/drawing/2014/main" id="{DCC205CA-2C87-2291-8739-557684F39282}"/>
              </a:ext>
            </a:extLst>
          </p:cNvPr>
          <p:cNvSpPr txBox="1"/>
          <p:nvPr/>
        </p:nvSpPr>
        <p:spPr>
          <a:xfrm>
            <a:off x="798551" y="3158815"/>
            <a:ext cx="1846052" cy="830997"/>
          </a:xfrm>
          <a:prstGeom prst="rect">
            <a:avLst/>
          </a:prstGeom>
          <a:noFill/>
        </p:spPr>
        <p:txBody>
          <a:bodyPr wrap="square" rtlCol="0">
            <a:spAutoFit/>
          </a:bodyPr>
          <a:lstStyle/>
          <a:p>
            <a:pPr algn="ctr"/>
            <a:r>
              <a:rPr lang="en-US" sz="2400" b="1" dirty="0">
                <a:solidFill>
                  <a:srgbClr val="006FBE"/>
                </a:solidFill>
              </a:rPr>
              <a:t>Anomaly Detection</a:t>
            </a:r>
          </a:p>
        </p:txBody>
      </p:sp>
      <p:cxnSp>
        <p:nvCxnSpPr>
          <p:cNvPr id="18" name="Straight Connector 17">
            <a:extLst>
              <a:ext uri="{FF2B5EF4-FFF2-40B4-BE49-F238E27FC236}">
                <a16:creationId xmlns:a16="http://schemas.microsoft.com/office/drawing/2014/main" id="{C211E640-A73A-18F9-F3EB-6D0FCCCAF6F8}"/>
              </a:ext>
            </a:extLst>
          </p:cNvPr>
          <p:cNvCxnSpPr>
            <a:cxnSpLocks/>
          </p:cNvCxnSpPr>
          <p:nvPr/>
        </p:nvCxnSpPr>
        <p:spPr>
          <a:xfrm>
            <a:off x="2644603" y="3086468"/>
            <a:ext cx="0" cy="978238"/>
          </a:xfrm>
          <a:prstGeom prst="line">
            <a:avLst/>
          </a:prstGeom>
          <a:ln w="38100">
            <a:gradFill flip="none" rotWithShape="1">
              <a:gsLst>
                <a:gs pos="45000">
                  <a:schemeClr val="bg2">
                    <a:lumMod val="75000"/>
                  </a:schemeClr>
                </a:gs>
                <a:gs pos="2000">
                  <a:schemeClr val="tx1"/>
                </a:gs>
                <a:gs pos="88000">
                  <a:schemeClr val="bg1">
                    <a:lumMod val="95000"/>
                  </a:schemeClr>
                </a:gs>
                <a:gs pos="62000">
                  <a:schemeClr val="bg2">
                    <a:lumMod val="90000"/>
                  </a:schemeClr>
                </a:gs>
                <a:gs pos="24000">
                  <a:schemeClr val="bg2">
                    <a:lumMod val="50000"/>
                  </a:schemeClr>
                </a:gs>
              </a:gsLst>
              <a:path path="circle">
                <a:fillToRect l="50000" t="50000" r="50000" b="50000"/>
              </a:path>
              <a:tileRect/>
            </a:gradFill>
          </a:ln>
          <a:effectLst/>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37BA039-B280-AA80-43A2-4EFAD05966CE}"/>
              </a:ext>
            </a:extLst>
          </p:cNvPr>
          <p:cNvSpPr/>
          <p:nvPr/>
        </p:nvSpPr>
        <p:spPr>
          <a:xfrm>
            <a:off x="633984" y="4764656"/>
            <a:ext cx="10420710" cy="1224951"/>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571750" lvl="5" indent="-285750">
              <a:buClr>
                <a:srgbClr val="006FBE"/>
              </a:buClr>
              <a:buSzPct val="130000"/>
              <a:buFont typeface="Arial" panose="020B0604020202020204" pitchFamily="34" charset="0"/>
              <a:buChar char="•"/>
            </a:pPr>
            <a:r>
              <a:rPr lang="en-US" sz="2000" dirty="0">
                <a:solidFill>
                  <a:schemeClr val="tx1"/>
                </a:solidFill>
              </a:rPr>
              <a:t>In this type of detection, models are built to explore anomalies in the way in which vendors deploy the TCP/IP specification</a:t>
            </a:r>
          </a:p>
        </p:txBody>
      </p:sp>
      <p:sp>
        <p:nvSpPr>
          <p:cNvPr id="20" name="TextBox 19">
            <a:extLst>
              <a:ext uri="{FF2B5EF4-FFF2-40B4-BE49-F238E27FC236}">
                <a16:creationId xmlns:a16="http://schemas.microsoft.com/office/drawing/2014/main" id="{7D964D1D-EC27-4B29-2FDD-58F08732DD4F}"/>
              </a:ext>
            </a:extLst>
          </p:cNvPr>
          <p:cNvSpPr txBox="1"/>
          <p:nvPr/>
        </p:nvSpPr>
        <p:spPr>
          <a:xfrm>
            <a:off x="716268" y="4789278"/>
            <a:ext cx="1846052" cy="1200329"/>
          </a:xfrm>
          <a:prstGeom prst="rect">
            <a:avLst/>
          </a:prstGeom>
          <a:noFill/>
        </p:spPr>
        <p:txBody>
          <a:bodyPr wrap="square" rtlCol="0">
            <a:spAutoFit/>
          </a:bodyPr>
          <a:lstStyle/>
          <a:p>
            <a:pPr algn="ctr"/>
            <a:r>
              <a:rPr lang="en-US" sz="2400" b="1" dirty="0">
                <a:solidFill>
                  <a:srgbClr val="006FBE"/>
                </a:solidFill>
              </a:rPr>
              <a:t>Protocol Anomaly Detection</a:t>
            </a:r>
          </a:p>
        </p:txBody>
      </p:sp>
      <p:cxnSp>
        <p:nvCxnSpPr>
          <p:cNvPr id="21" name="Straight Connector 20">
            <a:extLst>
              <a:ext uri="{FF2B5EF4-FFF2-40B4-BE49-F238E27FC236}">
                <a16:creationId xmlns:a16="http://schemas.microsoft.com/office/drawing/2014/main" id="{314C319A-AD12-5993-14D5-038864D8295F}"/>
              </a:ext>
            </a:extLst>
          </p:cNvPr>
          <p:cNvCxnSpPr>
            <a:cxnSpLocks/>
          </p:cNvCxnSpPr>
          <p:nvPr/>
        </p:nvCxnSpPr>
        <p:spPr>
          <a:xfrm>
            <a:off x="2644603" y="4889285"/>
            <a:ext cx="0" cy="978238"/>
          </a:xfrm>
          <a:prstGeom prst="line">
            <a:avLst/>
          </a:prstGeom>
          <a:ln w="38100">
            <a:gradFill flip="none" rotWithShape="1">
              <a:gsLst>
                <a:gs pos="45000">
                  <a:schemeClr val="bg2">
                    <a:lumMod val="75000"/>
                  </a:schemeClr>
                </a:gs>
                <a:gs pos="2000">
                  <a:schemeClr val="tx1"/>
                </a:gs>
                <a:gs pos="88000">
                  <a:schemeClr val="bg1">
                    <a:lumMod val="95000"/>
                  </a:schemeClr>
                </a:gs>
                <a:gs pos="62000">
                  <a:schemeClr val="bg2">
                    <a:lumMod val="90000"/>
                  </a:schemeClr>
                </a:gs>
                <a:gs pos="24000">
                  <a:schemeClr val="bg2">
                    <a:lumMod val="50000"/>
                  </a:schemeClr>
                </a:gs>
              </a:gsLst>
              <a:path path="circle">
                <a:fillToRect l="50000" t="50000" r="50000" b="50000"/>
              </a:path>
              <a:tileRect/>
            </a:gradFill>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4290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Intrusion Prevention IPS</a:t>
            </a:r>
          </a:p>
        </p:txBody>
      </p:sp>
      <p:sp>
        <p:nvSpPr>
          <p:cNvPr id="3" name="Rectangle 2">
            <a:extLst>
              <a:ext uri="{FF2B5EF4-FFF2-40B4-BE49-F238E27FC236}">
                <a16:creationId xmlns:a16="http://schemas.microsoft.com/office/drawing/2014/main" id="{3F76971B-1CF5-56BF-0D27-82CAF695A4E9}"/>
              </a:ext>
            </a:extLst>
          </p:cNvPr>
          <p:cNvSpPr/>
          <p:nvPr/>
        </p:nvSpPr>
        <p:spPr>
          <a:xfrm>
            <a:off x="347091" y="1152064"/>
            <a:ext cx="11420366" cy="2276936"/>
          </a:xfrm>
          <a:prstGeom prst="rect">
            <a:avLst/>
          </a:prstGeom>
          <a:solidFill>
            <a:schemeClr val="bg1"/>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51460" indent="-251460">
              <a:spcAft>
                <a:spcPts val="1200"/>
              </a:spcAft>
              <a:buClr>
                <a:srgbClr val="FFDB87"/>
              </a:buClr>
              <a:buSzPct val="150000"/>
              <a:buFont typeface="Wingdings" pitchFamily="2" charset="2"/>
              <a:buChar char="§"/>
            </a:pPr>
            <a:r>
              <a:rPr lang="en-US" dirty="0">
                <a:solidFill>
                  <a:schemeClr val="tx1"/>
                </a:solidFill>
              </a:rPr>
              <a:t>An intrusion prevention system (IPS) is also considered an active IDS since it is capable of not only detecting the intrusions but also preventing them</a:t>
            </a:r>
          </a:p>
          <a:p>
            <a:pPr marL="251460" indent="-251460">
              <a:spcAft>
                <a:spcPts val="1200"/>
              </a:spcAft>
              <a:buClr>
                <a:srgbClr val="FFDB87"/>
              </a:buClr>
              <a:buSzPct val="150000"/>
              <a:buFont typeface="Wingdings" pitchFamily="2" charset="2"/>
              <a:buChar char="§"/>
            </a:pPr>
            <a:r>
              <a:rPr lang="en-US" dirty="0">
                <a:solidFill>
                  <a:schemeClr val="tx1"/>
                </a:solidFill>
              </a:rPr>
              <a:t>It is a continuous monitoring system that often sits behind the firewalls as an additional layer of protection</a:t>
            </a:r>
          </a:p>
          <a:p>
            <a:pPr marL="251460" indent="-251460">
              <a:spcAft>
                <a:spcPts val="1200"/>
              </a:spcAft>
              <a:buClr>
                <a:srgbClr val="FFDB87"/>
              </a:buClr>
              <a:buSzPct val="150000"/>
              <a:buFont typeface="Wingdings" pitchFamily="2" charset="2"/>
              <a:buChar char="§"/>
            </a:pPr>
            <a:r>
              <a:rPr lang="en-US" dirty="0">
                <a:solidFill>
                  <a:schemeClr val="tx1"/>
                </a:solidFill>
              </a:rPr>
              <a:t>Unlike an IDS, which is passive, an IPS is placed inline in the network, between the source and destination to actively analyze the network traffic and to automatically take decisions on the traffic that is entering the network </a:t>
            </a:r>
          </a:p>
        </p:txBody>
      </p:sp>
      <p:sp>
        <p:nvSpPr>
          <p:cNvPr id="7" name="Rectangle 6">
            <a:extLst>
              <a:ext uri="{FF2B5EF4-FFF2-40B4-BE49-F238E27FC236}">
                <a16:creationId xmlns:a16="http://schemas.microsoft.com/office/drawing/2014/main" id="{9D71DFAD-78CC-933C-C9AB-EA195CB6980D}"/>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8" name="Title 11">
            <a:extLst>
              <a:ext uri="{FF2B5EF4-FFF2-40B4-BE49-F238E27FC236}">
                <a16:creationId xmlns:a16="http://schemas.microsoft.com/office/drawing/2014/main" id="{A0FA5B26-9CD2-B7A9-F31E-B4D2AC34B7C7}"/>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Intrusion Prevention System (IPS)</a:t>
            </a:r>
          </a:p>
        </p:txBody>
      </p:sp>
      <p:pic>
        <p:nvPicPr>
          <p:cNvPr id="10" name="Picture 9" descr="A diagram of a network&#10;&#10;Description automatically generated">
            <a:extLst>
              <a:ext uri="{FF2B5EF4-FFF2-40B4-BE49-F238E27FC236}">
                <a16:creationId xmlns:a16="http://schemas.microsoft.com/office/drawing/2014/main" id="{085D0295-B4ED-8CBC-BF15-6CC247C557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64" y="3537440"/>
            <a:ext cx="10744072" cy="3017757"/>
          </a:xfrm>
          <a:prstGeom prst="rect">
            <a:avLst/>
          </a:prstGeom>
        </p:spPr>
      </p:pic>
      <p:sp>
        <p:nvSpPr>
          <p:cNvPr id="12" name="TextBox 11">
            <a:extLst>
              <a:ext uri="{FF2B5EF4-FFF2-40B4-BE49-F238E27FC236}">
                <a16:creationId xmlns:a16="http://schemas.microsoft.com/office/drawing/2014/main" id="{402E4B56-4D87-4624-858F-91615FD20896}"/>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Tree>
    <p:extLst>
      <p:ext uri="{BB962C8B-B14F-4D97-AF65-F5344CB8AC3E}">
        <p14:creationId xmlns:p14="http://schemas.microsoft.com/office/powerpoint/2010/main" val="426957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Firewall Types</a:t>
            </a:r>
          </a:p>
        </p:txBody>
      </p:sp>
      <p:sp>
        <p:nvSpPr>
          <p:cNvPr id="11" name="Title 11">
            <a:extLst>
              <a:ext uri="{FF2B5EF4-FFF2-40B4-BE49-F238E27FC236}">
                <a16:creationId xmlns:a16="http://schemas.microsoft.com/office/drawing/2014/main" id="{6D17C12C-F5D8-75F6-D001-59FB4E81331D}"/>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Types of Firewalls</a:t>
            </a:r>
          </a:p>
        </p:txBody>
      </p:sp>
      <p:sp>
        <p:nvSpPr>
          <p:cNvPr id="12" name="Rectangle 11">
            <a:extLst>
              <a:ext uri="{FF2B5EF4-FFF2-40B4-BE49-F238E27FC236}">
                <a16:creationId xmlns:a16="http://schemas.microsoft.com/office/drawing/2014/main" id="{C895B51B-FE1D-8DA6-6A60-04905EA160D5}"/>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Rectangle 13">
            <a:extLst>
              <a:ext uri="{FF2B5EF4-FFF2-40B4-BE49-F238E27FC236}">
                <a16:creationId xmlns:a16="http://schemas.microsoft.com/office/drawing/2014/main" id="{911B10B7-6AE3-04DC-408F-AF6D1B8797E2}"/>
              </a:ext>
            </a:extLst>
          </p:cNvPr>
          <p:cNvSpPr/>
          <p:nvPr/>
        </p:nvSpPr>
        <p:spPr>
          <a:xfrm>
            <a:off x="424543" y="899702"/>
            <a:ext cx="5581418" cy="5138787"/>
          </a:xfrm>
          <a:prstGeom prst="rect">
            <a:avLst/>
          </a:prstGeom>
          <a:solidFill>
            <a:schemeClr val="bg1"/>
          </a:solidFill>
          <a:ln>
            <a:solidFill>
              <a:schemeClr val="bg2">
                <a:lumMod val="90000"/>
              </a:schemeClr>
            </a:solid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2400" dirty="0">
                <a:solidFill>
                  <a:srgbClr val="006FBE"/>
                </a:solidFill>
              </a:rPr>
              <a:t>Hardware Firewalls</a:t>
            </a:r>
          </a:p>
          <a:p>
            <a:pPr marL="285750" indent="-285750">
              <a:spcAft>
                <a:spcPts val="600"/>
              </a:spcAft>
              <a:buClr>
                <a:srgbClr val="006FBE"/>
              </a:buClr>
              <a:buSzPct val="130000"/>
              <a:buFont typeface="Arial" panose="020B0604020202020204" pitchFamily="34" charset="0"/>
              <a:buChar char="•"/>
            </a:pPr>
            <a:r>
              <a:rPr lang="en-US" dirty="0">
                <a:solidFill>
                  <a:schemeClr val="tx1"/>
                </a:solidFill>
              </a:rPr>
              <a:t>A hardware firewall is either a dedicated stand-alone hardware device or it comes as part of a router</a:t>
            </a:r>
          </a:p>
          <a:p>
            <a:pPr marL="285750" indent="-285750">
              <a:spcAft>
                <a:spcPts val="600"/>
              </a:spcAft>
              <a:buClr>
                <a:srgbClr val="006FBE"/>
              </a:buClr>
              <a:buSzPct val="130000"/>
              <a:buFont typeface="Arial" panose="020B0604020202020204" pitchFamily="34" charset="0"/>
              <a:buChar char="•"/>
            </a:pPr>
            <a:r>
              <a:rPr lang="en-US" dirty="0">
                <a:solidFill>
                  <a:schemeClr val="tx1"/>
                </a:solidFill>
              </a:rPr>
              <a:t>The network traffic is filtered using the packet filtering technique</a:t>
            </a:r>
          </a:p>
          <a:p>
            <a:pPr marL="285750" indent="-285750">
              <a:spcAft>
                <a:spcPts val="600"/>
              </a:spcAft>
              <a:buClr>
                <a:srgbClr val="006FBE"/>
              </a:buClr>
              <a:buSzPct val="130000"/>
              <a:buFont typeface="Arial" panose="020B0604020202020204" pitchFamily="34" charset="0"/>
              <a:buChar char="•"/>
            </a:pPr>
            <a:r>
              <a:rPr lang="en-US" dirty="0">
                <a:solidFill>
                  <a:schemeClr val="tx1"/>
                </a:solidFill>
              </a:rPr>
              <a:t>It is used to filter out the network traffic for large business networks</a:t>
            </a:r>
            <a:endParaRPr lang="en-US" sz="2400" dirty="0">
              <a:solidFill>
                <a:schemeClr val="tx1"/>
              </a:solidFill>
            </a:endParaRPr>
          </a:p>
        </p:txBody>
      </p:sp>
      <p:pic>
        <p:nvPicPr>
          <p:cNvPr id="5" name="Picture 4" descr="A diagram of a firewall&#10;&#10;Description automatically generated">
            <a:extLst>
              <a:ext uri="{FF2B5EF4-FFF2-40B4-BE49-F238E27FC236}">
                <a16:creationId xmlns:a16="http://schemas.microsoft.com/office/drawing/2014/main" id="{8A17AE5D-2D1A-1508-DAAB-344AFC7CA9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497" y="3242325"/>
            <a:ext cx="5135377" cy="2661248"/>
          </a:xfrm>
          <a:prstGeom prst="rect">
            <a:avLst/>
          </a:prstGeom>
        </p:spPr>
      </p:pic>
      <p:sp>
        <p:nvSpPr>
          <p:cNvPr id="3" name="TextBox 2">
            <a:extLst>
              <a:ext uri="{FF2B5EF4-FFF2-40B4-BE49-F238E27FC236}">
                <a16:creationId xmlns:a16="http://schemas.microsoft.com/office/drawing/2014/main" id="{84B16FCC-E807-E44B-EAA8-6DCE02C2AF46}"/>
              </a:ext>
            </a:extLst>
          </p:cNvPr>
          <p:cNvSpPr txBox="1"/>
          <p:nvPr/>
        </p:nvSpPr>
        <p:spPr>
          <a:xfrm>
            <a:off x="6100319" y="6596390"/>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
        <p:nvSpPr>
          <p:cNvPr id="15" name="Rectangle 14">
            <a:extLst>
              <a:ext uri="{FF2B5EF4-FFF2-40B4-BE49-F238E27FC236}">
                <a16:creationId xmlns:a16="http://schemas.microsoft.com/office/drawing/2014/main" id="{D3CD8D51-D7AA-629C-C9D3-9EC53F49DCE9}"/>
              </a:ext>
            </a:extLst>
          </p:cNvPr>
          <p:cNvSpPr/>
          <p:nvPr/>
        </p:nvSpPr>
        <p:spPr>
          <a:xfrm>
            <a:off x="6054050" y="896112"/>
            <a:ext cx="5581418" cy="5138787"/>
          </a:xfrm>
          <a:prstGeom prst="rect">
            <a:avLst/>
          </a:prstGeom>
          <a:solidFill>
            <a:schemeClr val="bg1"/>
          </a:solidFill>
          <a:ln>
            <a:solidFill>
              <a:schemeClr val="bg2">
                <a:lumMod val="9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2400" dirty="0">
                <a:solidFill>
                  <a:srgbClr val="006FBE"/>
                </a:solidFill>
              </a:rPr>
              <a:t>Software Firewalls</a:t>
            </a:r>
          </a:p>
          <a:p>
            <a:pPr marL="285750" indent="-285750">
              <a:spcAft>
                <a:spcPts val="600"/>
              </a:spcAft>
              <a:buClr>
                <a:srgbClr val="006FBE"/>
              </a:buClr>
              <a:buSzPct val="130000"/>
              <a:buFont typeface="Arial" panose="020B0604020202020204" pitchFamily="34" charset="0"/>
              <a:buChar char="•"/>
            </a:pPr>
            <a:r>
              <a:rPr lang="en-US" dirty="0">
                <a:solidFill>
                  <a:schemeClr val="tx1"/>
                </a:solidFill>
              </a:rPr>
              <a:t>A software firewall is a software program installed on a computer, just like normal software</a:t>
            </a:r>
          </a:p>
          <a:p>
            <a:pPr marL="285750" indent="-285750">
              <a:spcAft>
                <a:spcPts val="600"/>
              </a:spcAft>
              <a:buClr>
                <a:srgbClr val="006FBE"/>
              </a:buClr>
              <a:buSzPct val="130000"/>
              <a:buFont typeface="Arial" panose="020B0604020202020204" pitchFamily="34" charset="0"/>
              <a:buChar char="•"/>
            </a:pPr>
            <a:r>
              <a:rPr lang="en-US" dirty="0">
                <a:solidFill>
                  <a:schemeClr val="tx1"/>
                </a:solidFill>
              </a:rPr>
              <a:t>It is generally used to filter traffic for individual home users</a:t>
            </a:r>
          </a:p>
          <a:p>
            <a:pPr marL="285750" indent="-285750">
              <a:spcAft>
                <a:spcPts val="600"/>
              </a:spcAft>
              <a:buClr>
                <a:srgbClr val="006FBE"/>
              </a:buClr>
              <a:buSzPct val="130000"/>
              <a:buFont typeface="Arial" panose="020B0604020202020204" pitchFamily="34" charset="0"/>
              <a:buChar char="•"/>
            </a:pPr>
            <a:r>
              <a:rPr lang="en-US" dirty="0">
                <a:solidFill>
                  <a:schemeClr val="tx1"/>
                </a:solidFill>
              </a:rPr>
              <a:t>It only filters traffic for the computer on which it is installed, not for the entire network</a:t>
            </a:r>
            <a:endParaRPr lang="en-US" sz="2400" dirty="0">
              <a:solidFill>
                <a:schemeClr val="tx1"/>
              </a:solidFill>
            </a:endParaRPr>
          </a:p>
        </p:txBody>
      </p:sp>
      <p:pic>
        <p:nvPicPr>
          <p:cNvPr id="8" name="Picture 7" descr="A diagram of a computer software&#10;&#10;Description automatically generated">
            <a:extLst>
              <a:ext uri="{FF2B5EF4-FFF2-40B4-BE49-F238E27FC236}">
                <a16:creationId xmlns:a16="http://schemas.microsoft.com/office/drawing/2014/main" id="{9EBC5133-F656-2DEF-7B3C-970EF33BC3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0024" y="3377241"/>
            <a:ext cx="5208792" cy="2499380"/>
          </a:xfrm>
          <a:prstGeom prst="rect">
            <a:avLst/>
          </a:prstGeom>
        </p:spPr>
      </p:pic>
      <p:sp>
        <p:nvSpPr>
          <p:cNvPr id="16" name="Rectangle 15">
            <a:extLst>
              <a:ext uri="{FF2B5EF4-FFF2-40B4-BE49-F238E27FC236}">
                <a16:creationId xmlns:a16="http://schemas.microsoft.com/office/drawing/2014/main" id="{00D3F2B2-09D6-5176-B2C5-C24B9DC79F98}"/>
              </a:ext>
            </a:extLst>
          </p:cNvPr>
          <p:cNvSpPr/>
          <p:nvPr/>
        </p:nvSpPr>
        <p:spPr>
          <a:xfrm>
            <a:off x="424543" y="6105468"/>
            <a:ext cx="11210925" cy="436611"/>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Note</a:t>
            </a:r>
            <a:r>
              <a:rPr lang="en-US" dirty="0">
                <a:solidFill>
                  <a:schemeClr val="tx1"/>
                </a:solidFill>
              </a:rPr>
              <a:t>: It is recommended that you configure both a software and hardware firewall for best protection</a:t>
            </a:r>
          </a:p>
        </p:txBody>
      </p:sp>
    </p:spTree>
    <p:extLst>
      <p:ext uri="{BB962C8B-B14F-4D97-AF65-F5344CB8AC3E}">
        <p14:creationId xmlns:p14="http://schemas.microsoft.com/office/powerpoint/2010/main" val="32665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Moon 27">
            <a:extLst>
              <a:ext uri="{FF2B5EF4-FFF2-40B4-BE49-F238E27FC236}">
                <a16:creationId xmlns:a16="http://schemas.microsoft.com/office/drawing/2014/main" id="{3A0936C5-E4DF-1418-3320-50602EC2AF23}"/>
              </a:ext>
            </a:extLst>
          </p:cNvPr>
          <p:cNvSpPr/>
          <p:nvPr/>
        </p:nvSpPr>
        <p:spPr>
          <a:xfrm rot="5609307">
            <a:off x="688567" y="911178"/>
            <a:ext cx="128973" cy="95917"/>
          </a:xfrm>
          <a:custGeom>
            <a:avLst/>
            <a:gdLst>
              <a:gd name="connsiteX0" fmla="*/ 134406 w 134406"/>
              <a:gd name="connsiteY0" fmla="*/ 86604 h 86604"/>
              <a:gd name="connsiteX1" fmla="*/ 0 w 134406"/>
              <a:gd name="connsiteY1" fmla="*/ 43302 h 86604"/>
              <a:gd name="connsiteX2" fmla="*/ 134406 w 134406"/>
              <a:gd name="connsiteY2" fmla="*/ 0 h 86604"/>
              <a:gd name="connsiteX3" fmla="*/ 134406 w 134406"/>
              <a:gd name="connsiteY3" fmla="*/ 86604 h 86604"/>
              <a:gd name="connsiteX0" fmla="*/ 131237 w 134406"/>
              <a:gd name="connsiteY0" fmla="*/ 86797 h 86797"/>
              <a:gd name="connsiteX1" fmla="*/ 0 w 134406"/>
              <a:gd name="connsiteY1" fmla="*/ 43302 h 86797"/>
              <a:gd name="connsiteX2" fmla="*/ 134406 w 134406"/>
              <a:gd name="connsiteY2" fmla="*/ 0 h 86797"/>
              <a:gd name="connsiteX3" fmla="*/ 131237 w 134406"/>
              <a:gd name="connsiteY3" fmla="*/ 86797 h 86797"/>
              <a:gd name="connsiteX0" fmla="*/ 131237 w 131237"/>
              <a:gd name="connsiteY0" fmla="*/ 92362 h 92362"/>
              <a:gd name="connsiteX1" fmla="*/ 0 w 131237"/>
              <a:gd name="connsiteY1" fmla="*/ 48867 h 92362"/>
              <a:gd name="connsiteX2" fmla="*/ 121340 w 131237"/>
              <a:gd name="connsiteY2" fmla="*/ 0 h 92362"/>
              <a:gd name="connsiteX3" fmla="*/ 131237 w 131237"/>
              <a:gd name="connsiteY3" fmla="*/ 92362 h 92362"/>
              <a:gd name="connsiteX0" fmla="*/ 131237 w 131237"/>
              <a:gd name="connsiteY0" fmla="*/ 92362 h 92362"/>
              <a:gd name="connsiteX1" fmla="*/ 0 w 131237"/>
              <a:gd name="connsiteY1" fmla="*/ 48867 h 92362"/>
              <a:gd name="connsiteX2" fmla="*/ 121340 w 131237"/>
              <a:gd name="connsiteY2" fmla="*/ 0 h 92362"/>
              <a:gd name="connsiteX3" fmla="*/ 131237 w 131237"/>
              <a:gd name="connsiteY3" fmla="*/ 92362 h 92362"/>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Lst>
            <a:ahLst/>
            <a:cxnLst>
              <a:cxn ang="0">
                <a:pos x="connsiteX0" y="connsiteY0"/>
              </a:cxn>
              <a:cxn ang="0">
                <a:pos x="connsiteX1" y="connsiteY1"/>
              </a:cxn>
              <a:cxn ang="0">
                <a:pos x="connsiteX2" y="connsiteY2"/>
              </a:cxn>
              <a:cxn ang="0">
                <a:pos x="connsiteX3" y="connsiteY3"/>
              </a:cxn>
            </a:cxnLst>
            <a:rect l="l" t="t" r="r" b="b"/>
            <a:pathLst>
              <a:path w="125268" h="95917">
                <a:moveTo>
                  <a:pt x="125268" y="95917"/>
                </a:moveTo>
                <a:cubicBezTo>
                  <a:pt x="51038" y="95917"/>
                  <a:pt x="0" y="72782"/>
                  <a:pt x="0" y="48867"/>
                </a:cubicBezTo>
                <a:cubicBezTo>
                  <a:pt x="0" y="24952"/>
                  <a:pt x="47110" y="0"/>
                  <a:pt x="121340" y="0"/>
                </a:cubicBezTo>
                <a:cubicBezTo>
                  <a:pt x="106630" y="50215"/>
                  <a:pt x="123100" y="43965"/>
                  <a:pt x="125268" y="95917"/>
                </a:cubicBezTo>
                <a:close/>
              </a:path>
            </a:pathLst>
          </a:custGeom>
          <a:solidFill>
            <a:schemeClr val="bg1">
              <a:lumMod val="50000"/>
            </a:schemeClr>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Moon 27">
            <a:extLst>
              <a:ext uri="{FF2B5EF4-FFF2-40B4-BE49-F238E27FC236}">
                <a16:creationId xmlns:a16="http://schemas.microsoft.com/office/drawing/2014/main" id="{8F0B964D-0E84-FB71-C437-D5CD6080273B}"/>
              </a:ext>
            </a:extLst>
          </p:cNvPr>
          <p:cNvSpPr/>
          <p:nvPr/>
        </p:nvSpPr>
        <p:spPr>
          <a:xfrm rot="5609307">
            <a:off x="727293" y="1807393"/>
            <a:ext cx="128973" cy="95917"/>
          </a:xfrm>
          <a:custGeom>
            <a:avLst/>
            <a:gdLst>
              <a:gd name="connsiteX0" fmla="*/ 134406 w 134406"/>
              <a:gd name="connsiteY0" fmla="*/ 86604 h 86604"/>
              <a:gd name="connsiteX1" fmla="*/ 0 w 134406"/>
              <a:gd name="connsiteY1" fmla="*/ 43302 h 86604"/>
              <a:gd name="connsiteX2" fmla="*/ 134406 w 134406"/>
              <a:gd name="connsiteY2" fmla="*/ 0 h 86604"/>
              <a:gd name="connsiteX3" fmla="*/ 134406 w 134406"/>
              <a:gd name="connsiteY3" fmla="*/ 86604 h 86604"/>
              <a:gd name="connsiteX0" fmla="*/ 131237 w 134406"/>
              <a:gd name="connsiteY0" fmla="*/ 86797 h 86797"/>
              <a:gd name="connsiteX1" fmla="*/ 0 w 134406"/>
              <a:gd name="connsiteY1" fmla="*/ 43302 h 86797"/>
              <a:gd name="connsiteX2" fmla="*/ 134406 w 134406"/>
              <a:gd name="connsiteY2" fmla="*/ 0 h 86797"/>
              <a:gd name="connsiteX3" fmla="*/ 131237 w 134406"/>
              <a:gd name="connsiteY3" fmla="*/ 86797 h 86797"/>
              <a:gd name="connsiteX0" fmla="*/ 131237 w 131237"/>
              <a:gd name="connsiteY0" fmla="*/ 92362 h 92362"/>
              <a:gd name="connsiteX1" fmla="*/ 0 w 131237"/>
              <a:gd name="connsiteY1" fmla="*/ 48867 h 92362"/>
              <a:gd name="connsiteX2" fmla="*/ 121340 w 131237"/>
              <a:gd name="connsiteY2" fmla="*/ 0 h 92362"/>
              <a:gd name="connsiteX3" fmla="*/ 131237 w 131237"/>
              <a:gd name="connsiteY3" fmla="*/ 92362 h 92362"/>
              <a:gd name="connsiteX0" fmla="*/ 131237 w 131237"/>
              <a:gd name="connsiteY0" fmla="*/ 92362 h 92362"/>
              <a:gd name="connsiteX1" fmla="*/ 0 w 131237"/>
              <a:gd name="connsiteY1" fmla="*/ 48867 h 92362"/>
              <a:gd name="connsiteX2" fmla="*/ 121340 w 131237"/>
              <a:gd name="connsiteY2" fmla="*/ 0 h 92362"/>
              <a:gd name="connsiteX3" fmla="*/ 131237 w 131237"/>
              <a:gd name="connsiteY3" fmla="*/ 92362 h 92362"/>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Lst>
            <a:ahLst/>
            <a:cxnLst>
              <a:cxn ang="0">
                <a:pos x="connsiteX0" y="connsiteY0"/>
              </a:cxn>
              <a:cxn ang="0">
                <a:pos x="connsiteX1" y="connsiteY1"/>
              </a:cxn>
              <a:cxn ang="0">
                <a:pos x="connsiteX2" y="connsiteY2"/>
              </a:cxn>
              <a:cxn ang="0">
                <a:pos x="connsiteX3" y="connsiteY3"/>
              </a:cxn>
            </a:cxnLst>
            <a:rect l="l" t="t" r="r" b="b"/>
            <a:pathLst>
              <a:path w="125268" h="95917">
                <a:moveTo>
                  <a:pt x="125268" y="95917"/>
                </a:moveTo>
                <a:cubicBezTo>
                  <a:pt x="51038" y="95917"/>
                  <a:pt x="0" y="72782"/>
                  <a:pt x="0" y="48867"/>
                </a:cubicBezTo>
                <a:cubicBezTo>
                  <a:pt x="0" y="24952"/>
                  <a:pt x="47110" y="0"/>
                  <a:pt x="121340" y="0"/>
                </a:cubicBezTo>
                <a:cubicBezTo>
                  <a:pt x="106630" y="50215"/>
                  <a:pt x="123100" y="43965"/>
                  <a:pt x="125268" y="95917"/>
                </a:cubicBezTo>
                <a:close/>
              </a:path>
            </a:pathLst>
          </a:custGeom>
          <a:solidFill>
            <a:schemeClr val="bg1">
              <a:lumMod val="50000"/>
            </a:schemeClr>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Moon 27">
            <a:extLst>
              <a:ext uri="{FF2B5EF4-FFF2-40B4-BE49-F238E27FC236}">
                <a16:creationId xmlns:a16="http://schemas.microsoft.com/office/drawing/2014/main" id="{A5A17B25-C803-820C-DC1D-697D9F99D64D}"/>
              </a:ext>
            </a:extLst>
          </p:cNvPr>
          <p:cNvSpPr/>
          <p:nvPr/>
        </p:nvSpPr>
        <p:spPr>
          <a:xfrm rot="5609307">
            <a:off x="750700" y="2680148"/>
            <a:ext cx="128973" cy="95917"/>
          </a:xfrm>
          <a:custGeom>
            <a:avLst/>
            <a:gdLst>
              <a:gd name="connsiteX0" fmla="*/ 134406 w 134406"/>
              <a:gd name="connsiteY0" fmla="*/ 86604 h 86604"/>
              <a:gd name="connsiteX1" fmla="*/ 0 w 134406"/>
              <a:gd name="connsiteY1" fmla="*/ 43302 h 86604"/>
              <a:gd name="connsiteX2" fmla="*/ 134406 w 134406"/>
              <a:gd name="connsiteY2" fmla="*/ 0 h 86604"/>
              <a:gd name="connsiteX3" fmla="*/ 134406 w 134406"/>
              <a:gd name="connsiteY3" fmla="*/ 86604 h 86604"/>
              <a:gd name="connsiteX0" fmla="*/ 131237 w 134406"/>
              <a:gd name="connsiteY0" fmla="*/ 86797 h 86797"/>
              <a:gd name="connsiteX1" fmla="*/ 0 w 134406"/>
              <a:gd name="connsiteY1" fmla="*/ 43302 h 86797"/>
              <a:gd name="connsiteX2" fmla="*/ 134406 w 134406"/>
              <a:gd name="connsiteY2" fmla="*/ 0 h 86797"/>
              <a:gd name="connsiteX3" fmla="*/ 131237 w 134406"/>
              <a:gd name="connsiteY3" fmla="*/ 86797 h 86797"/>
              <a:gd name="connsiteX0" fmla="*/ 131237 w 131237"/>
              <a:gd name="connsiteY0" fmla="*/ 92362 h 92362"/>
              <a:gd name="connsiteX1" fmla="*/ 0 w 131237"/>
              <a:gd name="connsiteY1" fmla="*/ 48867 h 92362"/>
              <a:gd name="connsiteX2" fmla="*/ 121340 w 131237"/>
              <a:gd name="connsiteY2" fmla="*/ 0 h 92362"/>
              <a:gd name="connsiteX3" fmla="*/ 131237 w 131237"/>
              <a:gd name="connsiteY3" fmla="*/ 92362 h 92362"/>
              <a:gd name="connsiteX0" fmla="*/ 131237 w 131237"/>
              <a:gd name="connsiteY0" fmla="*/ 92362 h 92362"/>
              <a:gd name="connsiteX1" fmla="*/ 0 w 131237"/>
              <a:gd name="connsiteY1" fmla="*/ 48867 h 92362"/>
              <a:gd name="connsiteX2" fmla="*/ 121340 w 131237"/>
              <a:gd name="connsiteY2" fmla="*/ 0 h 92362"/>
              <a:gd name="connsiteX3" fmla="*/ 131237 w 131237"/>
              <a:gd name="connsiteY3" fmla="*/ 92362 h 92362"/>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 name="connsiteX0" fmla="*/ 125268 w 125268"/>
              <a:gd name="connsiteY0" fmla="*/ 95917 h 95917"/>
              <a:gd name="connsiteX1" fmla="*/ 0 w 125268"/>
              <a:gd name="connsiteY1" fmla="*/ 48867 h 95917"/>
              <a:gd name="connsiteX2" fmla="*/ 121340 w 125268"/>
              <a:gd name="connsiteY2" fmla="*/ 0 h 95917"/>
              <a:gd name="connsiteX3" fmla="*/ 125268 w 125268"/>
              <a:gd name="connsiteY3" fmla="*/ 95917 h 95917"/>
            </a:gdLst>
            <a:ahLst/>
            <a:cxnLst>
              <a:cxn ang="0">
                <a:pos x="connsiteX0" y="connsiteY0"/>
              </a:cxn>
              <a:cxn ang="0">
                <a:pos x="connsiteX1" y="connsiteY1"/>
              </a:cxn>
              <a:cxn ang="0">
                <a:pos x="connsiteX2" y="connsiteY2"/>
              </a:cxn>
              <a:cxn ang="0">
                <a:pos x="connsiteX3" y="connsiteY3"/>
              </a:cxn>
            </a:cxnLst>
            <a:rect l="l" t="t" r="r" b="b"/>
            <a:pathLst>
              <a:path w="125268" h="95917">
                <a:moveTo>
                  <a:pt x="125268" y="95917"/>
                </a:moveTo>
                <a:cubicBezTo>
                  <a:pt x="51038" y="95917"/>
                  <a:pt x="0" y="72782"/>
                  <a:pt x="0" y="48867"/>
                </a:cubicBezTo>
                <a:cubicBezTo>
                  <a:pt x="0" y="24952"/>
                  <a:pt x="47110" y="0"/>
                  <a:pt x="121340" y="0"/>
                </a:cubicBezTo>
                <a:cubicBezTo>
                  <a:pt x="106630" y="50215"/>
                  <a:pt x="123100" y="43965"/>
                  <a:pt x="125268" y="95917"/>
                </a:cubicBezTo>
                <a:close/>
              </a:path>
            </a:pathLst>
          </a:custGeom>
          <a:solidFill>
            <a:schemeClr val="bg1">
              <a:lumMod val="50000"/>
            </a:schemeClr>
          </a:solidFill>
          <a:ln w="63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HoneyPots</a:t>
            </a:r>
          </a:p>
        </p:txBody>
      </p:sp>
      <p:sp>
        <p:nvSpPr>
          <p:cNvPr id="3" name="TextBox 2">
            <a:extLst>
              <a:ext uri="{FF2B5EF4-FFF2-40B4-BE49-F238E27FC236}">
                <a16:creationId xmlns:a16="http://schemas.microsoft.com/office/drawing/2014/main" id="{016FFD35-04EF-D4B1-EBBB-D9AAAB0226DA}"/>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
        <p:nvSpPr>
          <p:cNvPr id="4" name="Rectangle 3">
            <a:extLst>
              <a:ext uri="{FF2B5EF4-FFF2-40B4-BE49-F238E27FC236}">
                <a16:creationId xmlns:a16="http://schemas.microsoft.com/office/drawing/2014/main" id="{1F61B89D-1807-F229-0FB0-7C5579772559}"/>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 name="Title 11">
            <a:extLst>
              <a:ext uri="{FF2B5EF4-FFF2-40B4-BE49-F238E27FC236}">
                <a16:creationId xmlns:a16="http://schemas.microsoft.com/office/drawing/2014/main" id="{0018E43B-06AB-AFAA-93C2-C4C73A19BB97}"/>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Honeypot</a:t>
            </a:r>
          </a:p>
        </p:txBody>
      </p:sp>
      <p:sp>
        <p:nvSpPr>
          <p:cNvPr id="9" name="Rectangle 8">
            <a:extLst>
              <a:ext uri="{FF2B5EF4-FFF2-40B4-BE49-F238E27FC236}">
                <a16:creationId xmlns:a16="http://schemas.microsoft.com/office/drawing/2014/main" id="{1F363B94-0D5F-10E3-1FBF-022DA743DE67}"/>
              </a:ext>
            </a:extLst>
          </p:cNvPr>
          <p:cNvSpPr/>
          <p:nvPr/>
        </p:nvSpPr>
        <p:spPr>
          <a:xfrm>
            <a:off x="633984" y="1015885"/>
            <a:ext cx="10659047"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22960" rtlCol="0" anchor="ctr"/>
          <a:lstStyle/>
          <a:p>
            <a:r>
              <a:rPr lang="en-US" dirty="0">
                <a:solidFill>
                  <a:schemeClr val="tx1"/>
                </a:solidFill>
              </a:rPr>
              <a:t>A honeypot is an information system resource that is expressly set up to attract and trap people who attempt to penetrate an organization’s network</a:t>
            </a:r>
          </a:p>
        </p:txBody>
      </p:sp>
      <p:sp>
        <p:nvSpPr>
          <p:cNvPr id="10" name="Rectangle 9">
            <a:extLst>
              <a:ext uri="{FF2B5EF4-FFF2-40B4-BE49-F238E27FC236}">
                <a16:creationId xmlns:a16="http://schemas.microsoft.com/office/drawing/2014/main" id="{5E5BAF11-E3E0-C228-4E91-A36DDEA98E17}"/>
              </a:ext>
            </a:extLst>
          </p:cNvPr>
          <p:cNvSpPr/>
          <p:nvPr/>
        </p:nvSpPr>
        <p:spPr>
          <a:xfrm>
            <a:off x="633984" y="1876579"/>
            <a:ext cx="10659047"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22960" rtlCol="0" anchor="ctr"/>
          <a:lstStyle/>
          <a:p>
            <a:r>
              <a:rPr lang="en-US" dirty="0">
                <a:solidFill>
                  <a:schemeClr val="tx1"/>
                </a:solidFill>
              </a:rPr>
              <a:t>It has no authorized activity, does not have any production value, and any traffic to it is likely to be a probe, attack, or compromise</a:t>
            </a:r>
          </a:p>
        </p:txBody>
      </p:sp>
      <p:sp>
        <p:nvSpPr>
          <p:cNvPr id="11" name="Rectangle 10">
            <a:extLst>
              <a:ext uri="{FF2B5EF4-FFF2-40B4-BE49-F238E27FC236}">
                <a16:creationId xmlns:a16="http://schemas.microsoft.com/office/drawing/2014/main" id="{99B1D717-B6BD-8F0C-9448-FAB817F7D9D7}"/>
              </a:ext>
            </a:extLst>
          </p:cNvPr>
          <p:cNvSpPr/>
          <p:nvPr/>
        </p:nvSpPr>
        <p:spPr>
          <a:xfrm>
            <a:off x="633984" y="2737273"/>
            <a:ext cx="10659047"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22960" rtlCol="0" anchor="ctr"/>
          <a:lstStyle/>
          <a:p>
            <a:r>
              <a:rPr lang="en-US" dirty="0">
                <a:solidFill>
                  <a:schemeClr val="tx1"/>
                </a:solidFill>
              </a:rPr>
              <a:t>A honeypot can log port access attempts or monitor an attacker’s keystrokes. These could be early warnings of a more concerted attack</a:t>
            </a:r>
          </a:p>
        </p:txBody>
      </p:sp>
      <p:pic>
        <p:nvPicPr>
          <p:cNvPr id="13" name="Picture 12" descr="A diagram of a computer network&#10;&#10;Description automatically generated">
            <a:extLst>
              <a:ext uri="{FF2B5EF4-FFF2-40B4-BE49-F238E27FC236}">
                <a16:creationId xmlns:a16="http://schemas.microsoft.com/office/drawing/2014/main" id="{658C0C77-02A5-89BA-8277-66CE806A72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009" y="3449765"/>
            <a:ext cx="10211854" cy="2911274"/>
          </a:xfrm>
          <a:prstGeom prst="rect">
            <a:avLst/>
          </a:prstGeom>
        </p:spPr>
      </p:pic>
      <p:sp>
        <p:nvSpPr>
          <p:cNvPr id="15" name="TextBox 14">
            <a:extLst>
              <a:ext uri="{FF2B5EF4-FFF2-40B4-BE49-F238E27FC236}">
                <a16:creationId xmlns:a16="http://schemas.microsoft.com/office/drawing/2014/main" id="{A0863623-3E4E-0CA3-FA1A-6E0FAF146934}"/>
              </a:ext>
            </a:extLst>
          </p:cNvPr>
          <p:cNvSpPr txBox="1"/>
          <p:nvPr/>
        </p:nvSpPr>
        <p:spPr>
          <a:xfrm>
            <a:off x="769083" y="886406"/>
            <a:ext cx="222250" cy="419457"/>
          </a:xfrm>
          <a:prstGeom prst="roundRect">
            <a:avLst/>
          </a:prstGeom>
          <a:solidFill>
            <a:schemeClr val="bg1">
              <a:lumMod val="75000"/>
            </a:schemeClr>
          </a:solidFill>
        </p:spPr>
        <p:txBody>
          <a:bodyPr wrap="square" rtlCol="0" anchor="ctr">
            <a:spAutoFit/>
          </a:bodyPr>
          <a:lstStyle/>
          <a:p>
            <a:pPr algn="ctr"/>
            <a:r>
              <a:rPr lang="en-US" sz="2000" b="1" dirty="0">
                <a:solidFill>
                  <a:schemeClr val="bg1"/>
                </a:solidFill>
                <a:latin typeface="Aptos Display" panose="020B0004020202020204" pitchFamily="34" charset="0"/>
              </a:rPr>
              <a:t>1</a:t>
            </a:r>
          </a:p>
        </p:txBody>
      </p:sp>
      <p:sp>
        <p:nvSpPr>
          <p:cNvPr id="18" name="TextBox 17">
            <a:extLst>
              <a:ext uri="{FF2B5EF4-FFF2-40B4-BE49-F238E27FC236}">
                <a16:creationId xmlns:a16="http://schemas.microsoft.com/office/drawing/2014/main" id="{6587AE9F-C050-35F2-FA0D-F452479396D1}"/>
              </a:ext>
            </a:extLst>
          </p:cNvPr>
          <p:cNvSpPr txBox="1"/>
          <p:nvPr/>
        </p:nvSpPr>
        <p:spPr>
          <a:xfrm>
            <a:off x="820166" y="1782621"/>
            <a:ext cx="222250" cy="419457"/>
          </a:xfrm>
          <a:prstGeom prst="roundRect">
            <a:avLst/>
          </a:prstGeom>
          <a:solidFill>
            <a:schemeClr val="bg1">
              <a:lumMod val="75000"/>
            </a:schemeClr>
          </a:solidFill>
        </p:spPr>
        <p:txBody>
          <a:bodyPr wrap="square" rtlCol="0" anchor="ctr">
            <a:spAutoFit/>
          </a:bodyPr>
          <a:lstStyle/>
          <a:p>
            <a:pPr algn="ctr"/>
            <a:r>
              <a:rPr lang="en-US" sz="2000" b="1" dirty="0">
                <a:solidFill>
                  <a:schemeClr val="bg1"/>
                </a:solidFill>
                <a:latin typeface="Aptos Display" panose="020B0004020202020204" pitchFamily="34" charset="0"/>
              </a:rPr>
              <a:t>2</a:t>
            </a:r>
          </a:p>
        </p:txBody>
      </p:sp>
      <p:sp>
        <p:nvSpPr>
          <p:cNvPr id="20" name="TextBox 19">
            <a:extLst>
              <a:ext uri="{FF2B5EF4-FFF2-40B4-BE49-F238E27FC236}">
                <a16:creationId xmlns:a16="http://schemas.microsoft.com/office/drawing/2014/main" id="{8ACC329B-8C1A-8799-8E5A-893452FDC96B}"/>
              </a:ext>
            </a:extLst>
          </p:cNvPr>
          <p:cNvSpPr txBox="1"/>
          <p:nvPr/>
        </p:nvSpPr>
        <p:spPr>
          <a:xfrm>
            <a:off x="843573" y="2655376"/>
            <a:ext cx="222250" cy="419457"/>
          </a:xfrm>
          <a:prstGeom prst="roundRect">
            <a:avLst/>
          </a:prstGeom>
          <a:solidFill>
            <a:schemeClr val="bg1">
              <a:lumMod val="75000"/>
            </a:schemeClr>
          </a:solidFill>
        </p:spPr>
        <p:txBody>
          <a:bodyPr wrap="square" rtlCol="0" anchor="ctr">
            <a:spAutoFit/>
          </a:bodyPr>
          <a:lstStyle/>
          <a:p>
            <a:pPr algn="ctr"/>
            <a:r>
              <a:rPr lang="en-US" sz="2000" b="1" dirty="0">
                <a:solidFill>
                  <a:schemeClr val="bg1"/>
                </a:solidFill>
                <a:latin typeface="Aptos Display" panose="020B0004020202020204" pitchFamily="34" charset="0"/>
              </a:rPr>
              <a:t>3</a:t>
            </a:r>
          </a:p>
        </p:txBody>
      </p:sp>
    </p:spTree>
    <p:extLst>
      <p:ext uri="{BB962C8B-B14F-4D97-AF65-F5344CB8AC3E}">
        <p14:creationId xmlns:p14="http://schemas.microsoft.com/office/powerpoint/2010/main" val="2878221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54B825A-30F5-0F9E-BC4D-6753574021AD}"/>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itle 11">
            <a:extLst>
              <a:ext uri="{FF2B5EF4-FFF2-40B4-BE49-F238E27FC236}">
                <a16:creationId xmlns:a16="http://schemas.microsoft.com/office/drawing/2014/main" id="{0D953219-105B-62AD-34A1-D411167E9580}"/>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IDS Evasion Techniques</a:t>
            </a:r>
          </a:p>
        </p:txBody>
      </p:sp>
      <p:grpSp>
        <p:nvGrpSpPr>
          <p:cNvPr id="23" name="Group 22">
            <a:extLst>
              <a:ext uri="{FF2B5EF4-FFF2-40B4-BE49-F238E27FC236}">
                <a16:creationId xmlns:a16="http://schemas.microsoft.com/office/drawing/2014/main" id="{CC9D8B8A-0886-C8F9-2987-5D826566E986}"/>
              </a:ext>
            </a:extLst>
          </p:cNvPr>
          <p:cNvGrpSpPr>
            <a:grpSpLocks noChangeAspect="1"/>
          </p:cNvGrpSpPr>
          <p:nvPr/>
        </p:nvGrpSpPr>
        <p:grpSpPr>
          <a:xfrm>
            <a:off x="3062848" y="4238720"/>
            <a:ext cx="2286000" cy="1943103"/>
            <a:chOff x="1195275" y="2315448"/>
            <a:chExt cx="1388964" cy="1192467"/>
          </a:xfrm>
          <a:effectLst>
            <a:outerShdw blurRad="63500" sx="102000" sy="102000" algn="ctr" rotWithShape="0">
              <a:prstClr val="black">
                <a:alpha val="40000"/>
              </a:prstClr>
            </a:outerShdw>
          </a:effectLst>
        </p:grpSpPr>
        <p:sp>
          <p:nvSpPr>
            <p:cNvPr id="51" name="Hexagon 50">
              <a:extLst>
                <a:ext uri="{FF2B5EF4-FFF2-40B4-BE49-F238E27FC236}">
                  <a16:creationId xmlns:a16="http://schemas.microsoft.com/office/drawing/2014/main" id="{6476BE79-1747-8719-FF12-53FE94647D5E}"/>
                </a:ext>
              </a:extLst>
            </p:cNvPr>
            <p:cNvSpPr/>
            <p:nvPr/>
          </p:nvSpPr>
          <p:spPr>
            <a:xfrm>
              <a:off x="1195275" y="2315448"/>
              <a:ext cx="1388964" cy="1192467"/>
            </a:xfrm>
            <a:prstGeom prst="hexagon">
              <a:avLst>
                <a:gd name="adj" fmla="val 25000"/>
                <a:gd name="vf" fmla="val 115470"/>
              </a:avLst>
            </a:prstGeom>
          </p:spPr>
          <p:style>
            <a:lnRef idx="2">
              <a:schemeClr val="accent4">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52" name="Hexagon 4">
              <a:extLst>
                <a:ext uri="{FF2B5EF4-FFF2-40B4-BE49-F238E27FC236}">
                  <a16:creationId xmlns:a16="http://schemas.microsoft.com/office/drawing/2014/main" id="{A9243546-2EEE-8782-29CB-1B227FEE9E3A}"/>
                </a:ext>
              </a:extLst>
            </p:cNvPr>
            <p:cNvSpPr txBox="1"/>
            <p:nvPr/>
          </p:nvSpPr>
          <p:spPr>
            <a:xfrm>
              <a:off x="1410394" y="2500134"/>
              <a:ext cx="958726" cy="8230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2000" kern="1200" dirty="0"/>
                <a:t>DoS Attack</a:t>
              </a:r>
            </a:p>
          </p:txBody>
        </p:sp>
      </p:grpSp>
      <p:sp>
        <p:nvSpPr>
          <p:cNvPr id="25" name="Hexagon 24">
            <a:extLst>
              <a:ext uri="{FF2B5EF4-FFF2-40B4-BE49-F238E27FC236}">
                <a16:creationId xmlns:a16="http://schemas.microsoft.com/office/drawing/2014/main" id="{8C220BFF-C95E-6C50-4083-54F60062229E}"/>
              </a:ext>
            </a:extLst>
          </p:cNvPr>
          <p:cNvSpPr>
            <a:spLocks noChangeAspect="1"/>
          </p:cNvSpPr>
          <p:nvPr/>
        </p:nvSpPr>
        <p:spPr>
          <a:xfrm>
            <a:off x="1263517" y="3277729"/>
            <a:ext cx="2286000" cy="1943103"/>
          </a:xfrm>
          <a:prstGeom prst="hexagon">
            <a:avLst>
              <a:gd name="adj" fmla="val 25000"/>
              <a:gd name="vf" fmla="val 115470"/>
            </a:avLst>
          </a:prstGeom>
          <a:solidFill>
            <a:srgbClr val="FFDB87">
              <a:alpha val="87843"/>
            </a:srgbClr>
          </a:solidFill>
          <a:ln>
            <a:solidFill>
              <a:schemeClr val="bg1"/>
            </a:solidFill>
          </a:ln>
          <a:effectLst/>
        </p:spPr>
        <p:style>
          <a:lnRef idx="2">
            <a:schemeClr val="accent4">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27" name="Group 26">
            <a:extLst>
              <a:ext uri="{FF2B5EF4-FFF2-40B4-BE49-F238E27FC236}">
                <a16:creationId xmlns:a16="http://schemas.microsoft.com/office/drawing/2014/main" id="{4B21E9A3-022F-28A1-E8D4-ACC1F47967DD}"/>
              </a:ext>
            </a:extLst>
          </p:cNvPr>
          <p:cNvGrpSpPr>
            <a:grpSpLocks noChangeAspect="1"/>
          </p:cNvGrpSpPr>
          <p:nvPr/>
        </p:nvGrpSpPr>
        <p:grpSpPr>
          <a:xfrm>
            <a:off x="4886872" y="3267169"/>
            <a:ext cx="2286000" cy="1943103"/>
            <a:chOff x="2390550" y="1652402"/>
            <a:chExt cx="1388964" cy="1192467"/>
          </a:xfrm>
          <a:effectLst>
            <a:outerShdw blurRad="63500" sx="102000" sy="102000" algn="ctr" rotWithShape="0">
              <a:prstClr val="black">
                <a:alpha val="40000"/>
              </a:prstClr>
            </a:outerShdw>
          </a:effectLst>
        </p:grpSpPr>
        <p:sp>
          <p:nvSpPr>
            <p:cNvPr id="49" name="Hexagon 48">
              <a:extLst>
                <a:ext uri="{FF2B5EF4-FFF2-40B4-BE49-F238E27FC236}">
                  <a16:creationId xmlns:a16="http://schemas.microsoft.com/office/drawing/2014/main" id="{6557C1A4-5A8C-4E06-678C-3855B26BEAA0}"/>
                </a:ext>
              </a:extLst>
            </p:cNvPr>
            <p:cNvSpPr/>
            <p:nvPr/>
          </p:nvSpPr>
          <p:spPr>
            <a:xfrm>
              <a:off x="2390550" y="1652402"/>
              <a:ext cx="1388964" cy="1192467"/>
            </a:xfrm>
            <a:prstGeom prst="hexagon">
              <a:avLst>
                <a:gd name="adj" fmla="val 25000"/>
                <a:gd name="vf" fmla="val 115470"/>
              </a:avLst>
            </a:prstGeom>
          </p:spPr>
          <p:style>
            <a:lnRef idx="2">
              <a:schemeClr val="accent4">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50" name="Hexagon 9">
              <a:extLst>
                <a:ext uri="{FF2B5EF4-FFF2-40B4-BE49-F238E27FC236}">
                  <a16:creationId xmlns:a16="http://schemas.microsoft.com/office/drawing/2014/main" id="{EE2B5788-28E8-3E10-0163-EBC375AEABF8}"/>
                </a:ext>
              </a:extLst>
            </p:cNvPr>
            <p:cNvSpPr txBox="1"/>
            <p:nvPr/>
          </p:nvSpPr>
          <p:spPr>
            <a:xfrm>
              <a:off x="2605669" y="1837088"/>
              <a:ext cx="958726" cy="8230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2000" kern="1200" dirty="0"/>
                <a:t>Time-to-Live Attacks</a:t>
              </a:r>
            </a:p>
          </p:txBody>
        </p:sp>
      </p:grpSp>
      <p:sp>
        <p:nvSpPr>
          <p:cNvPr id="29" name="Hexagon 28">
            <a:extLst>
              <a:ext uri="{FF2B5EF4-FFF2-40B4-BE49-F238E27FC236}">
                <a16:creationId xmlns:a16="http://schemas.microsoft.com/office/drawing/2014/main" id="{CC714C0D-C862-26BE-CA1D-369B81EB9971}"/>
              </a:ext>
            </a:extLst>
          </p:cNvPr>
          <p:cNvSpPr>
            <a:spLocks noChangeAspect="1"/>
          </p:cNvSpPr>
          <p:nvPr/>
        </p:nvSpPr>
        <p:spPr>
          <a:xfrm>
            <a:off x="6705690" y="4248230"/>
            <a:ext cx="2286000" cy="1943103"/>
          </a:xfrm>
          <a:prstGeom prst="hexagon">
            <a:avLst>
              <a:gd name="adj" fmla="val 25000"/>
              <a:gd name="vf" fmla="val 115470"/>
            </a:avLst>
          </a:prstGeom>
          <a:solidFill>
            <a:srgbClr val="FFDB87">
              <a:alpha val="87843"/>
            </a:srgbClr>
          </a:solidFill>
          <a:ln>
            <a:solidFill>
              <a:schemeClr val="bg1"/>
            </a:solidFill>
          </a:ln>
        </p:spPr>
        <p:style>
          <a:lnRef idx="2">
            <a:schemeClr val="accent4">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31" name="Group 30">
            <a:extLst>
              <a:ext uri="{FF2B5EF4-FFF2-40B4-BE49-F238E27FC236}">
                <a16:creationId xmlns:a16="http://schemas.microsoft.com/office/drawing/2014/main" id="{84DA1FC7-545E-9345-3F77-C37C01EDAA90}"/>
              </a:ext>
            </a:extLst>
          </p:cNvPr>
          <p:cNvGrpSpPr>
            <a:grpSpLocks noChangeAspect="1"/>
          </p:cNvGrpSpPr>
          <p:nvPr/>
        </p:nvGrpSpPr>
        <p:grpSpPr>
          <a:xfrm>
            <a:off x="3070661" y="2286106"/>
            <a:ext cx="2286000" cy="1943103"/>
            <a:chOff x="1195275" y="996974"/>
            <a:chExt cx="1388964" cy="1192467"/>
          </a:xfrm>
          <a:effectLst>
            <a:outerShdw blurRad="63500" sx="102000" sy="102000" algn="ctr" rotWithShape="0">
              <a:prstClr val="black">
                <a:alpha val="40000"/>
              </a:prstClr>
            </a:outerShdw>
          </a:effectLst>
        </p:grpSpPr>
        <p:sp>
          <p:nvSpPr>
            <p:cNvPr id="47" name="Hexagon 46">
              <a:extLst>
                <a:ext uri="{FF2B5EF4-FFF2-40B4-BE49-F238E27FC236}">
                  <a16:creationId xmlns:a16="http://schemas.microsoft.com/office/drawing/2014/main" id="{9B3184E9-AB85-8547-CF73-B303BABDECAC}"/>
                </a:ext>
              </a:extLst>
            </p:cNvPr>
            <p:cNvSpPr/>
            <p:nvPr/>
          </p:nvSpPr>
          <p:spPr>
            <a:xfrm>
              <a:off x="1195275" y="996974"/>
              <a:ext cx="1388964" cy="1192467"/>
            </a:xfrm>
            <a:prstGeom prst="hexagon">
              <a:avLst>
                <a:gd name="adj" fmla="val 25000"/>
                <a:gd name="vf" fmla="val 115470"/>
              </a:avLst>
            </a:prstGeom>
          </p:spPr>
          <p:style>
            <a:lnRef idx="2">
              <a:schemeClr val="accent4">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8" name="Hexagon 14">
              <a:extLst>
                <a:ext uri="{FF2B5EF4-FFF2-40B4-BE49-F238E27FC236}">
                  <a16:creationId xmlns:a16="http://schemas.microsoft.com/office/drawing/2014/main" id="{8D4D55A1-78DD-036B-4518-72FC321430D6}"/>
                </a:ext>
              </a:extLst>
            </p:cNvPr>
            <p:cNvSpPr txBox="1"/>
            <p:nvPr/>
          </p:nvSpPr>
          <p:spPr>
            <a:xfrm>
              <a:off x="1410394" y="1181660"/>
              <a:ext cx="958726" cy="8230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2000" kern="1200" dirty="0"/>
                <a:t>Insertion Attack </a:t>
              </a:r>
            </a:p>
          </p:txBody>
        </p:sp>
      </p:grpSp>
      <p:sp>
        <p:nvSpPr>
          <p:cNvPr id="33" name="Hexagon 32">
            <a:extLst>
              <a:ext uri="{FF2B5EF4-FFF2-40B4-BE49-F238E27FC236}">
                <a16:creationId xmlns:a16="http://schemas.microsoft.com/office/drawing/2014/main" id="{DA333643-9D4E-662E-C785-100409F67E34}"/>
              </a:ext>
            </a:extLst>
          </p:cNvPr>
          <p:cNvSpPr>
            <a:spLocks noChangeAspect="1"/>
          </p:cNvSpPr>
          <p:nvPr/>
        </p:nvSpPr>
        <p:spPr>
          <a:xfrm>
            <a:off x="4868147" y="1324066"/>
            <a:ext cx="2286000" cy="1943103"/>
          </a:xfrm>
          <a:prstGeom prst="hexagon">
            <a:avLst>
              <a:gd name="adj" fmla="val 25000"/>
              <a:gd name="vf" fmla="val 115470"/>
            </a:avLst>
          </a:prstGeom>
          <a:solidFill>
            <a:srgbClr val="FFDB87">
              <a:alpha val="87843"/>
            </a:srgbClr>
          </a:solidFill>
          <a:ln>
            <a:solidFill>
              <a:schemeClr val="bg1"/>
            </a:solidFill>
          </a:ln>
        </p:spPr>
        <p:style>
          <a:lnRef idx="2">
            <a:schemeClr val="accent4">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35" name="Group 34">
            <a:extLst>
              <a:ext uri="{FF2B5EF4-FFF2-40B4-BE49-F238E27FC236}">
                <a16:creationId xmlns:a16="http://schemas.microsoft.com/office/drawing/2014/main" id="{4E086E81-54C4-4A19-0EBC-C6EA137A1437}"/>
              </a:ext>
            </a:extLst>
          </p:cNvPr>
          <p:cNvGrpSpPr>
            <a:grpSpLocks noChangeAspect="1"/>
          </p:cNvGrpSpPr>
          <p:nvPr/>
        </p:nvGrpSpPr>
        <p:grpSpPr>
          <a:xfrm>
            <a:off x="6705690" y="2286107"/>
            <a:ext cx="2286000" cy="1943103"/>
            <a:chOff x="3585089" y="994434"/>
            <a:chExt cx="1388964" cy="1192467"/>
          </a:xfrm>
          <a:effectLst>
            <a:outerShdw blurRad="63500" sx="102000" sy="102000" algn="ctr" rotWithShape="0">
              <a:prstClr val="black">
                <a:alpha val="40000"/>
              </a:prstClr>
            </a:outerShdw>
          </a:effectLst>
        </p:grpSpPr>
        <p:sp>
          <p:nvSpPr>
            <p:cNvPr id="45" name="Hexagon 44">
              <a:extLst>
                <a:ext uri="{FF2B5EF4-FFF2-40B4-BE49-F238E27FC236}">
                  <a16:creationId xmlns:a16="http://schemas.microsoft.com/office/drawing/2014/main" id="{E7B4C677-2F4C-CC4D-4362-852E974895DD}"/>
                </a:ext>
              </a:extLst>
            </p:cNvPr>
            <p:cNvSpPr/>
            <p:nvPr/>
          </p:nvSpPr>
          <p:spPr>
            <a:xfrm>
              <a:off x="3585089" y="994434"/>
              <a:ext cx="1388964" cy="1192467"/>
            </a:xfrm>
            <a:prstGeom prst="hexagon">
              <a:avLst>
                <a:gd name="adj" fmla="val 25000"/>
                <a:gd name="vf" fmla="val 115470"/>
              </a:avLst>
            </a:prstGeom>
          </p:spPr>
          <p:style>
            <a:lnRef idx="2">
              <a:schemeClr val="accent4">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6" name="Hexagon 19">
              <a:extLst>
                <a:ext uri="{FF2B5EF4-FFF2-40B4-BE49-F238E27FC236}">
                  <a16:creationId xmlns:a16="http://schemas.microsoft.com/office/drawing/2014/main" id="{5ED9FBD5-A2B1-8155-2648-871A9827B0CC}"/>
                </a:ext>
              </a:extLst>
            </p:cNvPr>
            <p:cNvSpPr txBox="1"/>
            <p:nvPr/>
          </p:nvSpPr>
          <p:spPr>
            <a:xfrm>
              <a:off x="3800208" y="1179120"/>
              <a:ext cx="958726" cy="8230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2000" kern="1200" dirty="0"/>
                <a:t>Obfuscating</a:t>
              </a:r>
            </a:p>
          </p:txBody>
        </p:sp>
      </p:grpSp>
      <p:sp>
        <p:nvSpPr>
          <p:cNvPr id="37" name="Hexagon 36">
            <a:extLst>
              <a:ext uri="{FF2B5EF4-FFF2-40B4-BE49-F238E27FC236}">
                <a16:creationId xmlns:a16="http://schemas.microsoft.com/office/drawing/2014/main" id="{EC270737-9A5A-A070-554A-D544809075FF}"/>
              </a:ext>
            </a:extLst>
          </p:cNvPr>
          <p:cNvSpPr>
            <a:spLocks noChangeAspect="1"/>
          </p:cNvSpPr>
          <p:nvPr/>
        </p:nvSpPr>
        <p:spPr>
          <a:xfrm>
            <a:off x="8500569" y="3278864"/>
            <a:ext cx="2286000" cy="1943103"/>
          </a:xfrm>
          <a:prstGeom prst="hexagon">
            <a:avLst>
              <a:gd name="adj" fmla="val 25000"/>
              <a:gd name="vf" fmla="val 115470"/>
            </a:avLst>
          </a:prstGeom>
          <a:solidFill>
            <a:srgbClr val="FFDB87">
              <a:alpha val="87843"/>
            </a:srgbClr>
          </a:solidFill>
          <a:ln>
            <a:solidFill>
              <a:schemeClr val="bg1"/>
            </a:solidFill>
          </a:ln>
          <a:effectLst/>
        </p:spPr>
        <p:style>
          <a:lnRef idx="2">
            <a:schemeClr val="accent4">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39" name="Group 38">
            <a:extLst>
              <a:ext uri="{FF2B5EF4-FFF2-40B4-BE49-F238E27FC236}">
                <a16:creationId xmlns:a16="http://schemas.microsoft.com/office/drawing/2014/main" id="{F6B6C360-F1B8-6C9B-2358-1AF9D5AF4561}"/>
              </a:ext>
            </a:extLst>
          </p:cNvPr>
          <p:cNvGrpSpPr>
            <a:grpSpLocks noChangeAspect="1"/>
          </p:cNvGrpSpPr>
          <p:nvPr/>
        </p:nvGrpSpPr>
        <p:grpSpPr>
          <a:xfrm>
            <a:off x="8500569" y="1295535"/>
            <a:ext cx="2286000" cy="1943103"/>
            <a:chOff x="4780365" y="346623"/>
            <a:chExt cx="1388964" cy="1192467"/>
          </a:xfrm>
          <a:effectLst>
            <a:outerShdw blurRad="63500" sx="102000" sy="102000" algn="ctr" rotWithShape="0">
              <a:prstClr val="black">
                <a:alpha val="40000"/>
              </a:prstClr>
            </a:outerShdw>
          </a:effectLst>
        </p:grpSpPr>
        <p:sp>
          <p:nvSpPr>
            <p:cNvPr id="43" name="Hexagon 42">
              <a:extLst>
                <a:ext uri="{FF2B5EF4-FFF2-40B4-BE49-F238E27FC236}">
                  <a16:creationId xmlns:a16="http://schemas.microsoft.com/office/drawing/2014/main" id="{626D043F-EFC6-B39D-589D-15A4AFCB60C2}"/>
                </a:ext>
              </a:extLst>
            </p:cNvPr>
            <p:cNvSpPr/>
            <p:nvPr/>
          </p:nvSpPr>
          <p:spPr>
            <a:xfrm>
              <a:off x="4780365" y="346623"/>
              <a:ext cx="1388964" cy="1192467"/>
            </a:xfrm>
            <a:prstGeom prst="hexagon">
              <a:avLst>
                <a:gd name="adj" fmla="val 25000"/>
                <a:gd name="vf" fmla="val 115470"/>
              </a:avLst>
            </a:prstGeom>
          </p:spPr>
          <p:style>
            <a:lnRef idx="2">
              <a:schemeClr val="accent4">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4" name="Hexagon 24">
              <a:extLst>
                <a:ext uri="{FF2B5EF4-FFF2-40B4-BE49-F238E27FC236}">
                  <a16:creationId xmlns:a16="http://schemas.microsoft.com/office/drawing/2014/main" id="{FC2FBC88-6084-4C70-80B0-FF74AC4C244D}"/>
                </a:ext>
              </a:extLst>
            </p:cNvPr>
            <p:cNvSpPr txBox="1"/>
            <p:nvPr/>
          </p:nvSpPr>
          <p:spPr>
            <a:xfrm>
              <a:off x="4995484" y="531309"/>
              <a:ext cx="958726" cy="82309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0" tIns="19050" rIns="0" bIns="19050" numCol="1" spcCol="1270" anchor="ctr" anchorCtr="0">
              <a:noAutofit/>
            </a:bodyPr>
            <a:lstStyle/>
            <a:p>
              <a:pPr marL="0" lvl="0" indent="0" algn="ctr" defTabSz="666750">
                <a:lnSpc>
                  <a:spcPct val="90000"/>
                </a:lnSpc>
                <a:spcBef>
                  <a:spcPct val="0"/>
                </a:spcBef>
                <a:spcAft>
                  <a:spcPct val="35000"/>
                </a:spcAft>
                <a:buNone/>
              </a:pPr>
              <a:r>
                <a:rPr lang="en-US" sz="2000" kern="1200" dirty="0"/>
                <a:t>Evasion</a:t>
              </a:r>
            </a:p>
          </p:txBody>
        </p:sp>
      </p:grpSp>
      <p:sp>
        <p:nvSpPr>
          <p:cNvPr id="41" name="Hexagon 40">
            <a:extLst>
              <a:ext uri="{FF2B5EF4-FFF2-40B4-BE49-F238E27FC236}">
                <a16:creationId xmlns:a16="http://schemas.microsoft.com/office/drawing/2014/main" id="{920159C1-5EE7-89A4-284C-8CD4E2910675}"/>
              </a:ext>
            </a:extLst>
          </p:cNvPr>
          <p:cNvSpPr>
            <a:spLocks noChangeAspect="1"/>
          </p:cNvSpPr>
          <p:nvPr/>
        </p:nvSpPr>
        <p:spPr>
          <a:xfrm>
            <a:off x="1238823" y="1335427"/>
            <a:ext cx="2286000" cy="1943103"/>
          </a:xfrm>
          <a:prstGeom prst="hexagon">
            <a:avLst>
              <a:gd name="adj" fmla="val 25000"/>
              <a:gd name="vf" fmla="val 115470"/>
            </a:avLst>
          </a:prstGeom>
          <a:solidFill>
            <a:srgbClr val="FFDB87">
              <a:alpha val="87843"/>
            </a:srgbClr>
          </a:solidFill>
          <a:ln>
            <a:solidFill>
              <a:schemeClr val="bg1"/>
            </a:solidFill>
          </a:ln>
        </p:spPr>
        <p:style>
          <a:lnRef idx="2">
            <a:schemeClr val="accent4">
              <a:hueOff val="0"/>
              <a:satOff val="0"/>
              <a:lumOff val="0"/>
              <a:alphaOff val="0"/>
            </a:schemeClr>
          </a:lnRef>
          <a:fillRef idx="1">
            <a:schemeClr val="accent4">
              <a:alpha val="90000"/>
              <a:tint val="40000"/>
              <a:hueOff val="0"/>
              <a:satOff val="0"/>
              <a:lumOff val="0"/>
              <a:alphaOff val="0"/>
            </a:schemeClr>
          </a:fillRef>
          <a:effectRef idx="0">
            <a:schemeClr val="accent4">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spTree>
    <p:extLst>
      <p:ext uri="{BB962C8B-B14F-4D97-AF65-F5344CB8AC3E}">
        <p14:creationId xmlns:p14="http://schemas.microsoft.com/office/powerpoint/2010/main" val="4286412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F99E0E9-1809-B42E-272C-F2B1A11A892D}"/>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itle 11">
            <a:extLst>
              <a:ext uri="{FF2B5EF4-FFF2-40B4-BE49-F238E27FC236}">
                <a16:creationId xmlns:a16="http://schemas.microsoft.com/office/drawing/2014/main" id="{D0828806-D9A3-81EA-352D-F55015BFE9C2}"/>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Denial-of-Service Attack (DoS)</a:t>
            </a:r>
          </a:p>
        </p:txBody>
      </p:sp>
      <p:sp>
        <p:nvSpPr>
          <p:cNvPr id="8" name="Rectangle 7">
            <a:extLst>
              <a:ext uri="{FF2B5EF4-FFF2-40B4-BE49-F238E27FC236}">
                <a16:creationId xmlns:a16="http://schemas.microsoft.com/office/drawing/2014/main" id="{EB0146F1-286B-759F-5C7F-463C68CDFBE9}"/>
              </a:ext>
            </a:extLst>
          </p:cNvPr>
          <p:cNvSpPr/>
          <p:nvPr/>
        </p:nvSpPr>
        <p:spPr>
          <a:xfrm>
            <a:off x="633984" y="1015885"/>
            <a:ext cx="10659047" cy="1604486"/>
          </a:xfrm>
          <a:prstGeom prst="rect">
            <a:avLst/>
          </a:prstGeom>
          <a:solidFill>
            <a:schemeClr val="bg1"/>
          </a:solidFill>
          <a:ln>
            <a:solidFill>
              <a:schemeClr val="bg2">
                <a:lumMod val="9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tlCol="0" anchor="ctr"/>
          <a:lstStyle/>
          <a:p>
            <a:pPr marL="285750" indent="-285750">
              <a:spcAft>
                <a:spcPts val="600"/>
              </a:spcAft>
              <a:buClr>
                <a:srgbClr val="FFDB87"/>
              </a:buClr>
              <a:buSzPct val="130000"/>
              <a:buFont typeface="Wingdings" pitchFamily="2" charset="2"/>
              <a:buChar char="§"/>
            </a:pPr>
            <a:r>
              <a:rPr lang="en-US" dirty="0">
                <a:solidFill>
                  <a:schemeClr val="tx1"/>
                </a:solidFill>
              </a:rPr>
              <a:t>Many IDSs use a centralized server for logging alerts</a:t>
            </a:r>
          </a:p>
          <a:p>
            <a:pPr marL="285750" indent="-285750">
              <a:spcAft>
                <a:spcPts val="600"/>
              </a:spcAft>
              <a:buClr>
                <a:srgbClr val="FFDB87"/>
              </a:buClr>
              <a:buSzPct val="130000"/>
              <a:buFont typeface="Wingdings" pitchFamily="2" charset="2"/>
              <a:buChar char="§"/>
            </a:pPr>
            <a:r>
              <a:rPr lang="en-US" dirty="0">
                <a:solidFill>
                  <a:schemeClr val="tx1"/>
                </a:solidFill>
              </a:rPr>
              <a:t>If the attackers know the IP address of the centralized server, they can perform DoS or other hacks to slow down or crash the server</a:t>
            </a:r>
          </a:p>
          <a:p>
            <a:pPr marL="285750" indent="-285750">
              <a:spcAft>
                <a:spcPts val="600"/>
              </a:spcAft>
              <a:buClr>
                <a:srgbClr val="FFDB87"/>
              </a:buClr>
              <a:buSzPct val="130000"/>
              <a:buFont typeface="Wingdings" pitchFamily="2" charset="2"/>
              <a:buChar char="§"/>
            </a:pPr>
            <a:r>
              <a:rPr lang="en-US" dirty="0">
                <a:solidFill>
                  <a:schemeClr val="tx1"/>
                </a:solidFill>
              </a:rPr>
              <a:t>As a result, the attackers’ intrusion attempts will not be logged</a:t>
            </a:r>
          </a:p>
        </p:txBody>
      </p:sp>
      <p:sp>
        <p:nvSpPr>
          <p:cNvPr id="11" name="TextBox 10">
            <a:extLst>
              <a:ext uri="{FF2B5EF4-FFF2-40B4-BE49-F238E27FC236}">
                <a16:creationId xmlns:a16="http://schemas.microsoft.com/office/drawing/2014/main" id="{E1254E6A-0AB0-E9D8-8236-736CE9B16241}"/>
              </a:ext>
            </a:extLst>
          </p:cNvPr>
          <p:cNvSpPr txBox="1"/>
          <p:nvPr/>
        </p:nvSpPr>
        <p:spPr>
          <a:xfrm>
            <a:off x="488182" y="3940618"/>
            <a:ext cx="1569493" cy="1323439"/>
          </a:xfrm>
          <a:prstGeom prst="rect">
            <a:avLst/>
          </a:prstGeom>
          <a:noFill/>
        </p:spPr>
        <p:txBody>
          <a:bodyPr wrap="square" rtlCol="0">
            <a:spAutoFit/>
          </a:bodyPr>
          <a:lstStyle/>
          <a:p>
            <a:pPr algn="ctr"/>
            <a:r>
              <a:rPr lang="en-US" sz="2000" b="1" dirty="0">
                <a:solidFill>
                  <a:srgbClr val="006FBE"/>
                </a:solidFill>
              </a:rPr>
              <a:t>Using this evasion technique, an attacker: </a:t>
            </a:r>
          </a:p>
        </p:txBody>
      </p:sp>
      <p:sp>
        <p:nvSpPr>
          <p:cNvPr id="12" name="Rectangle 11">
            <a:extLst>
              <a:ext uri="{FF2B5EF4-FFF2-40B4-BE49-F238E27FC236}">
                <a16:creationId xmlns:a16="http://schemas.microsoft.com/office/drawing/2014/main" id="{0EB8586B-7ED4-92E7-7D50-7996C1B9C717}"/>
              </a:ext>
            </a:extLst>
          </p:cNvPr>
          <p:cNvSpPr/>
          <p:nvPr/>
        </p:nvSpPr>
        <p:spPr>
          <a:xfrm>
            <a:off x="2221366" y="2956365"/>
            <a:ext cx="9336650" cy="564757"/>
          </a:xfrm>
          <a:prstGeom prst="rect">
            <a:avLst/>
          </a:prstGeom>
          <a:solidFill>
            <a:schemeClr val="bg1"/>
          </a:solidFill>
          <a:ln>
            <a:solidFill>
              <a:schemeClr val="bg2">
                <a:lumMod val="9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Causes the device to lock up</a:t>
            </a:r>
          </a:p>
        </p:txBody>
      </p:sp>
      <p:sp>
        <p:nvSpPr>
          <p:cNvPr id="13" name="Oval 12">
            <a:extLst>
              <a:ext uri="{FF2B5EF4-FFF2-40B4-BE49-F238E27FC236}">
                <a16:creationId xmlns:a16="http://schemas.microsoft.com/office/drawing/2014/main" id="{F7BE3288-DEFD-B635-B0AF-B6FCA458D5E0}"/>
              </a:ext>
            </a:extLst>
          </p:cNvPr>
          <p:cNvSpPr>
            <a:spLocks noChangeAspect="1"/>
          </p:cNvSpPr>
          <p:nvPr/>
        </p:nvSpPr>
        <p:spPr>
          <a:xfrm>
            <a:off x="2333767" y="3029802"/>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1</a:t>
            </a:r>
          </a:p>
        </p:txBody>
      </p:sp>
      <p:sp>
        <p:nvSpPr>
          <p:cNvPr id="14" name="Rectangle 13">
            <a:extLst>
              <a:ext uri="{FF2B5EF4-FFF2-40B4-BE49-F238E27FC236}">
                <a16:creationId xmlns:a16="http://schemas.microsoft.com/office/drawing/2014/main" id="{6C0D2E5F-DAE9-DD85-88D8-4E2CE5CD95B9}"/>
              </a:ext>
            </a:extLst>
          </p:cNvPr>
          <p:cNvSpPr/>
          <p:nvPr/>
        </p:nvSpPr>
        <p:spPr>
          <a:xfrm>
            <a:off x="2203477" y="3658240"/>
            <a:ext cx="9336650" cy="564757"/>
          </a:xfrm>
          <a:prstGeom prst="rect">
            <a:avLst/>
          </a:prstGeom>
          <a:solidFill>
            <a:schemeClr val="bg1"/>
          </a:solidFill>
          <a:ln>
            <a:solidFill>
              <a:schemeClr val="bg2">
                <a:lumMod val="9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Causes personnel to be unable to investigate all the alarms</a:t>
            </a:r>
          </a:p>
        </p:txBody>
      </p:sp>
      <p:sp>
        <p:nvSpPr>
          <p:cNvPr id="15" name="Oval 14">
            <a:extLst>
              <a:ext uri="{FF2B5EF4-FFF2-40B4-BE49-F238E27FC236}">
                <a16:creationId xmlns:a16="http://schemas.microsoft.com/office/drawing/2014/main" id="{B5958152-8D38-9214-5522-AD330FE17CCE}"/>
              </a:ext>
            </a:extLst>
          </p:cNvPr>
          <p:cNvSpPr>
            <a:spLocks noChangeAspect="1"/>
          </p:cNvSpPr>
          <p:nvPr/>
        </p:nvSpPr>
        <p:spPr>
          <a:xfrm>
            <a:off x="2315878" y="3731677"/>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2</a:t>
            </a:r>
          </a:p>
        </p:txBody>
      </p:sp>
      <p:sp>
        <p:nvSpPr>
          <p:cNvPr id="16" name="Rectangle 15">
            <a:extLst>
              <a:ext uri="{FF2B5EF4-FFF2-40B4-BE49-F238E27FC236}">
                <a16:creationId xmlns:a16="http://schemas.microsoft.com/office/drawing/2014/main" id="{53BE7CA3-11AC-4694-163E-23783A88D0E0}"/>
              </a:ext>
            </a:extLst>
          </p:cNvPr>
          <p:cNvSpPr/>
          <p:nvPr/>
        </p:nvSpPr>
        <p:spPr>
          <a:xfrm>
            <a:off x="2221366" y="4433431"/>
            <a:ext cx="9336650" cy="564757"/>
          </a:xfrm>
          <a:prstGeom prst="rect">
            <a:avLst/>
          </a:prstGeom>
          <a:solidFill>
            <a:schemeClr val="bg1"/>
          </a:solidFill>
          <a:ln>
            <a:solidFill>
              <a:schemeClr val="bg2">
                <a:lumMod val="9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Causes more alarms than can be handled by management systems (such as databases)</a:t>
            </a:r>
          </a:p>
        </p:txBody>
      </p:sp>
      <p:sp>
        <p:nvSpPr>
          <p:cNvPr id="17" name="Oval 16">
            <a:extLst>
              <a:ext uri="{FF2B5EF4-FFF2-40B4-BE49-F238E27FC236}">
                <a16:creationId xmlns:a16="http://schemas.microsoft.com/office/drawing/2014/main" id="{48ED541C-5BA2-4D72-6CA6-12B2F6B21DDB}"/>
              </a:ext>
            </a:extLst>
          </p:cNvPr>
          <p:cNvSpPr>
            <a:spLocks noChangeAspect="1"/>
          </p:cNvSpPr>
          <p:nvPr/>
        </p:nvSpPr>
        <p:spPr>
          <a:xfrm>
            <a:off x="2333767" y="4506868"/>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3</a:t>
            </a:r>
          </a:p>
        </p:txBody>
      </p:sp>
      <p:sp>
        <p:nvSpPr>
          <p:cNvPr id="18" name="Rectangle 17">
            <a:extLst>
              <a:ext uri="{FF2B5EF4-FFF2-40B4-BE49-F238E27FC236}">
                <a16:creationId xmlns:a16="http://schemas.microsoft.com/office/drawing/2014/main" id="{0D123F83-EC77-9778-6756-10BAB120736D}"/>
              </a:ext>
            </a:extLst>
          </p:cNvPr>
          <p:cNvSpPr/>
          <p:nvPr/>
        </p:nvSpPr>
        <p:spPr>
          <a:xfrm>
            <a:off x="2221366" y="5192113"/>
            <a:ext cx="9336650" cy="564757"/>
          </a:xfrm>
          <a:prstGeom prst="rect">
            <a:avLst/>
          </a:prstGeom>
          <a:solidFill>
            <a:schemeClr val="bg1"/>
          </a:solidFill>
          <a:ln>
            <a:solidFill>
              <a:schemeClr val="bg2">
                <a:lumMod val="9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Fills up disk space causing attacks not to be logged</a:t>
            </a:r>
          </a:p>
        </p:txBody>
      </p:sp>
      <p:sp>
        <p:nvSpPr>
          <p:cNvPr id="19" name="Oval 18">
            <a:extLst>
              <a:ext uri="{FF2B5EF4-FFF2-40B4-BE49-F238E27FC236}">
                <a16:creationId xmlns:a16="http://schemas.microsoft.com/office/drawing/2014/main" id="{461AA26E-90A5-49B9-3B0D-B23B085F035D}"/>
              </a:ext>
            </a:extLst>
          </p:cNvPr>
          <p:cNvSpPr>
            <a:spLocks noChangeAspect="1"/>
          </p:cNvSpPr>
          <p:nvPr/>
        </p:nvSpPr>
        <p:spPr>
          <a:xfrm>
            <a:off x="2333767" y="5265550"/>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4</a:t>
            </a:r>
          </a:p>
        </p:txBody>
      </p:sp>
      <p:sp>
        <p:nvSpPr>
          <p:cNvPr id="20" name="Rectangle 19">
            <a:extLst>
              <a:ext uri="{FF2B5EF4-FFF2-40B4-BE49-F238E27FC236}">
                <a16:creationId xmlns:a16="http://schemas.microsoft.com/office/drawing/2014/main" id="{5F34F30D-B9AE-8546-0C40-70FAA274CD7E}"/>
              </a:ext>
            </a:extLst>
          </p:cNvPr>
          <p:cNvSpPr/>
          <p:nvPr/>
        </p:nvSpPr>
        <p:spPr>
          <a:xfrm>
            <a:off x="2221366" y="5893988"/>
            <a:ext cx="9336650" cy="564757"/>
          </a:xfrm>
          <a:prstGeom prst="rect">
            <a:avLst/>
          </a:prstGeom>
          <a:solidFill>
            <a:schemeClr val="bg1"/>
          </a:solidFill>
          <a:ln>
            <a:solidFill>
              <a:schemeClr val="bg2">
                <a:lumMod val="90000"/>
              </a:schemeClr>
            </a:solid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Consumes the device’s processing power and allows attacks to sneak by</a:t>
            </a:r>
          </a:p>
        </p:txBody>
      </p:sp>
      <p:sp>
        <p:nvSpPr>
          <p:cNvPr id="21" name="Oval 20">
            <a:extLst>
              <a:ext uri="{FF2B5EF4-FFF2-40B4-BE49-F238E27FC236}">
                <a16:creationId xmlns:a16="http://schemas.microsoft.com/office/drawing/2014/main" id="{051C0732-A4F7-BE78-46DE-155688AA521D}"/>
              </a:ext>
            </a:extLst>
          </p:cNvPr>
          <p:cNvSpPr>
            <a:spLocks noChangeAspect="1"/>
          </p:cNvSpPr>
          <p:nvPr/>
        </p:nvSpPr>
        <p:spPr>
          <a:xfrm>
            <a:off x="2333767" y="5967425"/>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5</a:t>
            </a:r>
          </a:p>
        </p:txBody>
      </p:sp>
      <p:sp>
        <p:nvSpPr>
          <p:cNvPr id="22" name="TextBox 21">
            <a:extLst>
              <a:ext uri="{FF2B5EF4-FFF2-40B4-BE49-F238E27FC236}">
                <a16:creationId xmlns:a16="http://schemas.microsoft.com/office/drawing/2014/main" id="{14D31F13-4448-47DB-2A9B-AAD015CBD629}"/>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Tree>
    <p:extLst>
      <p:ext uri="{BB962C8B-B14F-4D97-AF65-F5344CB8AC3E}">
        <p14:creationId xmlns:p14="http://schemas.microsoft.com/office/powerpoint/2010/main" val="13330583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Fragmentation Attack</a:t>
            </a:r>
          </a:p>
        </p:txBody>
      </p:sp>
      <p:sp>
        <p:nvSpPr>
          <p:cNvPr id="3" name="Rectangle 2">
            <a:extLst>
              <a:ext uri="{FF2B5EF4-FFF2-40B4-BE49-F238E27FC236}">
                <a16:creationId xmlns:a16="http://schemas.microsoft.com/office/drawing/2014/main" id="{D5B6D237-554C-3F95-E1DC-567FD87042FA}"/>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itle 11">
            <a:extLst>
              <a:ext uri="{FF2B5EF4-FFF2-40B4-BE49-F238E27FC236}">
                <a16:creationId xmlns:a16="http://schemas.microsoft.com/office/drawing/2014/main" id="{16CC8931-D3EF-D542-20C5-558520782CCF}"/>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Fragmentation Attack </a:t>
            </a:r>
          </a:p>
        </p:txBody>
      </p:sp>
      <p:sp>
        <p:nvSpPr>
          <p:cNvPr id="5" name="TextBox 4">
            <a:extLst>
              <a:ext uri="{FF2B5EF4-FFF2-40B4-BE49-F238E27FC236}">
                <a16:creationId xmlns:a16="http://schemas.microsoft.com/office/drawing/2014/main" id="{41ADCF70-A716-41BA-B45E-4289D1487140}"/>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
        <p:nvSpPr>
          <p:cNvPr id="7" name="Rectangle 6">
            <a:extLst>
              <a:ext uri="{FF2B5EF4-FFF2-40B4-BE49-F238E27FC236}">
                <a16:creationId xmlns:a16="http://schemas.microsoft.com/office/drawing/2014/main" id="{400652A0-68E0-D177-9266-39E79946640D}"/>
              </a:ext>
            </a:extLst>
          </p:cNvPr>
          <p:cNvSpPr/>
          <p:nvPr/>
        </p:nvSpPr>
        <p:spPr>
          <a:xfrm>
            <a:off x="289693" y="981784"/>
            <a:ext cx="4814569" cy="5560295"/>
          </a:xfrm>
          <a:prstGeom prst="rect">
            <a:avLst/>
          </a:prstGeom>
          <a:solidFill>
            <a:schemeClr val="bg1"/>
          </a:solidFill>
          <a:ln>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spcAft>
                <a:spcPts val="1200"/>
              </a:spcAft>
              <a:buClr>
                <a:srgbClr val="FFDB87"/>
              </a:buClr>
              <a:buSzPct val="140000"/>
              <a:buFont typeface="Wingdings" pitchFamily="2" charset="2"/>
              <a:buChar char="§"/>
            </a:pPr>
            <a:r>
              <a:rPr lang="en-US" dirty="0">
                <a:solidFill>
                  <a:schemeClr val="tx1"/>
                </a:solidFill>
              </a:rPr>
              <a:t>Fragmentation can be used as an attack vector when fragmentation timeouts vary between the IDS and the host</a:t>
            </a:r>
          </a:p>
          <a:p>
            <a:pPr marL="285750" indent="-285750">
              <a:spcAft>
                <a:spcPts val="1200"/>
              </a:spcAft>
              <a:buClr>
                <a:srgbClr val="FFDB87"/>
              </a:buClr>
              <a:buSzPct val="140000"/>
              <a:buFont typeface="Wingdings" pitchFamily="2" charset="2"/>
              <a:buChar char="§"/>
            </a:pPr>
            <a:r>
              <a:rPr lang="en-US" dirty="0">
                <a:solidFill>
                  <a:schemeClr val="tx1"/>
                </a:solidFill>
              </a:rPr>
              <a:t>If the fragment reassembly timeout is 10 sec at the IDS and 20 sec at the target system, attackers will send the second fragment 15 sec after sending the first</a:t>
            </a:r>
          </a:p>
          <a:p>
            <a:pPr marL="285750" indent="-285750">
              <a:spcAft>
                <a:spcPts val="1200"/>
              </a:spcAft>
              <a:buClr>
                <a:srgbClr val="FFDB87"/>
              </a:buClr>
              <a:buSzPct val="140000"/>
              <a:buFont typeface="Wingdings" pitchFamily="2" charset="2"/>
              <a:buChar char="§"/>
            </a:pPr>
            <a:r>
              <a:rPr lang="en-US" dirty="0">
                <a:solidFill>
                  <a:schemeClr val="tx1"/>
                </a:solidFill>
              </a:rPr>
              <a:t>In this scenario, the IDS will drop the fragments as the second fragment is received after its reassembly time, but the target system will reassemble the fragments</a:t>
            </a:r>
          </a:p>
          <a:p>
            <a:pPr marL="285750" indent="-285750">
              <a:spcAft>
                <a:spcPts val="1200"/>
              </a:spcAft>
              <a:buClr>
                <a:srgbClr val="FFDB87"/>
              </a:buClr>
              <a:buSzPct val="140000"/>
              <a:buFont typeface="Wingdings" pitchFamily="2" charset="2"/>
              <a:buChar char="§"/>
            </a:pPr>
            <a:r>
              <a:rPr lang="en-US" dirty="0">
                <a:solidFill>
                  <a:schemeClr val="tx1"/>
                </a:solidFill>
              </a:rPr>
              <a:t>Attackers will keep sending the fragments with 15 sec delays until all the attack payload is reassembled at the target system</a:t>
            </a:r>
          </a:p>
        </p:txBody>
      </p:sp>
      <p:pic>
        <p:nvPicPr>
          <p:cNvPr id="12" name="Picture 11" descr="A diagram of a computer network&#10;&#10;Description automatically generated">
            <a:extLst>
              <a:ext uri="{FF2B5EF4-FFF2-40B4-BE49-F238E27FC236}">
                <a16:creationId xmlns:a16="http://schemas.microsoft.com/office/drawing/2014/main" id="{A50D082A-7422-C375-325E-39A917490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9038" y="981784"/>
            <a:ext cx="6696015" cy="5560295"/>
          </a:xfrm>
          <a:prstGeom prst="rect">
            <a:avLst/>
          </a:prstGeom>
        </p:spPr>
      </p:pic>
    </p:spTree>
    <p:extLst>
      <p:ext uri="{BB962C8B-B14F-4D97-AF65-F5344CB8AC3E}">
        <p14:creationId xmlns:p14="http://schemas.microsoft.com/office/powerpoint/2010/main" val="33980777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1162" y="3050434"/>
            <a:ext cx="3722933" cy="757130"/>
          </a:xfrm>
          <a:ln w="25400" cap="sq">
            <a:solidFill>
              <a:srgbClr val="FFFFFF"/>
            </a:solidFill>
            <a:miter lim="800000"/>
          </a:ln>
        </p:spPr>
        <p:txBody>
          <a:bodyPr wrap="square">
            <a:normAutofit/>
          </a:bodyPr>
          <a:lstStyle/>
          <a:p>
            <a:pPr algn="ctr"/>
            <a:r>
              <a:rPr lang="en-US" sz="2800">
                <a:solidFill>
                  <a:srgbClr val="FFFFFF"/>
                </a:solidFill>
                <a:latin typeface="Consolas" panose="020B0609020204030204" pitchFamily="49" charset="0"/>
              </a:rPr>
              <a:t>Evading Firewall</a:t>
            </a:r>
          </a:p>
        </p:txBody>
      </p:sp>
      <p:sp>
        <p:nvSpPr>
          <p:cNvPr id="3" name="Rectangle 2">
            <a:extLst>
              <a:ext uri="{FF2B5EF4-FFF2-40B4-BE49-F238E27FC236}">
                <a16:creationId xmlns:a16="http://schemas.microsoft.com/office/drawing/2014/main" id="{57DADAD6-D095-9643-2E53-4EC5092BA0BB}"/>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Title 11">
            <a:extLst>
              <a:ext uri="{FF2B5EF4-FFF2-40B4-BE49-F238E27FC236}">
                <a16:creationId xmlns:a16="http://schemas.microsoft.com/office/drawing/2014/main" id="{1EAC8F94-B95A-C2C2-E243-5080738BD9EE}"/>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Firewall Evasion Techniques</a:t>
            </a:r>
          </a:p>
        </p:txBody>
      </p:sp>
      <p:sp>
        <p:nvSpPr>
          <p:cNvPr id="7" name="Rectangle 6">
            <a:extLst>
              <a:ext uri="{FF2B5EF4-FFF2-40B4-BE49-F238E27FC236}">
                <a16:creationId xmlns:a16="http://schemas.microsoft.com/office/drawing/2014/main" id="{D92DD97E-CFE4-15AD-4D10-6C0A35F21085}"/>
              </a:ext>
            </a:extLst>
          </p:cNvPr>
          <p:cNvSpPr/>
          <p:nvPr/>
        </p:nvSpPr>
        <p:spPr>
          <a:xfrm>
            <a:off x="377983" y="1110974"/>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Port Scanning</a:t>
            </a:r>
          </a:p>
        </p:txBody>
      </p:sp>
      <p:sp>
        <p:nvSpPr>
          <p:cNvPr id="8" name="Rectangle 7">
            <a:extLst>
              <a:ext uri="{FF2B5EF4-FFF2-40B4-BE49-F238E27FC236}">
                <a16:creationId xmlns:a16="http://schemas.microsoft.com/office/drawing/2014/main" id="{31EBFB6E-69E7-DDB8-34A9-5B157B1D79BF}"/>
              </a:ext>
            </a:extLst>
          </p:cNvPr>
          <p:cNvSpPr>
            <a:spLocks noChangeAspect="1"/>
          </p:cNvSpPr>
          <p:nvPr/>
        </p:nvSpPr>
        <p:spPr>
          <a:xfrm>
            <a:off x="558224" y="1328579"/>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1</a:t>
            </a:r>
          </a:p>
        </p:txBody>
      </p:sp>
      <p:sp>
        <p:nvSpPr>
          <p:cNvPr id="9" name="Rectangle 8">
            <a:extLst>
              <a:ext uri="{FF2B5EF4-FFF2-40B4-BE49-F238E27FC236}">
                <a16:creationId xmlns:a16="http://schemas.microsoft.com/office/drawing/2014/main" id="{E5C09791-5C01-183A-9CFD-8F4C9F889E26}"/>
              </a:ext>
            </a:extLst>
          </p:cNvPr>
          <p:cNvSpPr/>
          <p:nvPr/>
        </p:nvSpPr>
        <p:spPr>
          <a:xfrm>
            <a:off x="377983" y="2140041"/>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Banner Grabbing</a:t>
            </a:r>
          </a:p>
        </p:txBody>
      </p:sp>
      <p:sp>
        <p:nvSpPr>
          <p:cNvPr id="10" name="Rectangle 9">
            <a:extLst>
              <a:ext uri="{FF2B5EF4-FFF2-40B4-BE49-F238E27FC236}">
                <a16:creationId xmlns:a16="http://schemas.microsoft.com/office/drawing/2014/main" id="{88D1DE1E-1E00-16FD-8C02-36E85A47E114}"/>
              </a:ext>
            </a:extLst>
          </p:cNvPr>
          <p:cNvSpPr>
            <a:spLocks noChangeAspect="1"/>
          </p:cNvSpPr>
          <p:nvPr/>
        </p:nvSpPr>
        <p:spPr>
          <a:xfrm>
            <a:off x="558224" y="2357646"/>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2</a:t>
            </a:r>
          </a:p>
        </p:txBody>
      </p:sp>
      <p:sp>
        <p:nvSpPr>
          <p:cNvPr id="11" name="Rectangle 10">
            <a:extLst>
              <a:ext uri="{FF2B5EF4-FFF2-40B4-BE49-F238E27FC236}">
                <a16:creationId xmlns:a16="http://schemas.microsoft.com/office/drawing/2014/main" id="{2C97176F-403E-FF57-DABC-F9896E87318C}"/>
              </a:ext>
            </a:extLst>
          </p:cNvPr>
          <p:cNvSpPr/>
          <p:nvPr/>
        </p:nvSpPr>
        <p:spPr>
          <a:xfrm>
            <a:off x="377983" y="3186684"/>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IP Address Spoofing</a:t>
            </a:r>
          </a:p>
        </p:txBody>
      </p:sp>
      <p:sp>
        <p:nvSpPr>
          <p:cNvPr id="12" name="Rectangle 11">
            <a:extLst>
              <a:ext uri="{FF2B5EF4-FFF2-40B4-BE49-F238E27FC236}">
                <a16:creationId xmlns:a16="http://schemas.microsoft.com/office/drawing/2014/main" id="{0C8E2B95-581A-1D45-AC19-2B734FCE59CC}"/>
              </a:ext>
            </a:extLst>
          </p:cNvPr>
          <p:cNvSpPr>
            <a:spLocks noChangeAspect="1"/>
          </p:cNvSpPr>
          <p:nvPr/>
        </p:nvSpPr>
        <p:spPr>
          <a:xfrm>
            <a:off x="558224" y="3404289"/>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3</a:t>
            </a:r>
          </a:p>
        </p:txBody>
      </p:sp>
      <p:sp>
        <p:nvSpPr>
          <p:cNvPr id="13" name="Rectangle 12">
            <a:extLst>
              <a:ext uri="{FF2B5EF4-FFF2-40B4-BE49-F238E27FC236}">
                <a16:creationId xmlns:a16="http://schemas.microsoft.com/office/drawing/2014/main" id="{5B1D81CE-1298-AE36-B7B0-D7AF24E18057}"/>
              </a:ext>
            </a:extLst>
          </p:cNvPr>
          <p:cNvSpPr/>
          <p:nvPr/>
        </p:nvSpPr>
        <p:spPr>
          <a:xfrm>
            <a:off x="377983" y="4209707"/>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Source Routing</a:t>
            </a:r>
          </a:p>
        </p:txBody>
      </p:sp>
      <p:sp>
        <p:nvSpPr>
          <p:cNvPr id="14" name="Rectangle 13">
            <a:extLst>
              <a:ext uri="{FF2B5EF4-FFF2-40B4-BE49-F238E27FC236}">
                <a16:creationId xmlns:a16="http://schemas.microsoft.com/office/drawing/2014/main" id="{8CB9333F-1F4B-356B-BABE-82F9ECE46487}"/>
              </a:ext>
            </a:extLst>
          </p:cNvPr>
          <p:cNvSpPr>
            <a:spLocks noChangeAspect="1"/>
          </p:cNvSpPr>
          <p:nvPr/>
        </p:nvSpPr>
        <p:spPr>
          <a:xfrm>
            <a:off x="558224" y="4427312"/>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4</a:t>
            </a:r>
          </a:p>
        </p:txBody>
      </p:sp>
      <p:sp>
        <p:nvSpPr>
          <p:cNvPr id="15" name="Rectangle 14">
            <a:extLst>
              <a:ext uri="{FF2B5EF4-FFF2-40B4-BE49-F238E27FC236}">
                <a16:creationId xmlns:a16="http://schemas.microsoft.com/office/drawing/2014/main" id="{6B893378-AD05-C8FB-4666-9DAB0F6084AE}"/>
              </a:ext>
            </a:extLst>
          </p:cNvPr>
          <p:cNvSpPr/>
          <p:nvPr/>
        </p:nvSpPr>
        <p:spPr>
          <a:xfrm>
            <a:off x="377983" y="5222758"/>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Tiny Fragments</a:t>
            </a:r>
          </a:p>
        </p:txBody>
      </p:sp>
      <p:sp>
        <p:nvSpPr>
          <p:cNvPr id="16" name="Rectangle 15">
            <a:extLst>
              <a:ext uri="{FF2B5EF4-FFF2-40B4-BE49-F238E27FC236}">
                <a16:creationId xmlns:a16="http://schemas.microsoft.com/office/drawing/2014/main" id="{1F588348-AE51-4AF5-F84C-47D8FC5C7B60}"/>
              </a:ext>
            </a:extLst>
          </p:cNvPr>
          <p:cNvSpPr>
            <a:spLocks noChangeAspect="1"/>
          </p:cNvSpPr>
          <p:nvPr/>
        </p:nvSpPr>
        <p:spPr>
          <a:xfrm>
            <a:off x="558224" y="5440363"/>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5</a:t>
            </a:r>
          </a:p>
        </p:txBody>
      </p:sp>
      <p:sp>
        <p:nvSpPr>
          <p:cNvPr id="23" name="Rectangle 22">
            <a:extLst>
              <a:ext uri="{FF2B5EF4-FFF2-40B4-BE49-F238E27FC236}">
                <a16:creationId xmlns:a16="http://schemas.microsoft.com/office/drawing/2014/main" id="{0F49879F-65C7-D8F5-8278-218B5AE46FE5}"/>
              </a:ext>
            </a:extLst>
          </p:cNvPr>
          <p:cNvSpPr/>
          <p:nvPr/>
        </p:nvSpPr>
        <p:spPr>
          <a:xfrm>
            <a:off x="4298501" y="1605868"/>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Using an IP Address in Place of a URL</a:t>
            </a:r>
          </a:p>
        </p:txBody>
      </p:sp>
      <p:sp>
        <p:nvSpPr>
          <p:cNvPr id="24" name="Rectangle 23">
            <a:extLst>
              <a:ext uri="{FF2B5EF4-FFF2-40B4-BE49-F238E27FC236}">
                <a16:creationId xmlns:a16="http://schemas.microsoft.com/office/drawing/2014/main" id="{86886792-3562-5E7A-90E0-7F803B28AD07}"/>
              </a:ext>
            </a:extLst>
          </p:cNvPr>
          <p:cNvSpPr>
            <a:spLocks noChangeAspect="1"/>
          </p:cNvSpPr>
          <p:nvPr/>
        </p:nvSpPr>
        <p:spPr>
          <a:xfrm>
            <a:off x="4478742" y="1823473"/>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6</a:t>
            </a:r>
          </a:p>
        </p:txBody>
      </p:sp>
      <p:sp>
        <p:nvSpPr>
          <p:cNvPr id="25" name="Rectangle 24">
            <a:extLst>
              <a:ext uri="{FF2B5EF4-FFF2-40B4-BE49-F238E27FC236}">
                <a16:creationId xmlns:a16="http://schemas.microsoft.com/office/drawing/2014/main" id="{297BB506-C06B-18A4-4AF3-C21117DC68A6}"/>
              </a:ext>
            </a:extLst>
          </p:cNvPr>
          <p:cNvSpPr/>
          <p:nvPr/>
        </p:nvSpPr>
        <p:spPr>
          <a:xfrm>
            <a:off x="4298501" y="2634935"/>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Using a Proxy Server</a:t>
            </a:r>
          </a:p>
        </p:txBody>
      </p:sp>
      <p:sp>
        <p:nvSpPr>
          <p:cNvPr id="26" name="Rectangle 25">
            <a:extLst>
              <a:ext uri="{FF2B5EF4-FFF2-40B4-BE49-F238E27FC236}">
                <a16:creationId xmlns:a16="http://schemas.microsoft.com/office/drawing/2014/main" id="{569383F0-39DE-7339-12F7-E710AA6ED6FF}"/>
              </a:ext>
            </a:extLst>
          </p:cNvPr>
          <p:cNvSpPr>
            <a:spLocks noChangeAspect="1"/>
          </p:cNvSpPr>
          <p:nvPr/>
        </p:nvSpPr>
        <p:spPr>
          <a:xfrm>
            <a:off x="4478742" y="2852540"/>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7</a:t>
            </a:r>
          </a:p>
        </p:txBody>
      </p:sp>
      <p:sp>
        <p:nvSpPr>
          <p:cNvPr id="27" name="Rectangle 26">
            <a:extLst>
              <a:ext uri="{FF2B5EF4-FFF2-40B4-BE49-F238E27FC236}">
                <a16:creationId xmlns:a16="http://schemas.microsoft.com/office/drawing/2014/main" id="{7D7CA591-E49B-E924-1326-79E6D0C1C516}"/>
              </a:ext>
            </a:extLst>
          </p:cNvPr>
          <p:cNvSpPr/>
          <p:nvPr/>
        </p:nvSpPr>
        <p:spPr>
          <a:xfrm>
            <a:off x="4298501" y="3681578"/>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ICMP Tunneling</a:t>
            </a:r>
          </a:p>
        </p:txBody>
      </p:sp>
      <p:sp>
        <p:nvSpPr>
          <p:cNvPr id="28" name="Rectangle 27">
            <a:extLst>
              <a:ext uri="{FF2B5EF4-FFF2-40B4-BE49-F238E27FC236}">
                <a16:creationId xmlns:a16="http://schemas.microsoft.com/office/drawing/2014/main" id="{C5767E6F-E18B-9F9A-1D01-7DEF11A0499A}"/>
              </a:ext>
            </a:extLst>
          </p:cNvPr>
          <p:cNvSpPr>
            <a:spLocks noChangeAspect="1"/>
          </p:cNvSpPr>
          <p:nvPr/>
        </p:nvSpPr>
        <p:spPr>
          <a:xfrm>
            <a:off x="4478742" y="3899183"/>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8</a:t>
            </a:r>
          </a:p>
        </p:txBody>
      </p:sp>
      <p:sp>
        <p:nvSpPr>
          <p:cNvPr id="32" name="Rectangle 31">
            <a:extLst>
              <a:ext uri="{FF2B5EF4-FFF2-40B4-BE49-F238E27FC236}">
                <a16:creationId xmlns:a16="http://schemas.microsoft.com/office/drawing/2014/main" id="{68877352-E73E-6345-4812-CF118AF24BEE}"/>
              </a:ext>
            </a:extLst>
          </p:cNvPr>
          <p:cNvSpPr/>
          <p:nvPr/>
        </p:nvSpPr>
        <p:spPr>
          <a:xfrm>
            <a:off x="4298501" y="4704601"/>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ACK Tunneling</a:t>
            </a:r>
          </a:p>
        </p:txBody>
      </p:sp>
      <p:sp>
        <p:nvSpPr>
          <p:cNvPr id="33" name="Rectangle 32">
            <a:extLst>
              <a:ext uri="{FF2B5EF4-FFF2-40B4-BE49-F238E27FC236}">
                <a16:creationId xmlns:a16="http://schemas.microsoft.com/office/drawing/2014/main" id="{EE69D785-B35C-9794-58FE-B4CAE015BB27}"/>
              </a:ext>
            </a:extLst>
          </p:cNvPr>
          <p:cNvSpPr>
            <a:spLocks noChangeAspect="1"/>
          </p:cNvSpPr>
          <p:nvPr/>
        </p:nvSpPr>
        <p:spPr>
          <a:xfrm>
            <a:off x="4478742" y="4922206"/>
            <a:ext cx="39578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9</a:t>
            </a:r>
          </a:p>
        </p:txBody>
      </p:sp>
      <p:sp>
        <p:nvSpPr>
          <p:cNvPr id="34" name="Rectangle 33">
            <a:extLst>
              <a:ext uri="{FF2B5EF4-FFF2-40B4-BE49-F238E27FC236}">
                <a16:creationId xmlns:a16="http://schemas.microsoft.com/office/drawing/2014/main" id="{0476806C-A9CD-B964-CE00-701DF09FD663}"/>
              </a:ext>
            </a:extLst>
          </p:cNvPr>
          <p:cNvSpPr/>
          <p:nvPr/>
        </p:nvSpPr>
        <p:spPr>
          <a:xfrm>
            <a:off x="8217683" y="1607516"/>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SSH Tunneling</a:t>
            </a:r>
          </a:p>
        </p:txBody>
      </p:sp>
      <p:sp>
        <p:nvSpPr>
          <p:cNvPr id="35" name="Rectangle 34">
            <a:extLst>
              <a:ext uri="{FF2B5EF4-FFF2-40B4-BE49-F238E27FC236}">
                <a16:creationId xmlns:a16="http://schemas.microsoft.com/office/drawing/2014/main" id="{25FAAF14-CF5E-1832-8C20-5FC82C9CB863}"/>
              </a:ext>
            </a:extLst>
          </p:cNvPr>
          <p:cNvSpPr>
            <a:spLocks noChangeAspect="1"/>
          </p:cNvSpPr>
          <p:nvPr/>
        </p:nvSpPr>
        <p:spPr>
          <a:xfrm>
            <a:off x="8370628" y="1825121"/>
            <a:ext cx="517675"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10</a:t>
            </a:r>
          </a:p>
        </p:txBody>
      </p:sp>
      <p:sp>
        <p:nvSpPr>
          <p:cNvPr id="40" name="Rectangle 39">
            <a:extLst>
              <a:ext uri="{FF2B5EF4-FFF2-40B4-BE49-F238E27FC236}">
                <a16:creationId xmlns:a16="http://schemas.microsoft.com/office/drawing/2014/main" id="{FA57F9D4-F5BB-AA0D-E6E5-008A5D0A3C4D}"/>
              </a:ext>
            </a:extLst>
          </p:cNvPr>
          <p:cNvSpPr/>
          <p:nvPr/>
        </p:nvSpPr>
        <p:spPr>
          <a:xfrm>
            <a:off x="8217683" y="2596132"/>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DNS Tunneling</a:t>
            </a:r>
          </a:p>
        </p:txBody>
      </p:sp>
      <p:sp>
        <p:nvSpPr>
          <p:cNvPr id="41" name="Rectangle 40">
            <a:extLst>
              <a:ext uri="{FF2B5EF4-FFF2-40B4-BE49-F238E27FC236}">
                <a16:creationId xmlns:a16="http://schemas.microsoft.com/office/drawing/2014/main" id="{960C2EE2-91D3-5F06-DC96-9A2E736F94DF}"/>
              </a:ext>
            </a:extLst>
          </p:cNvPr>
          <p:cNvSpPr>
            <a:spLocks noChangeAspect="1"/>
          </p:cNvSpPr>
          <p:nvPr/>
        </p:nvSpPr>
        <p:spPr>
          <a:xfrm>
            <a:off x="8356980" y="2813737"/>
            <a:ext cx="496264"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11</a:t>
            </a:r>
          </a:p>
        </p:txBody>
      </p:sp>
      <p:sp>
        <p:nvSpPr>
          <p:cNvPr id="42" name="Rectangle 41">
            <a:extLst>
              <a:ext uri="{FF2B5EF4-FFF2-40B4-BE49-F238E27FC236}">
                <a16:creationId xmlns:a16="http://schemas.microsoft.com/office/drawing/2014/main" id="{0D2EF2AE-8BBD-091A-9794-9A4DDAD7C2A4}"/>
              </a:ext>
            </a:extLst>
          </p:cNvPr>
          <p:cNvSpPr/>
          <p:nvPr/>
        </p:nvSpPr>
        <p:spPr>
          <a:xfrm>
            <a:off x="8217683" y="3619155"/>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Through Content</a:t>
            </a:r>
          </a:p>
        </p:txBody>
      </p:sp>
      <p:sp>
        <p:nvSpPr>
          <p:cNvPr id="43" name="Rectangle 42">
            <a:extLst>
              <a:ext uri="{FF2B5EF4-FFF2-40B4-BE49-F238E27FC236}">
                <a16:creationId xmlns:a16="http://schemas.microsoft.com/office/drawing/2014/main" id="{5A8B0211-F498-D58A-B4CD-5EDBA8E2BA29}"/>
              </a:ext>
            </a:extLst>
          </p:cNvPr>
          <p:cNvSpPr>
            <a:spLocks noChangeAspect="1"/>
          </p:cNvSpPr>
          <p:nvPr/>
        </p:nvSpPr>
        <p:spPr>
          <a:xfrm>
            <a:off x="8356980" y="3836760"/>
            <a:ext cx="496264"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12</a:t>
            </a:r>
          </a:p>
        </p:txBody>
      </p:sp>
      <p:sp>
        <p:nvSpPr>
          <p:cNvPr id="44" name="Rectangle 43">
            <a:extLst>
              <a:ext uri="{FF2B5EF4-FFF2-40B4-BE49-F238E27FC236}">
                <a16:creationId xmlns:a16="http://schemas.microsoft.com/office/drawing/2014/main" id="{7D7DF6F0-021F-EC68-A766-4564D2E7F56D}"/>
              </a:ext>
            </a:extLst>
          </p:cNvPr>
          <p:cNvSpPr/>
          <p:nvPr/>
        </p:nvSpPr>
        <p:spPr>
          <a:xfrm>
            <a:off x="8217683" y="4632206"/>
            <a:ext cx="3384645" cy="830997"/>
          </a:xfrm>
          <a:prstGeom prst="rect">
            <a:avLst/>
          </a:prstGeom>
          <a:solidFill>
            <a:schemeClr val="bg1"/>
          </a:solidFill>
          <a:ln>
            <a:solidFill>
              <a:schemeClr val="bg2"/>
            </a:solid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31520" rtlCol="0" anchor="ctr"/>
          <a:lstStyle/>
          <a:p>
            <a:r>
              <a:rPr lang="en-US" sz="2400" dirty="0">
                <a:solidFill>
                  <a:schemeClr val="tx1"/>
                </a:solidFill>
              </a:rPr>
              <a:t>Through XSS Attack</a:t>
            </a:r>
          </a:p>
        </p:txBody>
      </p:sp>
      <p:sp>
        <p:nvSpPr>
          <p:cNvPr id="45" name="Rectangle 44">
            <a:extLst>
              <a:ext uri="{FF2B5EF4-FFF2-40B4-BE49-F238E27FC236}">
                <a16:creationId xmlns:a16="http://schemas.microsoft.com/office/drawing/2014/main" id="{711EBE73-FEFF-C512-EA31-5698CFF24FC6}"/>
              </a:ext>
            </a:extLst>
          </p:cNvPr>
          <p:cNvSpPr>
            <a:spLocks noChangeAspect="1"/>
          </p:cNvSpPr>
          <p:nvPr/>
        </p:nvSpPr>
        <p:spPr>
          <a:xfrm>
            <a:off x="8356980" y="4849811"/>
            <a:ext cx="496264" cy="395785"/>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400" b="1" dirty="0"/>
              <a:t>13</a:t>
            </a:r>
          </a:p>
        </p:txBody>
      </p:sp>
      <p:sp>
        <p:nvSpPr>
          <p:cNvPr id="48" name="TextBox 47">
            <a:extLst>
              <a:ext uri="{FF2B5EF4-FFF2-40B4-BE49-F238E27FC236}">
                <a16:creationId xmlns:a16="http://schemas.microsoft.com/office/drawing/2014/main" id="{82460906-8CC9-4F83-1112-5A276BE0FD17}"/>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Tree>
    <p:extLst>
      <p:ext uri="{BB962C8B-B14F-4D97-AF65-F5344CB8AC3E}">
        <p14:creationId xmlns:p14="http://schemas.microsoft.com/office/powerpoint/2010/main" val="31982031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Bypass Firewall Blocked Sites</a:t>
            </a:r>
          </a:p>
        </p:txBody>
      </p:sp>
      <p:sp>
        <p:nvSpPr>
          <p:cNvPr id="3" name="Rectangle 2">
            <a:extLst>
              <a:ext uri="{FF2B5EF4-FFF2-40B4-BE49-F238E27FC236}">
                <a16:creationId xmlns:a16="http://schemas.microsoft.com/office/drawing/2014/main" id="{A785B9E5-5279-D604-FD6B-3E7FE775F8C7}"/>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itle 11">
            <a:extLst>
              <a:ext uri="{FF2B5EF4-FFF2-40B4-BE49-F238E27FC236}">
                <a16:creationId xmlns:a16="http://schemas.microsoft.com/office/drawing/2014/main" id="{4E0238F6-D900-2E16-8759-5C054C563117}"/>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Bypass a Firewall Using a Proxy Server</a:t>
            </a:r>
          </a:p>
        </p:txBody>
      </p:sp>
      <p:sp>
        <p:nvSpPr>
          <p:cNvPr id="5" name="TextBox 4">
            <a:extLst>
              <a:ext uri="{FF2B5EF4-FFF2-40B4-BE49-F238E27FC236}">
                <a16:creationId xmlns:a16="http://schemas.microsoft.com/office/drawing/2014/main" id="{0D532E2A-BC9A-AE6A-3623-76212122463D}"/>
              </a:ext>
            </a:extLst>
          </p:cNvPr>
          <p:cNvSpPr txBox="1"/>
          <p:nvPr/>
        </p:nvSpPr>
        <p:spPr>
          <a:xfrm>
            <a:off x="6282424" y="6590248"/>
            <a:ext cx="5909576"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
        <p:nvSpPr>
          <p:cNvPr id="7" name="Rectangle 6">
            <a:extLst>
              <a:ext uri="{FF2B5EF4-FFF2-40B4-BE49-F238E27FC236}">
                <a16:creationId xmlns:a16="http://schemas.microsoft.com/office/drawing/2014/main" id="{F0E6EC29-4CA2-F8AD-9955-A5A487EC377B}"/>
              </a:ext>
            </a:extLst>
          </p:cNvPr>
          <p:cNvSpPr/>
          <p:nvPr/>
        </p:nvSpPr>
        <p:spPr>
          <a:xfrm>
            <a:off x="354842" y="1013306"/>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Find an appropriate </a:t>
            </a:r>
            <a:r>
              <a:rPr lang="en-US" dirty="0">
                <a:solidFill>
                  <a:srgbClr val="C00000"/>
                </a:solidFill>
              </a:rPr>
              <a:t>proxy server</a:t>
            </a:r>
          </a:p>
        </p:txBody>
      </p:sp>
      <p:sp>
        <p:nvSpPr>
          <p:cNvPr id="8" name="Oval 7">
            <a:extLst>
              <a:ext uri="{FF2B5EF4-FFF2-40B4-BE49-F238E27FC236}">
                <a16:creationId xmlns:a16="http://schemas.microsoft.com/office/drawing/2014/main" id="{1F5845E7-255E-737E-3DB0-9D0BE5569977}"/>
              </a:ext>
            </a:extLst>
          </p:cNvPr>
          <p:cNvSpPr>
            <a:spLocks noChangeAspect="1"/>
          </p:cNvSpPr>
          <p:nvPr/>
        </p:nvSpPr>
        <p:spPr>
          <a:xfrm>
            <a:off x="464025" y="1154925"/>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1</a:t>
            </a:r>
          </a:p>
        </p:txBody>
      </p:sp>
      <p:sp>
        <p:nvSpPr>
          <p:cNvPr id="9" name="Rectangle 8">
            <a:extLst>
              <a:ext uri="{FF2B5EF4-FFF2-40B4-BE49-F238E27FC236}">
                <a16:creationId xmlns:a16="http://schemas.microsoft.com/office/drawing/2014/main" id="{8CBA84FF-7A4E-BDDA-193D-5FBF72E56DE2}"/>
              </a:ext>
            </a:extLst>
          </p:cNvPr>
          <p:cNvSpPr/>
          <p:nvPr/>
        </p:nvSpPr>
        <p:spPr>
          <a:xfrm>
            <a:off x="354842" y="1718572"/>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In a Windows system, Go to </a:t>
            </a:r>
            <a:r>
              <a:rPr lang="en-US" dirty="0">
                <a:solidFill>
                  <a:srgbClr val="C00000"/>
                </a:solidFill>
              </a:rPr>
              <a:t>Control Panel</a:t>
            </a:r>
            <a:r>
              <a:rPr lang="en-US" dirty="0">
                <a:solidFill>
                  <a:schemeClr val="tx1"/>
                </a:solidFill>
              </a:rPr>
              <a:t>, select </a:t>
            </a:r>
            <a:r>
              <a:rPr lang="en-US" dirty="0">
                <a:solidFill>
                  <a:srgbClr val="C00000"/>
                </a:solidFill>
              </a:rPr>
              <a:t>Network and Internet </a:t>
            </a:r>
            <a:r>
              <a:rPr lang="en-US" dirty="0">
                <a:solidFill>
                  <a:schemeClr val="tx1"/>
                </a:solidFill>
                <a:sym typeface="Wingdings" pitchFamily="2" charset="2"/>
              </a:rPr>
              <a:t> </a:t>
            </a:r>
            <a:r>
              <a:rPr lang="en-US" dirty="0">
                <a:solidFill>
                  <a:srgbClr val="C00000"/>
                </a:solidFill>
                <a:sym typeface="Wingdings" pitchFamily="2" charset="2"/>
              </a:rPr>
              <a:t>Internet Options </a:t>
            </a:r>
            <a:r>
              <a:rPr lang="en-US" dirty="0">
                <a:solidFill>
                  <a:schemeClr val="tx1"/>
                </a:solidFill>
                <a:sym typeface="Wingdings" pitchFamily="2" charset="2"/>
              </a:rPr>
              <a:t>and in the </a:t>
            </a:r>
            <a:r>
              <a:rPr lang="en-US" dirty="0">
                <a:solidFill>
                  <a:srgbClr val="C00000"/>
                </a:solidFill>
                <a:sym typeface="Wingdings" pitchFamily="2" charset="2"/>
              </a:rPr>
              <a:t>Internet Options </a:t>
            </a:r>
            <a:r>
              <a:rPr lang="en-US" dirty="0">
                <a:solidFill>
                  <a:schemeClr val="tx1"/>
                </a:solidFill>
                <a:sym typeface="Wingdings" pitchFamily="2" charset="2"/>
              </a:rPr>
              <a:t>dialog box under </a:t>
            </a:r>
            <a:r>
              <a:rPr lang="en-US" dirty="0">
                <a:solidFill>
                  <a:srgbClr val="C00000"/>
                </a:solidFill>
                <a:sym typeface="Wingdings" pitchFamily="2" charset="2"/>
              </a:rPr>
              <a:t>Connections</a:t>
            </a:r>
            <a:r>
              <a:rPr lang="en-US" dirty="0">
                <a:solidFill>
                  <a:schemeClr val="tx1"/>
                </a:solidFill>
                <a:sym typeface="Wingdings" pitchFamily="2" charset="2"/>
              </a:rPr>
              <a:t> tab, click “</a:t>
            </a:r>
            <a:r>
              <a:rPr lang="en-US" dirty="0">
                <a:solidFill>
                  <a:srgbClr val="C00000"/>
                </a:solidFill>
                <a:sym typeface="Wingdings" pitchFamily="2" charset="2"/>
              </a:rPr>
              <a:t>LAN settings</a:t>
            </a:r>
            <a:r>
              <a:rPr lang="en-US" dirty="0">
                <a:solidFill>
                  <a:schemeClr val="tx1"/>
                </a:solidFill>
                <a:sym typeface="Wingdings" pitchFamily="2" charset="2"/>
              </a:rPr>
              <a:t>”</a:t>
            </a:r>
            <a:endParaRPr lang="en-US" dirty="0">
              <a:solidFill>
                <a:schemeClr val="tx1"/>
              </a:solidFill>
            </a:endParaRPr>
          </a:p>
        </p:txBody>
      </p:sp>
      <p:sp>
        <p:nvSpPr>
          <p:cNvPr id="10" name="Oval 9">
            <a:extLst>
              <a:ext uri="{FF2B5EF4-FFF2-40B4-BE49-F238E27FC236}">
                <a16:creationId xmlns:a16="http://schemas.microsoft.com/office/drawing/2014/main" id="{D94216F9-61AF-C2AE-4BFD-FAD3E738B274}"/>
              </a:ext>
            </a:extLst>
          </p:cNvPr>
          <p:cNvSpPr>
            <a:spLocks noChangeAspect="1"/>
          </p:cNvSpPr>
          <p:nvPr/>
        </p:nvSpPr>
        <p:spPr>
          <a:xfrm>
            <a:off x="482220" y="1855732"/>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2</a:t>
            </a:r>
          </a:p>
        </p:txBody>
      </p:sp>
      <p:sp>
        <p:nvSpPr>
          <p:cNvPr id="11" name="Rectangle 10">
            <a:extLst>
              <a:ext uri="{FF2B5EF4-FFF2-40B4-BE49-F238E27FC236}">
                <a16:creationId xmlns:a16="http://schemas.microsoft.com/office/drawing/2014/main" id="{8CF454B4-4FCF-41F0-0723-4B0BCB6A74CB}"/>
              </a:ext>
            </a:extLst>
          </p:cNvPr>
          <p:cNvSpPr/>
          <p:nvPr/>
        </p:nvSpPr>
        <p:spPr>
          <a:xfrm>
            <a:off x="354842" y="2423838"/>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Under </a:t>
            </a:r>
            <a:r>
              <a:rPr lang="en-US" dirty="0">
                <a:solidFill>
                  <a:srgbClr val="C00000"/>
                </a:solidFill>
              </a:rPr>
              <a:t>LAN Settings</a:t>
            </a:r>
            <a:r>
              <a:rPr lang="en-US" dirty="0">
                <a:solidFill>
                  <a:schemeClr val="tx1"/>
                </a:solidFill>
              </a:rPr>
              <a:t>, click on the “</a:t>
            </a:r>
            <a:r>
              <a:rPr lang="en-US" dirty="0">
                <a:solidFill>
                  <a:srgbClr val="C00000"/>
                </a:solidFill>
              </a:rPr>
              <a:t>Use a proxy server for your LAN</a:t>
            </a:r>
            <a:r>
              <a:rPr lang="en-US" dirty="0">
                <a:solidFill>
                  <a:schemeClr val="tx1"/>
                </a:solidFill>
              </a:rPr>
              <a:t>” check box</a:t>
            </a:r>
          </a:p>
        </p:txBody>
      </p:sp>
      <p:sp>
        <p:nvSpPr>
          <p:cNvPr id="12" name="Oval 11">
            <a:extLst>
              <a:ext uri="{FF2B5EF4-FFF2-40B4-BE49-F238E27FC236}">
                <a16:creationId xmlns:a16="http://schemas.microsoft.com/office/drawing/2014/main" id="{61AA2C3C-CA59-C171-6D10-740ED59EE924}"/>
              </a:ext>
            </a:extLst>
          </p:cNvPr>
          <p:cNvSpPr>
            <a:spLocks noChangeAspect="1"/>
          </p:cNvSpPr>
          <p:nvPr/>
        </p:nvSpPr>
        <p:spPr>
          <a:xfrm>
            <a:off x="464025" y="2571828"/>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3</a:t>
            </a:r>
          </a:p>
        </p:txBody>
      </p:sp>
      <p:sp>
        <p:nvSpPr>
          <p:cNvPr id="13" name="Rectangle 12">
            <a:extLst>
              <a:ext uri="{FF2B5EF4-FFF2-40B4-BE49-F238E27FC236}">
                <a16:creationId xmlns:a16="http://schemas.microsoft.com/office/drawing/2014/main" id="{2E5F23CD-4B6E-9F32-AF43-BD43C5FF1ADC}"/>
              </a:ext>
            </a:extLst>
          </p:cNvPr>
          <p:cNvSpPr/>
          <p:nvPr/>
        </p:nvSpPr>
        <p:spPr>
          <a:xfrm>
            <a:off x="354842" y="3129104"/>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In the </a:t>
            </a:r>
            <a:r>
              <a:rPr lang="en-US" dirty="0">
                <a:solidFill>
                  <a:srgbClr val="C00000"/>
                </a:solidFill>
              </a:rPr>
              <a:t>Address </a:t>
            </a:r>
            <a:r>
              <a:rPr lang="en-US" dirty="0">
                <a:solidFill>
                  <a:schemeClr val="tx1"/>
                </a:solidFill>
              </a:rPr>
              <a:t>box, type the </a:t>
            </a:r>
            <a:r>
              <a:rPr lang="en-US" dirty="0">
                <a:solidFill>
                  <a:srgbClr val="C00000"/>
                </a:solidFill>
              </a:rPr>
              <a:t>IP address</a:t>
            </a:r>
            <a:r>
              <a:rPr lang="en-US" dirty="0">
                <a:solidFill>
                  <a:schemeClr val="tx1"/>
                </a:solidFill>
              </a:rPr>
              <a:t> of the proxy server</a:t>
            </a:r>
          </a:p>
        </p:txBody>
      </p:sp>
      <p:sp>
        <p:nvSpPr>
          <p:cNvPr id="14" name="Oval 13">
            <a:extLst>
              <a:ext uri="{FF2B5EF4-FFF2-40B4-BE49-F238E27FC236}">
                <a16:creationId xmlns:a16="http://schemas.microsoft.com/office/drawing/2014/main" id="{0F3D9343-083E-BD63-7431-08FD0B3506BA}"/>
              </a:ext>
            </a:extLst>
          </p:cNvPr>
          <p:cNvSpPr>
            <a:spLocks noChangeAspect="1"/>
          </p:cNvSpPr>
          <p:nvPr/>
        </p:nvSpPr>
        <p:spPr>
          <a:xfrm>
            <a:off x="464025" y="3265045"/>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4</a:t>
            </a:r>
          </a:p>
        </p:txBody>
      </p:sp>
      <p:sp>
        <p:nvSpPr>
          <p:cNvPr id="15" name="Rectangle 14">
            <a:extLst>
              <a:ext uri="{FF2B5EF4-FFF2-40B4-BE49-F238E27FC236}">
                <a16:creationId xmlns:a16="http://schemas.microsoft.com/office/drawing/2014/main" id="{61232627-CCA3-D2E1-A5AB-656A1D760818}"/>
              </a:ext>
            </a:extLst>
          </p:cNvPr>
          <p:cNvSpPr/>
          <p:nvPr/>
        </p:nvSpPr>
        <p:spPr>
          <a:xfrm>
            <a:off x="354842" y="3834370"/>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In the </a:t>
            </a:r>
            <a:r>
              <a:rPr lang="en-US" dirty="0">
                <a:solidFill>
                  <a:srgbClr val="C00000"/>
                </a:solidFill>
              </a:rPr>
              <a:t>Port</a:t>
            </a:r>
            <a:r>
              <a:rPr lang="en-US" dirty="0">
                <a:solidFill>
                  <a:schemeClr val="tx1"/>
                </a:solidFill>
              </a:rPr>
              <a:t> box, type the </a:t>
            </a:r>
            <a:r>
              <a:rPr lang="en-US" dirty="0">
                <a:solidFill>
                  <a:srgbClr val="C00000"/>
                </a:solidFill>
              </a:rPr>
              <a:t>port number </a:t>
            </a:r>
            <a:r>
              <a:rPr lang="en-US" dirty="0">
                <a:solidFill>
                  <a:schemeClr val="tx1"/>
                </a:solidFill>
              </a:rPr>
              <a:t>that is used by the proxy server for client connections (by default, 8080)</a:t>
            </a:r>
          </a:p>
        </p:txBody>
      </p:sp>
      <p:sp>
        <p:nvSpPr>
          <p:cNvPr id="17" name="Oval 16">
            <a:extLst>
              <a:ext uri="{FF2B5EF4-FFF2-40B4-BE49-F238E27FC236}">
                <a16:creationId xmlns:a16="http://schemas.microsoft.com/office/drawing/2014/main" id="{CDCD56A4-931A-BCC2-81BC-242D2C0CBA98}"/>
              </a:ext>
            </a:extLst>
          </p:cNvPr>
          <p:cNvSpPr>
            <a:spLocks noChangeAspect="1"/>
          </p:cNvSpPr>
          <p:nvPr/>
        </p:nvSpPr>
        <p:spPr>
          <a:xfrm>
            <a:off x="482220" y="3971530"/>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5</a:t>
            </a:r>
          </a:p>
        </p:txBody>
      </p:sp>
      <p:sp>
        <p:nvSpPr>
          <p:cNvPr id="20" name="Rectangle 19">
            <a:extLst>
              <a:ext uri="{FF2B5EF4-FFF2-40B4-BE49-F238E27FC236}">
                <a16:creationId xmlns:a16="http://schemas.microsoft.com/office/drawing/2014/main" id="{4B4528F8-E5FD-54BC-BDCA-DD116B914494}"/>
              </a:ext>
            </a:extLst>
          </p:cNvPr>
          <p:cNvSpPr/>
          <p:nvPr/>
        </p:nvSpPr>
        <p:spPr>
          <a:xfrm>
            <a:off x="354842" y="4539636"/>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Click to select “</a:t>
            </a:r>
            <a:r>
              <a:rPr lang="en-US" dirty="0">
                <a:solidFill>
                  <a:srgbClr val="C00000"/>
                </a:solidFill>
              </a:rPr>
              <a:t>Bypass proxy server for local addresses</a:t>
            </a:r>
            <a:r>
              <a:rPr lang="en-US" dirty="0">
                <a:solidFill>
                  <a:schemeClr val="tx1"/>
                </a:solidFill>
              </a:rPr>
              <a:t>” check box if you do not want the proxy server computer to be used when connected to a computer on the local network</a:t>
            </a:r>
          </a:p>
        </p:txBody>
      </p:sp>
      <p:sp>
        <p:nvSpPr>
          <p:cNvPr id="21" name="Oval 20">
            <a:extLst>
              <a:ext uri="{FF2B5EF4-FFF2-40B4-BE49-F238E27FC236}">
                <a16:creationId xmlns:a16="http://schemas.microsoft.com/office/drawing/2014/main" id="{C36CDD9F-5E6D-8061-424F-306789B2939A}"/>
              </a:ext>
            </a:extLst>
          </p:cNvPr>
          <p:cNvSpPr>
            <a:spLocks noChangeAspect="1"/>
          </p:cNvSpPr>
          <p:nvPr/>
        </p:nvSpPr>
        <p:spPr>
          <a:xfrm>
            <a:off x="482220" y="4676796"/>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6</a:t>
            </a:r>
          </a:p>
        </p:txBody>
      </p:sp>
      <p:sp>
        <p:nvSpPr>
          <p:cNvPr id="22" name="Rectangle 21">
            <a:extLst>
              <a:ext uri="{FF2B5EF4-FFF2-40B4-BE49-F238E27FC236}">
                <a16:creationId xmlns:a16="http://schemas.microsoft.com/office/drawing/2014/main" id="{56541800-B026-08C5-5CF3-A8BF65BF61B7}"/>
              </a:ext>
            </a:extLst>
          </p:cNvPr>
          <p:cNvSpPr/>
          <p:nvPr/>
        </p:nvSpPr>
        <p:spPr>
          <a:xfrm>
            <a:off x="354842" y="5244902"/>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Click </a:t>
            </a:r>
            <a:r>
              <a:rPr lang="en-US" dirty="0">
                <a:solidFill>
                  <a:srgbClr val="C00000"/>
                </a:solidFill>
              </a:rPr>
              <a:t>OK</a:t>
            </a:r>
            <a:r>
              <a:rPr lang="en-US" dirty="0">
                <a:solidFill>
                  <a:schemeClr val="tx1"/>
                </a:solidFill>
              </a:rPr>
              <a:t> to close the </a:t>
            </a:r>
            <a:r>
              <a:rPr lang="en-US" dirty="0">
                <a:solidFill>
                  <a:srgbClr val="C00000"/>
                </a:solidFill>
              </a:rPr>
              <a:t>LAN Settings </a:t>
            </a:r>
            <a:r>
              <a:rPr lang="en-US" dirty="0">
                <a:solidFill>
                  <a:schemeClr val="tx1"/>
                </a:solidFill>
              </a:rPr>
              <a:t>dialog box</a:t>
            </a:r>
          </a:p>
        </p:txBody>
      </p:sp>
      <p:sp>
        <p:nvSpPr>
          <p:cNvPr id="23" name="Oval 22">
            <a:extLst>
              <a:ext uri="{FF2B5EF4-FFF2-40B4-BE49-F238E27FC236}">
                <a16:creationId xmlns:a16="http://schemas.microsoft.com/office/drawing/2014/main" id="{0C273B03-B9AD-9F97-D732-27DD27EE1827}"/>
              </a:ext>
            </a:extLst>
          </p:cNvPr>
          <p:cNvSpPr>
            <a:spLocks noChangeAspect="1"/>
          </p:cNvSpPr>
          <p:nvPr/>
        </p:nvSpPr>
        <p:spPr>
          <a:xfrm>
            <a:off x="482220" y="5383526"/>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7</a:t>
            </a:r>
          </a:p>
        </p:txBody>
      </p:sp>
      <p:sp>
        <p:nvSpPr>
          <p:cNvPr id="24" name="Rectangle 23">
            <a:extLst>
              <a:ext uri="{FF2B5EF4-FFF2-40B4-BE49-F238E27FC236}">
                <a16:creationId xmlns:a16="http://schemas.microsoft.com/office/drawing/2014/main" id="{51D01275-3B95-D11E-6D5B-00916A6E0C68}"/>
              </a:ext>
            </a:extLst>
          </p:cNvPr>
          <p:cNvSpPr/>
          <p:nvPr/>
        </p:nvSpPr>
        <p:spPr>
          <a:xfrm>
            <a:off x="354842" y="5950168"/>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640080" rtlCol="0" anchor="ctr"/>
          <a:lstStyle/>
          <a:p>
            <a:pPr>
              <a:spcAft>
                <a:spcPts val="600"/>
              </a:spcAft>
              <a:buClr>
                <a:srgbClr val="FFDB87"/>
              </a:buClr>
              <a:buSzPct val="130000"/>
            </a:pPr>
            <a:r>
              <a:rPr lang="en-US" dirty="0">
                <a:solidFill>
                  <a:schemeClr val="tx1"/>
                </a:solidFill>
              </a:rPr>
              <a:t>Click </a:t>
            </a:r>
            <a:r>
              <a:rPr lang="en-US" dirty="0">
                <a:solidFill>
                  <a:srgbClr val="C00000"/>
                </a:solidFill>
              </a:rPr>
              <a:t>OK</a:t>
            </a:r>
            <a:r>
              <a:rPr lang="en-US" dirty="0">
                <a:solidFill>
                  <a:schemeClr val="tx1"/>
                </a:solidFill>
              </a:rPr>
              <a:t> again to close the </a:t>
            </a:r>
            <a:r>
              <a:rPr lang="en-US" dirty="0">
                <a:solidFill>
                  <a:srgbClr val="C00000"/>
                </a:solidFill>
              </a:rPr>
              <a:t>Internet Options </a:t>
            </a:r>
            <a:r>
              <a:rPr lang="en-US" dirty="0">
                <a:solidFill>
                  <a:schemeClr val="tx1"/>
                </a:solidFill>
              </a:rPr>
              <a:t>dialog box</a:t>
            </a:r>
          </a:p>
        </p:txBody>
      </p:sp>
      <p:sp>
        <p:nvSpPr>
          <p:cNvPr id="25" name="Oval 24">
            <a:extLst>
              <a:ext uri="{FF2B5EF4-FFF2-40B4-BE49-F238E27FC236}">
                <a16:creationId xmlns:a16="http://schemas.microsoft.com/office/drawing/2014/main" id="{F28FB441-EEDD-1DF4-B78D-9111127150FF}"/>
              </a:ext>
            </a:extLst>
          </p:cNvPr>
          <p:cNvSpPr>
            <a:spLocks noChangeAspect="1"/>
          </p:cNvSpPr>
          <p:nvPr/>
        </p:nvSpPr>
        <p:spPr>
          <a:xfrm>
            <a:off x="464025" y="6087328"/>
            <a:ext cx="365760" cy="365760"/>
          </a:xfrm>
          <a:prstGeom prst="ellipse">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gradFill flip="none" rotWithShape="1">
                  <a:gsLst>
                    <a:gs pos="41000">
                      <a:schemeClr val="bg1"/>
                    </a:gs>
                    <a:gs pos="63000">
                      <a:schemeClr val="bg1"/>
                    </a:gs>
                    <a:gs pos="52000">
                      <a:schemeClr val="accent3">
                        <a:lumMod val="60000"/>
                      </a:schemeClr>
                    </a:gs>
                  </a:gsLst>
                  <a:lin ang="5400000" scaled="1"/>
                  <a:tileRect/>
                </a:gradFill>
              </a:rPr>
              <a:t>8</a:t>
            </a:r>
          </a:p>
        </p:txBody>
      </p:sp>
    </p:spTree>
    <p:extLst>
      <p:ext uri="{BB962C8B-B14F-4D97-AF65-F5344CB8AC3E}">
        <p14:creationId xmlns:p14="http://schemas.microsoft.com/office/powerpoint/2010/main" val="1387144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Bypass Firewall Tunneling</a:t>
            </a:r>
          </a:p>
        </p:txBody>
      </p:sp>
      <p:sp>
        <p:nvSpPr>
          <p:cNvPr id="3" name="Rectangle 2">
            <a:extLst>
              <a:ext uri="{FF2B5EF4-FFF2-40B4-BE49-F238E27FC236}">
                <a16:creationId xmlns:a16="http://schemas.microsoft.com/office/drawing/2014/main" id="{6B315DB9-3F9E-52C1-6B60-034CFBD81E0B}"/>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itle 11">
            <a:extLst>
              <a:ext uri="{FF2B5EF4-FFF2-40B4-BE49-F238E27FC236}">
                <a16:creationId xmlns:a16="http://schemas.microsoft.com/office/drawing/2014/main" id="{4E5D3E96-867A-05AB-C635-F1FFE040A848}"/>
              </a:ext>
            </a:extLst>
          </p:cNvPr>
          <p:cNvSpPr txBox="1">
            <a:spLocks/>
          </p:cNvSpPr>
          <p:nvPr/>
        </p:nvSpPr>
        <p:spPr>
          <a:xfrm>
            <a:off x="1042416" y="212627"/>
            <a:ext cx="10515600" cy="830997"/>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Bypassing Firewalls through the ICMP Tunneling Method</a:t>
            </a:r>
          </a:p>
        </p:txBody>
      </p:sp>
      <p:sp>
        <p:nvSpPr>
          <p:cNvPr id="5" name="TextBox 4">
            <a:extLst>
              <a:ext uri="{FF2B5EF4-FFF2-40B4-BE49-F238E27FC236}">
                <a16:creationId xmlns:a16="http://schemas.microsoft.com/office/drawing/2014/main" id="{360DCBAF-623B-B1F2-ADEC-6EC5EB4F3F45}"/>
              </a:ext>
            </a:extLst>
          </p:cNvPr>
          <p:cNvSpPr txBox="1"/>
          <p:nvPr/>
        </p:nvSpPr>
        <p:spPr>
          <a:xfrm>
            <a:off x="6370024" y="6542079"/>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sp>
        <p:nvSpPr>
          <p:cNvPr id="9" name="Rectangle 8">
            <a:extLst>
              <a:ext uri="{FF2B5EF4-FFF2-40B4-BE49-F238E27FC236}">
                <a16:creationId xmlns:a16="http://schemas.microsoft.com/office/drawing/2014/main" id="{1C3D1937-E6E7-62CD-9168-3E2FDC772C8F}"/>
              </a:ext>
            </a:extLst>
          </p:cNvPr>
          <p:cNvSpPr/>
          <p:nvPr/>
        </p:nvSpPr>
        <p:spPr>
          <a:xfrm>
            <a:off x="354842" y="1013306"/>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285750" indent="-285750">
              <a:spcAft>
                <a:spcPts val="600"/>
              </a:spcAft>
              <a:buClr>
                <a:srgbClr val="FFDB87"/>
              </a:buClr>
              <a:buSzPct val="130000"/>
              <a:buFont typeface="Wingdings" pitchFamily="2" charset="2"/>
              <a:buChar char="§"/>
            </a:pPr>
            <a:r>
              <a:rPr lang="en-US" dirty="0">
                <a:solidFill>
                  <a:schemeClr val="tx1"/>
                </a:solidFill>
              </a:rPr>
              <a:t>ICMP tunneling allows tunneling a </a:t>
            </a:r>
            <a:r>
              <a:rPr lang="en-US" dirty="0">
                <a:solidFill>
                  <a:srgbClr val="C00000"/>
                </a:solidFill>
              </a:rPr>
              <a:t>backdoor shell </a:t>
            </a:r>
            <a:r>
              <a:rPr lang="en-US" dirty="0">
                <a:solidFill>
                  <a:schemeClr val="tx1"/>
                </a:solidFill>
              </a:rPr>
              <a:t>in the data portion of ICMP Echo packets</a:t>
            </a:r>
            <a:endParaRPr lang="en-US" dirty="0">
              <a:solidFill>
                <a:srgbClr val="C00000"/>
              </a:solidFill>
            </a:endParaRPr>
          </a:p>
        </p:txBody>
      </p:sp>
      <p:sp>
        <p:nvSpPr>
          <p:cNvPr id="10" name="Rectangle 9">
            <a:extLst>
              <a:ext uri="{FF2B5EF4-FFF2-40B4-BE49-F238E27FC236}">
                <a16:creationId xmlns:a16="http://schemas.microsoft.com/office/drawing/2014/main" id="{A5B24772-2EB0-ABAE-29D0-C14962118307}"/>
              </a:ext>
            </a:extLst>
          </p:cNvPr>
          <p:cNvSpPr/>
          <p:nvPr/>
        </p:nvSpPr>
        <p:spPr>
          <a:xfrm>
            <a:off x="354842" y="1703185"/>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285750" indent="-285750">
              <a:spcAft>
                <a:spcPts val="600"/>
              </a:spcAft>
              <a:buClr>
                <a:srgbClr val="FFDB87"/>
              </a:buClr>
              <a:buSzPct val="130000"/>
              <a:buFont typeface="Wingdings" pitchFamily="2" charset="2"/>
              <a:buChar char="§"/>
            </a:pPr>
            <a:r>
              <a:rPr lang="en-US" dirty="0">
                <a:solidFill>
                  <a:schemeClr val="tx1"/>
                </a:solidFill>
              </a:rPr>
              <a:t>RFC 792, which delineates </a:t>
            </a:r>
            <a:r>
              <a:rPr lang="en-US" dirty="0">
                <a:solidFill>
                  <a:srgbClr val="C00000"/>
                </a:solidFill>
              </a:rPr>
              <a:t>ICMP operations</a:t>
            </a:r>
            <a:r>
              <a:rPr lang="en-US" dirty="0">
                <a:solidFill>
                  <a:schemeClr val="tx1"/>
                </a:solidFill>
              </a:rPr>
              <a:t>, does not define what should go in the data portion</a:t>
            </a:r>
            <a:endParaRPr lang="en-US" dirty="0">
              <a:solidFill>
                <a:srgbClr val="C00000"/>
              </a:solidFill>
            </a:endParaRPr>
          </a:p>
        </p:txBody>
      </p:sp>
      <p:sp>
        <p:nvSpPr>
          <p:cNvPr id="11" name="Rectangle 10">
            <a:extLst>
              <a:ext uri="{FF2B5EF4-FFF2-40B4-BE49-F238E27FC236}">
                <a16:creationId xmlns:a16="http://schemas.microsoft.com/office/drawing/2014/main" id="{AC1E7FCB-0BCB-0B39-EA2B-2879D499C78E}"/>
              </a:ext>
            </a:extLst>
          </p:cNvPr>
          <p:cNvSpPr/>
          <p:nvPr/>
        </p:nvSpPr>
        <p:spPr>
          <a:xfrm>
            <a:off x="354842" y="2393064"/>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285750" indent="-285750">
              <a:spcAft>
                <a:spcPts val="600"/>
              </a:spcAft>
              <a:buClr>
                <a:srgbClr val="FFDB87"/>
              </a:buClr>
              <a:buSzPct val="130000"/>
              <a:buFont typeface="Wingdings" pitchFamily="2" charset="2"/>
              <a:buChar char="§"/>
            </a:pPr>
            <a:r>
              <a:rPr lang="en-US" dirty="0">
                <a:solidFill>
                  <a:schemeClr val="tx1"/>
                </a:solidFill>
              </a:rPr>
              <a:t>The </a:t>
            </a:r>
            <a:r>
              <a:rPr lang="en-US" dirty="0">
                <a:solidFill>
                  <a:srgbClr val="C00000"/>
                </a:solidFill>
              </a:rPr>
              <a:t>payload portion </a:t>
            </a:r>
            <a:r>
              <a:rPr lang="en-US" dirty="0">
                <a:solidFill>
                  <a:schemeClr val="tx1"/>
                </a:solidFill>
              </a:rPr>
              <a:t>is arbitrary and is not examined by most of the firewalls, thus any data can be inserted in the payload portion of the ICMP packet, including a </a:t>
            </a:r>
            <a:r>
              <a:rPr lang="en-US" dirty="0">
                <a:solidFill>
                  <a:srgbClr val="C00000"/>
                </a:solidFill>
              </a:rPr>
              <a:t>backdoor application</a:t>
            </a:r>
          </a:p>
        </p:txBody>
      </p:sp>
      <p:sp>
        <p:nvSpPr>
          <p:cNvPr id="12" name="Rectangle 11">
            <a:extLst>
              <a:ext uri="{FF2B5EF4-FFF2-40B4-BE49-F238E27FC236}">
                <a16:creationId xmlns:a16="http://schemas.microsoft.com/office/drawing/2014/main" id="{BD13885C-CFF5-4282-1F12-74C7B08C286E}"/>
              </a:ext>
            </a:extLst>
          </p:cNvPr>
          <p:cNvSpPr/>
          <p:nvPr/>
        </p:nvSpPr>
        <p:spPr>
          <a:xfrm>
            <a:off x="354842" y="3028601"/>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285750" indent="-285750">
              <a:spcAft>
                <a:spcPts val="600"/>
              </a:spcAft>
              <a:buClr>
                <a:srgbClr val="FFDB87"/>
              </a:buClr>
              <a:buSzPct val="130000"/>
              <a:buFont typeface="Wingdings" pitchFamily="2" charset="2"/>
              <a:buChar char="§"/>
            </a:pPr>
            <a:r>
              <a:rPr lang="en-US" dirty="0">
                <a:solidFill>
                  <a:schemeClr val="tx1"/>
                </a:solidFill>
              </a:rPr>
              <a:t>Some administrators keep </a:t>
            </a:r>
            <a:r>
              <a:rPr lang="en-US" dirty="0">
                <a:solidFill>
                  <a:srgbClr val="C00000"/>
                </a:solidFill>
              </a:rPr>
              <a:t>ICMP open </a:t>
            </a:r>
            <a:r>
              <a:rPr lang="en-US" dirty="0">
                <a:solidFill>
                  <a:schemeClr val="tx1"/>
                </a:solidFill>
              </a:rPr>
              <a:t>on their firewall because it is useful for tools like </a:t>
            </a:r>
            <a:r>
              <a:rPr lang="en-US" dirty="0">
                <a:solidFill>
                  <a:srgbClr val="C00000"/>
                </a:solidFill>
              </a:rPr>
              <a:t>ping </a:t>
            </a:r>
            <a:r>
              <a:rPr lang="en-US" dirty="0">
                <a:solidFill>
                  <a:schemeClr val="tx1"/>
                </a:solidFill>
              </a:rPr>
              <a:t>and </a:t>
            </a:r>
            <a:r>
              <a:rPr lang="en-US" dirty="0">
                <a:solidFill>
                  <a:srgbClr val="C00000"/>
                </a:solidFill>
              </a:rPr>
              <a:t>traceroute</a:t>
            </a:r>
          </a:p>
        </p:txBody>
      </p:sp>
      <p:sp>
        <p:nvSpPr>
          <p:cNvPr id="13" name="Rectangle 12">
            <a:extLst>
              <a:ext uri="{FF2B5EF4-FFF2-40B4-BE49-F238E27FC236}">
                <a16:creationId xmlns:a16="http://schemas.microsoft.com/office/drawing/2014/main" id="{460DE1FE-36AC-28FD-0958-8C9EE0945740}"/>
              </a:ext>
            </a:extLst>
          </p:cNvPr>
          <p:cNvSpPr/>
          <p:nvPr/>
        </p:nvSpPr>
        <p:spPr>
          <a:xfrm>
            <a:off x="354842" y="3668681"/>
            <a:ext cx="11354938" cy="640080"/>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285750" indent="-285750">
              <a:spcAft>
                <a:spcPts val="600"/>
              </a:spcAft>
              <a:buClr>
                <a:srgbClr val="FFDB87"/>
              </a:buClr>
              <a:buSzPct val="130000"/>
              <a:buFont typeface="Wingdings" pitchFamily="2" charset="2"/>
              <a:buChar char="§"/>
            </a:pPr>
            <a:r>
              <a:rPr lang="en-US" dirty="0">
                <a:solidFill>
                  <a:schemeClr val="tx1"/>
                </a:solidFill>
              </a:rPr>
              <a:t>Assuming the ICMP is allowed through a firewall, use </a:t>
            </a:r>
            <a:r>
              <a:rPr lang="en-US" dirty="0">
                <a:solidFill>
                  <a:srgbClr val="C00000"/>
                </a:solidFill>
              </a:rPr>
              <a:t>Loki ICMP tunneling </a:t>
            </a:r>
            <a:r>
              <a:rPr lang="en-US" dirty="0">
                <a:solidFill>
                  <a:schemeClr val="tx1"/>
                </a:solidFill>
              </a:rPr>
              <a:t>(</a:t>
            </a:r>
            <a:r>
              <a:rPr lang="en-US" dirty="0">
                <a:solidFill>
                  <a:schemeClr val="tx1"/>
                </a:solidFill>
                <a:hlinkClick r:id="rId3">
                  <a:extLst>
                    <a:ext uri="{A12FA001-AC4F-418D-AE19-62706E023703}">
                      <ahyp:hlinkClr xmlns:ahyp="http://schemas.microsoft.com/office/drawing/2018/hyperlinkcolor" val="tx"/>
                    </a:ext>
                  </a:extLst>
                </a:hlinkClick>
              </a:rPr>
              <a:t>https://www.cisco.com</a:t>
            </a:r>
            <a:r>
              <a:rPr lang="en-US" dirty="0">
                <a:solidFill>
                  <a:schemeClr val="tx1"/>
                </a:solidFill>
              </a:rPr>
              <a:t>) to execute commands of choice by tunneling them inside the payload of the </a:t>
            </a:r>
            <a:r>
              <a:rPr lang="en-US" dirty="0">
                <a:solidFill>
                  <a:srgbClr val="C00000"/>
                </a:solidFill>
              </a:rPr>
              <a:t>ICMP echo packets</a:t>
            </a:r>
          </a:p>
        </p:txBody>
      </p:sp>
      <p:pic>
        <p:nvPicPr>
          <p:cNvPr id="15" name="Picture 14" descr="A diagram of a firewall&#10;&#10;Description automatically generated">
            <a:extLst>
              <a:ext uri="{FF2B5EF4-FFF2-40B4-BE49-F238E27FC236}">
                <a16:creationId xmlns:a16="http://schemas.microsoft.com/office/drawing/2014/main" id="{6881FA92-53E1-4B9C-6E9B-6CE61F6BEEEC}"/>
              </a:ext>
            </a:extLst>
          </p:cNvPr>
          <p:cNvPicPr>
            <a:picLocks noChangeAspect="1"/>
          </p:cNvPicPr>
          <p:nvPr/>
        </p:nvPicPr>
        <p:blipFill rotWithShape="1">
          <a:blip r:embed="rId4">
            <a:extLst>
              <a:ext uri="{28A0092B-C50C-407E-A947-70E740481C1C}">
                <a14:useLocalDpi xmlns:a14="http://schemas.microsoft.com/office/drawing/2010/main" val="0"/>
              </a:ext>
            </a:extLst>
          </a:blip>
          <a:srcRect t="6346"/>
          <a:stretch/>
        </p:blipFill>
        <p:spPr>
          <a:xfrm>
            <a:off x="729849" y="4390727"/>
            <a:ext cx="10348029" cy="2115899"/>
          </a:xfrm>
          <a:prstGeom prst="rect">
            <a:avLst/>
          </a:prstGeom>
        </p:spPr>
      </p:pic>
    </p:spTree>
    <p:extLst>
      <p:ext uri="{BB962C8B-B14F-4D97-AF65-F5344CB8AC3E}">
        <p14:creationId xmlns:p14="http://schemas.microsoft.com/office/powerpoint/2010/main" val="4070437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EE6CD5-C8D0-30F3-4030-817A1707ACBD}"/>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 name="Title 11">
            <a:extLst>
              <a:ext uri="{FF2B5EF4-FFF2-40B4-BE49-F238E27FC236}">
                <a16:creationId xmlns:a16="http://schemas.microsoft.com/office/drawing/2014/main" id="{2D9F0597-730D-3DE4-5B6A-6B961B7F6E9E}"/>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Detecting Honeypots</a:t>
            </a:r>
          </a:p>
        </p:txBody>
      </p:sp>
      <p:pic>
        <p:nvPicPr>
          <p:cNvPr id="10" name="Picture 9" descr="A pot of honey with a stick&#10;&#10;Description automatically generated">
            <a:extLst>
              <a:ext uri="{FF2B5EF4-FFF2-40B4-BE49-F238E27FC236}">
                <a16:creationId xmlns:a16="http://schemas.microsoft.com/office/drawing/2014/main" id="{956DF702-D71F-8A77-1671-2E3CC36B42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3200" y="1258477"/>
            <a:ext cx="4712932" cy="5599523"/>
          </a:xfrm>
          <a:prstGeom prst="rect">
            <a:avLst/>
          </a:prstGeom>
        </p:spPr>
      </p:pic>
      <p:sp>
        <p:nvSpPr>
          <p:cNvPr id="11" name="Rectangle 10">
            <a:extLst>
              <a:ext uri="{FF2B5EF4-FFF2-40B4-BE49-F238E27FC236}">
                <a16:creationId xmlns:a16="http://schemas.microsoft.com/office/drawing/2014/main" id="{90D54280-C785-3D5F-2FD5-7DE80A1CDABD}"/>
              </a:ext>
            </a:extLst>
          </p:cNvPr>
          <p:cNvSpPr/>
          <p:nvPr/>
        </p:nvSpPr>
        <p:spPr>
          <a:xfrm>
            <a:off x="1273885" y="1610435"/>
            <a:ext cx="4712933" cy="4094327"/>
          </a:xfrm>
          <a:prstGeom prst="rect">
            <a:avLst/>
          </a:prstGeom>
          <a:solidFill>
            <a:schemeClr val="bg1"/>
          </a:solidFill>
          <a:ln>
            <a:no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lIns="274320" tIns="91440" rIns="274320" bIns="91440" rtlCol="0" anchor="ctr"/>
          <a:lstStyle/>
          <a:p>
            <a:pPr marL="285750" indent="-285750">
              <a:spcAft>
                <a:spcPts val="600"/>
              </a:spcAft>
              <a:buClr>
                <a:srgbClr val="FFDB87"/>
              </a:buClr>
              <a:buSzPct val="130000"/>
              <a:buFont typeface="Wingdings" pitchFamily="2" charset="2"/>
              <a:buChar char="§"/>
            </a:pPr>
            <a:r>
              <a:rPr lang="en-US" sz="2000" dirty="0">
                <a:solidFill>
                  <a:schemeClr val="tx1"/>
                </a:solidFill>
              </a:rPr>
              <a:t>Attackers perform honeypot detection using various tools and techniques:</a:t>
            </a:r>
          </a:p>
          <a:p>
            <a:pPr marL="742950" lvl="1" indent="-285750">
              <a:spcAft>
                <a:spcPts val="600"/>
              </a:spcAft>
              <a:buClr>
                <a:srgbClr val="FFDB87"/>
              </a:buClr>
              <a:buSzPct val="130000"/>
              <a:buFont typeface="Wingdings" pitchFamily="2" charset="2"/>
              <a:buChar char="§"/>
            </a:pPr>
            <a:r>
              <a:rPr lang="en-US" sz="2000" dirty="0">
                <a:solidFill>
                  <a:schemeClr val="tx1"/>
                </a:solidFill>
              </a:rPr>
              <a:t>Send-safe Honeypot Hunter (</a:t>
            </a:r>
            <a:r>
              <a:rPr lang="en-US" sz="2000" dirty="0">
                <a:solidFill>
                  <a:schemeClr val="tx1"/>
                </a:solidFill>
                <a:hlinkClick r:id="rId4"/>
              </a:rPr>
              <a:t>http://www.send-safe.com</a:t>
            </a:r>
            <a:r>
              <a:rPr lang="en-US" sz="2000" dirty="0">
                <a:solidFill>
                  <a:schemeClr val="tx1"/>
                </a:solidFill>
              </a:rPr>
              <a:t>)</a:t>
            </a:r>
          </a:p>
          <a:p>
            <a:pPr marL="742950" lvl="1" indent="-285750">
              <a:spcAft>
                <a:spcPts val="600"/>
              </a:spcAft>
              <a:buClr>
                <a:srgbClr val="FFDB87"/>
              </a:buClr>
              <a:buSzPct val="130000"/>
              <a:buFont typeface="Wingdings" pitchFamily="2" charset="2"/>
              <a:buChar char="§"/>
            </a:pPr>
            <a:r>
              <a:rPr lang="en-US" sz="2000" dirty="0" err="1">
                <a:solidFill>
                  <a:schemeClr val="tx1"/>
                </a:solidFill>
              </a:rPr>
              <a:t>kippo_detect</a:t>
            </a:r>
            <a:r>
              <a:rPr lang="en-US" sz="2000" dirty="0">
                <a:solidFill>
                  <a:schemeClr val="tx1"/>
                </a:solidFill>
              </a:rPr>
              <a:t> (</a:t>
            </a:r>
            <a:r>
              <a:rPr lang="en-US" sz="2000" dirty="0">
                <a:solidFill>
                  <a:schemeClr val="tx1"/>
                </a:solidFill>
                <a:hlinkClick r:id="rId5"/>
              </a:rPr>
              <a:t>https://github.com</a:t>
            </a:r>
            <a:r>
              <a:rPr lang="en-US" sz="2000" dirty="0">
                <a:solidFill>
                  <a:schemeClr val="tx1"/>
                </a:solidFill>
              </a:rPr>
              <a:t>)</a:t>
            </a:r>
          </a:p>
          <a:p>
            <a:pPr marL="742950" lvl="1" indent="-285750">
              <a:spcAft>
                <a:spcPts val="600"/>
              </a:spcAft>
              <a:buClr>
                <a:srgbClr val="FFDB87"/>
              </a:buClr>
              <a:buSzPct val="130000"/>
              <a:buFont typeface="Wingdings" pitchFamily="2" charset="2"/>
              <a:buChar char="§"/>
            </a:pPr>
            <a:r>
              <a:rPr lang="en-US" sz="2000" dirty="0">
                <a:solidFill>
                  <a:schemeClr val="tx1"/>
                </a:solidFill>
              </a:rPr>
              <a:t>using multi-proxies (TORs) </a:t>
            </a:r>
          </a:p>
          <a:p>
            <a:pPr marL="742950" lvl="1" indent="-285750">
              <a:spcAft>
                <a:spcPts val="600"/>
              </a:spcAft>
              <a:buClr>
                <a:srgbClr val="FFDB87"/>
              </a:buClr>
              <a:buSzPct val="130000"/>
              <a:buFont typeface="Wingdings" pitchFamily="2" charset="2"/>
              <a:buChar char="§"/>
            </a:pPr>
            <a:r>
              <a:rPr lang="en-US" sz="2000" dirty="0">
                <a:solidFill>
                  <a:schemeClr val="tx1"/>
                </a:solidFill>
              </a:rPr>
              <a:t>using encryption and steganography </a:t>
            </a:r>
          </a:p>
        </p:txBody>
      </p:sp>
    </p:spTree>
    <p:extLst>
      <p:ext uri="{BB962C8B-B14F-4D97-AF65-F5344CB8AC3E}">
        <p14:creationId xmlns:p14="http://schemas.microsoft.com/office/powerpoint/2010/main" val="23514379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Bypass Firewall Tunneling</a:t>
            </a:r>
          </a:p>
        </p:txBody>
      </p:sp>
      <p:sp>
        <p:nvSpPr>
          <p:cNvPr id="3" name="Rectangle 2">
            <a:extLst>
              <a:ext uri="{FF2B5EF4-FFF2-40B4-BE49-F238E27FC236}">
                <a16:creationId xmlns:a16="http://schemas.microsoft.com/office/drawing/2014/main" id="{F16CB9C8-FFCB-2333-A4BB-C2D3A0032569}"/>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itle 11">
            <a:extLst>
              <a:ext uri="{FF2B5EF4-FFF2-40B4-BE49-F238E27FC236}">
                <a16:creationId xmlns:a16="http://schemas.microsoft.com/office/drawing/2014/main" id="{7BFFD2B2-613F-0F83-EDF5-F2A286985898}"/>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Calibri" panose="020F0502020204030204" pitchFamily="34" charset="0"/>
                <a:cs typeface="Calibri" panose="020F0502020204030204" pitchFamily="34" charset="0"/>
              </a:rPr>
              <a:t>Detecting </a:t>
            </a:r>
            <a:r>
              <a:rPr lang="en-US" dirty="0" err="1">
                <a:latin typeface="Calibri" panose="020F0502020204030204" pitchFamily="34" charset="0"/>
                <a:cs typeface="Calibri" panose="020F0502020204030204" pitchFamily="34" charset="0"/>
              </a:rPr>
              <a:t>Honeyd</a:t>
            </a:r>
            <a:endParaRPr lang="en-US"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F22789D-1A72-CF3A-8164-5BA054CFC864}"/>
              </a:ext>
            </a:extLst>
          </p:cNvPr>
          <p:cNvSpPr txBox="1"/>
          <p:nvPr/>
        </p:nvSpPr>
        <p:spPr>
          <a:xfrm>
            <a:off x="6342130" y="6500478"/>
            <a:ext cx="5667138" cy="261610"/>
          </a:xfrm>
          <a:prstGeom prst="rect">
            <a:avLst/>
          </a:prstGeom>
          <a:noFill/>
        </p:spPr>
        <p:txBody>
          <a:bodyPr wrap="square" rtlCol="0">
            <a:spAutoFit/>
          </a:bodyPr>
          <a:lstStyle/>
          <a:p>
            <a:pPr algn="r"/>
            <a:r>
              <a:rPr lang="en-US" sz="1100" dirty="0"/>
              <a:t>Copyright © by EC-Council. All Rights Reserved. Reproduction is Strictly Prohibited.</a:t>
            </a:r>
          </a:p>
        </p:txBody>
      </p:sp>
      <p:pic>
        <p:nvPicPr>
          <p:cNvPr id="8" name="Picture 7" descr="A diagram of a computer network&#10;&#10;Description automatically generated">
            <a:extLst>
              <a:ext uri="{FF2B5EF4-FFF2-40B4-BE49-F238E27FC236}">
                <a16:creationId xmlns:a16="http://schemas.microsoft.com/office/drawing/2014/main" id="{E9921432-95E3-BFD0-60E3-64AAE0122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732" y="3777839"/>
            <a:ext cx="11826536" cy="2492369"/>
          </a:xfrm>
          <a:prstGeom prst="rect">
            <a:avLst/>
          </a:prstGeom>
        </p:spPr>
      </p:pic>
      <p:sp>
        <p:nvSpPr>
          <p:cNvPr id="11" name="Rectangle 10">
            <a:extLst>
              <a:ext uri="{FF2B5EF4-FFF2-40B4-BE49-F238E27FC236}">
                <a16:creationId xmlns:a16="http://schemas.microsoft.com/office/drawing/2014/main" id="{C1FE3AF9-4D22-E739-CCA0-4DFCDB6B6275}"/>
              </a:ext>
            </a:extLst>
          </p:cNvPr>
          <p:cNvSpPr/>
          <p:nvPr/>
        </p:nvSpPr>
        <p:spPr>
          <a:xfrm>
            <a:off x="418531" y="1043624"/>
            <a:ext cx="11354938" cy="2734215"/>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tIns="182880" rIns="182880" bIns="274320" rtlCol="0" anchor="ctr"/>
          <a:lstStyle/>
          <a:p>
            <a:pPr algn="ctr">
              <a:spcAft>
                <a:spcPts val="600"/>
              </a:spcAft>
              <a:buClr>
                <a:srgbClr val="FFDB87"/>
              </a:buClr>
              <a:buSzPct val="130000"/>
            </a:pPr>
            <a:r>
              <a:rPr lang="en-US" sz="2400" dirty="0">
                <a:solidFill>
                  <a:srgbClr val="006FBE"/>
                </a:solidFill>
              </a:rPr>
              <a:t>Detecting the Presence of </a:t>
            </a:r>
            <a:r>
              <a:rPr lang="en-US" sz="2400" dirty="0" err="1">
                <a:solidFill>
                  <a:srgbClr val="006FBE"/>
                </a:solidFill>
              </a:rPr>
              <a:t>Honeyd</a:t>
            </a:r>
            <a:r>
              <a:rPr lang="en-US" sz="2400" dirty="0">
                <a:solidFill>
                  <a:srgbClr val="006FBE"/>
                </a:solidFill>
              </a:rPr>
              <a:t> Honeypot</a:t>
            </a:r>
          </a:p>
          <a:p>
            <a:pPr>
              <a:spcAft>
                <a:spcPts val="600"/>
              </a:spcAft>
              <a:buClr>
                <a:srgbClr val="FFDB87"/>
              </a:buClr>
              <a:buSzPct val="130000"/>
            </a:pPr>
            <a:endParaRPr lang="en-US" dirty="0">
              <a:solidFill>
                <a:srgbClr val="C00000"/>
              </a:solidFill>
            </a:endParaRPr>
          </a:p>
          <a:p>
            <a:pPr marL="342900" indent="-342900">
              <a:spcAft>
                <a:spcPts val="1200"/>
              </a:spcAft>
              <a:buClr>
                <a:srgbClr val="FFDB87"/>
              </a:buClr>
              <a:buSzPct val="130000"/>
              <a:buFont typeface="Wingdings" pitchFamily="2" charset="2"/>
              <a:buChar char="§"/>
            </a:pPr>
            <a:r>
              <a:rPr lang="en-US" sz="2000" dirty="0" err="1">
                <a:solidFill>
                  <a:schemeClr val="tx1"/>
                </a:solidFill>
              </a:rPr>
              <a:t>Honeyd</a:t>
            </a:r>
            <a:r>
              <a:rPr lang="en-US" sz="2000" dirty="0">
                <a:solidFill>
                  <a:schemeClr val="tx1"/>
                </a:solidFill>
              </a:rPr>
              <a:t> is a widely used honeypot daemon used to create thousands of honeypots easily</a:t>
            </a:r>
          </a:p>
          <a:p>
            <a:pPr marL="342900" indent="-342900">
              <a:spcAft>
                <a:spcPts val="1200"/>
              </a:spcAft>
              <a:buClr>
                <a:srgbClr val="FFDB87"/>
              </a:buClr>
              <a:buSzPct val="130000"/>
              <a:buFont typeface="Wingdings" pitchFamily="2" charset="2"/>
              <a:buChar char="§"/>
            </a:pPr>
            <a:r>
              <a:rPr lang="en-US" sz="2000" dirty="0">
                <a:solidFill>
                  <a:schemeClr val="tx1"/>
                </a:solidFill>
              </a:rPr>
              <a:t>It is a network-simulated and service-simulated honeypot deployment engine</a:t>
            </a:r>
          </a:p>
          <a:p>
            <a:pPr marL="342900" indent="-342900">
              <a:spcAft>
                <a:spcPts val="1200"/>
              </a:spcAft>
              <a:buClr>
                <a:srgbClr val="FFDB87"/>
              </a:buClr>
              <a:buSzPct val="130000"/>
              <a:buFont typeface="Wingdings" pitchFamily="2" charset="2"/>
              <a:buChar char="§"/>
            </a:pPr>
            <a:r>
              <a:rPr lang="en-US" sz="2000" dirty="0">
                <a:solidFill>
                  <a:schemeClr val="tx1"/>
                </a:solidFill>
              </a:rPr>
              <a:t>This </a:t>
            </a:r>
            <a:r>
              <a:rPr lang="en-US" sz="2000" dirty="0" err="1">
                <a:solidFill>
                  <a:schemeClr val="tx1"/>
                </a:solidFill>
              </a:rPr>
              <a:t>honeyd</a:t>
            </a:r>
            <a:r>
              <a:rPr lang="en-US" sz="2000" dirty="0">
                <a:solidFill>
                  <a:schemeClr val="tx1"/>
                </a:solidFill>
              </a:rPr>
              <a:t> honeypot can respond to a remote attacker who tries to contact the SMTP service with fake responses</a:t>
            </a:r>
          </a:p>
        </p:txBody>
      </p:sp>
    </p:spTree>
    <p:extLst>
      <p:ext uri="{BB962C8B-B14F-4D97-AF65-F5344CB8AC3E}">
        <p14:creationId xmlns:p14="http://schemas.microsoft.com/office/powerpoint/2010/main" val="11616150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1FBF-9E16-AD05-747B-587704D88F7C}"/>
              </a:ext>
            </a:extLst>
          </p:cNvPr>
          <p:cNvSpPr>
            <a:spLocks noGrp="1"/>
          </p:cNvSpPr>
          <p:nvPr>
            <p:ph type="title"/>
          </p:nvPr>
        </p:nvSpPr>
        <p:spPr/>
        <p:txBody>
          <a:bodyPr/>
          <a:lstStyle/>
          <a:p>
            <a:r>
              <a:rPr lang="en-US" dirty="0"/>
              <a:t>CEHv13 Update – Modern Evasion Tactics</a:t>
            </a:r>
          </a:p>
        </p:txBody>
      </p:sp>
      <p:sp>
        <p:nvSpPr>
          <p:cNvPr id="3" name="Content Placeholder 2">
            <a:extLst>
              <a:ext uri="{FF2B5EF4-FFF2-40B4-BE49-F238E27FC236}">
                <a16:creationId xmlns:a16="http://schemas.microsoft.com/office/drawing/2014/main" id="{FC5CD2FB-6CD7-3734-E43B-769DEA53C826}"/>
              </a:ext>
            </a:extLst>
          </p:cNvPr>
          <p:cNvSpPr>
            <a:spLocks noGrp="1"/>
          </p:cNvSpPr>
          <p:nvPr>
            <p:ph idx="1"/>
          </p:nvPr>
        </p:nvSpPr>
        <p:spPr>
          <a:xfrm>
            <a:off x="838200" y="1830255"/>
            <a:ext cx="10515600" cy="4351338"/>
          </a:xfrm>
        </p:spPr>
        <p:txBody>
          <a:bodyPr/>
          <a:lstStyle/>
          <a:p>
            <a:r>
              <a:rPr lang="en-US" dirty="0"/>
              <a:t>CEHv13 introduces advanced evasion scenarios involving:</a:t>
            </a:r>
          </a:p>
          <a:p>
            <a:pPr lvl="1"/>
            <a:r>
              <a:rPr lang="en-US" dirty="0"/>
              <a:t>AI-driven traffic shaping to mimic legitimate user behavior</a:t>
            </a:r>
          </a:p>
          <a:p>
            <a:pPr lvl="1"/>
            <a:r>
              <a:rPr lang="en-US" dirty="0"/>
              <a:t>Encrypted tunneling via ICMP, DNS, and HTTPS payloads</a:t>
            </a:r>
          </a:p>
          <a:p>
            <a:pPr lvl="1"/>
            <a:r>
              <a:rPr lang="en-US" dirty="0"/>
              <a:t>Use of adversarial machine learning to confuse anomaly-based detection systems</a:t>
            </a:r>
          </a:p>
          <a:p>
            <a:r>
              <a:rPr lang="en-US" dirty="0"/>
              <a:t>Real-world attackers now test evasion success using tools that simulate modern XDR/SIEM environments</a:t>
            </a:r>
          </a:p>
          <a:p>
            <a:r>
              <a:rPr lang="en-US" dirty="0"/>
              <a:t>Defensive systems must now account for automated evasion and toolkits like Loki, </a:t>
            </a:r>
            <a:r>
              <a:rPr lang="en-US" dirty="0" err="1"/>
              <a:t>Shellter</a:t>
            </a:r>
            <a:r>
              <a:rPr lang="en-US" dirty="0"/>
              <a:t>, and </a:t>
            </a:r>
            <a:r>
              <a:rPr lang="en-US" dirty="0" err="1"/>
              <a:t>Powershell</a:t>
            </a:r>
            <a:r>
              <a:rPr lang="en-US" dirty="0"/>
              <a:t> obfuscation frameworks</a:t>
            </a:r>
          </a:p>
        </p:txBody>
      </p:sp>
      <p:pic>
        <p:nvPicPr>
          <p:cNvPr id="6" name="Picture 5" descr="A red background with white text&#10;&#10;AI-generated content may be incorrect.">
            <a:extLst>
              <a:ext uri="{FF2B5EF4-FFF2-40B4-BE49-F238E27FC236}">
                <a16:creationId xmlns:a16="http://schemas.microsoft.com/office/drawing/2014/main" id="{E496AE0D-106F-6156-7664-64CEC83CBA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91472" y="1544942"/>
            <a:ext cx="2286000" cy="1281165"/>
          </a:xfrm>
          <a:prstGeom prst="rect">
            <a:avLst/>
          </a:prstGeom>
        </p:spPr>
      </p:pic>
    </p:spTree>
    <p:extLst>
      <p:ext uri="{BB962C8B-B14F-4D97-AF65-F5344CB8AC3E}">
        <p14:creationId xmlns:p14="http://schemas.microsoft.com/office/powerpoint/2010/main" val="24062994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4266-4568-1516-E0DA-5321B1FAC22D}"/>
              </a:ext>
            </a:extLst>
          </p:cNvPr>
          <p:cNvSpPr>
            <a:spLocks noGrp="1"/>
          </p:cNvSpPr>
          <p:nvPr>
            <p:ph type="title"/>
          </p:nvPr>
        </p:nvSpPr>
        <p:spPr/>
        <p:txBody>
          <a:bodyPr/>
          <a:lstStyle/>
          <a:p>
            <a:r>
              <a:rPr lang="en-US" dirty="0"/>
              <a:t>CEHv13 Update – Detection &amp; Countermeasures in AI-Driven Networks</a:t>
            </a:r>
          </a:p>
        </p:txBody>
      </p:sp>
      <p:sp>
        <p:nvSpPr>
          <p:cNvPr id="4" name="Rectangle 1">
            <a:extLst>
              <a:ext uri="{FF2B5EF4-FFF2-40B4-BE49-F238E27FC236}">
                <a16:creationId xmlns:a16="http://schemas.microsoft.com/office/drawing/2014/main" id="{10A48B5F-2160-397B-524F-22537AFC26FF}"/>
              </a:ext>
            </a:extLst>
          </p:cNvPr>
          <p:cNvSpPr>
            <a:spLocks noGrp="1" noChangeArrowheads="1"/>
          </p:cNvSpPr>
          <p:nvPr>
            <p:ph idx="1"/>
          </p:nvPr>
        </p:nvSpPr>
        <p:spPr bwMode="auto">
          <a:xfrm>
            <a:off x="838200" y="1893025"/>
            <a:ext cx="10912813"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Increased adoption of AI/ML in </a:t>
            </a:r>
            <a:r>
              <a:rPr kumimoji="0" lang="en-US" altLang="en-US" b="1" i="0" u="none" strike="noStrike" cap="none" normalizeH="0" baseline="0" dirty="0">
                <a:ln>
                  <a:noFill/>
                </a:ln>
                <a:solidFill>
                  <a:schemeClr val="tx1"/>
                </a:solidFill>
                <a:effectLst/>
              </a:rPr>
              <a:t>IDS/IPS platforms</a:t>
            </a:r>
            <a:r>
              <a:rPr kumimoji="0" lang="en-US" altLang="en-US" b="0" i="0" u="none" strike="noStrike" cap="none" normalizeH="0" baseline="0" dirty="0">
                <a:ln>
                  <a:noFill/>
                </a:ln>
                <a:solidFill>
                  <a:schemeClr val="tx1"/>
                </a:solidFill>
                <a:effectLst/>
              </a:rPr>
              <a:t> like Snort, Suricata, and Zeek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Emphasis on using:</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Behavioral baselining</a:t>
            </a:r>
            <a:r>
              <a:rPr kumimoji="0" lang="en-US" altLang="en-US" b="0" i="0" u="none" strike="noStrike" cap="none" normalizeH="0" baseline="0" dirty="0">
                <a:ln>
                  <a:noFill/>
                </a:ln>
                <a:solidFill>
                  <a:schemeClr val="tx1"/>
                </a:solidFill>
                <a:effectLst/>
              </a:rPr>
              <a:t> for anomaly detection</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Deception technology</a:t>
            </a:r>
            <a:r>
              <a:rPr kumimoji="0" lang="en-US" altLang="en-US" b="0" i="0" u="none" strike="noStrike" cap="none" normalizeH="0" baseline="0" dirty="0">
                <a:ln>
                  <a:noFill/>
                </a:ln>
                <a:solidFill>
                  <a:schemeClr val="tx1"/>
                </a:solidFill>
                <a:effectLst/>
              </a:rPr>
              <a:t> (adaptive honeypots, moving target defense)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Defensive strategy shift:</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From static rule matching to </a:t>
            </a:r>
            <a:r>
              <a:rPr kumimoji="0" lang="en-US" altLang="en-US" b="1" i="0" u="none" strike="noStrike" cap="none" normalizeH="0" baseline="0" dirty="0">
                <a:ln>
                  <a:noFill/>
                </a:ln>
                <a:solidFill>
                  <a:schemeClr val="tx1"/>
                </a:solidFill>
                <a:effectLst/>
              </a:rPr>
              <a:t>adaptive heuristics</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From known signatures to </a:t>
            </a:r>
            <a:r>
              <a:rPr kumimoji="0" lang="en-US" altLang="en-US" b="1" i="0" u="none" strike="noStrike" cap="none" normalizeH="0" baseline="0" dirty="0">
                <a:ln>
                  <a:noFill/>
                </a:ln>
                <a:solidFill>
                  <a:schemeClr val="tx1"/>
                </a:solidFill>
                <a:effectLst/>
              </a:rPr>
              <a:t>predictive indicators of compromise (IoC)</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New CEHv13 focus: Understanding how attackers manipulate AI to </a:t>
            </a:r>
            <a:r>
              <a:rPr kumimoji="0" lang="en-US" altLang="en-US" b="1" i="0" u="none" strike="noStrike" cap="none" normalizeH="0" baseline="0" dirty="0">
                <a:ln>
                  <a:noFill/>
                </a:ln>
                <a:solidFill>
                  <a:schemeClr val="tx1"/>
                </a:solidFill>
                <a:effectLst/>
              </a:rPr>
              <a:t>evade learning models</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623357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478" y="1683756"/>
            <a:ext cx="3115265" cy="2396359"/>
          </a:xfrm>
        </p:spPr>
        <p:txBody>
          <a:bodyPr vert="horz" lIns="91440" tIns="45720" rIns="91440" bIns="45720" rtlCol="0" anchor="b">
            <a:normAutofit/>
          </a:bodyPr>
          <a:lstStyle/>
          <a:p>
            <a:pPr algn="r"/>
            <a:r>
              <a:rPr lang="en-US" sz="4000" kern="1200">
                <a:solidFill>
                  <a:srgbClr val="FFFFFF"/>
                </a:solidFill>
                <a:latin typeface="+mj-lt"/>
                <a:ea typeface="+mj-ea"/>
                <a:cs typeface="+mj-cs"/>
              </a:rPr>
              <a:t>Conclusion</a:t>
            </a:r>
          </a:p>
        </p:txBody>
      </p:sp>
      <p:sp>
        <p:nvSpPr>
          <p:cNvPr id="3" name="Rectangle 2">
            <a:extLst>
              <a:ext uri="{FF2B5EF4-FFF2-40B4-BE49-F238E27FC236}">
                <a16:creationId xmlns:a16="http://schemas.microsoft.com/office/drawing/2014/main" id="{697E523B-4F3F-C777-2C2A-BA95A5671DCB}"/>
              </a:ext>
            </a:extLst>
          </p:cNvPr>
          <p:cNvSpPr/>
          <p:nvPr/>
        </p:nvSpPr>
        <p:spPr>
          <a:xfrm>
            <a:off x="22356" y="396815"/>
            <a:ext cx="931653" cy="374938"/>
          </a:xfrm>
          <a:prstGeom prst="rect">
            <a:avLst/>
          </a:prstGeom>
          <a:solidFill>
            <a:srgbClr val="FFDB87"/>
          </a:solidFill>
          <a:ln>
            <a:solidFill>
              <a:schemeClr val="bg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 name="Title 11">
            <a:extLst>
              <a:ext uri="{FF2B5EF4-FFF2-40B4-BE49-F238E27FC236}">
                <a16:creationId xmlns:a16="http://schemas.microsoft.com/office/drawing/2014/main" id="{BEC43E69-B0AE-DDF0-D897-665D05973224}"/>
              </a:ext>
            </a:extLst>
          </p:cNvPr>
          <p:cNvSpPr txBox="1">
            <a:spLocks/>
          </p:cNvSpPr>
          <p:nvPr/>
        </p:nvSpPr>
        <p:spPr>
          <a:xfrm>
            <a:off x="1042416" y="212627"/>
            <a:ext cx="10515600" cy="83099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atin typeface="Calibri" panose="020F0502020204030204" pitchFamily="34" charset="0"/>
                <a:cs typeface="Calibri" panose="020F0502020204030204" pitchFamily="34" charset="0"/>
              </a:rPr>
              <a:t>Summary </a:t>
            </a:r>
            <a:endParaRPr lang="en-US"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E4A2AC0E-138E-E4DA-9872-B7F4ECD6F50B}"/>
              </a:ext>
            </a:extLst>
          </p:cNvPr>
          <p:cNvSpPr/>
          <p:nvPr/>
        </p:nvSpPr>
        <p:spPr>
          <a:xfrm>
            <a:off x="586478" y="1683756"/>
            <a:ext cx="5374020" cy="3983628"/>
          </a:xfrm>
          <a:prstGeom prst="rect">
            <a:avLst/>
          </a:prstGeom>
          <a:solidFill>
            <a:schemeClr val="bg1"/>
          </a:solidFill>
          <a:ln>
            <a:solidFill>
              <a:schemeClr val="bg2">
                <a:lumMod val="90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285750" indent="-285750">
              <a:spcAft>
                <a:spcPts val="1200"/>
              </a:spcAft>
              <a:buClr>
                <a:srgbClr val="FFDB87"/>
              </a:buClr>
              <a:buSzPct val="130000"/>
              <a:buFont typeface="Wingdings" pitchFamily="2" charset="2"/>
              <a:buChar char="§"/>
            </a:pPr>
            <a:r>
              <a:rPr lang="en-US" sz="2000" dirty="0">
                <a:solidFill>
                  <a:schemeClr val="tx1"/>
                </a:solidFill>
              </a:rPr>
              <a:t>There are many tools and methods to evade a firewall or associated IDS, IPS</a:t>
            </a:r>
          </a:p>
          <a:p>
            <a:pPr marL="285750" indent="-285750">
              <a:spcAft>
                <a:spcPts val="1200"/>
              </a:spcAft>
              <a:buClr>
                <a:srgbClr val="FFDB87"/>
              </a:buClr>
              <a:buSzPct val="130000"/>
              <a:buFont typeface="Wingdings" pitchFamily="2" charset="2"/>
              <a:buChar char="§"/>
            </a:pPr>
            <a:r>
              <a:rPr lang="en-US" sz="2000" dirty="0">
                <a:solidFill>
                  <a:schemeClr val="tx1"/>
                </a:solidFill>
              </a:rPr>
              <a:t>The actual purpose of evading will determine the tool as well as the environmental target</a:t>
            </a:r>
          </a:p>
          <a:p>
            <a:pPr marL="285750" indent="-285750">
              <a:spcAft>
                <a:spcPts val="1200"/>
              </a:spcAft>
              <a:buClr>
                <a:srgbClr val="FFDB87"/>
              </a:buClr>
              <a:buSzPct val="130000"/>
              <a:buFont typeface="Wingdings" pitchFamily="2" charset="2"/>
              <a:buChar char="§"/>
            </a:pPr>
            <a:r>
              <a:rPr lang="en-US" sz="2000" dirty="0">
                <a:solidFill>
                  <a:schemeClr val="tx1"/>
                </a:solidFill>
              </a:rPr>
              <a:t>It is important to remember this is an overview; do not forget to access your textbook through Canvas</a:t>
            </a:r>
          </a:p>
        </p:txBody>
      </p:sp>
      <p:pic>
        <p:nvPicPr>
          <p:cNvPr id="11" name="Picture 10" descr="A computer and a brick wall&#10;&#10;Description automatically generated">
            <a:extLst>
              <a:ext uri="{FF2B5EF4-FFF2-40B4-BE49-F238E27FC236}">
                <a16:creationId xmlns:a16="http://schemas.microsoft.com/office/drawing/2014/main" id="{D33CF0DD-6A9A-C9AE-9C8D-601AF1728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83756"/>
            <a:ext cx="5311504" cy="3983628"/>
          </a:xfrm>
          <a:prstGeom prst="rect">
            <a:avLst/>
          </a:prstGeom>
          <a:ln>
            <a:solidFill>
              <a:schemeClr val="tx1">
                <a:lumMod val="50000"/>
                <a:lumOff val="50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500293703"/>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review xmlns="c6c77d8f-09f6-4e2b-8f47-31ad1c0144f5" xsi:nil="true"/>
    <lcf76f155ced4ddcb4097134ff3c332f xmlns="c6c77d8f-09f6-4e2b-8f47-31ad1c0144f5">
      <Terms xmlns="http://schemas.microsoft.com/office/infopath/2007/PartnerControls"/>
    </lcf76f155ced4ddcb4097134ff3c332f>
    <TaxCatchAll xmlns="146bd9e1-3fdb-4f50-9526-c68c2343cb8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773663AEC73F64CB9310C74F592BBA1" ma:contentTypeVersion="20" ma:contentTypeDescription="Create a new document." ma:contentTypeScope="" ma:versionID="c4ee6c6961591c1a63add96d4ce05241">
  <xsd:schema xmlns:xsd="http://www.w3.org/2001/XMLSchema" xmlns:xs="http://www.w3.org/2001/XMLSchema" xmlns:p="http://schemas.microsoft.com/office/2006/metadata/properties" xmlns:ns2="c6c77d8f-09f6-4e2b-8f47-31ad1c0144f5" xmlns:ns3="146bd9e1-3fdb-4f50-9526-c68c2343cb8e" targetNamespace="http://schemas.microsoft.com/office/2006/metadata/properties" ma:root="true" ma:fieldsID="b2274d1538facf08196bf05114238597" ns2:_="" ns3:_="">
    <xsd:import namespace="c6c77d8f-09f6-4e2b-8f47-31ad1c0144f5"/>
    <xsd:import namespace="146bd9e1-3fdb-4f50-9526-c68c2343cb8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3:SharedWithUsers" minOccurs="0"/>
                <xsd:element ref="ns3:SharedWithDetails" minOccurs="0"/>
                <xsd:element ref="ns2:Preview"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c77d8f-09f6-4e2b-8f47-31ad1c0144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Preview" ma:index="21" nillable="true" ma:displayName="Preview" ma:format="Thumbnail" ma:internalName="Preview">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a8cab3b-d731-4175-bae6-7d60d1a2576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6bd9e1-3fdb-4f50-9526-c68c2343cb8e"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42da5034-1a9c-45fa-ab74-54df4df1541d}" ma:internalName="TaxCatchAll" ma:showField="CatchAllData" ma:web="146bd9e1-3fdb-4f50-9526-c68c2343cb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6A50026-409A-41A2-A040-5B89AF329C4A}">
  <ds:schemaRefs>
    <ds:schemaRef ds:uri="http://schemas.microsoft.com/sharepoint/v3/contenttype/forms"/>
  </ds:schemaRefs>
</ds:datastoreItem>
</file>

<file path=customXml/itemProps2.xml><?xml version="1.0" encoding="utf-8"?>
<ds:datastoreItem xmlns:ds="http://schemas.openxmlformats.org/officeDocument/2006/customXml" ds:itemID="{76D05827-918C-4EC0-81B6-A984FA8206B7}">
  <ds:schemaRefs>
    <ds:schemaRef ds:uri="146bd9e1-3fdb-4f50-9526-c68c2343cb8e"/>
    <ds:schemaRef ds:uri="c6c77d8f-09f6-4e2b-8f47-31ad1c0144f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817A11B-EF24-4279-B624-EEF501AB31F7}">
  <ds:schemaRefs>
    <ds:schemaRef ds:uri="146bd9e1-3fdb-4f50-9526-c68c2343cb8e"/>
    <ds:schemaRef ds:uri="c6c77d8f-09f6-4e2b-8f47-31ad1c0144f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TM03457491[[fn=Metropolitan]]</Template>
  <TotalTime>0</TotalTime>
  <Words>5529</Words>
  <Application>Microsoft Office PowerPoint</Application>
  <PresentationFormat>Widescreen</PresentationFormat>
  <Paragraphs>429</Paragraphs>
  <Slides>46</Slides>
  <Notes>38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46</vt:i4>
      </vt:variant>
    </vt:vector>
  </HeadingPairs>
  <TitlesOfParts>
    <vt:vector size="55" baseType="lpstr">
      <vt:lpstr>Aptos Display</vt:lpstr>
      <vt:lpstr>Arial</vt:lpstr>
      <vt:lpstr>Calibri</vt:lpstr>
      <vt:lpstr>Calibri Light</vt:lpstr>
      <vt:lpstr>Consolas</vt:lpstr>
      <vt:lpstr>Courier New</vt:lpstr>
      <vt:lpstr>Söhne</vt:lpstr>
      <vt:lpstr>Wingdings</vt:lpstr>
      <vt:lpstr>Metropolitan</vt:lpstr>
      <vt:lpstr>Session Hijacking</vt:lpstr>
      <vt:lpstr>What is Session Hijacking?</vt:lpstr>
      <vt:lpstr>Capturing the Session ID</vt:lpstr>
      <vt:lpstr>Why Session Hacking is Successful</vt:lpstr>
      <vt:lpstr>Why is Session Hijacking Successful (Cont)</vt:lpstr>
      <vt:lpstr>Session Hijacking and TCP/IP protocol</vt:lpstr>
      <vt:lpstr>Session Hijacking Process</vt:lpstr>
      <vt:lpstr>Session Hijacking Process</vt:lpstr>
      <vt:lpstr>Passive and Active Session Hijacking</vt:lpstr>
      <vt:lpstr>Session Hijacking – Passive Hijacking</vt:lpstr>
      <vt:lpstr>Types of Session Hijacking: Active Session Hijacking</vt:lpstr>
      <vt:lpstr>Session Hijacking in OSI Model:  Network Layer</vt:lpstr>
      <vt:lpstr>Session Hijacking in OSI Model:  Transport Layer: Hijacking</vt:lpstr>
      <vt:lpstr>Presentation Session Hijacking</vt:lpstr>
      <vt:lpstr>Application-Level Session Hijacking</vt:lpstr>
      <vt:lpstr>Application-Level Session Hijacking</vt:lpstr>
      <vt:lpstr>Application-Level Session Hijacking: Stealing</vt:lpstr>
      <vt:lpstr>Application-Level Session Hijacking: Guessing</vt:lpstr>
      <vt:lpstr>Spoofing vs. Hijacking</vt:lpstr>
      <vt:lpstr>Spoofing vs. Hijacking Summary</vt:lpstr>
      <vt:lpstr>Application-Level Session Hijacking: Brute Forcing</vt:lpstr>
      <vt:lpstr>Compromising Session IDs Using Sniffing</vt:lpstr>
      <vt:lpstr>Compromising Session IDs by Predicting Session Token</vt:lpstr>
      <vt:lpstr>Compromising Session IDs by Predicting Session Token</vt:lpstr>
      <vt:lpstr>Compromising Session IDs Using Man-in-the-Middle Attack</vt:lpstr>
      <vt:lpstr>Compromising Session IDs Using Man-in-the-Browser Attack</vt:lpstr>
      <vt:lpstr>CEHv13 Update – Advanced Session Hijacking Techniques</vt:lpstr>
      <vt:lpstr>CEHv13 Update – Detection &amp; Prevention Strategies</vt:lpstr>
      <vt:lpstr>Evading IDS, Firewalls and Honeypots</vt:lpstr>
      <vt:lpstr>Overview IDS and IPS</vt:lpstr>
      <vt:lpstr>Intrusion Detection Overview</vt:lpstr>
      <vt:lpstr>How an IDS Detects an Intrusion</vt:lpstr>
      <vt:lpstr>Intrusion Prevention IPS</vt:lpstr>
      <vt:lpstr>Firewall Types</vt:lpstr>
      <vt:lpstr>HoneyPots</vt:lpstr>
      <vt:lpstr>PowerPoint Presentation</vt:lpstr>
      <vt:lpstr>PowerPoint Presentation</vt:lpstr>
      <vt:lpstr>Fragmentation Attack</vt:lpstr>
      <vt:lpstr>Evading Firewall</vt:lpstr>
      <vt:lpstr>Bypass Firewall Blocked Sites</vt:lpstr>
      <vt:lpstr>Bypass Firewall Tunneling</vt:lpstr>
      <vt:lpstr>PowerPoint Presentation</vt:lpstr>
      <vt:lpstr>Bypass Firewall Tunneling</vt:lpstr>
      <vt:lpstr>CEHv13 Update – Modern Evasion Tactics</vt:lpstr>
      <vt:lpstr>CEHv13 Update – Detection &amp; Countermeasures in AI-Driven Networks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Hijacking</dc:title>
  <dc:creator>Vasilache, Simina (RICH-Inn)</dc:creator>
  <cp:lastModifiedBy>Michael Wandel (Virginia Beach)</cp:lastModifiedBy>
  <cp:revision>2</cp:revision>
  <dcterms:created xsi:type="dcterms:W3CDTF">2021-09-28T18:46:46Z</dcterms:created>
  <dcterms:modified xsi:type="dcterms:W3CDTF">2026-01-15T23:16:29Z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0x0101009773663AEC73F64CB9310C74F592BBA1</vt:lpwstr>
  </property>
  <property fmtid="{D5CDD505-2E9C-101B-9397-08002B2CF9AE}" pid="3" name="MediaServiceImageTags">
    <vt:lpwstr/>
  </property>
</Properties>
</file>